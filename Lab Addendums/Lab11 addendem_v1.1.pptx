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393" r:id="rId3"/>
    <p:sldId id="402" r:id="rId4"/>
    <p:sldId id="404" r:id="rId5"/>
    <p:sldId id="395" r:id="rId6"/>
    <p:sldId id="396" r:id="rId7"/>
    <p:sldId id="403" r:id="rId8"/>
    <p:sldId id="37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AF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7" autoAdjust="0"/>
    <p:restoredTop sz="91677" autoAdjust="0"/>
  </p:normalViewPr>
  <p:slideViewPr>
    <p:cSldViewPr snapToGrid="0">
      <p:cViewPr varScale="1">
        <p:scale>
          <a:sx n="66" d="100"/>
          <a:sy n="66" d="100"/>
        </p:scale>
        <p:origin x="5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53279-6AA3-493C-8FBA-220F2985EB2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A7CB6F-1EC6-4E88-BB90-B62A7FA4E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6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A001-FE84-4C5B-B3E9-3C2932980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D1E335-4EC3-4A3A-9E8B-4384C429A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ECD76-81D7-4D58-BCE9-33A182AB3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3355F-4333-48BB-95A3-4EEDCC465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19DD9-A096-492C-A48C-C88315FD6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2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C30F2-6F06-4771-AC5C-5DDD33D19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F2D8F-C2AB-4793-9330-A160CE28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7422D-3C7C-4423-8BDD-1D140DE97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63F68-B0AE-4D03-841E-375203E49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D4527-9D93-44C5-8AD0-E76E456F3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17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39D35-A2D8-404F-A5F1-D88CD145A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25F04-EC19-4ACA-977B-A719AAC9A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B345D-AB9F-4507-B822-0BA41D71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4FC9A-9867-4767-A7D2-A3CC7AE9E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E3F14-5BCC-4EBD-AD33-E2B19B04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49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4B32-4DB6-479A-B20F-A5AC0CDDA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6D3A2-A5C4-470D-8714-8FBE511B5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ACC22-E511-4A38-A5FD-13552F64B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FA871-0312-4F27-A57C-9E29718A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54EBB-0D74-449A-A7C5-BA059BAA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09558-ABC1-4FEA-933D-CA1A456B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7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BEB7F-80C8-43A4-8E90-807D9C192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12095-C5A7-485A-8A19-F6626E844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D4BE0-2314-41FE-90AC-EC9C0CFC4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B201EE-61BF-4BBB-842C-92D59F3B1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812400-28B5-4E91-B313-A20FFEF38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F5992E-8866-4E02-8D24-2E45E9C2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75B223-56E9-4E30-9723-F562FA8F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862E3-731F-41CF-BE1B-39A2A8CD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96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635E3-DE09-49A7-B086-B26C480C3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83F54-DEB1-4A0C-87FF-CA00CE7DF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AB68F9-1574-477F-8C95-C0D86FD5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65F340-694E-4B04-ACCE-4B4E86847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4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34A5DF-AD09-493A-BDB6-6A3ECBCCA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3B11-60BF-4722-9687-B40A4C5C9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82CFE-7DCB-48BD-96BE-05245669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30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C3449-8D6B-4E3F-806C-04C7434F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31AC0-6164-4577-9446-06D61E38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B7FC0-674F-43C6-81B7-C72264B10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76B59-C96E-4620-BAB4-BF8AA9551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78085-5A70-4CBE-A4E4-AC1D2EC9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CDA0F-BD4D-4296-B409-A11C3E14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2F956-24AA-4791-A21F-1CBE73F22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252DC7-DC1F-4C4A-9AB6-BF835622C3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A006B-8C27-4B47-BA8D-4565E5403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E1E30-9ED4-4CF1-A585-20FAF6326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59A66-D3C9-4497-BDDF-8E5A56126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DCF1E-D835-4A58-8B96-9859ECE92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8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CBB30-0797-434F-8E6E-A421CA39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E0BF2-E02A-42B0-B9CB-173718401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8C753-9D3D-49BD-8D74-BC2F5B9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724DE-87C0-413B-B67D-A837CCDC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6D589-9155-4C2E-8942-AF615EE2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73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73F19-A04E-4776-8619-511326C12E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FCC09-AA24-4D7B-86F1-4A7F772CE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92B3E-BFA6-4837-BDA1-AE6795F74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BAF76-A8F7-40CC-A8D0-B7C898BCA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C672E-E66A-47F7-8501-F45DF1FF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40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C936C3-81A7-445F-82C5-91B3DD3A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88614-3E35-49A0-BB95-C828ACF76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ADCF5-07DC-42CF-875E-D457C868E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EEF71-2F7E-4DA6-BFF1-3D733D1E8A1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AD226-64F2-4BAA-A906-44AA737B3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143C4-3B48-4E41-BA21-CFC407B6F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049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f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96809-512B-409C-B505-A3D062650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019959"/>
          </a:xfrm>
        </p:spPr>
        <p:txBody>
          <a:bodyPr>
            <a:normAutofit/>
          </a:bodyPr>
          <a:lstStyle/>
          <a:p>
            <a:r>
              <a:rPr lang="en-US" dirty="0"/>
              <a:t>Database Lab 11</a:t>
            </a:r>
            <a:br>
              <a:rPr lang="en-US" dirty="0"/>
            </a:br>
            <a:r>
              <a:rPr lang="en-US" dirty="0"/>
              <a:t>Constraints</a:t>
            </a:r>
            <a:br>
              <a:rPr lang="en-US" dirty="0"/>
            </a:br>
            <a:r>
              <a:rPr lang="en-US" dirty="0"/>
              <a:t>Addendum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9D31B0-1558-422C-B95B-13B1FAC75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83512"/>
            <a:ext cx="9144000" cy="574287"/>
          </a:xfrm>
        </p:spPr>
        <p:txBody>
          <a:bodyPr>
            <a:normAutofit/>
          </a:bodyPr>
          <a:lstStyle/>
          <a:p>
            <a:r>
              <a:rPr lang="en-US" dirty="0"/>
              <a:t>Dr. </a:t>
            </a:r>
            <a:r>
              <a:rPr lang="en-US"/>
              <a:t>Jefferson Fong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632A7C-EBF7-4E53-9EA9-2CC2DB727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696" y="3397165"/>
            <a:ext cx="3194304" cy="240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42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9568"/>
          </a:xfrm>
        </p:spPr>
        <p:txBody>
          <a:bodyPr/>
          <a:lstStyle/>
          <a:p>
            <a:r>
              <a:rPr lang="en-US" dirty="0"/>
              <a:t>Presentation Sign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76D10-B1CB-4D04-B72D-809595BC3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472"/>
            <a:ext cx="10515600" cy="135902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Presentations</a:t>
            </a:r>
            <a:r>
              <a:rPr lang="en-US" dirty="0"/>
              <a:t> will be held on </a:t>
            </a:r>
            <a:r>
              <a:rPr lang="en-US" dirty="0">
                <a:solidFill>
                  <a:srgbClr val="FF0000"/>
                </a:solidFill>
              </a:rPr>
              <a:t>Wed Dec 17 </a:t>
            </a:r>
            <a:r>
              <a:rPr lang="en-US" dirty="0"/>
              <a:t>and</a:t>
            </a:r>
            <a:r>
              <a:rPr lang="en-US" dirty="0">
                <a:solidFill>
                  <a:srgbClr val="FF0000"/>
                </a:solidFill>
              </a:rPr>
              <a:t> Thu Dec 18</a:t>
            </a:r>
          </a:p>
          <a:p>
            <a:pPr lvl="1"/>
            <a:r>
              <a:rPr lang="en-US" dirty="0"/>
              <a:t>Talk with your team on your preferred time slot.</a:t>
            </a:r>
          </a:p>
          <a:p>
            <a:pPr lvl="1"/>
            <a:r>
              <a:rPr lang="en-US" dirty="0"/>
              <a:t>Team leader sign up for </a:t>
            </a:r>
            <a:r>
              <a:rPr lang="en-US"/>
              <a:t>time slots on next Wed.  </a:t>
            </a:r>
            <a:r>
              <a:rPr lang="en-US" dirty="0"/>
              <a:t>(15 teams)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463385"/>
              </p:ext>
            </p:extLst>
          </p:nvPr>
        </p:nvGraphicFramePr>
        <p:xfrm>
          <a:off x="1489787" y="3090256"/>
          <a:ext cx="8327064" cy="3225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3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3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302">
                <a:tc>
                  <a:txBody>
                    <a:bodyPr/>
                    <a:lstStyle/>
                    <a:p>
                      <a:r>
                        <a:rPr lang="en-US" sz="2400" dirty="0"/>
                        <a:t>Data and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051">
                <a:tc>
                  <a:txBody>
                    <a:bodyPr/>
                    <a:lstStyle/>
                    <a:p>
                      <a:r>
                        <a:rPr lang="en-US" sz="2400" dirty="0"/>
                        <a:t>Wed 17 Dec,</a:t>
                      </a:r>
                      <a:r>
                        <a:rPr lang="en-US" sz="2400" baseline="0" dirty="0"/>
                        <a:t> 10-11</a:t>
                      </a:r>
                      <a:r>
                        <a:rPr lang="en-US" sz="2400" dirty="0"/>
                        <a:t> (4 teams)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41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Wed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17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Dec, 11-noon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(4 teams)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8725">
                <a:tc>
                  <a:txBody>
                    <a:bodyPr/>
                    <a:lstStyle/>
                    <a:p>
                      <a:r>
                        <a:rPr lang="en-US" sz="2400" baseline="0" dirty="0">
                          <a:solidFill>
                            <a:srgbClr val="FF0000"/>
                          </a:solidFill>
                        </a:rPr>
                        <a:t>Wed 17 Dec, noon-12:20 (2 teams)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711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Thu 18 Dec, 4:20-5</a:t>
                      </a:r>
                      <a:r>
                        <a:rPr lang="en-US" sz="2400" baseline="0" dirty="0">
                          <a:solidFill>
                            <a:srgbClr val="FF0000"/>
                          </a:solidFill>
                        </a:rPr>
                        <a:t> (3 teams)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1996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Thu 18 Dec, 5-6 (4 teams)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711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Thu 18 Dec, 6-6:15 (1 team)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537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822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9568"/>
          </a:xfrm>
        </p:spPr>
        <p:txBody>
          <a:bodyPr/>
          <a:lstStyle/>
          <a:p>
            <a:r>
              <a:rPr lang="en-US"/>
              <a:t>Assignment 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76D10-B1CB-4D04-B72D-809595BC3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473"/>
            <a:ext cx="10515600" cy="4593490"/>
          </a:xfrm>
        </p:spPr>
        <p:txBody>
          <a:bodyPr/>
          <a:lstStyle/>
          <a:p>
            <a:pPr marL="0" indent="0">
              <a:buNone/>
            </a:pPr>
            <a:endParaRPr lang="en-US" sz="800" dirty="0"/>
          </a:p>
          <a:p>
            <a:r>
              <a:rPr lang="en-US" dirty="0">
                <a:solidFill>
                  <a:srgbClr val="FF0000"/>
                </a:solidFill>
              </a:rPr>
              <a:t>Assignment 3 </a:t>
            </a:r>
            <a:r>
              <a:rPr lang="en-US" dirty="0"/>
              <a:t>has been released; due date </a:t>
            </a:r>
            <a:r>
              <a:rPr lang="en-US" dirty="0">
                <a:solidFill>
                  <a:srgbClr val="FF0000"/>
                </a:solidFill>
              </a:rPr>
              <a:t>Sun 14 Dec </a:t>
            </a:r>
            <a:r>
              <a:rPr lang="en-US" dirty="0"/>
              <a:t>right before midnight.</a:t>
            </a:r>
          </a:p>
          <a:p>
            <a:pPr marL="0" indent="0">
              <a:buNone/>
            </a:pPr>
            <a:endParaRPr lang="en-US" sz="800" dirty="0"/>
          </a:p>
          <a:p>
            <a:r>
              <a:rPr lang="en-US" dirty="0">
                <a:solidFill>
                  <a:srgbClr val="FF0000"/>
                </a:solidFill>
              </a:rPr>
              <a:t>Final Exam </a:t>
            </a:r>
            <a:r>
              <a:rPr lang="en-US" dirty="0"/>
              <a:t>will be on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723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95422"/>
            <a:ext cx="10515600" cy="579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Slide 3 </a:t>
            </a:r>
          </a:p>
          <a:p>
            <a:r>
              <a:rPr lang="en-US" dirty="0"/>
              <a:t>The file </a:t>
            </a:r>
            <a:r>
              <a:rPr lang="en-US" dirty="0" err="1">
                <a:solidFill>
                  <a:srgbClr val="FF0000"/>
                </a:solidFill>
              </a:rPr>
              <a:t>uic_without_foreign_keys.sql</a:t>
            </a:r>
            <a:r>
              <a:rPr lang="en-US" dirty="0"/>
              <a:t> is the same as </a:t>
            </a:r>
            <a:r>
              <a:rPr lang="en-US" dirty="0" err="1">
                <a:solidFill>
                  <a:srgbClr val="FF0000"/>
                </a:solidFill>
              </a:rPr>
              <a:t>uic.sql</a:t>
            </a:r>
            <a:r>
              <a:rPr lang="en-US" dirty="0"/>
              <a:t> (the solution to Lab07) except the </a:t>
            </a:r>
            <a:r>
              <a:rPr lang="en-US" dirty="0" err="1"/>
              <a:t>uic_without_foreign_keys.sql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does not have foreign keys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Open the two files and compare; look for “foreign” in the files.</a:t>
            </a:r>
          </a:p>
          <a:p>
            <a:r>
              <a:rPr lang="en-US" dirty="0"/>
              <a:t>Create the database </a:t>
            </a:r>
            <a:r>
              <a:rPr lang="en-US" dirty="0" err="1"/>
              <a:t>uic_without_foreign_keys</a:t>
            </a:r>
            <a:r>
              <a:rPr lang="en-US" dirty="0"/>
              <a:t>.  Can do this 2 ways:</a:t>
            </a:r>
          </a:p>
          <a:p>
            <a:pPr marL="457200" lvl="1" indent="0">
              <a:buNone/>
            </a:pPr>
            <a:r>
              <a:rPr lang="en-US" dirty="0"/>
              <a:t>(A) Use the SQL in </a:t>
            </a:r>
            <a:r>
              <a:rPr lang="en-US" dirty="0" err="1"/>
              <a:t>uic_without_foreign_keys.sql</a:t>
            </a:r>
            <a:r>
              <a:rPr lang="en-US" dirty="0"/>
              <a:t>.</a:t>
            </a:r>
          </a:p>
          <a:p>
            <a:pPr lvl="2"/>
            <a:r>
              <a:rPr lang="en-US" b="1" dirty="0">
                <a:solidFill>
                  <a:srgbClr val="00B050"/>
                </a:solidFill>
              </a:rPr>
              <a:t>Copy</a:t>
            </a:r>
            <a:r>
              <a:rPr lang="en-US" dirty="0"/>
              <a:t> all the text in </a:t>
            </a:r>
            <a:r>
              <a:rPr lang="en-US" dirty="0" err="1"/>
              <a:t>uic_without_foreign_keys.sql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Notice near the top, we have</a:t>
            </a:r>
          </a:p>
          <a:p>
            <a:pPr marL="914400" lvl="2" indent="0">
              <a:buNone/>
            </a:pPr>
            <a:r>
              <a:rPr lang="en-US" dirty="0"/>
              <a:t>	CREATE DATABASE IF NOT EXISTS `</a:t>
            </a:r>
            <a:r>
              <a:rPr lang="en-US" dirty="0" err="1"/>
              <a:t>uic_without_foreign_keys</a:t>
            </a:r>
            <a:r>
              <a:rPr lang="en-US" dirty="0"/>
              <a:t>` …</a:t>
            </a:r>
          </a:p>
          <a:p>
            <a:pPr lvl="2"/>
            <a:r>
              <a:rPr lang="en-US" dirty="0"/>
              <a:t>You have done something similar in Lab 6.</a:t>
            </a:r>
          </a:p>
          <a:p>
            <a:pPr lvl="2"/>
            <a:r>
              <a:rPr lang="en-US" dirty="0"/>
              <a:t>In XAMPP, open a new database</a:t>
            </a:r>
          </a:p>
          <a:p>
            <a:pPr lvl="2"/>
            <a:r>
              <a:rPr lang="en-US" b="1" dirty="0">
                <a:solidFill>
                  <a:srgbClr val="00B050"/>
                </a:solidFill>
              </a:rPr>
              <a:t>Paste</a:t>
            </a:r>
            <a:r>
              <a:rPr lang="en-US" dirty="0"/>
              <a:t> the query in the SQL tab and run it. The database should appear in the navigation tab at the left hand side of XAMPP. </a:t>
            </a:r>
          </a:p>
          <a:p>
            <a:pPr marL="457200" lvl="1" indent="0">
              <a:buNone/>
            </a:pPr>
            <a:r>
              <a:rPr lang="en-US" dirty="0"/>
              <a:t>(B) Create the database manually. (See next slide.)</a:t>
            </a:r>
          </a:p>
          <a:p>
            <a:pPr lvl="2"/>
            <a:endParaRPr lang="en-US" sz="8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176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88516"/>
            <a:ext cx="3282863" cy="14404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Create a database </a:t>
            </a:r>
            <a:r>
              <a:rPr lang="en-US" dirty="0" err="1"/>
              <a:t>uic_NoForeignKey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Recall Lab 1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622" y="1828091"/>
            <a:ext cx="4808738" cy="22795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926" y="1657613"/>
            <a:ext cx="5201737" cy="2620473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6976997" y="488516"/>
            <a:ext cx="4611666" cy="2029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2. Import the file </a:t>
            </a:r>
            <a:r>
              <a:rPr lang="en-US" dirty="0" err="1"/>
              <a:t>uic_without_foreign_keys.sql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1326" y="4451027"/>
            <a:ext cx="2655311" cy="218057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70C8C86-AEAD-4614-8E0F-27FC035F0FF2}"/>
              </a:ext>
            </a:extLst>
          </p:cNvPr>
          <p:cNvSpPr txBox="1">
            <a:spLocks/>
          </p:cNvSpPr>
          <p:nvPr/>
        </p:nvSpPr>
        <p:spPr>
          <a:xfrm>
            <a:off x="1563559" y="4619362"/>
            <a:ext cx="4045801" cy="1440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3. Do this week’s examples and exercises in the </a:t>
            </a:r>
            <a:r>
              <a:rPr lang="en-US" dirty="0" err="1"/>
              <a:t>uic_noforeignkey</a:t>
            </a:r>
            <a:r>
              <a:rPr lang="en-US" dirty="0"/>
              <a:t> DB.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760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5570" y="494511"/>
            <a:ext cx="10515600" cy="11192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Slide 5</a:t>
            </a:r>
          </a:p>
          <a:p>
            <a:r>
              <a:rPr lang="en-US" dirty="0"/>
              <a:t>You might need to use the back tic ` in some version of MySQL: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732" y="1601591"/>
            <a:ext cx="10045276" cy="90011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Content Placeholder 2"/>
          <p:cNvSpPr txBox="1">
            <a:spLocks/>
          </p:cNvSpPr>
          <p:nvPr/>
        </p:nvSpPr>
        <p:spPr>
          <a:xfrm>
            <a:off x="775571" y="2960676"/>
            <a:ext cx="4821666" cy="2636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Slide 6</a:t>
            </a:r>
          </a:p>
          <a:p>
            <a:r>
              <a:rPr lang="en-US" dirty="0"/>
              <a:t>In some version of MySQL, you might </a:t>
            </a:r>
          </a:p>
          <a:p>
            <a:pPr lvl="1"/>
            <a:r>
              <a:rPr lang="en-US" dirty="0"/>
              <a:t>Ignore the red x warning.</a:t>
            </a:r>
          </a:p>
          <a:p>
            <a:pPr lvl="1"/>
            <a:r>
              <a:rPr lang="en-US" dirty="0"/>
              <a:t>Put in back tick `  in </a:t>
            </a:r>
            <a:r>
              <a:rPr lang="en-US" dirty="0" err="1"/>
              <a:t>gpa_domain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C9B7C0-3224-4250-BE45-2A5256028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777" y="2960676"/>
            <a:ext cx="5880048" cy="143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031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330D5-327C-4788-B7B7-44C01E06F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735" y="476702"/>
            <a:ext cx="11628863" cy="22553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cs typeface="Arial" panose="020B0604020202020204" pitchFamily="34" charset="0"/>
              </a:rPr>
              <a:t>Exercise 1: (c.f. check </a:t>
            </a:r>
            <a:r>
              <a:rPr lang="en-US" altLang="zh-CN" dirty="0" err="1">
                <a:cs typeface="Arial" panose="020B0604020202020204" pitchFamily="34" charset="0"/>
              </a:rPr>
              <a:t>gpa</a:t>
            </a:r>
            <a:r>
              <a:rPr lang="en-US" altLang="zh-CN" dirty="0">
                <a:cs typeface="Arial" panose="020B0604020202020204" pitchFamily="34" charset="0"/>
              </a:rPr>
              <a:t> example in Slide 6)</a:t>
            </a:r>
          </a:p>
          <a:p>
            <a:pPr marL="457200" lvl="1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ALTER TABLE enroll </a:t>
            </a:r>
          </a:p>
          <a:p>
            <a:pPr marL="457200" lvl="1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ADD CONSTRAINT </a:t>
            </a:r>
            <a:r>
              <a:rPr lang="en-US" altLang="zh-CN" dirty="0" err="1">
                <a:latin typeface="Consolas" panose="020B0609020204030204" pitchFamily="49" charset="0"/>
              </a:rPr>
              <a:t>grade_domain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</a:p>
          <a:p>
            <a:pPr marL="457200" lvl="1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CHECK (grade IN ('A','A-','B+','B','B-','C+','C','C-','D','F'));</a:t>
            </a:r>
          </a:p>
          <a:p>
            <a:r>
              <a:rPr lang="en-US" altLang="zh-CN" dirty="0"/>
              <a:t>See W3 Schools SQL to find the syntax for IN (and other things).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8EBE39-F122-4652-AA45-80FE0CD83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484" y="2895470"/>
            <a:ext cx="2076740" cy="16861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EE2448-B74B-4E5D-B212-8E9990FF4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654" y="2732011"/>
            <a:ext cx="3639976" cy="201307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2330D5-327C-4788-B7B7-44C01E06F6D0}"/>
              </a:ext>
            </a:extLst>
          </p:cNvPr>
          <p:cNvSpPr txBox="1">
            <a:spLocks/>
          </p:cNvSpPr>
          <p:nvPr/>
        </p:nvSpPr>
        <p:spPr>
          <a:xfrm>
            <a:off x="213734" y="4987320"/>
            <a:ext cx="11628863" cy="1469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cs typeface="Arial" panose="020B0604020202020204" pitchFamily="34" charset="0"/>
              </a:rPr>
              <a:t>Exercise 3 has a lot of tables.  Do a few to convince yourself you know how to add foreign keys.</a:t>
            </a:r>
          </a:p>
          <a:p>
            <a:r>
              <a:rPr lang="en-US" altLang="zh-CN" dirty="0">
                <a:cs typeface="Arial" panose="020B0604020202020204" pitchFamily="34" charset="0"/>
              </a:rPr>
              <a:t>For more </a:t>
            </a:r>
            <a:r>
              <a:rPr lang="en-US" altLang="zh-CN">
                <a:cs typeface="Arial" panose="020B0604020202020204" pitchFamily="34" charset="0"/>
              </a:rPr>
              <a:t>examples, see </a:t>
            </a:r>
            <a:r>
              <a:rPr lang="en-US" altLang="zh-CN" dirty="0">
                <a:cs typeface="Arial" panose="020B0604020202020204" pitchFamily="34" charset="0"/>
              </a:rPr>
              <a:t>Lab 7 solution (</a:t>
            </a:r>
            <a:r>
              <a:rPr lang="en-US" altLang="zh-CN" dirty="0" err="1">
                <a:cs typeface="Arial" panose="020B0604020202020204" pitchFamily="34" charset="0"/>
              </a:rPr>
              <a:t>uic.sql</a:t>
            </a:r>
            <a:r>
              <a:rPr lang="en-US" altLang="zh-CN" dirty="0">
                <a:cs typeface="Arial" panose="020B0604020202020204" pitchFamily="34" charset="0"/>
              </a:rPr>
              <a:t>); look for “foreign key” there.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9535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965486" y="464024"/>
            <a:ext cx="10483849" cy="5994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sz="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25" y="881062"/>
            <a:ext cx="9048750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517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8582</TotalTime>
  <Words>509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等线</vt:lpstr>
      <vt:lpstr>Arial</vt:lpstr>
      <vt:lpstr>Calibri</vt:lpstr>
      <vt:lpstr>Calibri Light</vt:lpstr>
      <vt:lpstr>Consolas</vt:lpstr>
      <vt:lpstr>Office Theme</vt:lpstr>
      <vt:lpstr>Database Lab 11 Constraints Addendum</vt:lpstr>
      <vt:lpstr>Presentation Sign up</vt:lpstr>
      <vt:lpstr>Assignment 3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Addendum Chapter 1</dc:title>
  <dc:creator>j f</dc:creator>
  <cp:lastModifiedBy>UIC</cp:lastModifiedBy>
  <cp:revision>861</cp:revision>
  <dcterms:created xsi:type="dcterms:W3CDTF">2021-08-02T03:54:37Z</dcterms:created>
  <dcterms:modified xsi:type="dcterms:W3CDTF">2025-12-04T08:37:28Z</dcterms:modified>
</cp:coreProperties>
</file>