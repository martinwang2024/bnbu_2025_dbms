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376" r:id="rId3"/>
    <p:sldId id="362" r:id="rId4"/>
    <p:sldId id="377" r:id="rId5"/>
    <p:sldId id="371" r:id="rId6"/>
    <p:sldId id="372" r:id="rId7"/>
    <p:sldId id="370" r:id="rId8"/>
    <p:sldId id="374" r:id="rId9"/>
    <p:sldId id="3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77" autoAdjust="0"/>
    <p:restoredTop sz="91677" autoAdjust="0"/>
  </p:normalViewPr>
  <p:slideViewPr>
    <p:cSldViewPr snapToGrid="0">
      <p:cViewPr varScale="1">
        <p:scale>
          <a:sx n="61" d="100"/>
          <a:sy n="61" d="100"/>
        </p:scale>
        <p:origin x="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Database Lab 4</a:t>
            </a:r>
            <a:br>
              <a:rPr lang="en-US" dirty="0"/>
            </a:br>
            <a:r>
              <a:rPr lang="en-US" dirty="0"/>
              <a:t>Join</a:t>
            </a:r>
            <a:br>
              <a:rPr lang="en-US" dirty="0"/>
            </a:br>
            <a:r>
              <a:rPr lang="en-US" dirty="0"/>
              <a:t>Addendum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Dr. Jefferson Fong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SQL query goes to a bar, walks up to two tables and asked, “Can I join you?”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1790786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477672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Because of the typhoon and holiday postponed lectures, we couldn’t lecture on the lab beforehand.</a:t>
            </a:r>
            <a:endParaRPr lang="en-US" dirty="0"/>
          </a:p>
          <a:p>
            <a:pPr lvl="1"/>
            <a:r>
              <a:rPr lang="en-US" dirty="0" smtClean="0"/>
              <a:t>You might have to finish the lab during tutorials.</a:t>
            </a:r>
          </a:p>
          <a:p>
            <a:endParaRPr lang="en-US" dirty="0"/>
          </a:p>
          <a:p>
            <a:r>
              <a:rPr lang="en-US" dirty="0" smtClean="0"/>
              <a:t>In Lab 3, we used cross table to get info from 2 or more tables.</a:t>
            </a:r>
          </a:p>
          <a:p>
            <a:r>
              <a:rPr lang="en-US" dirty="0" smtClean="0"/>
              <a:t>Two problems with cross tables:</a:t>
            </a:r>
          </a:p>
          <a:p>
            <a:pPr lvl="1"/>
            <a:r>
              <a:rPr lang="en-US" dirty="0" smtClean="0"/>
              <a:t>Computation not efficient; taking Cartesian product of two tables, </a:t>
            </a:r>
            <a:r>
              <a:rPr lang="en-US" dirty="0" smtClean="0"/>
              <a:t>get all </a:t>
            </a:r>
            <a:r>
              <a:rPr lang="en-US" dirty="0" smtClean="0"/>
              <a:t>possible combinations, even </a:t>
            </a:r>
            <a:r>
              <a:rPr lang="en-US" dirty="0" smtClean="0"/>
              <a:t>if </a:t>
            </a:r>
            <a:r>
              <a:rPr lang="en-US" dirty="0" smtClean="0"/>
              <a:t>those values didn't exist..</a:t>
            </a:r>
          </a:p>
          <a:p>
            <a:pPr lvl="1"/>
            <a:r>
              <a:rPr lang="en-US" dirty="0" smtClean="0"/>
              <a:t>Unmatched info are lost.</a:t>
            </a:r>
          </a:p>
          <a:p>
            <a:r>
              <a:rPr lang="en-US" dirty="0" smtClean="0"/>
              <a:t>A cleaner way is to use </a:t>
            </a:r>
            <a:r>
              <a:rPr lang="en-US" dirty="0" smtClean="0">
                <a:solidFill>
                  <a:srgbClr val="FF0000"/>
                </a:solidFill>
              </a:rPr>
              <a:t>join tables </a:t>
            </a:r>
            <a:r>
              <a:rPr lang="en-US" dirty="0" smtClean="0"/>
              <a:t>by their </a:t>
            </a:r>
            <a:r>
              <a:rPr lang="en-US" b="1" dirty="0" smtClean="0"/>
              <a:t>common attributes</a:t>
            </a:r>
            <a:r>
              <a:rPr lang="en-US" dirty="0" smtClean="0"/>
              <a:t>.</a:t>
            </a:r>
            <a:endParaRPr lang="en-US" dirty="0"/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8505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965486" y="406872"/>
            <a:ext cx="10483849" cy="10075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From Lab 3, </a:t>
            </a:r>
            <a:r>
              <a:rPr lang="en-US" dirty="0" smtClean="0"/>
              <a:t>tables </a:t>
            </a:r>
            <a:r>
              <a:rPr lang="en-US" dirty="0"/>
              <a:t>city and </a:t>
            </a:r>
            <a:r>
              <a:rPr lang="en-US" dirty="0" smtClean="0"/>
              <a:t>country:</a:t>
            </a:r>
            <a:endParaRPr lang="en-US" dirty="0"/>
          </a:p>
          <a:p>
            <a:pPr lvl="1"/>
            <a:r>
              <a:rPr lang="en-US" dirty="0" smtClean="0"/>
              <a:t>These </a:t>
            </a:r>
            <a:r>
              <a:rPr lang="en-US" dirty="0"/>
              <a:t>two tables have </a:t>
            </a:r>
            <a:r>
              <a:rPr lang="en-US" dirty="0" smtClean="0"/>
              <a:t>the </a:t>
            </a:r>
            <a:r>
              <a:rPr lang="en-US" b="1" dirty="0" smtClean="0"/>
              <a:t>common </a:t>
            </a:r>
            <a:r>
              <a:rPr lang="en-US" b="1" dirty="0"/>
              <a:t>attribute </a:t>
            </a:r>
            <a:r>
              <a:rPr lang="en-US" i="1" dirty="0" err="1">
                <a:solidFill>
                  <a:srgbClr val="FF0000"/>
                </a:solidFill>
              </a:rPr>
              <a:t>country_id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BA0A3074-A23D-424B-A4BD-BE9A940AA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583368"/>
              </p:ext>
            </p:extLst>
          </p:nvPr>
        </p:nvGraphicFramePr>
        <p:xfrm>
          <a:off x="1557529" y="1584577"/>
          <a:ext cx="3358866" cy="1245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563">
                  <a:extLst>
                    <a:ext uri="{9D8B030D-6E8A-4147-A177-3AD203B41FA5}">
                      <a16:colId xmlns:a16="http://schemas.microsoft.com/office/drawing/2014/main" xmlns="" val="1948917031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xmlns="" val="299128429"/>
                    </a:ext>
                  </a:extLst>
                </a:gridCol>
                <a:gridCol w="1337482">
                  <a:extLst>
                    <a:ext uri="{9D8B030D-6E8A-4147-A177-3AD203B41FA5}">
                      <a16:colId xmlns:a16="http://schemas.microsoft.com/office/drawing/2014/main" xmlns="" val="1095728088"/>
                    </a:ext>
                  </a:extLst>
                </a:gridCol>
              </a:tblGrid>
              <a:tr h="41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city_id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country_id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83986040"/>
                  </a:ext>
                </a:extLst>
              </a:tr>
              <a:tr h="41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5639528"/>
                  </a:ext>
                </a:extLst>
              </a:tr>
              <a:tr h="41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Tokyo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11596157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35EE4037-2C53-4A0D-8053-C26E098C6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984298"/>
              </p:ext>
            </p:extLst>
          </p:nvPr>
        </p:nvGraphicFramePr>
        <p:xfrm>
          <a:off x="6095999" y="1571858"/>
          <a:ext cx="349989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947">
                  <a:extLst>
                    <a:ext uri="{9D8B030D-6E8A-4147-A177-3AD203B41FA5}">
                      <a16:colId xmlns:a16="http://schemas.microsoft.com/office/drawing/2014/main" xmlns="" val="2316166573"/>
                    </a:ext>
                  </a:extLst>
                </a:gridCol>
                <a:gridCol w="1749947">
                  <a:extLst>
                    <a:ext uri="{9D8B030D-6E8A-4147-A177-3AD203B41FA5}">
                      <a16:colId xmlns:a16="http://schemas.microsoft.com/office/drawing/2014/main" xmlns="" val="1813744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country_id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7942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762073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53949571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24E2EDD5-D514-4A64-A14B-88F495DFB2AD}"/>
              </a:ext>
            </a:extLst>
          </p:cNvPr>
          <p:cNvSpPr txBox="1">
            <a:spLocks/>
          </p:cNvSpPr>
          <p:nvPr/>
        </p:nvSpPr>
        <p:spPr>
          <a:xfrm>
            <a:off x="965485" y="3132544"/>
            <a:ext cx="10483849" cy="585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want to join these two tables </a:t>
            </a:r>
            <a:r>
              <a:rPr lang="en-US" dirty="0" smtClean="0"/>
              <a:t>by their </a:t>
            </a:r>
            <a:r>
              <a:rPr lang="en-US" dirty="0"/>
              <a:t>common </a:t>
            </a:r>
            <a:r>
              <a:rPr lang="en-US" dirty="0" smtClean="0"/>
              <a:t>attribute. 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E32DF563-CFCC-46A9-8CC1-2B1AA6926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470864"/>
              </p:ext>
            </p:extLst>
          </p:nvPr>
        </p:nvGraphicFramePr>
        <p:xfrm>
          <a:off x="3501597" y="3826061"/>
          <a:ext cx="4502993" cy="1245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292">
                  <a:extLst>
                    <a:ext uri="{9D8B030D-6E8A-4147-A177-3AD203B41FA5}">
                      <a16:colId xmlns:a16="http://schemas.microsoft.com/office/drawing/2014/main" xmlns="" val="1948917031"/>
                    </a:ext>
                  </a:extLst>
                </a:gridCol>
                <a:gridCol w="1046869">
                  <a:extLst>
                    <a:ext uri="{9D8B030D-6E8A-4147-A177-3AD203B41FA5}">
                      <a16:colId xmlns:a16="http://schemas.microsoft.com/office/drawing/2014/main" xmlns="" val="299128429"/>
                    </a:ext>
                  </a:extLst>
                </a:gridCol>
                <a:gridCol w="1418421">
                  <a:extLst>
                    <a:ext uri="{9D8B030D-6E8A-4147-A177-3AD203B41FA5}">
                      <a16:colId xmlns:a16="http://schemas.microsoft.com/office/drawing/2014/main" xmlns="" val="1095728088"/>
                    </a:ext>
                  </a:extLst>
                </a:gridCol>
                <a:gridCol w="1146411">
                  <a:extLst>
                    <a:ext uri="{9D8B030D-6E8A-4147-A177-3AD203B41FA5}">
                      <a16:colId xmlns:a16="http://schemas.microsoft.com/office/drawing/2014/main" xmlns="" val="4653184"/>
                    </a:ext>
                  </a:extLst>
                </a:gridCol>
              </a:tblGrid>
              <a:tr h="41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city_id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country_id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83986040"/>
                  </a:ext>
                </a:extLst>
              </a:tr>
              <a:tr h="41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Beijing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China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85639528"/>
                  </a:ext>
                </a:extLst>
              </a:tr>
              <a:tr h="41520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Tokyo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Japan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11596157"/>
                  </a:ext>
                </a:extLst>
              </a:tr>
            </a:tbl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xmlns="" id="{119812FF-2CB5-4096-A914-4563CCA52AED}"/>
              </a:ext>
            </a:extLst>
          </p:cNvPr>
          <p:cNvSpPr txBox="1">
            <a:spLocks/>
          </p:cNvSpPr>
          <p:nvPr/>
        </p:nvSpPr>
        <p:spPr>
          <a:xfrm>
            <a:off x="981406" y="5437499"/>
            <a:ext cx="10483849" cy="622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Unfortunately natural join (Slide 2) doesn’t </a:t>
            </a:r>
            <a:r>
              <a:rPr lang="en-US" dirty="0" smtClean="0"/>
              <a:t>usually work</a:t>
            </a:r>
            <a:r>
              <a:rPr lang="en-US" dirty="0"/>
              <a:t>, because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1597" y="1414462"/>
            <a:ext cx="1414798" cy="642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237514" y="1463466"/>
            <a:ext cx="1497191" cy="63988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5471434" y="3613410"/>
            <a:ext cx="1414798" cy="64293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6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477672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2</a:t>
            </a:r>
          </a:p>
          <a:p>
            <a:r>
              <a:rPr lang="en-US" dirty="0"/>
              <a:t>At bottom of the slide, notice that natural join matches the </a:t>
            </a:r>
            <a:r>
              <a:rPr lang="en-US" i="1" dirty="0" err="1">
                <a:solidFill>
                  <a:srgbClr val="00B050"/>
                </a:solidFill>
              </a:rPr>
              <a:t>last_update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dirty="0" smtClean="0"/>
              <a:t>attribute (the date and time </a:t>
            </a:r>
            <a:r>
              <a:rPr lang="en-US" dirty="0" smtClean="0"/>
              <a:t>each</a:t>
            </a:r>
            <a:r>
              <a:rPr lang="en-US" dirty="0" smtClean="0"/>
              <a:t> table </a:t>
            </a:r>
            <a:r>
              <a:rPr lang="en-US" dirty="0" smtClean="0"/>
              <a:t>has been modified).</a:t>
            </a:r>
            <a:endParaRPr lang="en-US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3 </a:t>
            </a:r>
            <a:r>
              <a:rPr lang="en-US" dirty="0" smtClean="0"/>
              <a:t>Example</a:t>
            </a:r>
          </a:p>
          <a:p>
            <a:r>
              <a:rPr lang="en-US" dirty="0" smtClean="0"/>
              <a:t>Checking </a:t>
            </a:r>
            <a:r>
              <a:rPr lang="en-US" dirty="0" err="1" smtClean="0"/>
              <a:t>Sakila</a:t>
            </a:r>
            <a:r>
              <a:rPr lang="en-US" dirty="0" smtClean="0"/>
              <a:t>, we have the schemas</a:t>
            </a:r>
          </a:p>
          <a:p>
            <a:pPr marL="457200" lvl="1" indent="0">
              <a:buNone/>
            </a:pPr>
            <a:r>
              <a:rPr lang="en-US" dirty="0" smtClean="0"/>
              <a:t>Customer (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address_id</a:t>
            </a:r>
            <a:r>
              <a:rPr lang="en-US" dirty="0" smtClean="0"/>
              <a:t>)</a:t>
            </a:r>
          </a:p>
          <a:p>
            <a:pPr marL="457200" lvl="1" indent="0">
              <a:buNone/>
            </a:pPr>
            <a:r>
              <a:rPr lang="en-US" dirty="0" smtClean="0"/>
              <a:t>Address (</a:t>
            </a:r>
            <a:r>
              <a:rPr lang="en-US" dirty="0" err="1" smtClean="0">
                <a:solidFill>
                  <a:srgbClr val="FF0000"/>
                </a:solidFill>
              </a:rPr>
              <a:t>address_id</a:t>
            </a:r>
            <a:r>
              <a:rPr lang="en-US" dirty="0" smtClean="0"/>
              <a:t>, address, district, postal code)</a:t>
            </a:r>
            <a:endParaRPr lang="en-US" dirty="0"/>
          </a:p>
          <a:p>
            <a:pPr lvl="1"/>
            <a:r>
              <a:rPr lang="en-US" dirty="0" smtClean="0"/>
              <a:t>Unimportant </a:t>
            </a:r>
            <a:r>
              <a:rPr lang="en-US" dirty="0"/>
              <a:t>attributes </a:t>
            </a:r>
            <a:r>
              <a:rPr lang="en-US" dirty="0" smtClean="0"/>
              <a:t>are suppressed in the schemas.</a:t>
            </a:r>
          </a:p>
          <a:p>
            <a:endParaRPr lang="en-US" sz="800" dirty="0"/>
          </a:p>
          <a:p>
            <a:pPr marL="0" indent="0">
              <a:buNone/>
            </a:pPr>
            <a:r>
              <a:rPr lang="en-US" dirty="0"/>
              <a:t>Slide 4</a:t>
            </a:r>
          </a:p>
          <a:p>
            <a:r>
              <a:rPr lang="en-US" dirty="0"/>
              <a:t>Using natural join does not work because of </a:t>
            </a:r>
            <a:r>
              <a:rPr lang="en-US" i="1" dirty="0" err="1"/>
              <a:t>last_update</a:t>
            </a:r>
            <a:r>
              <a:rPr lang="en-US" dirty="0"/>
              <a:t> attribute.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Beware of this common mistake</a:t>
            </a:r>
            <a:r>
              <a:rPr lang="en-US" dirty="0" smtClean="0"/>
              <a:t>.</a:t>
            </a:r>
            <a:endParaRPr lang="en-US" dirty="0"/>
          </a:p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9172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477672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5</a:t>
            </a:r>
          </a:p>
          <a:p>
            <a:r>
              <a:rPr lang="en-US" dirty="0"/>
              <a:t>The three queries at bottom are equivalent.</a:t>
            </a:r>
          </a:p>
          <a:p>
            <a:pPr lvl="1"/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natural join </a:t>
            </a:r>
            <a:r>
              <a:rPr lang="en-US" dirty="0"/>
              <a:t>query, 2</a:t>
            </a:r>
            <a:r>
              <a:rPr lang="en-US" baseline="30000" dirty="0"/>
              <a:t>nd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>
                <a:solidFill>
                  <a:srgbClr val="FF0000"/>
                </a:solidFill>
              </a:rPr>
              <a:t>ON</a:t>
            </a:r>
            <a:r>
              <a:rPr lang="en-US" dirty="0"/>
              <a:t> query, 3</a:t>
            </a:r>
            <a:r>
              <a:rPr lang="en-US" baseline="30000" dirty="0"/>
              <a:t>rd</a:t>
            </a:r>
            <a:r>
              <a:rPr lang="en-US" dirty="0"/>
              <a:t> </a:t>
            </a:r>
            <a:r>
              <a:rPr lang="en-US" dirty="0" smtClean="0">
                <a:solidFill>
                  <a:srgbClr val="FF0000"/>
                </a:solidFill>
              </a:rPr>
              <a:t>USING</a:t>
            </a:r>
            <a:r>
              <a:rPr lang="en-US" dirty="0" smtClean="0"/>
              <a:t> </a:t>
            </a:r>
            <a:r>
              <a:rPr lang="en-US" dirty="0"/>
              <a:t>query.</a:t>
            </a:r>
          </a:p>
          <a:p>
            <a:r>
              <a:rPr lang="en-US" dirty="0"/>
              <a:t>What we really want is to use the 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rgbClr val="FF0000"/>
                </a:solidFill>
              </a:rPr>
              <a:t>nd</a:t>
            </a:r>
            <a:r>
              <a:rPr lang="en-US" dirty="0"/>
              <a:t> or </a:t>
            </a:r>
            <a:r>
              <a:rPr lang="en-US" dirty="0">
                <a:solidFill>
                  <a:srgbClr val="FF0000"/>
                </a:solidFill>
              </a:rPr>
              <a:t>3</a:t>
            </a:r>
            <a:r>
              <a:rPr lang="en-US" baseline="30000" dirty="0">
                <a:solidFill>
                  <a:srgbClr val="FF0000"/>
                </a:solidFill>
              </a:rPr>
              <a:t>rd</a:t>
            </a:r>
            <a:r>
              <a:rPr lang="en-US" dirty="0">
                <a:solidFill>
                  <a:srgbClr val="FF0000"/>
                </a:solidFill>
              </a:rPr>
              <a:t> query </a:t>
            </a:r>
            <a:r>
              <a:rPr lang="en-US" b="1" dirty="0" smtClean="0"/>
              <a:t>without matching  </a:t>
            </a:r>
            <a:r>
              <a:rPr lang="en-US" b="1" i="1" dirty="0" err="1"/>
              <a:t>last_update</a:t>
            </a:r>
            <a:r>
              <a:rPr lang="en-US" b="1" i="1" dirty="0"/>
              <a:t>.</a:t>
            </a:r>
          </a:p>
          <a:p>
            <a:endParaRPr lang="en-US" sz="900" dirty="0"/>
          </a:p>
          <a:p>
            <a:pPr marL="0" indent="0">
              <a:buNone/>
            </a:pPr>
            <a:r>
              <a:rPr lang="en-US" dirty="0"/>
              <a:t>Slide 6</a:t>
            </a:r>
          </a:p>
          <a:p>
            <a:r>
              <a:rPr lang="en-US" dirty="0" smtClean="0"/>
              <a:t>Run the </a:t>
            </a:r>
            <a:r>
              <a:rPr lang="en-US" dirty="0"/>
              <a:t>two queries </a:t>
            </a:r>
            <a:r>
              <a:rPr lang="en-US" dirty="0" smtClean="0"/>
              <a:t>at top with </a:t>
            </a:r>
            <a:r>
              <a:rPr lang="en-US" dirty="0"/>
              <a:t>XAMPP and compare the results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You might get the same results because the two tables were updated at the same time</a:t>
            </a:r>
          </a:p>
          <a:p>
            <a:pPr lvl="1"/>
            <a:r>
              <a:rPr lang="en-US" dirty="0" smtClean="0"/>
              <a:t>Check </a:t>
            </a:r>
            <a:r>
              <a:rPr lang="en-US" dirty="0" err="1" smtClean="0"/>
              <a:t>last_updata</a:t>
            </a:r>
            <a:r>
              <a:rPr lang="en-US" dirty="0" smtClean="0"/>
              <a:t> values at the tables..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42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477672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7 Examples </a:t>
            </a:r>
          </a:p>
          <a:p>
            <a:r>
              <a:rPr lang="en-US" dirty="0"/>
              <a:t>To get the correct results, we simply </a:t>
            </a:r>
            <a:r>
              <a:rPr lang="en-US" dirty="0">
                <a:solidFill>
                  <a:srgbClr val="FF0000"/>
                </a:solidFill>
              </a:rPr>
              <a:t>remove</a:t>
            </a:r>
            <a:r>
              <a:rPr lang="en-US" dirty="0"/>
              <a:t> </a:t>
            </a:r>
            <a:r>
              <a:rPr lang="en-US" i="1" dirty="0" err="1">
                <a:solidFill>
                  <a:srgbClr val="FF0000"/>
                </a:solidFill>
              </a:rPr>
              <a:t>last_update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dirty="0"/>
              <a:t>from the JOIN … ON or the JOIN … USING statements at the bottom of Slide 5.</a:t>
            </a:r>
          </a:p>
          <a:p>
            <a:pPr marL="0" indent="0">
              <a:buNone/>
            </a:pPr>
            <a:endParaRPr lang="en-US" sz="800" dirty="0"/>
          </a:p>
          <a:p>
            <a:r>
              <a:rPr lang="en-US" dirty="0"/>
              <a:t>Example 1:</a:t>
            </a:r>
          </a:p>
          <a:p>
            <a:pPr marL="457200" lvl="1" indent="0">
              <a:buNone/>
            </a:pPr>
            <a:r>
              <a:rPr lang="en-US" dirty="0"/>
              <a:t>SELECT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address, district, </a:t>
            </a:r>
            <a:r>
              <a:rPr lang="en-US" dirty="0" err="1"/>
              <a:t>postal_code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FROM customer </a:t>
            </a:r>
            <a:r>
              <a:rPr lang="en-US" b="1" dirty="0">
                <a:solidFill>
                  <a:srgbClr val="00B050"/>
                </a:solidFill>
              </a:rPr>
              <a:t>JOIN</a:t>
            </a:r>
            <a:r>
              <a:rPr lang="en-US" dirty="0"/>
              <a:t> address </a:t>
            </a:r>
            <a:r>
              <a:rPr lang="en-US" b="1" dirty="0">
                <a:solidFill>
                  <a:srgbClr val="00B050"/>
                </a:solidFill>
              </a:rPr>
              <a:t>USING</a:t>
            </a:r>
            <a:r>
              <a:rPr lang="en-US" dirty="0"/>
              <a:t> (</a:t>
            </a:r>
            <a:r>
              <a:rPr lang="en-US" dirty="0" err="1"/>
              <a:t>address_id</a:t>
            </a:r>
            <a:r>
              <a:rPr lang="en-US" dirty="0"/>
              <a:t>)</a:t>
            </a:r>
          </a:p>
          <a:p>
            <a:r>
              <a:rPr lang="en-US" dirty="0"/>
              <a:t>Example 2:</a:t>
            </a:r>
          </a:p>
          <a:p>
            <a:pPr marL="457200" lvl="1" indent="0">
              <a:buNone/>
            </a:pPr>
            <a:r>
              <a:rPr lang="en-US" dirty="0"/>
              <a:t>SELECT </a:t>
            </a:r>
            <a:r>
              <a:rPr lang="en-US" dirty="0" err="1"/>
              <a:t>store.store_id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FROM staff </a:t>
            </a:r>
            <a:r>
              <a:rPr lang="en-US" b="1" dirty="0">
                <a:solidFill>
                  <a:srgbClr val="00B050"/>
                </a:solidFill>
              </a:rPr>
              <a:t>JOIN</a:t>
            </a:r>
            <a:r>
              <a:rPr lang="en-US" dirty="0"/>
              <a:t> store </a:t>
            </a:r>
            <a:r>
              <a:rPr lang="en-US" b="1" dirty="0">
                <a:solidFill>
                  <a:srgbClr val="00B050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staff_id</a:t>
            </a:r>
            <a:r>
              <a:rPr lang="en-US" dirty="0"/>
              <a:t> = </a:t>
            </a:r>
            <a:r>
              <a:rPr lang="en-US" dirty="0" err="1"/>
              <a:t>manager_staff_id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75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477672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</a:t>
            </a:r>
            <a:r>
              <a:rPr lang="en-US" dirty="0" smtClean="0"/>
              <a:t>8-9</a:t>
            </a:r>
            <a:endParaRPr lang="en-US" dirty="0"/>
          </a:p>
          <a:p>
            <a:r>
              <a:rPr lang="en-US" dirty="0" smtClean="0"/>
              <a:t>What happens to the info in a table if the common attributes don’t match the other table?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Left</a:t>
            </a:r>
            <a:r>
              <a:rPr lang="en-US" dirty="0" smtClean="0"/>
              <a:t> outer join – keeps all info of the </a:t>
            </a:r>
            <a:r>
              <a:rPr lang="en-US" dirty="0" smtClean="0">
                <a:solidFill>
                  <a:srgbClr val="FF0000"/>
                </a:solidFill>
              </a:rPr>
              <a:t>left table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Right</a:t>
            </a:r>
            <a:r>
              <a:rPr lang="en-US" dirty="0" smtClean="0"/>
              <a:t> outer join – keeps all info of the </a:t>
            </a:r>
            <a:r>
              <a:rPr lang="en-US" dirty="0" smtClean="0">
                <a:solidFill>
                  <a:srgbClr val="FF0000"/>
                </a:solidFill>
              </a:rPr>
              <a:t>right table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Full</a:t>
            </a:r>
            <a:r>
              <a:rPr lang="en-US" dirty="0" smtClean="0"/>
              <a:t> outer join – keeps info from </a:t>
            </a:r>
            <a:r>
              <a:rPr lang="en-US" dirty="0" smtClean="0">
                <a:solidFill>
                  <a:srgbClr val="FF0000"/>
                </a:solidFill>
              </a:rPr>
              <a:t>both</a:t>
            </a:r>
            <a:r>
              <a:rPr lang="en-US" dirty="0" smtClean="0"/>
              <a:t> tables.</a:t>
            </a:r>
          </a:p>
          <a:p>
            <a:pPr lvl="1"/>
            <a:r>
              <a:rPr lang="en-US" dirty="0" smtClean="0"/>
              <a:t>Set value to NULL if the corresponding values don’t exist in other table.</a:t>
            </a:r>
            <a:endParaRPr lang="en-US" dirty="0"/>
          </a:p>
          <a:p>
            <a:r>
              <a:rPr lang="en-US" dirty="0"/>
              <a:t>Previous year’s MySQL does not support </a:t>
            </a:r>
            <a:r>
              <a:rPr lang="en-US" dirty="0" smtClean="0">
                <a:solidFill>
                  <a:srgbClr val="00B050"/>
                </a:solidFill>
              </a:rPr>
              <a:t>full</a:t>
            </a:r>
            <a:r>
              <a:rPr lang="en-US" dirty="0" smtClean="0"/>
              <a:t> outer join.</a:t>
            </a:r>
            <a:endParaRPr lang="en-US" dirty="0"/>
          </a:p>
          <a:p>
            <a:pPr lvl="1"/>
            <a:r>
              <a:rPr lang="en-US" dirty="0"/>
              <a:t>Try it and see if it works in version 8.2</a:t>
            </a:r>
            <a:r>
              <a:rPr lang="en-US" dirty="0" smtClean="0"/>
              <a:t>.</a:t>
            </a:r>
            <a:endParaRPr lang="en-US" sz="900" dirty="0" smtClean="0"/>
          </a:p>
          <a:p>
            <a:endParaRPr lang="en-US" sz="800" dirty="0"/>
          </a:p>
          <a:p>
            <a:r>
              <a:rPr lang="en-US" dirty="0" smtClean="0"/>
              <a:t>Let </a:t>
            </a:r>
            <a:r>
              <a:rPr lang="en-US" dirty="0"/>
              <a:t>you study the rest of the lab yourself.</a:t>
            </a:r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dirty="0"/>
              <a:t>Slide 10 </a:t>
            </a:r>
            <a:r>
              <a:rPr lang="en-US" dirty="0" smtClean="0"/>
              <a:t>Example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SELECT district, address,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FROM </a:t>
            </a:r>
            <a:r>
              <a:rPr lang="en-US" dirty="0">
                <a:solidFill>
                  <a:srgbClr val="FF0000"/>
                </a:solidFill>
              </a:rPr>
              <a:t>address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LEFT</a:t>
            </a:r>
            <a:r>
              <a:rPr lang="en-US" dirty="0"/>
              <a:t> OUTER JOIN customer USING (</a:t>
            </a:r>
            <a:r>
              <a:rPr lang="en-US" dirty="0" err="1"/>
              <a:t>address_id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No address is lost</a:t>
            </a:r>
            <a:r>
              <a:rPr lang="en-US" dirty="0" smtClean="0"/>
              <a:t>, even if no customer lives there.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4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477672"/>
            <a:ext cx="10483849" cy="5994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11 </a:t>
            </a:r>
            <a:r>
              <a:rPr lang="en-US" dirty="0" smtClean="0"/>
              <a:t>Exercises, walk the tables.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Q1</a:t>
            </a:r>
            <a:r>
              <a:rPr lang="en-US" dirty="0"/>
              <a:t>: Find the films (title) played by Zero Cage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err="1" smtClean="0"/>
              <a:t>Sakila</a:t>
            </a:r>
            <a:r>
              <a:rPr lang="en-US" dirty="0" smtClean="0"/>
              <a:t> has entity tables actor and film.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Also has the relationship table </a:t>
            </a:r>
            <a:r>
              <a:rPr lang="en-US" dirty="0" err="1" smtClean="0"/>
              <a:t>film_actor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b="1" dirty="0" smtClean="0"/>
              <a:t>Start</a:t>
            </a:r>
            <a:r>
              <a:rPr lang="en-US" dirty="0" smtClean="0"/>
              <a:t>: actor(</a:t>
            </a:r>
            <a:r>
              <a:rPr lang="en-US" dirty="0" err="1" smtClean="0">
                <a:solidFill>
                  <a:srgbClr val="00B050"/>
                </a:solidFill>
              </a:rPr>
              <a:t>actor_id</a:t>
            </a:r>
            <a:r>
              <a:rPr lang="en-US" dirty="0" smtClean="0">
                <a:solidFill>
                  <a:srgbClr val="00B050"/>
                </a:solidFill>
              </a:rPr>
              <a:t>, </a:t>
            </a:r>
            <a:r>
              <a:rPr lang="en-US" dirty="0" err="1"/>
              <a:t>first_name</a:t>
            </a:r>
            <a:r>
              <a:rPr lang="en-US" dirty="0"/>
              <a:t>=“Zero”, </a:t>
            </a:r>
            <a:r>
              <a:rPr lang="en-US" dirty="0" err="1"/>
              <a:t>last_name</a:t>
            </a:r>
            <a:r>
              <a:rPr lang="en-US" dirty="0"/>
              <a:t>=“Cage</a:t>
            </a:r>
            <a:r>
              <a:rPr lang="en-US" dirty="0" smtClean="0"/>
              <a:t>”)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 err="1" smtClean="0"/>
              <a:t>film_actor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00B050"/>
                </a:solidFill>
              </a:rPr>
              <a:t>actor_id</a:t>
            </a:r>
            <a:r>
              <a:rPr lang="en-US" dirty="0" smtClean="0">
                <a:solidFill>
                  <a:srgbClr val="00B050"/>
                </a:solidFill>
              </a:rPr>
              <a:t>, </a:t>
            </a:r>
            <a:r>
              <a:rPr lang="en-US" dirty="0" err="1" smtClean="0">
                <a:solidFill>
                  <a:srgbClr val="0070C0"/>
                </a:solidFill>
              </a:rPr>
              <a:t>film_id</a:t>
            </a:r>
            <a:r>
              <a:rPr lang="en-US" dirty="0" smtClean="0">
                <a:solidFill>
                  <a:srgbClr val="00B050"/>
                </a:solidFill>
              </a:rPr>
              <a:t>)</a:t>
            </a:r>
            <a:endParaRPr lang="en-US" dirty="0"/>
          </a:p>
          <a:p>
            <a:pPr marL="0" indent="0">
              <a:buNone/>
            </a:pPr>
            <a:r>
              <a:rPr lang="en-US" b="1" dirty="0" smtClean="0"/>
              <a:t>End: </a:t>
            </a:r>
            <a:r>
              <a:rPr lang="en-US" dirty="0" smtClean="0"/>
              <a:t>film(</a:t>
            </a:r>
            <a:r>
              <a:rPr lang="en-US" dirty="0" err="1" smtClean="0">
                <a:solidFill>
                  <a:srgbClr val="0070C0"/>
                </a:solidFill>
              </a:rPr>
              <a:t>film_id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/>
              <a:t>title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sz="800" b="1" dirty="0"/>
          </a:p>
          <a:p>
            <a:pPr marL="457200" lvl="1" indent="0">
              <a:buNone/>
            </a:pPr>
            <a:r>
              <a:rPr lang="en-US" dirty="0">
                <a:latin typeface="Bahnschrift SemiBold" panose="020B0502040204020203" pitchFamily="34" charset="0"/>
              </a:rPr>
              <a:t>SELECT	</a:t>
            </a:r>
            <a:r>
              <a:rPr lang="en-US" dirty="0" err="1" smtClean="0">
                <a:latin typeface="Bahnschrift SemiBold" panose="020B0502040204020203" pitchFamily="34" charset="0"/>
              </a:rPr>
              <a:t>film.title</a:t>
            </a:r>
            <a:endParaRPr lang="en-US" dirty="0">
              <a:latin typeface="Bahnschrift SemiBold" panose="020B0502040204020203" pitchFamily="34" charset="0"/>
            </a:endParaRPr>
          </a:p>
          <a:p>
            <a:pPr marL="457200" lvl="1" indent="0">
              <a:buNone/>
            </a:pPr>
            <a:r>
              <a:rPr lang="en-US" dirty="0">
                <a:latin typeface="Bahnschrift SemiBold" panose="020B0502040204020203" pitchFamily="34" charset="0"/>
              </a:rPr>
              <a:t>FROM 	film JOIN </a:t>
            </a:r>
            <a:r>
              <a:rPr lang="en-US" dirty="0" err="1">
                <a:latin typeface="Bahnschrift SemiBold" panose="020B0502040204020203" pitchFamily="34" charset="0"/>
              </a:rPr>
              <a:t>film_actor</a:t>
            </a:r>
            <a:r>
              <a:rPr lang="en-US" dirty="0">
                <a:latin typeface="Bahnschrift SemiBold" panose="020B0502040204020203" pitchFamily="34" charset="0"/>
              </a:rPr>
              <a:t> USING (</a:t>
            </a:r>
            <a:r>
              <a:rPr lang="en-US" dirty="0" err="1">
                <a:solidFill>
                  <a:srgbClr val="0070C0"/>
                </a:solidFill>
                <a:latin typeface="Bahnschrift SemiBold" panose="020B0502040204020203" pitchFamily="34" charset="0"/>
              </a:rPr>
              <a:t>film_id</a:t>
            </a:r>
            <a:r>
              <a:rPr lang="en-US" dirty="0">
                <a:latin typeface="Bahnschrift SemiBold" panose="020B0502040204020203" pitchFamily="34" charset="0"/>
              </a:rPr>
              <a:t>) </a:t>
            </a:r>
          </a:p>
          <a:p>
            <a:pPr marL="457200" lvl="1" indent="0">
              <a:buNone/>
            </a:pPr>
            <a:r>
              <a:rPr lang="en-US" dirty="0">
                <a:latin typeface="Bahnschrift SemiBold" panose="020B0502040204020203" pitchFamily="34" charset="0"/>
              </a:rPr>
              <a:t>		       JOIN actor USING (</a:t>
            </a:r>
            <a:r>
              <a:rPr lang="en-US" dirty="0" err="1">
                <a:solidFill>
                  <a:srgbClr val="00B050"/>
                </a:solidFill>
                <a:latin typeface="Bahnschrift SemiBold" panose="020B0502040204020203" pitchFamily="34" charset="0"/>
              </a:rPr>
              <a:t>actor_id</a:t>
            </a:r>
            <a:r>
              <a:rPr lang="en-US" dirty="0">
                <a:latin typeface="Bahnschrift SemiBold" panose="020B0502040204020203" pitchFamily="34" charset="0"/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latin typeface="Bahnschrift SemiBold" panose="020B0502040204020203" pitchFamily="34" charset="0"/>
              </a:rPr>
              <a:t>WHERE 	</a:t>
            </a:r>
            <a:r>
              <a:rPr lang="en-US" dirty="0" err="1">
                <a:latin typeface="Bahnschrift SemiBold" panose="020B0502040204020203" pitchFamily="34" charset="0"/>
              </a:rPr>
              <a:t>first_name</a:t>
            </a:r>
            <a:r>
              <a:rPr lang="en-US" dirty="0">
                <a:latin typeface="Bahnschrift SemiBold" panose="020B0502040204020203" pitchFamily="34" charset="0"/>
              </a:rPr>
              <a:t>='Zero' AND </a:t>
            </a:r>
            <a:r>
              <a:rPr lang="en-US" dirty="0" err="1">
                <a:latin typeface="Bahnschrift SemiBold" panose="020B0502040204020203" pitchFamily="34" charset="0"/>
              </a:rPr>
              <a:t>last_name</a:t>
            </a:r>
            <a:r>
              <a:rPr lang="en-US" dirty="0">
                <a:latin typeface="Bahnschrift SemiBold" panose="020B0502040204020203" pitchFamily="34" charset="0"/>
              </a:rPr>
              <a:t>='Cage</a:t>
            </a:r>
            <a:r>
              <a:rPr lang="en-US" dirty="0" smtClean="0">
                <a:latin typeface="Bahnschrift SemiBold" panose="020B0502040204020203" pitchFamily="34" charset="0"/>
              </a:rPr>
              <a:t>'</a:t>
            </a:r>
            <a:r>
              <a:rPr lang="en-US" dirty="0"/>
              <a:t/>
            </a:r>
            <a:br>
              <a:rPr lang="en-US" dirty="0"/>
            </a:br>
            <a:endParaRPr lang="en-US" sz="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31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>
            <a:extLst>
              <a:ext uri="{FF2B5EF4-FFF2-40B4-BE49-F238E27FC236}">
                <a16:creationId xmlns:a16="http://schemas.microsoft.com/office/drawing/2014/main" xmlns="" id="{7185031B-8265-4F1B-A92F-819216077F64}"/>
              </a:ext>
            </a:extLst>
          </p:cNvPr>
          <p:cNvSpPr txBox="1">
            <a:spLocks/>
          </p:cNvSpPr>
          <p:nvPr/>
        </p:nvSpPr>
        <p:spPr>
          <a:xfrm>
            <a:off x="869951" y="342899"/>
            <a:ext cx="10917237" cy="63293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Slide 11 Exercises</a:t>
            </a:r>
          </a:p>
          <a:p>
            <a:pPr marL="0" indent="0">
              <a:buNone/>
            </a:pPr>
            <a:r>
              <a:rPr lang="en-US" b="1" dirty="0"/>
              <a:t>Q2</a:t>
            </a:r>
            <a:r>
              <a:rPr lang="en-US" dirty="0"/>
              <a:t>: </a:t>
            </a:r>
            <a:r>
              <a:rPr lang="en-US" altLang="zh-CN" dirty="0"/>
              <a:t>Find the films (title) rented by George Linton. The join condition is </a:t>
            </a:r>
            <a:r>
              <a:rPr lang="en-US" altLang="zh-CN" dirty="0">
                <a:latin typeface="Consolas" panose="020B0609020204030204" pitchFamily="49" charset="0"/>
              </a:rPr>
              <a:t>ON</a:t>
            </a:r>
            <a:r>
              <a:rPr lang="en-US" altLang="zh-CN" dirty="0" smtClean="0"/>
              <a:t>.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 </a:t>
            </a:r>
            <a:r>
              <a:rPr lang="en-US" dirty="0" err="1" smtClean="0"/>
              <a:t>Sakila</a:t>
            </a:r>
            <a:r>
              <a:rPr lang="en-US" dirty="0" smtClean="0"/>
              <a:t>, which table can we go from table customer? (Table rental.)  </a:t>
            </a:r>
          </a:p>
          <a:p>
            <a:pPr lvl="1"/>
            <a:r>
              <a:rPr lang="en-US" dirty="0" smtClean="0"/>
              <a:t>From which table can we go </a:t>
            </a:r>
            <a:r>
              <a:rPr lang="en-US" smtClean="0"/>
              <a:t>to table film</a:t>
            </a:r>
            <a:r>
              <a:rPr lang="en-US" dirty="0" smtClean="0"/>
              <a:t>? (Table inventory.)	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Start</a:t>
            </a:r>
            <a:r>
              <a:rPr lang="en-US" dirty="0"/>
              <a:t>: </a:t>
            </a:r>
            <a:r>
              <a:rPr lang="en-US" dirty="0" smtClean="0"/>
              <a:t>customer(</a:t>
            </a:r>
            <a:r>
              <a:rPr lang="en-US" dirty="0" err="1" smtClean="0">
                <a:solidFill>
                  <a:srgbClr val="00B050"/>
                </a:solidFill>
              </a:rPr>
              <a:t>customer_id</a:t>
            </a:r>
            <a:r>
              <a:rPr lang="en-US" dirty="0" smtClean="0"/>
              <a:t>, </a:t>
            </a:r>
            <a:r>
              <a:rPr lang="en-US" dirty="0" err="1" smtClean="0"/>
              <a:t>first_name</a:t>
            </a:r>
            <a:r>
              <a:rPr lang="en-US" dirty="0" smtClean="0"/>
              <a:t>, </a:t>
            </a:r>
            <a:r>
              <a:rPr lang="en-US" dirty="0" err="1" smtClean="0"/>
              <a:t>last_name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ym typeface="Symbol" panose="05050102010706020507" pitchFamily="18" charset="2"/>
              </a:rPr>
              <a:t>rental(</a:t>
            </a:r>
            <a:r>
              <a:rPr lang="en-US" strike="sngStrike" dirty="0" err="1">
                <a:sym typeface="Symbol" panose="05050102010706020507" pitchFamily="18" charset="2"/>
              </a:rPr>
              <a:t>rental_id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olidFill>
                  <a:srgbClr val="00B050"/>
                </a:solidFill>
                <a:sym typeface="Symbol" panose="05050102010706020507" pitchFamily="18" charset="2"/>
              </a:rPr>
              <a:t>customer_id</a:t>
            </a:r>
            <a:r>
              <a:rPr lang="en-US" dirty="0">
                <a:sym typeface="Symbol" panose="05050102010706020507" pitchFamily="18" charset="2"/>
              </a:rPr>
              <a:t>, </a:t>
            </a:r>
            <a:r>
              <a:rPr lang="en-US" dirty="0" err="1">
                <a:solidFill>
                  <a:srgbClr val="FF0000"/>
                </a:solidFill>
                <a:sym typeface="Symbol" panose="05050102010706020507" pitchFamily="18" charset="2"/>
              </a:rPr>
              <a:t>inventory_id</a:t>
            </a:r>
            <a:r>
              <a:rPr lang="en-US" dirty="0">
                <a:sym typeface="Symbol" panose="05050102010706020507" pitchFamily="18" charset="2"/>
              </a:rPr>
              <a:t>) </a:t>
            </a:r>
            <a:endParaRPr lang="en-US" dirty="0" smtClean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	</a:t>
            </a:r>
            <a:r>
              <a:rPr lang="en-US" dirty="0" smtClean="0">
                <a:sym typeface="Symbol" panose="05050102010706020507" pitchFamily="18" charset="2"/>
              </a:rPr>
              <a:t>inventory</a:t>
            </a:r>
            <a:r>
              <a:rPr lang="en-US" dirty="0" smtClean="0"/>
              <a:t>(</a:t>
            </a:r>
            <a:r>
              <a:rPr lang="en-US" dirty="0" err="1" smtClean="0">
                <a:solidFill>
                  <a:srgbClr val="FF0000"/>
                </a:solidFill>
              </a:rPr>
              <a:t>inventory_id</a:t>
            </a:r>
            <a:r>
              <a:rPr lang="en-US" dirty="0"/>
              <a:t>, </a:t>
            </a:r>
            <a:r>
              <a:rPr lang="en-US" dirty="0" err="1">
                <a:solidFill>
                  <a:srgbClr val="0070C0"/>
                </a:solidFill>
              </a:rPr>
              <a:t>film_id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b="1" dirty="0" smtClean="0"/>
              <a:t>End</a:t>
            </a:r>
            <a:r>
              <a:rPr lang="en-US" b="1" dirty="0"/>
              <a:t>: </a:t>
            </a:r>
            <a:r>
              <a:rPr lang="en-US" dirty="0"/>
              <a:t>film(</a:t>
            </a:r>
            <a:r>
              <a:rPr lang="en-US" dirty="0" err="1">
                <a:solidFill>
                  <a:srgbClr val="0070C0"/>
                </a:solidFill>
              </a:rPr>
              <a:t>film_id</a:t>
            </a:r>
            <a:r>
              <a:rPr lang="en-US" dirty="0">
                <a:solidFill>
                  <a:srgbClr val="00B050"/>
                </a:solidFill>
              </a:rPr>
              <a:t>, </a:t>
            </a:r>
            <a:r>
              <a:rPr lang="en-US" dirty="0"/>
              <a:t>title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smtClean="0"/>
              <a:t>title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	customer </a:t>
            </a:r>
            <a:r>
              <a:rPr lang="en-US" dirty="0" smtClean="0"/>
              <a:t>JOIN </a:t>
            </a:r>
            <a:r>
              <a:rPr lang="en-US" dirty="0"/>
              <a:t>rental ON </a:t>
            </a:r>
            <a:r>
              <a:rPr lang="en-US" dirty="0" err="1">
                <a:solidFill>
                  <a:srgbClr val="00B050"/>
                </a:solidFill>
              </a:rPr>
              <a:t>customer.customer_id</a:t>
            </a:r>
            <a:r>
              <a:rPr lang="en-US" dirty="0">
                <a:solidFill>
                  <a:srgbClr val="00B050"/>
                </a:solidFill>
              </a:rPr>
              <a:t>=</a:t>
            </a:r>
            <a:r>
              <a:rPr lang="en-US" dirty="0" err="1">
                <a:solidFill>
                  <a:srgbClr val="00B050"/>
                </a:solidFill>
              </a:rPr>
              <a:t>rental.customer_id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      JOIN </a:t>
            </a:r>
            <a:r>
              <a:rPr lang="en-US" dirty="0"/>
              <a:t>inventory ON </a:t>
            </a:r>
            <a:r>
              <a:rPr lang="en-US" dirty="0" err="1">
                <a:solidFill>
                  <a:srgbClr val="FF0000"/>
                </a:solidFill>
              </a:rPr>
              <a:t>rental.inventory_id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inventory.inventory_id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smtClean="0"/>
              <a:t>      JOIN </a:t>
            </a:r>
            <a:r>
              <a:rPr lang="en-US" dirty="0"/>
              <a:t>film ON </a:t>
            </a:r>
            <a:r>
              <a:rPr lang="en-US" dirty="0" err="1" smtClean="0">
                <a:solidFill>
                  <a:srgbClr val="0070C0"/>
                </a:solidFill>
              </a:rPr>
              <a:t>inventory.film_id</a:t>
            </a:r>
            <a:r>
              <a:rPr lang="en-US" dirty="0" smtClean="0"/>
              <a:t>=</a:t>
            </a:r>
            <a:r>
              <a:rPr lang="en-US" dirty="0" err="1" smtClean="0">
                <a:solidFill>
                  <a:srgbClr val="0070C0"/>
                </a:solidFill>
              </a:rPr>
              <a:t>film.film_id</a:t>
            </a: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 smtClean="0"/>
              <a:t>first_name</a:t>
            </a:r>
            <a:r>
              <a:rPr lang="en-US" dirty="0"/>
              <a:t>='George' AND </a:t>
            </a:r>
            <a:r>
              <a:rPr lang="en-US" dirty="0" err="1"/>
              <a:t>last_name</a:t>
            </a:r>
            <a:r>
              <a:rPr lang="en-US" dirty="0"/>
              <a:t>='Linton'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5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7897</TotalTime>
  <Words>631</Words>
  <Application>Microsoft Office PowerPoint</Application>
  <PresentationFormat>Widescreen</PresentationFormat>
  <Paragraphs>116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等线</vt:lpstr>
      <vt:lpstr>Arial</vt:lpstr>
      <vt:lpstr>Bahnschrift SemiBold</vt:lpstr>
      <vt:lpstr>Calibri</vt:lpstr>
      <vt:lpstr>Calibri Light</vt:lpstr>
      <vt:lpstr>Consolas</vt:lpstr>
      <vt:lpstr>Symbol</vt:lpstr>
      <vt:lpstr>Office Theme</vt:lpstr>
      <vt:lpstr>Database Lab 4 Join Addendum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Microsoft account</cp:lastModifiedBy>
  <cp:revision>792</cp:revision>
  <dcterms:created xsi:type="dcterms:W3CDTF">2021-08-02T03:54:37Z</dcterms:created>
  <dcterms:modified xsi:type="dcterms:W3CDTF">2025-10-08T14:52:38Z</dcterms:modified>
</cp:coreProperties>
</file>