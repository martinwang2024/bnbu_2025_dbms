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403" r:id="rId3"/>
    <p:sldId id="404" r:id="rId4"/>
    <p:sldId id="392" r:id="rId5"/>
    <p:sldId id="405" r:id="rId6"/>
    <p:sldId id="398" r:id="rId7"/>
    <p:sldId id="406" r:id="rId8"/>
    <p:sldId id="393" r:id="rId9"/>
    <p:sldId id="396" r:id="rId10"/>
    <p:sldId id="397" r:id="rId11"/>
    <p:sldId id="3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85" autoAdjust="0"/>
    <p:restoredTop sz="91677" autoAdjust="0"/>
  </p:normalViewPr>
  <p:slideViewPr>
    <p:cSldViewPr snapToGrid="0">
      <p:cViewPr>
        <p:scale>
          <a:sx n="60" d="100"/>
          <a:sy n="60" d="100"/>
        </p:scale>
        <p:origin x="-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53279-6AA3-493C-8FBA-220F2985EB2E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7CB6F-1EC6-4E88-BB90-B62A7FA4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6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A001-FE84-4C5B-B3E9-3C293298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D1E335-4EC3-4A3A-9E8B-4384C429A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ECD76-81D7-4D58-BCE9-33A182A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3355F-4333-48BB-95A3-4EEDCC46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19DD9-A096-492C-A48C-C88315FD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30F2-6F06-4771-AC5C-5DDD33D1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F2D8F-C2AB-4793-9330-A160CE28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7422D-3C7C-4423-8BDD-1D140DE9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63F68-B0AE-4D03-841E-375203E4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D4527-9D93-44C5-8AD0-E76E456F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9D35-A2D8-404F-A5F1-D88CD145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D25F04-EC19-4ACA-977B-A719AAC9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B345D-AB9F-4507-B822-0BA41D71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4FC9A-9867-4767-A7D2-A3CC7AE9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E3F14-5BCC-4EBD-AD33-E2B19B04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4B32-4DB6-479A-B20F-A5AC0CDD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6D3A2-A5C4-470D-8714-8FBE511B5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ACC22-E511-4A38-A5FD-13552F64B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FA871-0312-4F27-A57C-9E29718A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54EBB-0D74-449A-A7C5-BA059BAA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09558-ABC1-4FEA-933D-CA1A456B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EB7F-80C8-43A4-8E90-807D9C19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12095-C5A7-485A-8A19-F6626E84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D4BE0-2314-41FE-90AC-EC9C0CFC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201EE-61BF-4BBB-842C-92D59F3B1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812400-28B5-4E91-B313-A20FFEF38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F5992E-8866-4E02-8D24-2E45E9C2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75B223-56E9-4E30-9723-F562FA8F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862E3-731F-41CF-BE1B-39A2A8CD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9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35E3-DE09-49A7-B086-B26C480C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83F54-DEB1-4A0C-87FF-CA00CE7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B68F9-1574-477F-8C95-C0D86FD5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5F340-694E-4B04-ACCE-4B4E8684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34A5DF-AD09-493A-BDB6-6A3ECBCC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3B11-60BF-4722-9687-B40A4C5C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82CFE-7DCB-48BD-96BE-0524566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3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C3449-8D6B-4E3F-806C-04C7434F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31AC0-6164-4577-9446-06D61E38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B7FC0-674F-43C6-81B7-C72264B1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76B59-C96E-4620-BAB4-BF8AA955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78085-5A70-4CBE-A4E4-AC1D2EC9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CDA0F-BD4D-4296-B409-A11C3E14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2F956-24AA-4791-A21F-1CBE73F2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52DC7-DC1F-4C4A-9AB6-BF835622C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7A006B-8C27-4B47-BA8D-4565E540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E1E30-9ED4-4CF1-A585-20FAF63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59A66-D3C9-4497-BDDF-8E5A5612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DCF1E-D835-4A58-8B96-9859ECE9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BB30-0797-434F-8E6E-A421CA39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2E0BF2-E02A-42B0-B9CB-17371840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8C753-9D3D-49BD-8D74-BC2F5B9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724DE-87C0-413B-B67D-A837CCDC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6D589-9155-4C2E-8942-AF615EE2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7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73F19-A04E-4776-8619-511326C12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FCC09-AA24-4D7B-86F1-4A7F772C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92B3E-BFA6-4837-BDA1-AE6795F7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BAF76-A8F7-40CC-A8D0-B7C898BC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C672E-E66A-47F7-8501-F45DF1FF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936C3-81A7-445F-82C5-91B3DD3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88614-3E35-49A0-BB95-C828ACF7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ADCF5-07DC-42CF-875E-D457C868E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F71-2F7E-4DA6-BFF1-3D733D1E8A1F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AD226-64F2-4BAA-A906-44AA737B3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143C4-3B48-4E41-BA21-CFC407B6F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4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6809-512B-409C-B505-A3D062650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Lab 8</a:t>
            </a:r>
            <a:br>
              <a:rPr lang="en-US" dirty="0"/>
            </a:br>
            <a:r>
              <a:rPr lang="en-US" dirty="0"/>
              <a:t>NULL and Subquery</a:t>
            </a:r>
            <a:br>
              <a:rPr lang="en-US" dirty="0"/>
            </a:br>
            <a:r>
              <a:rPr lang="en-US" dirty="0"/>
              <a:t>Addendum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9D31B0-1558-422C-B95B-13B1FAC75D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Jefferson Fong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32A7C-EBF7-4E53-9EA9-2CC2DB727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696" y="3397165"/>
            <a:ext cx="319430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873" y="215029"/>
            <a:ext cx="6061364" cy="897617"/>
          </a:xfrm>
        </p:spPr>
        <p:txBody>
          <a:bodyPr/>
          <a:lstStyle/>
          <a:p>
            <a:r>
              <a:rPr lang="en-US" dirty="0"/>
              <a:t>Announcements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97" y="1525906"/>
            <a:ext cx="4483163" cy="40628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847426" y="1525906"/>
            <a:ext cx="5045363" cy="40805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Anyone who cannot attend at that time must apply for official excuse form in order to take the make-up test.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Closed book, no notes or any electronic devices allowed.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Bring a pen (or two) and your UIC or government issued photo ID card. 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1573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8235"/>
          </a:xfrm>
        </p:spPr>
        <p:txBody>
          <a:bodyPr/>
          <a:lstStyle/>
          <a:p>
            <a:r>
              <a:rPr lang="en-US" dirty="0"/>
              <a:t>Announcement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6928"/>
            <a:ext cx="10515600" cy="4560036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Project</a:t>
            </a:r>
          </a:p>
          <a:p>
            <a:r>
              <a:rPr lang="en-US" dirty="0"/>
              <a:t>All requirements are in iSpace under “Project – Problem description” </a:t>
            </a:r>
          </a:p>
          <a:p>
            <a:pPr lvl="1"/>
            <a:r>
              <a:rPr lang="en-US" dirty="0"/>
              <a:t>Check the Timeline section on when tasks are due.</a:t>
            </a:r>
          </a:p>
          <a:p>
            <a:r>
              <a:rPr lang="en-US" dirty="0"/>
              <a:t>ER diagram is due on Sunday 23 Nov 11:59 pm</a:t>
            </a:r>
          </a:p>
          <a:p>
            <a:r>
              <a:rPr lang="en-US" dirty="0"/>
              <a:t>Static Webpages (html files) are due Sunday 30 Nov 11:59 pm</a:t>
            </a:r>
          </a:p>
        </p:txBody>
      </p:sp>
    </p:spTree>
    <p:extLst>
      <p:ext uri="{BB962C8B-B14F-4D97-AF65-F5344CB8AC3E}">
        <p14:creationId xmlns:p14="http://schemas.microsoft.com/office/powerpoint/2010/main" val="2839506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81965"/>
            <a:ext cx="11002701" cy="60696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 3 </a:t>
            </a:r>
          </a:p>
          <a:p>
            <a:r>
              <a:rPr lang="en-US" altLang="zh-CN" dirty="0"/>
              <a:t>In your </a:t>
            </a:r>
            <a:r>
              <a:rPr lang="en-US" altLang="zh-CN" b="1" dirty="0" err="1">
                <a:solidFill>
                  <a:srgbClr val="00B050"/>
                </a:solidFill>
              </a:rPr>
              <a:t>sakila</a:t>
            </a:r>
            <a:r>
              <a:rPr lang="en-US" altLang="zh-CN" dirty="0"/>
              <a:t> database, does table </a:t>
            </a:r>
            <a:r>
              <a:rPr lang="en-US" altLang="zh-CN" i="1" dirty="0"/>
              <a:t>staff</a:t>
            </a:r>
            <a:r>
              <a:rPr lang="en-US" altLang="zh-CN" dirty="0"/>
              <a:t> have the attribute </a:t>
            </a:r>
            <a:r>
              <a:rPr lang="en-US" altLang="zh-CN" i="1" dirty="0" err="1">
                <a:solidFill>
                  <a:srgbClr val="FF0000"/>
                </a:solidFill>
              </a:rPr>
              <a:t>staff_rating</a:t>
            </a:r>
            <a:r>
              <a:rPr lang="en-US" altLang="zh-CN" dirty="0"/>
              <a:t>? </a:t>
            </a:r>
          </a:p>
          <a:p>
            <a:pPr lvl="1"/>
            <a:r>
              <a:rPr lang="en-US" altLang="zh-CN" dirty="0"/>
              <a:t>Click table </a:t>
            </a:r>
            <a:r>
              <a:rPr lang="en-US" altLang="zh-CN" i="1" dirty="0"/>
              <a:t>staff</a:t>
            </a:r>
            <a:r>
              <a:rPr lang="en-US" altLang="zh-CN" dirty="0"/>
              <a:t> and see.</a:t>
            </a:r>
          </a:p>
          <a:p>
            <a:r>
              <a:rPr lang="en-US" altLang="zh-CN" dirty="0"/>
              <a:t>If </a:t>
            </a:r>
            <a:r>
              <a:rPr lang="en-US" altLang="zh-CN" i="1" dirty="0" err="1">
                <a:solidFill>
                  <a:srgbClr val="FF0000"/>
                </a:solidFill>
              </a:rPr>
              <a:t>staff_rating</a:t>
            </a:r>
            <a:r>
              <a:rPr lang="en-US" altLang="zh-CN" dirty="0"/>
              <a:t> is </a:t>
            </a:r>
            <a:r>
              <a:rPr lang="en-US" altLang="zh-CN" dirty="0">
                <a:solidFill>
                  <a:srgbClr val="FF0000"/>
                </a:solidFill>
              </a:rPr>
              <a:t>missing</a:t>
            </a:r>
            <a:r>
              <a:rPr lang="en-US" altLang="zh-CN" dirty="0"/>
              <a:t>, add it to table </a:t>
            </a:r>
            <a:r>
              <a:rPr lang="en-US" altLang="zh-CN" i="1" dirty="0"/>
              <a:t>staff</a:t>
            </a:r>
            <a:r>
              <a:rPr lang="en-US" altLang="zh-CN" dirty="0"/>
              <a:t> with these 2 queries from file </a:t>
            </a:r>
            <a:r>
              <a:rPr lang="en-US" altLang="zh-CN" dirty="0">
                <a:solidFill>
                  <a:srgbClr val="FF0000"/>
                </a:solidFill>
              </a:rPr>
              <a:t>Lab08_SakilaUpdate.txt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Recall </a:t>
            </a:r>
            <a:r>
              <a:rPr lang="en-US" i="1" dirty="0"/>
              <a:t>alter table </a:t>
            </a:r>
            <a:r>
              <a:rPr lang="en-US" dirty="0"/>
              <a:t>in Lab 6.</a:t>
            </a: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ALTER TABLE staff ADD 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staff_rating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INT(11) DEFAULT NULL;</a:t>
            </a:r>
          </a:p>
          <a:p>
            <a:pPr marL="457200" lvl="1" indent="0">
              <a:buNone/>
            </a:pPr>
            <a:endParaRPr lang="en-US" sz="800" dirty="0"/>
          </a:p>
          <a:p>
            <a:pPr marL="914400" lvl="1" indent="-457200">
              <a:buFont typeface="+mj-lt"/>
              <a:buAutoNum type="arabicPeriod" startAt="2"/>
            </a:pPr>
            <a:r>
              <a:rPr lang="en-US" dirty="0"/>
              <a:t>Recall </a:t>
            </a:r>
            <a:r>
              <a:rPr lang="en-US" i="1" dirty="0"/>
              <a:t>update</a:t>
            </a:r>
            <a:r>
              <a:rPr lang="en-US" dirty="0"/>
              <a:t> in Lab 7; be careful with the quotes if you paste!</a:t>
            </a:r>
            <a:endParaRPr lang="en-US" sz="800" dirty="0"/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UPDATE staff SET 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staff_rating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first_name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=‘Mike’ AND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last_name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=‘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Hillyer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’;</a:t>
            </a: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UPDATE staff SET </a:t>
            </a:r>
            <a:r>
              <a:rPr lang="en-US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staff_rating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WHERE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first_name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=‘Jon’ AND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last_name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=‘Stephens’;</a:t>
            </a:r>
          </a:p>
          <a:p>
            <a:pPr marL="457200" lvl="1" indent="0">
              <a:buNone/>
            </a:pPr>
            <a:endParaRPr 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cs typeface="Arial" panose="020B0604020202020204" pitchFamily="34" charset="0"/>
              </a:rPr>
              <a:t>Click table </a:t>
            </a:r>
            <a:r>
              <a:rPr lang="en-US" i="1" dirty="0">
                <a:cs typeface="Arial" panose="020B0604020202020204" pitchFamily="34" charset="0"/>
              </a:rPr>
              <a:t>staff</a:t>
            </a:r>
            <a:r>
              <a:rPr lang="en-US" dirty="0">
                <a:cs typeface="Arial" panose="020B0604020202020204" pitchFamily="34" charset="0"/>
              </a:rPr>
              <a:t> to see if </a:t>
            </a:r>
            <a:r>
              <a:rPr lang="en-US" i="1" dirty="0" err="1">
                <a:cs typeface="Arial" panose="020B0604020202020204" pitchFamily="34" charset="0"/>
              </a:rPr>
              <a:t>staff_rating</a:t>
            </a:r>
            <a:r>
              <a:rPr lang="en-US" dirty="0">
                <a:cs typeface="Arial" panose="020B0604020202020204" pitchFamily="34" charset="0"/>
              </a:rPr>
              <a:t> has the correct values now.</a:t>
            </a:r>
          </a:p>
        </p:txBody>
      </p:sp>
    </p:spTree>
    <p:extLst>
      <p:ext uri="{BB962C8B-B14F-4D97-AF65-F5344CB8AC3E}">
        <p14:creationId xmlns:p14="http://schemas.microsoft.com/office/powerpoint/2010/main" val="4172609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12" y="791438"/>
            <a:ext cx="11153768" cy="525068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035" y="4336288"/>
            <a:ext cx="7770471" cy="1932973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dirty="0"/>
              <a:t>If correct, save a copy of the updated database.</a:t>
            </a:r>
          </a:p>
          <a:p>
            <a:pPr lvl="1"/>
            <a:r>
              <a:rPr lang="en-US" dirty="0"/>
              <a:t>Click </a:t>
            </a:r>
            <a:r>
              <a:rPr lang="en-US" dirty="0" err="1"/>
              <a:t>sakila</a:t>
            </a:r>
            <a:r>
              <a:rPr lang="en-US" dirty="0"/>
              <a:t> &gt; Export tab &gt; Go</a:t>
            </a:r>
          </a:p>
          <a:p>
            <a:pPr lvl="1"/>
            <a:r>
              <a:rPr lang="en-US" dirty="0"/>
              <a:t>Rename the download file to </a:t>
            </a:r>
            <a:r>
              <a:rPr lang="en-US" dirty="0" err="1">
                <a:solidFill>
                  <a:srgbClr val="FF0000"/>
                </a:solidFill>
              </a:rPr>
              <a:t>sakila_new.sql</a:t>
            </a:r>
            <a:r>
              <a:rPr lang="en-US" dirty="0"/>
              <a:t>, and store it in your computer or memory stick, next to your old </a:t>
            </a:r>
            <a:r>
              <a:rPr lang="en-US" dirty="0" err="1"/>
              <a:t>sakila.sql</a:t>
            </a:r>
            <a:r>
              <a:rPr lang="en-US" dirty="0"/>
              <a:t> file. </a:t>
            </a:r>
            <a:endParaRPr lang="en-US" sz="8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10822329" y="1018572"/>
            <a:ext cx="23151" cy="1486060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47241" y="5509549"/>
            <a:ext cx="995422" cy="1157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439112" y="4840147"/>
            <a:ext cx="995422" cy="11575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199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395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 4</a:t>
            </a:r>
          </a:p>
          <a:p>
            <a:r>
              <a:rPr lang="en-US" dirty="0"/>
              <a:t>Rules at top: Excel’s aggregation functions basically work the same way.</a:t>
            </a:r>
          </a:p>
          <a:p>
            <a:pPr lvl="1"/>
            <a:r>
              <a:rPr lang="en-US" dirty="0"/>
              <a:t>E.g. at bottom: see RHS of last slide; one </a:t>
            </a:r>
            <a:r>
              <a:rPr lang="en-US" dirty="0" err="1"/>
              <a:t>staff_rating</a:t>
            </a:r>
            <a:r>
              <a:rPr lang="en-US" dirty="0"/>
              <a:t> is 10, another </a:t>
            </a:r>
            <a:r>
              <a:rPr lang="en-US" dirty="0" err="1"/>
              <a:t>staff_rating</a:t>
            </a:r>
            <a:r>
              <a:rPr lang="en-US" dirty="0"/>
              <a:t> is NULL.</a:t>
            </a:r>
          </a:p>
          <a:p>
            <a:pPr lvl="1"/>
            <a:r>
              <a:rPr lang="en-US" dirty="0"/>
              <a:t>COUNT(), MIN(), etc. ignore all records with </a:t>
            </a:r>
            <a:r>
              <a:rPr lang="en-US" dirty="0" err="1"/>
              <a:t>staff_rating</a:t>
            </a:r>
            <a:r>
              <a:rPr lang="en-US" dirty="0"/>
              <a:t> NULL.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Slide 5</a:t>
            </a:r>
          </a:p>
          <a:p>
            <a:r>
              <a:rPr lang="en-US" dirty="0"/>
              <a:t>Comparison with NULL:</a:t>
            </a:r>
          </a:p>
          <a:p>
            <a:pPr lvl="1"/>
            <a:r>
              <a:rPr lang="en-US" dirty="0"/>
              <a:t>If b is NULL, then b is evaluated as UNKNOWN in the comparison (b &gt; 5)</a:t>
            </a:r>
          </a:p>
          <a:p>
            <a:pPr lvl="1"/>
            <a:r>
              <a:rPr lang="en-US" dirty="0"/>
              <a:t>The expression (b &gt; 5) is UNKNOWN because we don’t know the value of b.</a:t>
            </a:r>
          </a:p>
          <a:p>
            <a:pPr lvl="2"/>
            <a:r>
              <a:rPr lang="en-US" dirty="0"/>
              <a:t>Can’t say whether b&gt;5 is true or false; so b&gt;5 is UNKNOWN.</a:t>
            </a:r>
          </a:p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2176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395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Slide 6</a:t>
            </a:r>
          </a:p>
          <a:p>
            <a:r>
              <a:rPr lang="en-US" dirty="0"/>
              <a:t>If b is unknown, then</a:t>
            </a:r>
          </a:p>
          <a:p>
            <a:pPr lvl="1"/>
            <a:r>
              <a:rPr lang="en-US" dirty="0"/>
              <a:t>(b OR true) = true</a:t>
            </a:r>
          </a:p>
          <a:p>
            <a:pPr lvl="2"/>
            <a:r>
              <a:rPr lang="en-US" dirty="0"/>
              <a:t>Doesn’t matter whether b turned out to be true, false or unknown.</a:t>
            </a:r>
          </a:p>
          <a:p>
            <a:pPr lvl="1"/>
            <a:r>
              <a:rPr lang="en-US" dirty="0"/>
              <a:t>(true AND b) = unknown</a:t>
            </a:r>
          </a:p>
          <a:p>
            <a:pPr lvl="2"/>
            <a:r>
              <a:rPr lang="en-US" dirty="0"/>
              <a:t>If b turned out to be T, the total result is T, otherwise, the total result is F; we don’t know at this instance. </a:t>
            </a:r>
          </a:p>
        </p:txBody>
      </p:sp>
    </p:spTree>
    <p:extLst>
      <p:ext uri="{BB962C8B-B14F-4D97-AF65-F5344CB8AC3E}">
        <p14:creationId xmlns:p14="http://schemas.microsoft.com/office/powerpoint/2010/main" val="2885425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76D10-B1CB-4D04-B72D-809595BC3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4670"/>
            <a:ext cx="10515600" cy="57622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Slide 9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 the subquery first.</a:t>
            </a:r>
          </a:p>
          <a:p>
            <a:pPr marL="0" lvl="0" indent="0" defTabSz="685800">
              <a:spcBef>
                <a:spcPts val="750"/>
              </a:spcBef>
              <a:buClr>
                <a:srgbClr val="2C2CAA"/>
              </a:buClr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</a:t>
            </a:r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film_id</a:t>
            </a:r>
            <a:endParaRPr lang="en-US" sz="1800" dirty="0">
              <a:solidFill>
                <a:srgbClr val="C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lvl="0" indent="0" defTabSz="685800">
              <a:spcBef>
                <a:spcPts val="750"/>
              </a:spcBef>
              <a:buClr>
                <a:srgbClr val="2C2CAA"/>
              </a:buClr>
              <a:buNone/>
            </a:pP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FROM film</a:t>
            </a:r>
          </a:p>
          <a:p>
            <a:pPr marL="0" lvl="0" indent="0" defTabSz="685800">
              <a:spcBef>
                <a:spcPts val="750"/>
              </a:spcBef>
              <a:buClr>
                <a:srgbClr val="2C2CAA"/>
              </a:buClr>
              <a:buNone/>
            </a:pP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WHERE rating = 'PG-13’</a:t>
            </a:r>
          </a:p>
          <a:p>
            <a:pPr marL="457200" lvl="1" indent="0">
              <a:buNone/>
            </a:pPr>
            <a:r>
              <a:rPr lang="en-US" dirty="0"/>
              <a:t>And store the result in the table </a:t>
            </a:r>
            <a:r>
              <a:rPr lang="en-US" dirty="0">
                <a:solidFill>
                  <a:srgbClr val="0070C0"/>
                </a:solidFill>
              </a:rPr>
              <a:t>temp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dirty="0"/>
              <a:t>Then do the main query.</a:t>
            </a:r>
          </a:p>
          <a:p>
            <a:pPr marL="0" lvl="0" indent="0" defTabSz="685800">
              <a:spcBef>
                <a:spcPts val="750"/>
              </a:spcBef>
              <a:buClr>
                <a:srgbClr val="2C2CAA"/>
              </a:buClr>
              <a:buNone/>
            </a:pPr>
            <a:r>
              <a:rPr lang="en-US" dirty="0"/>
              <a:t>	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SELECT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actor_id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lvl="0" indent="0" defTabSz="685800">
              <a:spcBef>
                <a:spcPts val="750"/>
              </a:spcBef>
              <a:buClr>
                <a:srgbClr val="2C2CAA"/>
              </a:buClr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FROM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film_actor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NATURAL JOIN temp</a:t>
            </a:r>
          </a:p>
          <a:p>
            <a:r>
              <a:rPr lang="en-US" dirty="0"/>
              <a:t>Check the tables </a:t>
            </a:r>
            <a:r>
              <a:rPr lang="en-US" i="1" dirty="0"/>
              <a:t>film</a:t>
            </a:r>
            <a:r>
              <a:rPr lang="en-US" dirty="0"/>
              <a:t> and </a:t>
            </a:r>
            <a:r>
              <a:rPr lang="en-US" i="1" dirty="0" err="1"/>
              <a:t>film_actor</a:t>
            </a:r>
            <a:r>
              <a:rPr lang="en-US" dirty="0"/>
              <a:t>.</a:t>
            </a:r>
          </a:p>
          <a:p>
            <a:r>
              <a:rPr lang="en-US" dirty="0"/>
              <a:t>Run the subquery first.  Then predict the result when you run the main query.</a:t>
            </a:r>
          </a:p>
          <a:p>
            <a:pPr marL="0" indent="0">
              <a:buNone/>
            </a:pPr>
            <a:r>
              <a:rPr lang="en-US" dirty="0"/>
              <a:t>Slide 10: Using JOIN, </a:t>
            </a:r>
            <a:r>
              <a:rPr lang="en-US"/>
              <a:t>we might create </a:t>
            </a:r>
            <a:r>
              <a:rPr lang="en-US" dirty="0"/>
              <a:t>lots of extra data</a:t>
            </a:r>
          </a:p>
          <a:p>
            <a:pPr lvl="1"/>
            <a:r>
              <a:rPr lang="en-US" dirty="0"/>
              <a:t>Recall Lecture 8 slide 7 on fake data.</a:t>
            </a:r>
          </a:p>
        </p:txBody>
      </p:sp>
    </p:spTree>
    <p:extLst>
      <p:ext uri="{BB962C8B-B14F-4D97-AF65-F5344CB8AC3E}">
        <p14:creationId xmlns:p14="http://schemas.microsoft.com/office/powerpoint/2010/main" val="727937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B58AC-9CD9-4DB5-9CD9-498658FD1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0887"/>
            <a:ext cx="10515600" cy="6176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Slide 12</a:t>
            </a:r>
          </a:p>
          <a:p>
            <a:pPr marL="0" indent="0">
              <a:buNone/>
            </a:pPr>
            <a:r>
              <a:rPr lang="en-US" altLang="zh-CN" dirty="0"/>
              <a:t>Walk the tables first.  Check the tables in </a:t>
            </a:r>
            <a:r>
              <a:rPr lang="en-US" altLang="zh-CN" dirty="0" err="1"/>
              <a:t>sakila.sql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Exercise  1 (c.f. Lab 4 Exercise 1)</a:t>
            </a:r>
          </a:p>
          <a:p>
            <a:r>
              <a:rPr lang="en-US" altLang="zh-CN" dirty="0"/>
              <a:t>Actor(</a:t>
            </a:r>
            <a:r>
              <a:rPr lang="en-US" altLang="zh-CN" dirty="0" err="1"/>
              <a:t>actor_id</a:t>
            </a:r>
            <a:r>
              <a:rPr lang="en-US" altLang="zh-CN" dirty="0"/>
              <a:t>, </a:t>
            </a:r>
            <a:r>
              <a:rPr lang="en-US" altLang="zh-CN" dirty="0" err="1">
                <a:highlight>
                  <a:srgbClr val="FFFF00"/>
                </a:highlight>
              </a:rPr>
              <a:t>first_name</a:t>
            </a:r>
            <a:r>
              <a:rPr lang="en-US" altLang="zh-CN" dirty="0"/>
              <a:t>, </a:t>
            </a:r>
            <a:r>
              <a:rPr lang="en-US" altLang="zh-CN" dirty="0" err="1">
                <a:highlight>
                  <a:srgbClr val="FFFF00"/>
                </a:highlight>
              </a:rPr>
              <a:t>last_name</a:t>
            </a:r>
            <a:r>
              <a:rPr lang="en-US" altLang="zh-CN" dirty="0"/>
              <a:t>)</a:t>
            </a:r>
          </a:p>
          <a:p>
            <a:r>
              <a:rPr lang="en-US" altLang="zh-CN" dirty="0" err="1"/>
              <a:t>Film_actor</a:t>
            </a:r>
            <a:r>
              <a:rPr lang="en-US" altLang="zh-CN" dirty="0"/>
              <a:t>(</a:t>
            </a:r>
            <a:r>
              <a:rPr lang="en-US" altLang="zh-CN" dirty="0" err="1"/>
              <a:t>actor_id</a:t>
            </a:r>
            <a:r>
              <a:rPr lang="en-US" altLang="zh-CN" dirty="0"/>
              <a:t>, </a:t>
            </a:r>
            <a:r>
              <a:rPr lang="en-US" altLang="zh-CN" dirty="0" err="1"/>
              <a:t>film_id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Film(</a:t>
            </a:r>
            <a:r>
              <a:rPr lang="en-US" altLang="zh-CN" dirty="0" err="1"/>
              <a:t>film_id</a:t>
            </a:r>
            <a:r>
              <a:rPr lang="en-US" altLang="zh-CN" dirty="0"/>
              <a:t>, </a:t>
            </a:r>
            <a:r>
              <a:rPr lang="en-US" altLang="zh-CN" dirty="0">
                <a:highlight>
                  <a:srgbClr val="FFFF00"/>
                </a:highlight>
              </a:rPr>
              <a:t>title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endParaRPr lang="en-US" altLang="zh-CN" sz="800" dirty="0"/>
          </a:p>
          <a:p>
            <a:pPr marL="0" indent="0">
              <a:buNone/>
            </a:pPr>
            <a:r>
              <a:rPr lang="en-US" altLang="zh-CN" dirty="0"/>
              <a:t>Exercise 2 (c.f. Lab 4, Exercise 2)</a:t>
            </a:r>
          </a:p>
          <a:p>
            <a:r>
              <a:rPr lang="en-US" altLang="zh-CN" dirty="0"/>
              <a:t>Customer(</a:t>
            </a:r>
            <a:r>
              <a:rPr lang="en-US" altLang="zh-CN" dirty="0" err="1"/>
              <a:t>customer_id</a:t>
            </a:r>
            <a:r>
              <a:rPr lang="en-US" altLang="zh-CN" dirty="0"/>
              <a:t>, </a:t>
            </a:r>
            <a:r>
              <a:rPr lang="en-US" altLang="zh-CN" dirty="0" err="1">
                <a:highlight>
                  <a:srgbClr val="FFFF00"/>
                </a:highlight>
              </a:rPr>
              <a:t>first_name</a:t>
            </a:r>
            <a:r>
              <a:rPr lang="en-US" altLang="zh-CN" dirty="0"/>
              <a:t>, </a:t>
            </a:r>
            <a:r>
              <a:rPr lang="en-US" altLang="zh-CN" dirty="0" err="1">
                <a:highlight>
                  <a:srgbClr val="FFFF00"/>
                </a:highlight>
              </a:rPr>
              <a:t>last_name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Rental(</a:t>
            </a:r>
            <a:r>
              <a:rPr lang="en-US" altLang="zh-CN" dirty="0" err="1"/>
              <a:t>customer_id</a:t>
            </a:r>
            <a:r>
              <a:rPr lang="en-US" altLang="zh-CN" dirty="0"/>
              <a:t>, </a:t>
            </a:r>
            <a:r>
              <a:rPr lang="en-US" altLang="zh-CN" dirty="0" err="1"/>
              <a:t>inventory_id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Inventory(</a:t>
            </a:r>
            <a:r>
              <a:rPr lang="en-US" altLang="zh-CN" dirty="0" err="1"/>
              <a:t>inventory_id</a:t>
            </a:r>
            <a:r>
              <a:rPr lang="en-US" altLang="zh-CN" dirty="0"/>
              <a:t>, </a:t>
            </a:r>
            <a:r>
              <a:rPr lang="en-US" altLang="zh-CN" dirty="0" err="1"/>
              <a:t>film_id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Film(</a:t>
            </a:r>
            <a:r>
              <a:rPr lang="en-US" altLang="zh-CN" dirty="0" err="1"/>
              <a:t>film_id</a:t>
            </a:r>
            <a:r>
              <a:rPr lang="en-US" altLang="zh-CN" dirty="0"/>
              <a:t>, </a:t>
            </a:r>
            <a:r>
              <a:rPr lang="en-US" altLang="zh-CN" dirty="0">
                <a:highlight>
                  <a:srgbClr val="FFFF00"/>
                </a:highlight>
              </a:rPr>
              <a:t>title</a:t>
            </a:r>
            <a:r>
              <a:rPr lang="en-US" altLang="zh-CN" dirty="0"/>
              <a:t>)</a:t>
            </a:r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36015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B58AC-9CD9-4DB5-9CD9-498658FD1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2514"/>
            <a:ext cx="10515600" cy="5654449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Slide 12</a:t>
            </a:r>
          </a:p>
          <a:p>
            <a:pPr marL="0" indent="0">
              <a:buNone/>
            </a:pPr>
            <a:r>
              <a:rPr lang="en-US" altLang="zh-CN" dirty="0"/>
              <a:t>Exercise  6</a:t>
            </a:r>
          </a:p>
          <a:p>
            <a:r>
              <a:rPr lang="en-US" altLang="zh-CN" dirty="0"/>
              <a:t>C.f. Lab 5 Aggregations</a:t>
            </a:r>
          </a:p>
          <a:p>
            <a:r>
              <a:rPr lang="en-US" altLang="zh-CN" dirty="0"/>
              <a:t>Customer(</a:t>
            </a:r>
            <a:r>
              <a:rPr lang="en-US" altLang="zh-CN" dirty="0" err="1">
                <a:highlight>
                  <a:srgbClr val="FFFF00"/>
                </a:highlight>
              </a:rPr>
              <a:t>customer_id</a:t>
            </a:r>
            <a:r>
              <a:rPr lang="en-US" altLang="zh-CN" dirty="0"/>
              <a:t>, </a:t>
            </a:r>
            <a:r>
              <a:rPr lang="en-US" altLang="zh-CN" dirty="0" err="1"/>
              <a:t>first_name</a:t>
            </a:r>
            <a:r>
              <a:rPr lang="en-US" altLang="zh-CN" dirty="0"/>
              <a:t>, </a:t>
            </a:r>
            <a:r>
              <a:rPr lang="en-US" altLang="zh-CN" dirty="0" err="1"/>
              <a:t>last_name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Rental(</a:t>
            </a:r>
            <a:r>
              <a:rPr lang="en-US" altLang="zh-CN" dirty="0" err="1">
                <a:highlight>
                  <a:srgbClr val="FFFF00"/>
                </a:highlight>
              </a:rPr>
              <a:t>customer_id</a:t>
            </a:r>
            <a:r>
              <a:rPr lang="en-US" altLang="zh-CN" dirty="0"/>
              <a:t>, </a:t>
            </a:r>
            <a:r>
              <a:rPr lang="en-US" altLang="zh-CN" dirty="0" err="1"/>
              <a:t>rental_id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endParaRPr lang="en-US" altLang="zh-CN" sz="800" dirty="0"/>
          </a:p>
          <a:p>
            <a:r>
              <a:rPr lang="en-US" altLang="zh-CN" dirty="0"/>
              <a:t>If a customer has not rented any film, the </a:t>
            </a:r>
            <a:r>
              <a:rPr lang="en-US" altLang="zh-CN" dirty="0" err="1"/>
              <a:t>rental_id</a:t>
            </a:r>
            <a:r>
              <a:rPr lang="en-US" altLang="zh-CN" dirty="0"/>
              <a:t> is NULL.</a:t>
            </a:r>
          </a:p>
          <a:p>
            <a:r>
              <a:rPr lang="en-US" altLang="zh-CN" dirty="0"/>
              <a:t>Subquery</a:t>
            </a:r>
          </a:p>
          <a:p>
            <a:pPr lvl="1"/>
            <a:r>
              <a:rPr lang="en-US" altLang="zh-CN" dirty="0"/>
              <a:t>Create a temp table showing </a:t>
            </a:r>
            <a:r>
              <a:rPr lang="en-US" altLang="zh-CN" dirty="0" err="1"/>
              <a:t>customer_ID</a:t>
            </a:r>
            <a:r>
              <a:rPr lang="en-US" altLang="zh-CN" dirty="0"/>
              <a:t> whose </a:t>
            </a:r>
            <a:r>
              <a:rPr lang="en-US" altLang="zh-CN" dirty="0" err="1"/>
              <a:t>rental_id</a:t>
            </a:r>
            <a:r>
              <a:rPr lang="en-US" altLang="zh-CN" dirty="0"/>
              <a:t> is NULL</a:t>
            </a:r>
          </a:p>
          <a:p>
            <a:pPr lvl="1"/>
            <a:r>
              <a:rPr lang="en-US" altLang="zh-CN" dirty="0"/>
              <a:t>LEFT OUTER JOIN – keep records (rows) with NULL values.</a:t>
            </a:r>
          </a:p>
          <a:p>
            <a:r>
              <a:rPr lang="en-US" altLang="zh-CN" dirty="0"/>
              <a:t>Main query, COUNT the number of customer IDs in the temp table.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66903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965486" y="464024"/>
            <a:ext cx="10483849" cy="5994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5" y="881062"/>
            <a:ext cx="904875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517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8333</TotalTime>
  <Words>786</Words>
  <Application>Microsoft Office PowerPoint</Application>
  <PresentationFormat>Widescreen</PresentationFormat>
  <Paragraphs>86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等线</vt:lpstr>
      <vt:lpstr>Arial</vt:lpstr>
      <vt:lpstr>Calibri</vt:lpstr>
      <vt:lpstr>Calibri Light</vt:lpstr>
      <vt:lpstr>Consolas</vt:lpstr>
      <vt:lpstr>Office Theme</vt:lpstr>
      <vt:lpstr>Database Lab 8 NULL and Subquery Addendum</vt:lpstr>
      <vt:lpstr>Announcements</vt:lpstr>
      <vt:lpstr>Announcement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Addendum Chapter 1</dc:title>
  <dc:creator>j f</dc:creator>
  <cp:lastModifiedBy>UIC</cp:lastModifiedBy>
  <cp:revision>855</cp:revision>
  <dcterms:created xsi:type="dcterms:W3CDTF">2021-08-02T03:54:37Z</dcterms:created>
  <dcterms:modified xsi:type="dcterms:W3CDTF">2025-11-12T01:21:03Z</dcterms:modified>
</cp:coreProperties>
</file>