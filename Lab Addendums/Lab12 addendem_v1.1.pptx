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98" r:id="rId3"/>
    <p:sldId id="399" r:id="rId4"/>
    <p:sldId id="393" r:id="rId5"/>
    <p:sldId id="394" r:id="rId6"/>
    <p:sldId id="3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1677" autoAdjust="0"/>
  </p:normalViewPr>
  <p:slideViewPr>
    <p:cSldViewPr snapToGrid="0">
      <p:cViewPr varScale="1">
        <p:scale>
          <a:sx n="56" d="100"/>
          <a:sy n="56" d="100"/>
        </p:scale>
        <p:origin x="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19959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Lab 11</a:t>
            </a:r>
            <a:br>
              <a:rPr lang="en-US" dirty="0"/>
            </a:br>
            <a:r>
              <a:rPr lang="en-US" dirty="0"/>
              <a:t>Advanced SQL</a:t>
            </a:r>
            <a:br>
              <a:rPr lang="en-US" dirty="0"/>
            </a:br>
            <a:r>
              <a:rPr lang="en-US" dirty="0"/>
              <a:t>Triggers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3512"/>
            <a:ext cx="9144000" cy="574287"/>
          </a:xfrm>
        </p:spPr>
        <p:txBody>
          <a:bodyPr>
            <a:normAutofit/>
          </a:bodyPr>
          <a:lstStyle/>
          <a:p>
            <a:r>
              <a:rPr lang="en-US" dirty="0"/>
              <a:t>Dr. </a:t>
            </a:r>
            <a:r>
              <a:rPr lang="en-US"/>
              <a:t>Jefferson Fong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3D6D1E-D3DB-428C-9935-3C2638B1A3F2}"/>
              </a:ext>
            </a:extLst>
          </p:cNvPr>
          <p:cNvSpPr txBox="1">
            <a:spLocks/>
          </p:cNvSpPr>
          <p:nvPr/>
        </p:nvSpPr>
        <p:spPr>
          <a:xfrm>
            <a:off x="803030" y="726518"/>
            <a:ext cx="9605790" cy="4645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Assignment 3 </a:t>
            </a:r>
            <a:r>
              <a:rPr lang="en-US" dirty="0"/>
              <a:t>due </a:t>
            </a:r>
            <a:r>
              <a:rPr lang="en-US" dirty="0">
                <a:solidFill>
                  <a:srgbClr val="FF0000"/>
                </a:solidFill>
              </a:rPr>
              <a:t>Sunday 14 December</a:t>
            </a:r>
            <a:r>
              <a:rPr lang="en-US" dirty="0"/>
              <a:t>, right before midnight.</a:t>
            </a:r>
          </a:p>
          <a:p>
            <a:endParaRPr lang="en-US" dirty="0"/>
          </a:p>
          <a:p>
            <a:r>
              <a:rPr lang="en-US" dirty="0"/>
              <a:t>On Presentation – see </a:t>
            </a:r>
            <a:r>
              <a:rPr lang="en-US" dirty="0">
                <a:solidFill>
                  <a:srgbClr val="FF0000"/>
                </a:solidFill>
              </a:rPr>
              <a:t>Lec12 Addendum.pptx</a:t>
            </a:r>
          </a:p>
          <a:p>
            <a:pPr lvl="1"/>
            <a:r>
              <a:rPr lang="en-US" dirty="0"/>
              <a:t>Also see iSpace Course Project folder</a:t>
            </a:r>
          </a:p>
          <a:p>
            <a:pPr lvl="2"/>
            <a:r>
              <a:rPr lang="en-US" dirty="0"/>
              <a:t>Project Requirement</a:t>
            </a:r>
          </a:p>
          <a:p>
            <a:pPr lvl="2"/>
            <a:r>
              <a:rPr lang="en-US" dirty="0"/>
              <a:t>Presentation Guideline.</a:t>
            </a:r>
          </a:p>
          <a:p>
            <a:pPr lvl="2"/>
            <a:endParaRPr lang="en-US" dirty="0"/>
          </a:p>
          <a:p>
            <a:r>
              <a:rPr lang="en-US" dirty="0"/>
              <a:t>Everyone is required to attend and evaluate half of </a:t>
            </a:r>
            <a:r>
              <a:rPr lang="en-US"/>
              <a:t>other teams.</a:t>
            </a:r>
            <a:endParaRPr lang="en-US" dirty="0"/>
          </a:p>
          <a:p>
            <a:pPr lvl="1"/>
            <a:r>
              <a:rPr lang="en-US" dirty="0"/>
              <a:t>Need to attend and evaluate 7 other 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07234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568"/>
          </a:xfrm>
        </p:spPr>
        <p:txBody>
          <a:bodyPr/>
          <a:lstStyle/>
          <a:p>
            <a:r>
              <a:rPr lang="en-US" dirty="0"/>
              <a:t>Presentation Schedule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3CE0D8-AB88-4127-A7CE-3942FFDF7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67953"/>
              </p:ext>
            </p:extLst>
          </p:nvPr>
        </p:nvGraphicFramePr>
        <p:xfrm>
          <a:off x="1489787" y="1680210"/>
          <a:ext cx="6911263" cy="348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5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938">
                <a:tc>
                  <a:txBody>
                    <a:bodyPr/>
                    <a:lstStyle/>
                    <a:p>
                      <a:r>
                        <a:rPr lang="en-US" sz="2400" dirty="0"/>
                        <a:t>Data and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938">
                <a:tc>
                  <a:txBody>
                    <a:bodyPr/>
                    <a:lstStyle/>
                    <a:p>
                      <a:r>
                        <a:rPr lang="en-US" sz="2400" dirty="0"/>
                        <a:t>Wed 17 Dec,</a:t>
                      </a:r>
                      <a:r>
                        <a:rPr lang="en-US" sz="2400" baseline="0" dirty="0"/>
                        <a:t> 10-11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5, 9, 8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93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Wed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 17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Dec, 11-noon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3, 2, 11, 14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93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4:20-5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6, 1, 15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12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Thu 18 Dec, 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10, 7, 4, 12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493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Thu 18 Dec, 6-6:15 (1 team)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53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96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48640"/>
            <a:ext cx="9580419" cy="58772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3</a:t>
            </a:r>
            <a:endParaRPr lang="en-US" sz="800" dirty="0"/>
          </a:p>
          <a:p>
            <a:r>
              <a:rPr lang="en-US" dirty="0"/>
              <a:t>Last lab, we’ve learned </a:t>
            </a:r>
            <a:r>
              <a:rPr lang="en-US" dirty="0">
                <a:solidFill>
                  <a:srgbClr val="FF0000"/>
                </a:solidFill>
              </a:rPr>
              <a:t>CHECK</a:t>
            </a:r>
            <a:r>
              <a:rPr lang="en-US" dirty="0"/>
              <a:t> (e.g. GPA must be from 0 to 4) for </a:t>
            </a:r>
            <a:r>
              <a:rPr lang="en-US" b="1" dirty="0">
                <a:solidFill>
                  <a:srgbClr val="00B050"/>
                </a:solidFill>
              </a:rPr>
              <a:t>one table</a:t>
            </a:r>
            <a:r>
              <a:rPr lang="en-US" dirty="0"/>
              <a:t>.</a:t>
            </a:r>
          </a:p>
          <a:p>
            <a:r>
              <a:rPr lang="en-US" dirty="0"/>
              <a:t>For complicated predicate across </a:t>
            </a:r>
            <a:r>
              <a:rPr lang="en-US" b="1" dirty="0">
                <a:solidFill>
                  <a:srgbClr val="00B050"/>
                </a:solidFill>
              </a:rPr>
              <a:t>multiple tables</a:t>
            </a:r>
            <a:r>
              <a:rPr lang="en-US" dirty="0"/>
              <a:t>, we use </a:t>
            </a:r>
            <a:r>
              <a:rPr lang="en-US" dirty="0">
                <a:solidFill>
                  <a:srgbClr val="FF0000"/>
                </a:solidFill>
              </a:rPr>
              <a:t>TRIGGER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Any modification to the DB </a:t>
            </a:r>
            <a:r>
              <a:rPr lang="en-US" dirty="0">
                <a:solidFill>
                  <a:srgbClr val="FF0000"/>
                </a:solidFill>
              </a:rPr>
              <a:t>triggers</a:t>
            </a:r>
            <a:r>
              <a:rPr lang="en-US" dirty="0"/>
              <a:t> the process specified.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7</a:t>
            </a:r>
          </a:p>
          <a:p>
            <a:r>
              <a:rPr lang="en-US" dirty="0"/>
              <a:t>When delete the </a:t>
            </a:r>
            <a:r>
              <a:rPr lang="en-US" dirty="0" err="1"/>
              <a:t>p_code</a:t>
            </a:r>
            <a:r>
              <a:rPr lang="en-US" dirty="0"/>
              <a:t> from </a:t>
            </a:r>
            <a:r>
              <a:rPr lang="en-US" i="1" dirty="0"/>
              <a:t>program</a:t>
            </a:r>
            <a:r>
              <a:rPr lang="en-US" dirty="0"/>
              <a:t>, we also must delete </a:t>
            </a:r>
            <a:r>
              <a:rPr lang="en-US" dirty="0" err="1"/>
              <a:t>p_code</a:t>
            </a:r>
            <a:r>
              <a:rPr lang="en-US" dirty="0"/>
              <a:t> from </a:t>
            </a:r>
            <a:r>
              <a:rPr lang="en-US" i="1" dirty="0"/>
              <a:t>student</a:t>
            </a:r>
            <a:r>
              <a:rPr lang="en-US" dirty="0"/>
              <a:t>.</a:t>
            </a:r>
          </a:p>
          <a:p>
            <a:r>
              <a:rPr lang="en-US" dirty="0"/>
              <a:t>Last lab’s way (top) versus using trigger (bottom).</a:t>
            </a:r>
          </a:p>
          <a:p>
            <a:pPr lvl="1"/>
            <a:r>
              <a:rPr lang="en-US" dirty="0"/>
              <a:t>Both ways are OK for something this simple.</a:t>
            </a:r>
          </a:p>
          <a:p>
            <a:endParaRPr lang="en-US" sz="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48640"/>
            <a:ext cx="8305801" cy="26818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9</a:t>
            </a:r>
            <a:endParaRPr lang="en-US" sz="800" dirty="0"/>
          </a:p>
          <a:p>
            <a:r>
              <a:rPr lang="en-US" dirty="0"/>
              <a:t>Delete the new row if its </a:t>
            </a:r>
            <a:r>
              <a:rPr lang="en-US" dirty="0" err="1"/>
              <a:t>gpa</a:t>
            </a:r>
            <a:r>
              <a:rPr lang="en-US" dirty="0"/>
              <a:t> &lt; 1.0 and </a:t>
            </a:r>
            <a:r>
              <a:rPr lang="en-US" dirty="0" err="1"/>
              <a:t>p_name</a:t>
            </a:r>
            <a:r>
              <a:rPr lang="en-US" dirty="0"/>
              <a:t> is CST </a:t>
            </a:r>
          </a:p>
          <a:p>
            <a:r>
              <a:rPr lang="en-US" dirty="0"/>
              <a:t>Run the example.</a:t>
            </a:r>
          </a:p>
          <a:p>
            <a:r>
              <a:rPr lang="en-US" dirty="0"/>
              <a:t>In the last line, there must be a space between DELIMITER and ;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5BAA41-3E6C-40A8-8B95-BA4B5AE9B4A2}"/>
              </a:ext>
            </a:extLst>
          </p:cNvPr>
          <p:cNvGrpSpPr/>
          <p:nvPr/>
        </p:nvGrpSpPr>
        <p:grpSpPr>
          <a:xfrm>
            <a:off x="9310396" y="902970"/>
            <a:ext cx="2284603" cy="2327564"/>
            <a:chOff x="8671570" y="708660"/>
            <a:chExt cx="2284603" cy="232756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BB7DF59-CC3A-4C41-8E3C-CD12967E6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71570" y="708660"/>
              <a:ext cx="2284603" cy="184153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FEB3E26-60E1-4634-9A62-AC627A16BFE5}"/>
                </a:ext>
              </a:extLst>
            </p:cNvPr>
            <p:cNvCxnSpPr/>
            <p:nvPr/>
          </p:nvCxnSpPr>
          <p:spPr>
            <a:xfrm flipV="1">
              <a:off x="10307782" y="2321329"/>
              <a:ext cx="0" cy="71489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26268A8-405B-4DA1-ABA9-73F6FD9241FF}"/>
              </a:ext>
            </a:extLst>
          </p:cNvPr>
          <p:cNvSpPr txBox="1">
            <a:spLocks/>
          </p:cNvSpPr>
          <p:nvPr/>
        </p:nvSpPr>
        <p:spPr>
          <a:xfrm>
            <a:off x="840974" y="3460865"/>
            <a:ext cx="10115196" cy="2848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Slide 10</a:t>
            </a:r>
            <a:endParaRPr lang="en-US" sz="800" dirty="0"/>
          </a:p>
          <a:p>
            <a:r>
              <a:rPr lang="en-US" dirty="0"/>
              <a:t>Exercise 1, mimic the example in Slide 9.</a:t>
            </a:r>
          </a:p>
          <a:p>
            <a:r>
              <a:rPr lang="en-US" dirty="0"/>
              <a:t>Exercise 3, from the </a:t>
            </a:r>
            <a:r>
              <a:rPr lang="en-US" dirty="0" err="1"/>
              <a:t>uic.sql</a:t>
            </a:r>
            <a:r>
              <a:rPr lang="en-US" dirty="0"/>
              <a:t> database, </a:t>
            </a:r>
          </a:p>
          <a:p>
            <a:pPr lvl="1"/>
            <a:r>
              <a:rPr lang="en-US" dirty="0"/>
              <a:t>Schema for enroll(</a:t>
            </a:r>
            <a:r>
              <a:rPr lang="en-US" dirty="0">
                <a:solidFill>
                  <a:srgbClr val="FF0000"/>
                </a:solidFill>
              </a:rPr>
              <a:t>id</a:t>
            </a:r>
            <a:r>
              <a:rPr lang="en-US" dirty="0"/>
              <a:t>, </a:t>
            </a:r>
            <a:r>
              <a:rPr lang="en-US" dirty="0" err="1">
                <a:solidFill>
                  <a:srgbClr val="00B050"/>
                </a:solidFill>
              </a:rPr>
              <a:t>c_name</a:t>
            </a:r>
            <a:r>
              <a:rPr lang="en-US" dirty="0"/>
              <a:t>, </a:t>
            </a:r>
            <a:r>
              <a:rPr lang="en-US" dirty="0" err="1"/>
              <a:t>s_number</a:t>
            </a:r>
            <a:r>
              <a:rPr lang="en-US" dirty="0"/>
              <a:t>, </a:t>
            </a:r>
            <a:r>
              <a:rPr lang="en-US" dirty="0" err="1"/>
              <a:t>sem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grade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Schema for course(</a:t>
            </a:r>
            <a:r>
              <a:rPr lang="en-US" dirty="0" err="1">
                <a:solidFill>
                  <a:srgbClr val="00B050"/>
                </a:solidFill>
              </a:rPr>
              <a:t>c_name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credit</a:t>
            </a:r>
            <a:r>
              <a:rPr lang="en-US" dirty="0"/>
              <a:t>, domain, </a:t>
            </a:r>
            <a:r>
              <a:rPr lang="en-US" dirty="0" err="1"/>
              <a:t>c_number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Need	enroll JOIN course USING (</a:t>
            </a:r>
            <a:r>
              <a:rPr lang="en-US" dirty="0" err="1">
                <a:solidFill>
                  <a:srgbClr val="00B050"/>
                </a:solidFill>
              </a:rPr>
              <a:t>c_name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5371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64024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881062"/>
            <a:ext cx="90487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8454</TotalTime>
  <Words>315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Database Lab 11 Advanced SQL Triggers Addendum</vt:lpstr>
      <vt:lpstr>PowerPoint Presentation</vt:lpstr>
      <vt:lpstr>Presentation Schedule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857</cp:revision>
  <dcterms:created xsi:type="dcterms:W3CDTF">2021-08-02T03:54:37Z</dcterms:created>
  <dcterms:modified xsi:type="dcterms:W3CDTF">2025-12-10T05:14:10Z</dcterms:modified>
</cp:coreProperties>
</file>