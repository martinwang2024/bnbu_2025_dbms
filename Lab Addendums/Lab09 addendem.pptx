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92" r:id="rId3"/>
    <p:sldId id="395" r:id="rId4"/>
    <p:sldId id="396" r:id="rId5"/>
    <p:sldId id="3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94" autoAdjust="0"/>
    <p:restoredTop sz="91677" autoAdjust="0"/>
  </p:normalViewPr>
  <p:slideViewPr>
    <p:cSldViewPr snapToGrid="0">
      <p:cViewPr varScale="1">
        <p:scale>
          <a:sx n="54" d="100"/>
          <a:sy n="54" d="100"/>
        </p:scale>
        <p:origin x="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Lab 9</a:t>
            </a:r>
            <a:br>
              <a:rPr lang="en-US" dirty="0"/>
            </a:br>
            <a:r>
              <a:rPr lang="en-US" dirty="0"/>
              <a:t>Set Op and Subquery Where</a:t>
            </a:r>
            <a:br>
              <a:rPr lang="en-US" dirty="0"/>
            </a:br>
            <a:r>
              <a:rPr lang="en-US" dirty="0"/>
              <a:t>Addendum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Jefferson Fong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567"/>
            <a:ext cx="10515600" cy="58585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Slide 5</a:t>
            </a:r>
          </a:p>
          <a:p>
            <a:r>
              <a:rPr lang="en-US" dirty="0"/>
              <a:t>Recall Lab 8, Exercise 1, (and Lab 4, Exercise 1)</a:t>
            </a:r>
          </a:p>
          <a:p>
            <a:pPr lvl="1"/>
            <a:r>
              <a:rPr lang="en-US" altLang="zh-CN" dirty="0"/>
              <a:t>Actor(</a:t>
            </a:r>
            <a:r>
              <a:rPr lang="en-US" altLang="zh-CN" dirty="0" err="1"/>
              <a:t>actor_id</a:t>
            </a:r>
            <a:r>
              <a:rPr lang="en-US" altLang="zh-CN" dirty="0"/>
              <a:t>, </a:t>
            </a:r>
            <a:r>
              <a:rPr lang="en-US" altLang="zh-CN" dirty="0" err="1">
                <a:highlight>
                  <a:srgbClr val="FFFF00"/>
                </a:highlight>
              </a:rPr>
              <a:t>first_name</a:t>
            </a:r>
            <a:r>
              <a:rPr lang="en-US" altLang="zh-CN" dirty="0"/>
              <a:t>, </a:t>
            </a:r>
            <a:r>
              <a:rPr lang="en-US" altLang="zh-CN" dirty="0" err="1">
                <a:highlight>
                  <a:srgbClr val="FFFF00"/>
                </a:highlight>
              </a:rPr>
              <a:t>last_name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 err="1"/>
              <a:t>Film_actor</a:t>
            </a:r>
            <a:r>
              <a:rPr lang="en-US" altLang="zh-CN" dirty="0"/>
              <a:t>(</a:t>
            </a:r>
            <a:r>
              <a:rPr lang="en-US" altLang="zh-CN" dirty="0" err="1"/>
              <a:t>actor_id</a:t>
            </a:r>
            <a:r>
              <a:rPr lang="en-US" altLang="zh-CN" dirty="0"/>
              <a:t>, </a:t>
            </a:r>
            <a:r>
              <a:rPr lang="en-US" altLang="zh-CN" dirty="0" err="1"/>
              <a:t>film_id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Film(</a:t>
            </a:r>
            <a:r>
              <a:rPr lang="en-US" altLang="zh-CN" dirty="0" err="1"/>
              <a:t>film_id</a:t>
            </a:r>
            <a:r>
              <a:rPr lang="en-US" altLang="zh-CN" dirty="0"/>
              <a:t>, </a:t>
            </a:r>
            <a:r>
              <a:rPr lang="en-US" altLang="zh-CN" dirty="0">
                <a:highlight>
                  <a:srgbClr val="FFFF00"/>
                </a:highlight>
              </a:rPr>
              <a:t>title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BTW, note the relationship between Lab 8 Exercise 2 with Lab 4 Exercise 2.</a:t>
            </a:r>
          </a:p>
          <a:p>
            <a:endParaRPr lang="en-US" altLang="zh-CN" sz="800" dirty="0"/>
          </a:p>
          <a:p>
            <a:pPr marL="0" indent="0">
              <a:buNone/>
            </a:pPr>
            <a:r>
              <a:rPr lang="en-US" dirty="0"/>
              <a:t>Slide 6</a:t>
            </a:r>
          </a:p>
          <a:p>
            <a:r>
              <a:rPr lang="en-US" dirty="0" smtClean="0"/>
              <a:t>Recall “union” in Lecture 9 slide 14, combine the columns.</a:t>
            </a:r>
          </a:p>
          <a:p>
            <a:r>
              <a:rPr lang="en-US" dirty="0" smtClean="0"/>
              <a:t>Run </a:t>
            </a:r>
            <a:r>
              <a:rPr lang="en-US" dirty="0"/>
              <a:t>the SELECT statement and see what happens.</a:t>
            </a:r>
          </a:p>
          <a:p>
            <a:pPr lvl="1"/>
            <a:endParaRPr lang="en-US" sz="900" dirty="0"/>
          </a:p>
          <a:p>
            <a:pPr marL="0" indent="0">
              <a:buNone/>
            </a:pPr>
            <a:r>
              <a:rPr lang="en-US" dirty="0"/>
              <a:t>Slide 7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Intersection</a:t>
            </a:r>
            <a:r>
              <a:rPr lang="en-US" dirty="0"/>
              <a:t> is only supported in the latest version of MySQL</a:t>
            </a:r>
          </a:p>
          <a:p>
            <a:pPr lvl="1"/>
            <a:r>
              <a:rPr lang="en-US" dirty="0"/>
              <a:t>Mac users and people who are not using the latest version of MySQL must use the </a:t>
            </a:r>
            <a:r>
              <a:rPr lang="en-US" dirty="0">
                <a:solidFill>
                  <a:srgbClr val="FF0000"/>
                </a:solidFill>
              </a:rPr>
              <a:t>IN Subquery </a:t>
            </a:r>
            <a:r>
              <a:rPr lang="en-US" dirty="0"/>
              <a:t>instead (Slide </a:t>
            </a:r>
            <a:r>
              <a:rPr lang="en-US" dirty="0" smtClean="0"/>
              <a:t>10-11).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7260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C4376D10-B1CB-4D04-B72D-809595BC3A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8640"/>
                <a:ext cx="10515600" cy="562832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Slide 9</a:t>
                </a:r>
              </a:p>
              <a:p>
                <a:r>
                  <a:rPr lang="en-US" dirty="0"/>
                  <a:t>Alternative for UNION: use </a:t>
                </a:r>
                <a:r>
                  <a:rPr lang="en-US" dirty="0">
                    <a:latin typeface="Consolas" panose="020B0609020204030204" pitchFamily="49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onsolas" panose="020B0609020204030204" pitchFamily="49" charset="0"/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dirty="0"/>
                  <a:t>Slide 10</a:t>
                </a:r>
              </a:p>
              <a:p>
                <a:r>
                  <a:rPr lang="en-US" dirty="0"/>
                  <a:t>Alternative for INTERSECTION - use IN (Slide </a:t>
                </a:r>
                <a:r>
                  <a:rPr lang="en-US" dirty="0" smtClean="0"/>
                  <a:t>10-13) </a:t>
                </a:r>
                <a:endParaRPr lang="en-US" dirty="0"/>
              </a:p>
              <a:p>
                <a:r>
                  <a:rPr lang="en-US" dirty="0"/>
                  <a:t>Alternative to SET DIFFERENCE - use NOT IN (Slides 15-17)</a:t>
                </a:r>
              </a:p>
              <a:p>
                <a:endParaRPr lang="en-US" sz="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4376D10-B1CB-4D04-B72D-809595BC3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8640"/>
                <a:ext cx="10515600" cy="5628323"/>
              </a:xfrm>
              <a:blipFill rotWithShape="0">
                <a:blip r:embed="rId2"/>
                <a:stretch>
                  <a:fillRect l="-1217" t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14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 18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Exercise 1: See Slide 9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Exercise 2: See Slides 12-13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Exercise 3: See Slides 16-17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Exercise 4: Recall Lab 8 Exercise 6.</a:t>
            </a:r>
          </a:p>
          <a:p>
            <a:pPr lvl="1"/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A customer who has not rented any film has </a:t>
            </a:r>
            <a:r>
              <a:rPr lang="en-US" err="1">
                <a:solidFill>
                  <a:srgbClr val="000000"/>
                </a:solidFill>
                <a:cs typeface="Arial" panose="020B0604020202020204" pitchFamily="34" charset="0"/>
              </a:rPr>
              <a:t>rental</a:t>
            </a:r>
            <a:r>
              <a:rPr lang="en-US">
                <a:solidFill>
                  <a:srgbClr val="000000"/>
                </a:solidFill>
                <a:cs typeface="Arial" panose="020B0604020202020204" pitchFamily="34" charset="0"/>
              </a:rPr>
              <a:t>_id as NULL.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562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65486" y="464024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881062"/>
            <a:ext cx="90487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1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8070</TotalTime>
  <Words>164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等线</vt:lpstr>
      <vt:lpstr>Arial</vt:lpstr>
      <vt:lpstr>Calibri</vt:lpstr>
      <vt:lpstr>Calibri Light</vt:lpstr>
      <vt:lpstr>Cambria Math</vt:lpstr>
      <vt:lpstr>Consolas</vt:lpstr>
      <vt:lpstr>Office Theme</vt:lpstr>
      <vt:lpstr>Database Lab 9 Set Op and Subquery Where Addendum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Microsoft account</cp:lastModifiedBy>
  <cp:revision>810</cp:revision>
  <dcterms:created xsi:type="dcterms:W3CDTF">2021-08-02T03:54:37Z</dcterms:created>
  <dcterms:modified xsi:type="dcterms:W3CDTF">2025-11-18T11:28:19Z</dcterms:modified>
</cp:coreProperties>
</file>