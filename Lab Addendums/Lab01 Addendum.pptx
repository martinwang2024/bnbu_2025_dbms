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3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6" autoAdjust="0"/>
    <p:restoredTop sz="94660"/>
  </p:normalViewPr>
  <p:slideViewPr>
    <p:cSldViewPr snapToGrid="0">
      <p:cViewPr varScale="1">
        <p:scale>
          <a:sx n="51" d="100"/>
          <a:sy n="51" d="100"/>
        </p:scale>
        <p:origin x="4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0D3A-1E39-4CA7-AB92-107F6EEC995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7484-2975-4E6B-8727-747E4C2A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92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0D3A-1E39-4CA7-AB92-107F6EEC995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7484-2975-4E6B-8727-747E4C2A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6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0D3A-1E39-4CA7-AB92-107F6EEC995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7484-2975-4E6B-8727-747E4C2A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0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0D3A-1E39-4CA7-AB92-107F6EEC995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7484-2975-4E6B-8727-747E4C2A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3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0D3A-1E39-4CA7-AB92-107F6EEC995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7484-2975-4E6B-8727-747E4C2A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64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0D3A-1E39-4CA7-AB92-107F6EEC995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7484-2975-4E6B-8727-747E4C2A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0D3A-1E39-4CA7-AB92-107F6EEC995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7484-2975-4E6B-8727-747E4C2A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18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0D3A-1E39-4CA7-AB92-107F6EEC995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7484-2975-4E6B-8727-747E4C2A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9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0D3A-1E39-4CA7-AB92-107F6EEC995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7484-2975-4E6B-8727-747E4C2A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0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0D3A-1E39-4CA7-AB92-107F6EEC995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7484-2975-4E6B-8727-747E4C2A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56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0D3A-1E39-4CA7-AB92-107F6EEC995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7484-2975-4E6B-8727-747E4C2A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19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B0D3A-1E39-4CA7-AB92-107F6EEC995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A7484-2975-4E6B-8727-747E4C2A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6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pachefriends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1 Addendum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036762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DBMS</a:t>
            </a:r>
          </a:p>
          <a:p>
            <a:r>
              <a:rPr lang="en-US" sz="3200" dirty="0"/>
              <a:t>1002 and 1005</a:t>
            </a:r>
          </a:p>
          <a:p>
            <a:r>
              <a:rPr lang="en-US" sz="3200" dirty="0"/>
              <a:t>Dr. Jefferson Fong</a:t>
            </a:r>
          </a:p>
          <a:p>
            <a:r>
              <a:rPr lang="en-US" sz="3200" dirty="0"/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3987029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166F9-FC52-40C0-925B-96E13FE9B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033" y="4042787"/>
            <a:ext cx="9293931" cy="2458222"/>
          </a:xfrm>
        </p:spPr>
        <p:txBody>
          <a:bodyPr>
            <a:normAutofit/>
          </a:bodyPr>
          <a:lstStyle/>
          <a:p>
            <a:r>
              <a:rPr lang="en-US" dirty="0"/>
              <a:t>Check iSpace for updates.</a:t>
            </a:r>
          </a:p>
          <a:p>
            <a:r>
              <a:rPr lang="en-US" dirty="0"/>
              <a:t>If you cannot attend the tutorial of your section, you can attend the tutorial of another section.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148431-F88A-4380-B5F8-15C751C15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33" y="531503"/>
            <a:ext cx="9538911" cy="319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2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7AC1C5F-11C3-4140-A137-AEEE3295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Tutorials (continue)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166F9-FC52-40C0-925B-96E13FE9B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853" y="1571705"/>
            <a:ext cx="10403052" cy="3271314"/>
          </a:xfrm>
        </p:spPr>
        <p:txBody>
          <a:bodyPr>
            <a:normAutofit/>
          </a:bodyPr>
          <a:lstStyle/>
          <a:p>
            <a:r>
              <a:rPr lang="en-US" dirty="0"/>
              <a:t>Generally tutorials allow you more time to finish your lab exercises.</a:t>
            </a:r>
          </a:p>
          <a:p>
            <a:r>
              <a:rPr lang="en-US" dirty="0"/>
              <a:t>You can also ask TA for more explanations (in Chinese) on course material, but no new materials will be presented in the tutorials.</a:t>
            </a:r>
          </a:p>
          <a:p>
            <a:r>
              <a:rPr lang="en-US" dirty="0"/>
              <a:t>If no students show up after 15 minutes, the TA can leave.</a:t>
            </a:r>
          </a:p>
          <a:p>
            <a:pPr lvl="1"/>
            <a:r>
              <a:rPr lang="en-US" dirty="0"/>
              <a:t>If you plan to be late in a tutorial, let the TA know you are coming.</a:t>
            </a:r>
          </a:p>
        </p:txBody>
      </p:sp>
    </p:spTree>
    <p:extLst>
      <p:ext uri="{BB962C8B-B14F-4D97-AF65-F5344CB8AC3E}">
        <p14:creationId xmlns:p14="http://schemas.microsoft.com/office/powerpoint/2010/main" val="3615322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7AC1C5F-11C3-4140-A137-AEEE3295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XAMPP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166F9-FC52-40C0-925B-96E13FE9B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680" y="1179496"/>
            <a:ext cx="10710119" cy="4819522"/>
          </a:xfrm>
        </p:spPr>
        <p:txBody>
          <a:bodyPr>
            <a:normAutofit/>
          </a:bodyPr>
          <a:lstStyle/>
          <a:p>
            <a:r>
              <a:rPr lang="en-US" dirty="0"/>
              <a:t>In the lab, we will use XAMPP (pronounced “</a:t>
            </a:r>
            <a:r>
              <a:rPr lang="en-US" dirty="0" err="1"/>
              <a:t>exemp</a:t>
            </a:r>
            <a:r>
              <a:rPr lang="en-US" dirty="0"/>
              <a:t>”) to learn SQL.</a:t>
            </a:r>
          </a:p>
          <a:p>
            <a:r>
              <a:rPr lang="en-US" dirty="0"/>
              <a:t>If you have a laptop, install XAMPP in your laptop and bring it to the labs.</a:t>
            </a:r>
          </a:p>
          <a:p>
            <a:pPr lvl="1"/>
            <a:r>
              <a:rPr lang="en-US" dirty="0"/>
              <a:t>You can use XAMPP in the lab computers, but other people might mess up the settings and change the database.</a:t>
            </a:r>
          </a:p>
          <a:p>
            <a:pPr lvl="1"/>
            <a:r>
              <a:rPr lang="en-US" dirty="0"/>
              <a:t>You should use the lab computer to view the PPT containing the instructions, and use your laptop to run XAMPP.</a:t>
            </a:r>
          </a:p>
          <a:p>
            <a:pPr marL="0" indent="0"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99408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249" y="1137520"/>
            <a:ext cx="11276853" cy="4057936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iSpace &gt; For Students &gt; Labs &gt; “Lab 01 – XAMPP” contains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PPT</a:t>
            </a:r>
            <a:r>
              <a:rPr lang="en-US" dirty="0"/>
              <a:t> link to “Lab01 Introduction to XAMPP.pptx”,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Material</a:t>
            </a:r>
            <a:r>
              <a:rPr lang="en-US" dirty="0"/>
              <a:t> link to “Lab01 Material.zip” which contains example.html and </a:t>
            </a:r>
            <a:r>
              <a:rPr lang="en-US" dirty="0" err="1"/>
              <a:t>sakila.sql</a:t>
            </a:r>
            <a:r>
              <a:rPr lang="en-US" dirty="0"/>
              <a:t> (the DB we use in the lab).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XAMPP Installation </a:t>
            </a:r>
            <a:r>
              <a:rPr lang="en-US" dirty="0"/>
              <a:t>link to </a:t>
            </a:r>
            <a:r>
              <a:rPr lang="en-US" dirty="0">
                <a:hlinkClick r:id="rId2"/>
              </a:rPr>
              <a:t>https://www.apachefriends.org</a:t>
            </a:r>
            <a:r>
              <a:rPr lang="en-US" dirty="0"/>
              <a:t> for downloading XAMPP. </a:t>
            </a:r>
          </a:p>
        </p:txBody>
      </p:sp>
    </p:spTree>
    <p:extLst>
      <p:ext uri="{BB962C8B-B14F-4D97-AF65-F5344CB8AC3E}">
        <p14:creationId xmlns:p14="http://schemas.microsoft.com/office/powerpoint/2010/main" val="1080551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819"/>
          </a:xfrm>
        </p:spPr>
        <p:txBody>
          <a:bodyPr>
            <a:normAutofit fontScale="90000"/>
          </a:bodyPr>
          <a:lstStyle/>
          <a:p>
            <a:r>
              <a:rPr lang="en-US" dirty="0"/>
              <a:t>XAMPP in SWDW (Workshop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8298"/>
            <a:ext cx="10515600" cy="4948665"/>
          </a:xfrm>
        </p:spPr>
        <p:txBody>
          <a:bodyPr>
            <a:normAutofit/>
          </a:bodyPr>
          <a:lstStyle/>
          <a:p>
            <a:pPr lvl="0">
              <a:buClr>
                <a:srgbClr val="D16349"/>
              </a:buClr>
            </a:pPr>
            <a:r>
              <a:rPr lang="en-US" dirty="0">
                <a:solidFill>
                  <a:prstClr val="black"/>
                </a:solidFill>
              </a:rPr>
              <a:t>SWDW used XAMPP 8.1.X.</a:t>
            </a:r>
          </a:p>
          <a:p>
            <a:pPr lvl="0">
              <a:buClr>
                <a:srgbClr val="D16349"/>
              </a:buClr>
            </a:pPr>
            <a:r>
              <a:rPr lang="en-US" dirty="0">
                <a:solidFill>
                  <a:prstClr val="black"/>
                </a:solidFill>
              </a:rPr>
              <a:t>The </a:t>
            </a:r>
            <a:r>
              <a:rPr lang="en-US" dirty="0">
                <a:solidFill>
                  <a:srgbClr val="0070C0"/>
                </a:solidFill>
              </a:rPr>
              <a:t>XAMPP Installation </a:t>
            </a:r>
            <a:r>
              <a:rPr lang="en-US" dirty="0">
                <a:solidFill>
                  <a:prstClr val="black"/>
                </a:solidFill>
              </a:rPr>
              <a:t>link to version 8.2.X.  Both versions are probably should be OK for this class.</a:t>
            </a:r>
          </a:p>
          <a:p>
            <a:pPr lvl="1">
              <a:buClr>
                <a:srgbClr val="D16349"/>
              </a:buClr>
            </a:pPr>
            <a:r>
              <a:rPr lang="en-US" dirty="0">
                <a:solidFill>
                  <a:prstClr val="black"/>
                </a:solidFill>
              </a:rPr>
              <a:t>That’s not a guarantee from me.</a:t>
            </a:r>
          </a:p>
          <a:p>
            <a:pPr lvl="1">
              <a:buClr>
                <a:srgbClr val="D16349"/>
              </a:buClr>
            </a:pPr>
            <a:r>
              <a:rPr lang="en-US" dirty="0">
                <a:solidFill>
                  <a:prstClr val="black"/>
                </a:solidFill>
              </a:rPr>
              <a:t>You should install only one version in your computer.</a:t>
            </a:r>
          </a:p>
          <a:p>
            <a:pPr lvl="1">
              <a:buClr>
                <a:srgbClr val="D16349"/>
              </a:buClr>
            </a:pPr>
            <a:r>
              <a:rPr lang="en-US" dirty="0">
                <a:solidFill>
                  <a:prstClr val="black"/>
                </a:solidFill>
              </a:rPr>
              <a:t>In case you wanted to recall, installation instruction for the XAMPP used in SWDW is in “COMP3013 25F” webpage under “Section 1002/1005 ” &gt; </a:t>
            </a:r>
            <a:r>
              <a:rPr lang="en-US" dirty="0" err="1">
                <a:solidFill>
                  <a:prstClr val="black"/>
                </a:solidFill>
              </a:rPr>
              <a:t>Etc</a:t>
            </a:r>
            <a:r>
              <a:rPr lang="en-US" dirty="0">
                <a:solidFill>
                  <a:prstClr val="black"/>
                </a:solidFill>
              </a:rPr>
              <a:t> &gt; </a:t>
            </a:r>
            <a:r>
              <a:rPr lang="en-US" dirty="0" err="1">
                <a:solidFill>
                  <a:prstClr val="black"/>
                </a:solidFill>
              </a:rPr>
              <a:t>XAMPP_installation_SWDW</a:t>
            </a:r>
            <a:r>
              <a:rPr lang="en-US" dirty="0">
                <a:solidFill>
                  <a:prstClr val="black"/>
                </a:solidFill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1182554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81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ToDo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4"/>
          </a:xfrm>
        </p:spPr>
        <p:txBody>
          <a:bodyPr>
            <a:normAutofit/>
          </a:bodyPr>
          <a:lstStyle/>
          <a:p>
            <a:pPr lvl="0">
              <a:buClr>
                <a:srgbClr val="D16349"/>
              </a:buClr>
            </a:pPr>
            <a:r>
              <a:rPr lang="en-US" dirty="0">
                <a:solidFill>
                  <a:prstClr val="black"/>
                </a:solidFill>
              </a:rPr>
              <a:t>Install XAMPP on your own computer.</a:t>
            </a:r>
          </a:p>
          <a:p>
            <a:pPr>
              <a:buClr>
                <a:srgbClr val="D16349"/>
              </a:buClr>
            </a:pPr>
            <a:r>
              <a:rPr lang="en-US" dirty="0">
                <a:solidFill>
                  <a:prstClr val="black"/>
                </a:solidFill>
              </a:rPr>
              <a:t>Follow “Lab01 Introduction to XAMPP.pptx”</a:t>
            </a:r>
          </a:p>
          <a:p>
            <a:pPr marL="0" lvl="0" indent="0">
              <a:buClr>
                <a:srgbClr val="D16349"/>
              </a:buClr>
              <a:buNone/>
            </a:pPr>
            <a:endParaRPr lang="en-US" dirty="0">
              <a:solidFill>
                <a:prstClr val="black"/>
              </a:solidFill>
            </a:endParaRPr>
          </a:p>
          <a:p>
            <a:pPr lvl="0">
              <a:buClr>
                <a:srgbClr val="D16349"/>
              </a:buClr>
            </a:pPr>
            <a:r>
              <a:rPr lang="en-US" dirty="0">
                <a:solidFill>
                  <a:prstClr val="black"/>
                </a:solidFill>
              </a:rPr>
              <a:t>There is nothing to submit this week.  Get ready for next week.</a:t>
            </a:r>
          </a:p>
          <a:p>
            <a:pPr lvl="0">
              <a:buClr>
                <a:srgbClr val="D16349"/>
              </a:buClr>
            </a:pP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246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379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Lab 1 Addendum</vt:lpstr>
      <vt:lpstr>PowerPoint Presentation</vt:lpstr>
      <vt:lpstr>Tutorials (continue)</vt:lpstr>
      <vt:lpstr>XAMPP</vt:lpstr>
      <vt:lpstr>PowerPoint Presentation</vt:lpstr>
      <vt:lpstr>XAMPP in SWDW (Workshop 1)</vt:lpstr>
      <vt:lpstr>ToDo: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Addendum</dc:title>
  <dc:creator>j f</dc:creator>
  <cp:lastModifiedBy>UIC</cp:lastModifiedBy>
  <cp:revision>36</cp:revision>
  <dcterms:created xsi:type="dcterms:W3CDTF">2022-09-08T14:55:47Z</dcterms:created>
  <dcterms:modified xsi:type="dcterms:W3CDTF">2025-09-09T08:30:20Z</dcterms:modified>
</cp:coreProperties>
</file>