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09" r:id="rId2"/>
    <p:sldId id="410" r:id="rId3"/>
    <p:sldId id="256" r:id="rId4"/>
    <p:sldId id="258" r:id="rId5"/>
    <p:sldId id="41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5852" autoAdjust="0"/>
    <p:restoredTop sz="94660"/>
  </p:normalViewPr>
  <p:slideViewPr>
    <p:cSldViewPr snapToGrid="0">
      <p:cViewPr varScale="1">
        <p:scale>
          <a:sx n="60" d="100"/>
          <a:sy n="60" d="100"/>
        </p:scale>
        <p:origin x="31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31F3E-F7F5-4D37-9CA5-357FD8967499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0DC2C-3089-4CE4-8C90-C643B2792C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1929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31F3E-F7F5-4D37-9CA5-357FD8967499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0DC2C-3089-4CE4-8C90-C643B2792C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3535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31F3E-F7F5-4D37-9CA5-357FD8967499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0DC2C-3089-4CE4-8C90-C643B2792C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6528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31F3E-F7F5-4D37-9CA5-357FD8967499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0DC2C-3089-4CE4-8C90-C643B2792C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3771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31F3E-F7F5-4D37-9CA5-357FD8967499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0DC2C-3089-4CE4-8C90-C643B2792C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464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31F3E-F7F5-4D37-9CA5-357FD8967499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0DC2C-3089-4CE4-8C90-C643B2792C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8354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31F3E-F7F5-4D37-9CA5-357FD8967499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0DC2C-3089-4CE4-8C90-C643B2792C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4676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31F3E-F7F5-4D37-9CA5-357FD8967499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0DC2C-3089-4CE4-8C90-C643B2792C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1923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31F3E-F7F5-4D37-9CA5-357FD8967499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0DC2C-3089-4CE4-8C90-C643B2792C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9444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31F3E-F7F5-4D37-9CA5-357FD8967499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0DC2C-3089-4CE4-8C90-C643B2792C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6551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31F3E-F7F5-4D37-9CA5-357FD8967499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0DC2C-3089-4CE4-8C90-C643B2792C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0351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A31F3E-F7F5-4D37-9CA5-357FD8967499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30DC2C-3089-4CE4-8C90-C643B2792C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96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27067"/>
          </a:xfrm>
        </p:spPr>
        <p:txBody>
          <a:bodyPr/>
          <a:lstStyle/>
          <a:p>
            <a:r>
              <a:rPr lang="en-US" dirty="0"/>
              <a:t>Installing XAMPP on your computer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88962"/>
            <a:ext cx="10515600" cy="4788001"/>
          </a:xfrm>
        </p:spPr>
        <p:txBody>
          <a:bodyPr>
            <a:normAutofit lnSpcReduction="10000"/>
          </a:bodyPr>
          <a:lstStyle/>
          <a:p>
            <a:r>
              <a:rPr lang="en-US" dirty="0">
                <a:solidFill>
                  <a:srgbClr val="FF0000"/>
                </a:solidFill>
              </a:rPr>
              <a:t>Handling error messages</a:t>
            </a:r>
          </a:p>
          <a:p>
            <a:pPr lvl="1"/>
            <a:r>
              <a:rPr lang="en-US" dirty="0"/>
              <a:t>Search online on how to fix the error.</a:t>
            </a:r>
          </a:p>
          <a:p>
            <a:pPr lvl="1"/>
            <a:r>
              <a:rPr lang="en-US" dirty="0"/>
              <a:t>Search Bing or Baidu, “XAMPP (your error message)”</a:t>
            </a:r>
          </a:p>
          <a:p>
            <a:pPr lvl="1"/>
            <a:r>
              <a:rPr lang="en-US" dirty="0"/>
              <a:t>In many cases, removing a file mention there would fix the problem.</a:t>
            </a:r>
          </a:p>
          <a:p>
            <a:pPr lvl="2"/>
            <a:r>
              <a:rPr lang="en-US" dirty="0"/>
              <a:t>Don’t remove the file; move it the for folder junk\ and rename the file to </a:t>
            </a:r>
            <a:r>
              <a:rPr lang="en-US" dirty="0" err="1"/>
              <a:t>XXX_junk</a:t>
            </a:r>
            <a:r>
              <a:rPr lang="en-US" dirty="0"/>
              <a:t>, where XXX is the old file name, in case you need to revert back to the old file. </a:t>
            </a:r>
          </a:p>
          <a:p>
            <a:r>
              <a:rPr lang="en-US" dirty="0">
                <a:solidFill>
                  <a:srgbClr val="FF0000"/>
                </a:solidFill>
              </a:rPr>
              <a:t>Mac users</a:t>
            </a:r>
            <a:endParaRPr lang="en-US" dirty="0"/>
          </a:p>
          <a:p>
            <a:pPr lvl="1"/>
            <a:r>
              <a:rPr lang="en-US" dirty="0"/>
              <a:t>Solution to installation problem is in iSpace’s Section 1002/1005 &gt; </a:t>
            </a:r>
            <a:r>
              <a:rPr lang="en-US" dirty="0" err="1"/>
              <a:t>Etc</a:t>
            </a:r>
            <a:r>
              <a:rPr lang="en-US" dirty="0"/>
              <a:t> &gt; sol_macos_xampp_import_incomplete.docx.</a:t>
            </a:r>
          </a:p>
          <a:p>
            <a:pPr lvl="1"/>
            <a:r>
              <a:rPr lang="en-US" dirty="0"/>
              <a:t>Thank you to TA Lily.</a:t>
            </a:r>
          </a:p>
          <a:p>
            <a:pPr lvl="1"/>
            <a:r>
              <a:rPr lang="en-US" dirty="0"/>
              <a:t>Form a club: Mac users for your major.</a:t>
            </a:r>
          </a:p>
          <a:p>
            <a:pPr lvl="2"/>
            <a:r>
              <a:rPr lang="en-US" dirty="0"/>
              <a:t>Good activities / volunteer work to put in your CV.  Shows your initiative, can learn outside of classes, helping other people, etc.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89376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6166F9-FC52-40C0-925B-96E13FE9B6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0793" y="3429000"/>
            <a:ext cx="9349047" cy="2769179"/>
          </a:xfrm>
        </p:spPr>
        <p:txBody>
          <a:bodyPr>
            <a:normAutofit/>
          </a:bodyPr>
          <a:lstStyle/>
          <a:p>
            <a:r>
              <a:rPr lang="en-US" dirty="0"/>
              <a:t>You can attend the tutorials of any sections.</a:t>
            </a:r>
          </a:p>
          <a:p>
            <a:r>
              <a:rPr lang="en-US" dirty="0"/>
              <a:t>In tutorials, you can</a:t>
            </a:r>
          </a:p>
          <a:p>
            <a:pPr lvl="1"/>
            <a:r>
              <a:rPr lang="en-US" dirty="0"/>
              <a:t>Finish your lab exercises if you haven’t done so in the lab.</a:t>
            </a:r>
          </a:p>
          <a:p>
            <a:pPr lvl="1"/>
            <a:r>
              <a:rPr lang="en-US" dirty="0"/>
              <a:t>Ask TA for more explanations, in Chinese if you want.</a:t>
            </a:r>
          </a:p>
          <a:p>
            <a:r>
              <a:rPr lang="en-US" dirty="0"/>
              <a:t>If no students show up after 15 minutes, the TA can leave.</a:t>
            </a:r>
          </a:p>
          <a:p>
            <a:pPr lvl="1"/>
            <a:r>
              <a:rPr lang="en-US" dirty="0"/>
              <a:t>If you plan to be late, let the TA know beforehand.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F4B3CE6-6F95-49DF-9CB6-4DE1F81600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584" y="659821"/>
            <a:ext cx="7490395" cy="2476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78793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DBMS Tasks Lab 2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647482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Joke</a:t>
            </a:r>
          </a:p>
          <a:p>
            <a:pPr lvl="1"/>
            <a:r>
              <a:rPr lang="en-US" dirty="0"/>
              <a:t>What is the name of the second movie about a database engineer?</a:t>
            </a:r>
          </a:p>
          <a:p>
            <a:pPr lvl="1"/>
            <a:r>
              <a:rPr lang="en-US" dirty="0"/>
              <a:t>The SQL</a:t>
            </a:r>
          </a:p>
          <a:p>
            <a:r>
              <a:rPr lang="en-US" dirty="0"/>
              <a:t>Students who took SWDW should be familiar with this lab.</a:t>
            </a:r>
          </a:p>
          <a:p>
            <a:r>
              <a:rPr lang="en-US" dirty="0"/>
              <a:t>If you didn’t take SWDW, don’t worry; you will catch up this week or next week.</a:t>
            </a:r>
          </a:p>
          <a:p>
            <a:pPr lvl="1"/>
            <a:endParaRPr lang="en-US" dirty="0"/>
          </a:p>
          <a:p>
            <a:r>
              <a:rPr lang="en-US" dirty="0"/>
              <a:t>Lab2 &gt; “Lab02 Basic SQL.pptx”</a:t>
            </a:r>
          </a:p>
          <a:p>
            <a:pPr lvl="1"/>
            <a:r>
              <a:rPr lang="en-US" dirty="0"/>
              <a:t>Follow the lesson in PPT.</a:t>
            </a:r>
          </a:p>
          <a:p>
            <a:pPr lvl="1"/>
            <a:r>
              <a:rPr lang="en-US" dirty="0"/>
              <a:t>Do the examples on the computer, including Slides 5, 8, 9, 13, 16.</a:t>
            </a:r>
          </a:p>
          <a:p>
            <a:pPr lvl="1"/>
            <a:r>
              <a:rPr lang="en-US" dirty="0"/>
              <a:t>Do the exercises in Slide 17.</a:t>
            </a:r>
          </a:p>
          <a:p>
            <a:pPr lvl="1"/>
            <a:r>
              <a:rPr lang="en-US" dirty="0"/>
              <a:t>When doing the exercises, open up </a:t>
            </a:r>
            <a:r>
              <a:rPr lang="en-US" dirty="0" err="1"/>
              <a:t>sakila.sql</a:t>
            </a:r>
            <a:r>
              <a:rPr lang="en-US" dirty="0"/>
              <a:t> in XAMPP to examine the tables.</a:t>
            </a:r>
          </a:p>
        </p:txBody>
      </p:sp>
    </p:spTree>
    <p:extLst>
      <p:ext uri="{BB962C8B-B14F-4D97-AF65-F5344CB8AC3E}">
        <p14:creationId xmlns:p14="http://schemas.microsoft.com/office/powerpoint/2010/main" val="870321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Slide 5, 8</a:t>
            </a:r>
          </a:p>
          <a:p>
            <a:r>
              <a:rPr lang="en-US" dirty="0"/>
              <a:t>SELECT * FROM </a:t>
            </a:r>
            <a:r>
              <a:rPr lang="en-US" dirty="0">
                <a:solidFill>
                  <a:srgbClr val="FF0000"/>
                </a:solidFill>
              </a:rPr>
              <a:t>actor</a:t>
            </a:r>
            <a:r>
              <a:rPr lang="en-US" dirty="0"/>
              <a:t> WHERE 1</a:t>
            </a:r>
          </a:p>
          <a:p>
            <a:r>
              <a:rPr lang="en-US" dirty="0"/>
              <a:t>SELECT all columns FROM table </a:t>
            </a:r>
            <a:r>
              <a:rPr lang="en-US" dirty="0">
                <a:solidFill>
                  <a:srgbClr val="FF0000"/>
                </a:solidFill>
              </a:rPr>
              <a:t>actor</a:t>
            </a:r>
            <a:r>
              <a:rPr lang="en-US" dirty="0"/>
              <a:t>.  (The “predicate” or condition 1 means it’s always true.)</a:t>
            </a:r>
          </a:p>
          <a:p>
            <a:endParaRPr lang="en-US" sz="800" dirty="0"/>
          </a:p>
          <a:p>
            <a:pPr marL="0" indent="0">
              <a:buNone/>
            </a:pPr>
            <a:r>
              <a:rPr lang="en-US" dirty="0"/>
              <a:t>Slide 9</a:t>
            </a:r>
          </a:p>
          <a:p>
            <a:r>
              <a:rPr lang="en-US" dirty="0"/>
              <a:t>SELECT </a:t>
            </a:r>
            <a:r>
              <a:rPr lang="en-US" dirty="0">
                <a:solidFill>
                  <a:srgbClr val="FF0000"/>
                </a:solidFill>
              </a:rPr>
              <a:t>title</a:t>
            </a:r>
            <a:r>
              <a:rPr lang="en-US" dirty="0"/>
              <a:t>, </a:t>
            </a:r>
            <a:r>
              <a:rPr lang="en-US" dirty="0" err="1">
                <a:solidFill>
                  <a:srgbClr val="FF0000"/>
                </a:solidFill>
              </a:rPr>
              <a:t>release_year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FROM </a:t>
            </a:r>
            <a:r>
              <a:rPr lang="en-US" dirty="0">
                <a:solidFill>
                  <a:srgbClr val="FF0000"/>
                </a:solidFill>
              </a:rPr>
              <a:t>film</a:t>
            </a:r>
            <a:r>
              <a:rPr lang="en-US" dirty="0"/>
              <a:t> WHERE </a:t>
            </a:r>
            <a:r>
              <a:rPr lang="en-US" dirty="0" err="1">
                <a:solidFill>
                  <a:srgbClr val="FF0000"/>
                </a:solidFill>
              </a:rPr>
              <a:t>rental_rate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&lt; 1</a:t>
            </a:r>
          </a:p>
          <a:p>
            <a:r>
              <a:rPr lang="en-US" dirty="0"/>
              <a:t>SELECT the columns for </a:t>
            </a:r>
            <a:r>
              <a:rPr lang="en-US" dirty="0">
                <a:solidFill>
                  <a:srgbClr val="FF0000"/>
                </a:solidFill>
              </a:rPr>
              <a:t>title</a:t>
            </a:r>
            <a:r>
              <a:rPr lang="en-US" dirty="0"/>
              <a:t> and </a:t>
            </a:r>
            <a:r>
              <a:rPr lang="en-US" dirty="0" err="1">
                <a:solidFill>
                  <a:srgbClr val="FF0000"/>
                </a:solidFill>
              </a:rPr>
              <a:t>release_year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FROM table </a:t>
            </a:r>
            <a:r>
              <a:rPr lang="en-US" dirty="0">
                <a:solidFill>
                  <a:srgbClr val="FF0000"/>
                </a:solidFill>
              </a:rPr>
              <a:t>film</a:t>
            </a:r>
            <a:r>
              <a:rPr lang="en-US" dirty="0"/>
              <a:t> WHERE the condition </a:t>
            </a:r>
            <a:r>
              <a:rPr lang="en-US" dirty="0" err="1">
                <a:solidFill>
                  <a:srgbClr val="FF0000"/>
                </a:solidFill>
              </a:rPr>
              <a:t>rental_rate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&lt; 1 is true. </a:t>
            </a:r>
          </a:p>
        </p:txBody>
      </p:sp>
    </p:spTree>
    <p:extLst>
      <p:ext uri="{BB962C8B-B14F-4D97-AF65-F5344CB8AC3E}">
        <p14:creationId xmlns:p14="http://schemas.microsoft.com/office/powerpoint/2010/main" val="6369233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Hints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Search online for the proper SQL syntax.</a:t>
            </a:r>
          </a:p>
          <a:p>
            <a:pPr lvl="1"/>
            <a:r>
              <a:rPr lang="en-US" dirty="0"/>
              <a:t>E.g. for Exercise 6 in Slide 17, search “SQL compare date”.  </a:t>
            </a:r>
          </a:p>
          <a:p>
            <a:r>
              <a:rPr lang="en-US" dirty="0"/>
              <a:t>First you need to find the table that contains customer id, payment </a:t>
            </a:r>
            <a:r>
              <a:rPr lang="en-US"/>
              <a:t>(2005-05-25) </a:t>
            </a:r>
            <a:r>
              <a:rPr lang="en-US" dirty="0"/>
              <a:t>and payment (3). </a:t>
            </a:r>
          </a:p>
        </p:txBody>
      </p:sp>
    </p:spTree>
    <p:extLst>
      <p:ext uri="{BB962C8B-B14F-4D97-AF65-F5344CB8AC3E}">
        <p14:creationId xmlns:p14="http://schemas.microsoft.com/office/powerpoint/2010/main" val="26716999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444</Words>
  <Application>Microsoft Office PowerPoint</Application>
  <PresentationFormat>Widescreen</PresentationFormat>
  <Paragraphs>41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Installing XAMPP on your computer</vt:lpstr>
      <vt:lpstr>PowerPoint Presentation</vt:lpstr>
      <vt:lpstr>DBMS Tasks Lab 2</vt:lpstr>
      <vt:lpstr>Examples</vt:lpstr>
      <vt:lpstr>Hints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DBMS Tasks Lab 2</dc:title>
  <dc:creator>j f</dc:creator>
  <cp:lastModifiedBy>UIC</cp:lastModifiedBy>
  <cp:revision>18</cp:revision>
  <dcterms:created xsi:type="dcterms:W3CDTF">2022-09-15T13:11:40Z</dcterms:created>
  <dcterms:modified xsi:type="dcterms:W3CDTF">2025-09-16T08:35:53Z</dcterms:modified>
</cp:coreProperties>
</file>