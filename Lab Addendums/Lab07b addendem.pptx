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564" r:id="rId3"/>
    <p:sldId id="392" r:id="rId4"/>
    <p:sldId id="5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68" autoAdjust="0"/>
    <p:restoredTop sz="91677" autoAdjust="0"/>
  </p:normalViewPr>
  <p:slideViewPr>
    <p:cSldViewPr snapToGrid="0">
      <p:cViewPr varScale="1">
        <p:scale>
          <a:sx n="54" d="100"/>
          <a:sy n="54" d="100"/>
        </p:scale>
        <p:origin x="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Lab 7b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Correction</a:t>
            </a:r>
            <a:r>
              <a:rPr lang="en-US" dirty="0"/>
              <a:t> to</a:t>
            </a:r>
            <a:br>
              <a:rPr lang="en-US" dirty="0"/>
            </a:br>
            <a:r>
              <a:rPr lang="en-US" dirty="0"/>
              <a:t>Database Modification</a:t>
            </a:r>
            <a:br>
              <a:rPr lang="en-US" dirty="0"/>
            </a:br>
            <a:r>
              <a:rPr lang="en-US" dirty="0"/>
              <a:t>Addendum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Jefferson Fong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3397165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376D10-B1CB-4D04-B72D-809595BC3A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8640"/>
                <a:ext cx="10515600" cy="5628323"/>
              </a:xfrm>
            </p:spPr>
            <p:txBody>
              <a:bodyPr/>
              <a:lstStyle/>
              <a:p>
                <a:r>
                  <a:rPr lang="en-US" dirty="0"/>
                  <a:t>The file “</a:t>
                </a:r>
                <a:r>
                  <a:rPr lang="en-US" b="1" dirty="0">
                    <a:solidFill>
                      <a:srgbClr val="00B050"/>
                    </a:solidFill>
                  </a:rPr>
                  <a:t>UIC definition.txt</a:t>
                </a:r>
                <a:r>
                  <a:rPr lang="en-US" dirty="0"/>
                  <a:t>” contains the solution to </a:t>
                </a:r>
                <a:r>
                  <a:rPr lang="en-US" dirty="0">
                    <a:solidFill>
                      <a:srgbClr val="FF0000"/>
                    </a:solidFill>
                  </a:rPr>
                  <a:t>Lab 6 </a:t>
                </a:r>
                <a:r>
                  <a:rPr lang="en-US" dirty="0"/>
                  <a:t>exercises.</a:t>
                </a:r>
              </a:p>
              <a:p>
                <a:r>
                  <a:rPr lang="en-US" dirty="0"/>
                  <a:t>That file contains 2 parts:</a:t>
                </a:r>
              </a:p>
              <a:p>
                <a:pPr marL="914400" lvl="1" indent="-457200">
                  <a:buAutoNum type="arabicParenBoth"/>
                </a:pPr>
                <a:r>
                  <a:rPr lang="en-US" dirty="0"/>
                  <a:t>Create tables</a:t>
                </a:r>
              </a:p>
              <a:p>
                <a:pPr marL="914400" lvl="1" indent="-457200">
                  <a:buAutoNum type="arabicParenBoth"/>
                </a:pPr>
                <a:r>
                  <a:rPr lang="en-US" dirty="0"/>
                  <a:t>Alter table for foreign key.</a:t>
                </a:r>
              </a:p>
              <a:p>
                <a:r>
                  <a:rPr lang="en-US" dirty="0"/>
                  <a:t>In </a:t>
                </a:r>
                <a:r>
                  <a:rPr lang="en-US" dirty="0">
                    <a:solidFill>
                      <a:srgbClr val="FF0000"/>
                    </a:solidFill>
                  </a:rPr>
                  <a:t>Lab 7</a:t>
                </a:r>
                <a:r>
                  <a:rPr lang="en-US" dirty="0"/>
                  <a:t>, we are to insert in values into the database.</a:t>
                </a:r>
              </a:p>
              <a:p>
                <a:r>
                  <a:rPr lang="en-US" dirty="0"/>
                  <a:t>Inserting values into DB is best done </a:t>
                </a:r>
                <a:r>
                  <a:rPr lang="en-US" dirty="0">
                    <a:solidFill>
                      <a:srgbClr val="FF0000"/>
                    </a:solidFill>
                  </a:rPr>
                  <a:t>before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step (2)</a:t>
                </a:r>
                <a:r>
                  <a:rPr lang="en-US" dirty="0"/>
                  <a:t> because some entities-relationship contains circular referencing.</a:t>
                </a:r>
              </a:p>
              <a:p>
                <a:pPr lvl="1"/>
                <a:r>
                  <a:rPr lang="en-US" dirty="0"/>
                  <a:t>Table </a:t>
                </a:r>
                <a:r>
                  <a:rPr lang="en-US" dirty="0">
                    <a:solidFill>
                      <a:srgbClr val="FF0000"/>
                    </a:solidFill>
                  </a:rPr>
                  <a:t>instructor's</a:t>
                </a:r>
                <a:r>
                  <a:rPr lang="en-US" dirty="0"/>
                  <a:t> </a:t>
                </a:r>
                <a:r>
                  <a:rPr lang="en-US" dirty="0" err="1"/>
                  <a:t>p_code</a:t>
                </a:r>
                <a:r>
                  <a:rPr lang="en-US" dirty="0"/>
                  <a:t>      has </a:t>
                </a:r>
                <a:r>
                  <a:rPr lang="en-US" dirty="0">
                    <a:solidFill>
                      <a:srgbClr val="FF0000"/>
                    </a:solidFill>
                  </a:rPr>
                  <a:t>program's</a:t>
                </a:r>
                <a:r>
                  <a:rPr lang="en-US" dirty="0"/>
                  <a:t> </a:t>
                </a:r>
                <a:r>
                  <a:rPr lang="en-US" dirty="0" err="1"/>
                  <a:t>p_code</a:t>
                </a:r>
                <a:r>
                  <a:rPr lang="en-US" dirty="0"/>
                  <a:t> as foreign key</a:t>
                </a:r>
              </a:p>
              <a:p>
                <a:pPr lvl="1"/>
                <a:r>
                  <a:rPr lang="en-US" dirty="0"/>
                  <a:t>Table </a:t>
                </a:r>
                <a:r>
                  <a:rPr lang="en-US" dirty="0">
                    <a:solidFill>
                      <a:srgbClr val="FF0000"/>
                    </a:solidFill>
                  </a:rPr>
                  <a:t>program's</a:t>
                </a:r>
                <a:r>
                  <a:rPr lang="en-US" dirty="0"/>
                  <a:t> </a:t>
                </a:r>
                <a:r>
                  <a:rPr lang="en-US" dirty="0" err="1"/>
                  <a:t>director_id</a:t>
                </a:r>
                <a:r>
                  <a:rPr lang="en-US" dirty="0"/>
                  <a:t> has </a:t>
                </a:r>
                <a:r>
                  <a:rPr lang="en-US" dirty="0">
                    <a:solidFill>
                      <a:srgbClr val="FF0000"/>
                    </a:solidFill>
                  </a:rPr>
                  <a:t>instructor's</a:t>
                </a:r>
                <a:r>
                  <a:rPr lang="en-US" dirty="0"/>
                  <a:t> id         as foreign key</a:t>
                </a:r>
              </a:p>
              <a:p>
                <a:pPr lvl="1"/>
                <a:r>
                  <a:rPr lang="en-US" dirty="0"/>
                  <a:t>This causes a circular reference when inserting values</a:t>
                </a:r>
              </a:p>
              <a:p>
                <a:pPr lvl="1"/>
                <a:r>
                  <a:rPr lang="en-US" dirty="0"/>
                  <a:t>See the UIC database schema in Lecture 8 slide 4.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𝑝𝑟𝑜𝑔𝑟𝑎𝑚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𝑝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𝑐𝑜𝑑𝑒</m:t>
                        </m:r>
                      </m:e>
                    </m:ba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𝑑𝑖𝑣𝑖𝑠𝑖𝑜𝑛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𝑑𝑖𝑟𝑒𝑐𝑡𝑜𝑟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i="1" dirty="0">
                  <a:ea typeface="宋体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𝑖𝑛𝑠𝑡𝑟𝑢𝑐𝑡𝑜𝑟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宋体" charset="-122"/>
                          </a:rPr>
                          <m:t>𝑖𝑑</m:t>
                        </m:r>
                      </m:e>
                    </m:ba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𝑡𝑖𝑡𝑙𝑒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𝑠𝑎𝑙𝑎𝑟𝑦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𝑝𝑟𝑜𝑔𝑟𝑎𝑚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i="1" dirty="0">
                  <a:ea typeface="宋体" charset="-122"/>
                </a:endParaRPr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376D10-B1CB-4D04-B72D-809595BC3A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8640"/>
                <a:ext cx="10515600" cy="5628323"/>
              </a:xfrm>
              <a:blipFill>
                <a:blip r:embed="rId2"/>
                <a:stretch>
                  <a:fillRect l="-1043" t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226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Lab 7</a:t>
            </a:r>
            <a:r>
              <a:rPr lang="en-US" dirty="0"/>
              <a:t>, it’s best to follow these steps</a:t>
            </a:r>
          </a:p>
          <a:p>
            <a:pPr marL="914400" lvl="1" indent="-457200">
              <a:buAutoNum type="arabicParenBoth"/>
            </a:pPr>
            <a:r>
              <a:rPr lang="en-US" dirty="0">
                <a:solidFill>
                  <a:srgbClr val="FF0000"/>
                </a:solidFill>
              </a:rPr>
              <a:t>Create</a:t>
            </a:r>
            <a:r>
              <a:rPr lang="en-US" dirty="0"/>
              <a:t> all the </a:t>
            </a:r>
            <a:r>
              <a:rPr lang="en-US" dirty="0">
                <a:solidFill>
                  <a:srgbClr val="FF0000"/>
                </a:solidFill>
              </a:rPr>
              <a:t>tables</a:t>
            </a:r>
          </a:p>
          <a:p>
            <a:pPr marL="914400" lvl="2" indent="0">
              <a:buNone/>
            </a:pPr>
            <a:r>
              <a:rPr lang="en-US" dirty="0"/>
              <a:t>CREATE TABLE `instructor` (  </a:t>
            </a:r>
          </a:p>
          <a:p>
            <a:pPr marL="914400" lvl="2" indent="0">
              <a:buNone/>
            </a:pPr>
            <a:r>
              <a:rPr lang="en-US" dirty="0"/>
              <a:t>   `id` int(11) NOT NULL,  </a:t>
            </a:r>
          </a:p>
          <a:p>
            <a:pPr marL="914400" lvl="2" indent="0">
              <a:buNone/>
            </a:pPr>
            <a:r>
              <a:rPr lang="en-US" dirty="0"/>
              <a:t>   `</a:t>
            </a:r>
            <a:r>
              <a:rPr lang="en-US" dirty="0" err="1"/>
              <a:t>i_name</a:t>
            </a:r>
            <a:r>
              <a:rPr lang="en-US" dirty="0"/>
              <a:t>` varchar(20) NOT NULL,</a:t>
            </a:r>
          </a:p>
          <a:p>
            <a:pPr marL="914400" lvl="2" indent="0">
              <a:buNone/>
            </a:pPr>
            <a:r>
              <a:rPr lang="en-US" dirty="0"/>
              <a:t>   `title` varchar(20) NOT NULL,  </a:t>
            </a:r>
          </a:p>
          <a:p>
            <a:pPr marL="914400" lvl="2" indent="0">
              <a:buNone/>
            </a:pPr>
            <a:r>
              <a:rPr lang="en-US" dirty="0"/>
              <a:t>   `salary` int(11) NOT NULL,  </a:t>
            </a:r>
          </a:p>
          <a:p>
            <a:pPr marL="914400" lvl="2" indent="0">
              <a:buNone/>
            </a:pPr>
            <a:r>
              <a:rPr lang="en-US" dirty="0"/>
              <a:t>   `</a:t>
            </a:r>
            <a:r>
              <a:rPr lang="en-US" dirty="0" err="1"/>
              <a:t>p_code</a:t>
            </a:r>
            <a:r>
              <a:rPr lang="en-US" dirty="0"/>
              <a:t>` int(11) NOT NULL)</a:t>
            </a:r>
          </a:p>
          <a:p>
            <a:pPr marL="457200" lvl="1" indent="0">
              <a:buNone/>
            </a:pPr>
            <a:r>
              <a:rPr lang="en-US" dirty="0"/>
              <a:t>(1a) </a:t>
            </a:r>
            <a:r>
              <a:rPr lang="en-US" dirty="0">
                <a:solidFill>
                  <a:srgbClr val="FF0000"/>
                </a:solidFill>
              </a:rPr>
              <a:t>Insert</a:t>
            </a:r>
            <a:r>
              <a:rPr lang="en-US" dirty="0"/>
              <a:t> the </a:t>
            </a:r>
            <a:r>
              <a:rPr lang="en-US" dirty="0">
                <a:solidFill>
                  <a:srgbClr val="FF0000"/>
                </a:solidFill>
              </a:rPr>
              <a:t>values</a:t>
            </a:r>
            <a:r>
              <a:rPr lang="en-US" dirty="0"/>
              <a:t> into all the tables</a:t>
            </a:r>
          </a:p>
          <a:p>
            <a:pPr marL="914400" lvl="2" indent="0">
              <a:buNone/>
            </a:pPr>
            <a:r>
              <a:rPr lang="en-US" dirty="0"/>
              <a:t>INSERT INTO `instructor` (`id`, `</a:t>
            </a:r>
            <a:r>
              <a:rPr lang="en-US" dirty="0" err="1"/>
              <a:t>i_name</a:t>
            </a:r>
            <a:r>
              <a:rPr lang="en-US" dirty="0"/>
              <a:t>`, `title`, `salary`, `</a:t>
            </a:r>
            <a:r>
              <a:rPr lang="en-US" dirty="0" err="1"/>
              <a:t>p_code</a:t>
            </a:r>
            <a:r>
              <a:rPr lang="en-US" dirty="0"/>
              <a:t>`) VALUES</a:t>
            </a:r>
          </a:p>
          <a:p>
            <a:pPr marL="914400" lvl="2" indent="0">
              <a:buNone/>
            </a:pPr>
            <a:r>
              <a:rPr lang="en-US" dirty="0"/>
              <a:t>(20002, 'S.H. Zee', 'Professor’, 100000, 1002),</a:t>
            </a:r>
          </a:p>
          <a:p>
            <a:pPr marL="914400" lvl="2" indent="0">
              <a:buNone/>
            </a:pPr>
            <a:r>
              <a:rPr lang="en-US" dirty="0"/>
              <a:t>(20003, 'Eva', 'Professor', 80000, 1003),</a:t>
            </a:r>
          </a:p>
          <a:p>
            <a:pPr marL="914400" lvl="2" indent="0">
              <a:buNone/>
            </a:pPr>
            <a:r>
              <a:rPr lang="en-US" dirty="0"/>
              <a:t>(20004, 'Howard', 'Lecturer', 20000, 1003),</a:t>
            </a:r>
          </a:p>
          <a:p>
            <a:pPr marL="914400" lvl="2" indent="0">
              <a:buNone/>
            </a:pPr>
            <a:r>
              <a:rPr lang="en-US" dirty="0"/>
              <a:t>(20005, 'Stephen', 'Associate Professor', 60000, 1001),</a:t>
            </a:r>
          </a:p>
          <a:p>
            <a:pPr marL="914400" lvl="2" indent="0">
              <a:buNone/>
            </a:pPr>
            <a:r>
              <a:rPr lang="en-US" dirty="0"/>
              <a:t>(20006, 'Paul', 'Lecturer', 10000, 1004),</a:t>
            </a:r>
          </a:p>
          <a:p>
            <a:pPr marL="914400" lvl="2" indent="0">
              <a:buNone/>
            </a:pPr>
            <a:r>
              <a:rPr lang="en-US" dirty="0"/>
              <a:t>(20007, 'Kevin', 'Professor', 80000, 1004);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609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/>
              <a:t>(2a) Specify the </a:t>
            </a:r>
            <a:r>
              <a:rPr lang="en-US" dirty="0">
                <a:solidFill>
                  <a:srgbClr val="FF0000"/>
                </a:solidFill>
              </a:rPr>
              <a:t>primary keys </a:t>
            </a:r>
            <a:r>
              <a:rPr lang="en-US" dirty="0"/>
              <a:t>in all the tables.</a:t>
            </a:r>
          </a:p>
          <a:p>
            <a:pPr marL="914400" lvl="2" indent="0">
              <a:buNone/>
            </a:pPr>
            <a:r>
              <a:rPr lang="en-US" dirty="0"/>
              <a:t>ALTER TABLE `instructor`  ADD PRIMARY KEY (`id`),  ADD KEY `</a:t>
            </a:r>
            <a:r>
              <a:rPr lang="en-US" dirty="0" err="1"/>
              <a:t>p_code</a:t>
            </a:r>
            <a:r>
              <a:rPr lang="en-US" dirty="0"/>
              <a:t>` (`</a:t>
            </a:r>
            <a:r>
              <a:rPr lang="en-US" dirty="0" err="1"/>
              <a:t>p_code</a:t>
            </a:r>
            <a:r>
              <a:rPr lang="en-US" dirty="0"/>
              <a:t>`);</a:t>
            </a:r>
          </a:p>
          <a:p>
            <a:pPr marL="457200" lvl="1" indent="0">
              <a:buNone/>
            </a:pPr>
            <a:r>
              <a:rPr lang="en-US" dirty="0"/>
              <a:t>(2b) Specify the </a:t>
            </a:r>
            <a:r>
              <a:rPr lang="en-US" dirty="0">
                <a:solidFill>
                  <a:srgbClr val="FF0000"/>
                </a:solidFill>
              </a:rPr>
              <a:t>foreign keys </a:t>
            </a:r>
            <a:r>
              <a:rPr lang="en-US" dirty="0"/>
              <a:t>in all the tables.</a:t>
            </a:r>
          </a:p>
          <a:p>
            <a:pPr marL="914400" lvl="2" indent="0">
              <a:buNone/>
            </a:pPr>
            <a:r>
              <a:rPr lang="en-US" dirty="0"/>
              <a:t>ALTER TABLE `instructor`  ADD CONSTRAINT `instructor_ibfk_1` FOREIGN KEY (`</a:t>
            </a:r>
            <a:r>
              <a:rPr lang="en-US" dirty="0" err="1"/>
              <a:t>p_code</a:t>
            </a:r>
            <a:r>
              <a:rPr lang="en-US" dirty="0"/>
              <a:t>`) REFERENCES `program` (`</a:t>
            </a:r>
            <a:r>
              <a:rPr lang="en-US" dirty="0" err="1"/>
              <a:t>p_code</a:t>
            </a:r>
            <a:r>
              <a:rPr lang="en-US" dirty="0"/>
              <a:t>`);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foreign keys </a:t>
            </a:r>
            <a:r>
              <a:rPr lang="en-US" dirty="0"/>
              <a:t>should be specified in the </a:t>
            </a:r>
            <a:r>
              <a:rPr lang="en-US" dirty="0">
                <a:solidFill>
                  <a:srgbClr val="FF0000"/>
                </a:solidFill>
              </a:rPr>
              <a:t>last step </a:t>
            </a:r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avoid circular referencing </a:t>
            </a:r>
            <a:r>
              <a:rPr lang="en-US" dirty="0"/>
              <a:t>problem.</a:t>
            </a:r>
          </a:p>
          <a:p>
            <a:pPr lvl="1"/>
            <a:r>
              <a:rPr lang="en-US" dirty="0"/>
              <a:t>In tables instructor and program, if you have put in the </a:t>
            </a:r>
            <a:r>
              <a:rPr lang="en-US" dirty="0">
                <a:solidFill>
                  <a:srgbClr val="FF0000"/>
                </a:solidFill>
              </a:rPr>
              <a:t>foreign keys before inserting</a:t>
            </a:r>
            <a:r>
              <a:rPr lang="en-US" dirty="0"/>
              <a:t> the </a:t>
            </a:r>
            <a:r>
              <a:rPr lang="en-US" dirty="0">
                <a:solidFill>
                  <a:srgbClr val="FF0000"/>
                </a:solidFill>
              </a:rPr>
              <a:t>values</a:t>
            </a:r>
            <a:r>
              <a:rPr lang="en-US" dirty="0"/>
              <a:t>, you might have to </a:t>
            </a:r>
            <a:r>
              <a:rPr lang="en-US" dirty="0">
                <a:solidFill>
                  <a:srgbClr val="0070C0"/>
                </a:solidFill>
              </a:rPr>
              <a:t>remove</a:t>
            </a:r>
            <a:r>
              <a:rPr lang="en-US" dirty="0"/>
              <a:t> the </a:t>
            </a:r>
            <a:r>
              <a:rPr lang="en-US" dirty="0">
                <a:solidFill>
                  <a:srgbClr val="0070C0"/>
                </a:solidFill>
              </a:rPr>
              <a:t>foreign keys </a:t>
            </a:r>
            <a:r>
              <a:rPr lang="en-US" dirty="0"/>
              <a:t>before inserting the values.</a:t>
            </a:r>
          </a:p>
          <a:p>
            <a:pPr lvl="1"/>
            <a:r>
              <a:rPr lang="en-US" dirty="0"/>
              <a:t>See the document </a:t>
            </a:r>
            <a:r>
              <a:rPr lang="en-US" dirty="0">
                <a:solidFill>
                  <a:srgbClr val="0070C0"/>
                </a:solidFill>
              </a:rPr>
              <a:t>Lab7 Notes.docx </a:t>
            </a:r>
            <a:r>
              <a:rPr lang="en-US" dirty="0"/>
              <a:t>on how to do that.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3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8099</TotalTime>
  <Words>470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宋体</vt:lpstr>
      <vt:lpstr>Arial</vt:lpstr>
      <vt:lpstr>Calibri</vt:lpstr>
      <vt:lpstr>Calibri Light</vt:lpstr>
      <vt:lpstr>Cambria Math</vt:lpstr>
      <vt:lpstr>Office Theme</vt:lpstr>
      <vt:lpstr>Database Lab 7b Correction to Database Modification Addendum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UIC</cp:lastModifiedBy>
  <cp:revision>827</cp:revision>
  <dcterms:created xsi:type="dcterms:W3CDTF">2021-08-02T03:54:37Z</dcterms:created>
  <dcterms:modified xsi:type="dcterms:W3CDTF">2025-11-12T00:52:03Z</dcterms:modified>
</cp:coreProperties>
</file>