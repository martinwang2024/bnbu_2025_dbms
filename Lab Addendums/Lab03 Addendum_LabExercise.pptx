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62" r:id="rId6"/>
    <p:sldId id="263" r:id="rId7"/>
    <p:sldId id="264" r:id="rId8"/>
    <p:sldId id="265" r:id="rId9"/>
    <p:sldId id="260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852" autoAdjust="0"/>
    <p:restoredTop sz="94660"/>
  </p:normalViewPr>
  <p:slideViewPr>
    <p:cSldViewPr snapToGrid="0">
      <p:cViewPr varScale="1">
        <p:scale>
          <a:sx n="61" d="100"/>
          <a:sy n="61" d="100"/>
        </p:scale>
        <p:origin x="67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31F3E-F7F5-4D37-9CA5-357FD8967499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0DC2C-3089-4CE4-8C90-C643B2792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192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31F3E-F7F5-4D37-9CA5-357FD8967499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0DC2C-3089-4CE4-8C90-C643B2792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353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31F3E-F7F5-4D37-9CA5-357FD8967499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0DC2C-3089-4CE4-8C90-C643B2792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652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31F3E-F7F5-4D37-9CA5-357FD8967499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0DC2C-3089-4CE4-8C90-C643B2792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377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31F3E-F7F5-4D37-9CA5-357FD8967499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0DC2C-3089-4CE4-8C90-C643B2792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464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31F3E-F7F5-4D37-9CA5-357FD8967499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0DC2C-3089-4CE4-8C90-C643B2792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835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31F3E-F7F5-4D37-9CA5-357FD8967499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0DC2C-3089-4CE4-8C90-C643B2792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467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31F3E-F7F5-4D37-9CA5-357FD8967499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0DC2C-3089-4CE4-8C90-C643B2792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192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31F3E-F7F5-4D37-9CA5-357FD8967499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0DC2C-3089-4CE4-8C90-C643B2792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944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31F3E-F7F5-4D37-9CA5-357FD8967499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0DC2C-3089-4CE4-8C90-C643B2792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655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31F3E-F7F5-4D37-9CA5-357FD8967499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0DC2C-3089-4CE4-8C90-C643B2792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035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A31F3E-F7F5-4D37-9CA5-357FD8967499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30DC2C-3089-4CE4-8C90-C643B2792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96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2660"/>
          </a:xfrm>
        </p:spPr>
        <p:txBody>
          <a:bodyPr/>
          <a:lstStyle/>
          <a:p>
            <a:r>
              <a:rPr lang="en-US" dirty="0"/>
              <a:t>Assignment 1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42485" y="1608083"/>
            <a:ext cx="10707029" cy="4884791"/>
          </a:xfrm>
        </p:spPr>
        <p:txBody>
          <a:bodyPr>
            <a:normAutofit/>
          </a:bodyPr>
          <a:lstStyle/>
          <a:p>
            <a:r>
              <a:rPr lang="en-US" dirty="0"/>
              <a:t>Assignment 1 will be released in iSpace by this weekend.  It is due after the National Day. </a:t>
            </a:r>
          </a:p>
        </p:txBody>
      </p:sp>
    </p:spTree>
    <p:extLst>
      <p:ext uri="{BB962C8B-B14F-4D97-AF65-F5344CB8AC3E}">
        <p14:creationId xmlns:p14="http://schemas.microsoft.com/office/powerpoint/2010/main" val="870321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2660"/>
          </a:xfrm>
        </p:spPr>
        <p:txBody>
          <a:bodyPr/>
          <a:lstStyle/>
          <a:p>
            <a:r>
              <a:rPr lang="en-US" dirty="0"/>
              <a:t>Lab03 Cross Table Query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42485" y="1237783"/>
            <a:ext cx="10707029" cy="5255091"/>
          </a:xfrm>
        </p:spPr>
        <p:txBody>
          <a:bodyPr>
            <a:normAutofit/>
          </a:bodyPr>
          <a:lstStyle/>
          <a:p>
            <a:r>
              <a:rPr lang="en-US" dirty="0"/>
              <a:t>In each query of </a:t>
            </a:r>
            <a:r>
              <a:rPr lang="en-US" dirty="0">
                <a:solidFill>
                  <a:srgbClr val="FF0000"/>
                </a:solidFill>
              </a:rPr>
              <a:t>Lab 02</a:t>
            </a:r>
            <a:r>
              <a:rPr lang="en-US" dirty="0"/>
              <a:t>, all the info needed are in </a:t>
            </a:r>
            <a:r>
              <a:rPr lang="en-US" dirty="0">
                <a:solidFill>
                  <a:srgbClr val="FF0000"/>
                </a:solidFill>
              </a:rPr>
              <a:t>one single table</a:t>
            </a:r>
            <a:r>
              <a:rPr lang="en-US" dirty="0"/>
              <a:t>.</a:t>
            </a:r>
          </a:p>
          <a:p>
            <a:r>
              <a:rPr lang="en-US" dirty="0"/>
              <a:t>In </a:t>
            </a:r>
            <a:r>
              <a:rPr lang="en-US" dirty="0">
                <a:solidFill>
                  <a:srgbClr val="FF0000"/>
                </a:solidFill>
              </a:rPr>
              <a:t>this lab</a:t>
            </a:r>
            <a:r>
              <a:rPr lang="en-US" dirty="0"/>
              <a:t>, the info needed are in </a:t>
            </a:r>
            <a:r>
              <a:rPr lang="en-US" dirty="0">
                <a:solidFill>
                  <a:srgbClr val="FF0000"/>
                </a:solidFill>
              </a:rPr>
              <a:t>2 or more tables</a:t>
            </a:r>
            <a:r>
              <a:rPr lang="en-US" dirty="0"/>
              <a:t>.</a:t>
            </a:r>
          </a:p>
          <a:p>
            <a:endParaRPr lang="en-US" sz="800" dirty="0"/>
          </a:p>
          <a:p>
            <a:pPr marL="0" indent="0">
              <a:buNone/>
            </a:pPr>
            <a:r>
              <a:rPr lang="en-US" dirty="0"/>
              <a:t>Slide  2</a:t>
            </a:r>
          </a:p>
          <a:p>
            <a:r>
              <a:rPr lang="en-US" dirty="0"/>
              <a:t>Find all cities in China.  Table schemas are:</a:t>
            </a:r>
          </a:p>
          <a:p>
            <a:pPr lvl="1"/>
            <a:r>
              <a:rPr lang="en-US" dirty="0"/>
              <a:t>city = (</a:t>
            </a:r>
            <a:r>
              <a:rPr lang="en-US" dirty="0" err="1"/>
              <a:t>city_id</a:t>
            </a:r>
            <a:r>
              <a:rPr lang="en-US" dirty="0"/>
              <a:t>, city, </a:t>
            </a:r>
            <a:r>
              <a:rPr lang="en-US" dirty="0" err="1"/>
              <a:t>country_id</a:t>
            </a:r>
            <a:r>
              <a:rPr lang="en-US" dirty="0"/>
              <a:t>),</a:t>
            </a:r>
          </a:p>
          <a:p>
            <a:pPr lvl="1"/>
            <a:r>
              <a:rPr lang="en-US" dirty="0"/>
              <a:t>country = (</a:t>
            </a:r>
            <a:r>
              <a:rPr lang="en-US" dirty="0" err="1"/>
              <a:t>country_id</a:t>
            </a:r>
            <a:r>
              <a:rPr lang="en-US" dirty="0"/>
              <a:t>, country).</a:t>
            </a:r>
          </a:p>
          <a:p>
            <a:pPr lvl="1"/>
            <a:r>
              <a:rPr lang="en-US" dirty="0"/>
              <a:t>The property </a:t>
            </a:r>
            <a:r>
              <a:rPr lang="en-US" dirty="0" err="1"/>
              <a:t>last_update</a:t>
            </a:r>
            <a:endParaRPr lang="en-US" dirty="0"/>
          </a:p>
          <a:p>
            <a:pPr lvl="2"/>
            <a:r>
              <a:rPr lang="en-US" dirty="0"/>
              <a:t>Is in every table,</a:t>
            </a:r>
          </a:p>
          <a:p>
            <a:pPr lvl="2"/>
            <a:r>
              <a:rPr lang="en-US" dirty="0"/>
              <a:t>Contains the date and time that the table has been last changed,</a:t>
            </a:r>
          </a:p>
          <a:p>
            <a:pPr lvl="2"/>
            <a:r>
              <a:rPr lang="en-US" dirty="0"/>
              <a:t>Is often ignored during database design.</a:t>
            </a:r>
          </a:p>
          <a:p>
            <a:r>
              <a:rPr lang="en-US" dirty="0"/>
              <a:t>Sample tables are in Slide 4.</a:t>
            </a:r>
          </a:p>
        </p:txBody>
      </p:sp>
    </p:spTree>
    <p:extLst>
      <p:ext uri="{BB962C8B-B14F-4D97-AF65-F5344CB8AC3E}">
        <p14:creationId xmlns:p14="http://schemas.microsoft.com/office/powerpoint/2010/main" val="3446817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/>
          <p:cNvSpPr txBox="1">
            <a:spLocks/>
          </p:cNvSpPr>
          <p:nvPr/>
        </p:nvSpPr>
        <p:spPr>
          <a:xfrm>
            <a:off x="838201" y="2648609"/>
            <a:ext cx="10550912" cy="378732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Slide 3, 4</a:t>
            </a:r>
          </a:p>
          <a:p>
            <a:r>
              <a:rPr lang="en-US" dirty="0"/>
              <a:t>Intermediate steps of the </a:t>
            </a:r>
            <a:r>
              <a:rPr lang="en-US" dirty="0">
                <a:solidFill>
                  <a:srgbClr val="00B050"/>
                </a:solidFill>
              </a:rPr>
              <a:t>query in middle of Slide 3</a:t>
            </a:r>
            <a:r>
              <a:rPr lang="en-US" dirty="0"/>
              <a:t>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Take the Cartesian product of the tables </a:t>
            </a:r>
            <a:r>
              <a:rPr lang="en-US" dirty="0">
                <a:solidFill>
                  <a:srgbClr val="C00000"/>
                </a:solidFill>
              </a:rPr>
              <a:t>city x country</a:t>
            </a:r>
            <a:r>
              <a:rPr lang="en-US" dirty="0"/>
              <a:t>.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Get the temp table at RHS of Slide 4.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Keep only the rows in the temp table with </a:t>
            </a:r>
          </a:p>
          <a:p>
            <a:pPr lvl="2"/>
            <a:r>
              <a:rPr lang="en-US" dirty="0" err="1"/>
              <a:t>city.country_id</a:t>
            </a:r>
            <a:r>
              <a:rPr lang="en-US" dirty="0"/>
              <a:t> = </a:t>
            </a:r>
            <a:r>
              <a:rPr lang="en-US" dirty="0" err="1"/>
              <a:t>country.country_id</a:t>
            </a:r>
            <a:r>
              <a:rPr lang="en-US" dirty="0"/>
              <a:t> and </a:t>
            </a:r>
          </a:p>
          <a:p>
            <a:pPr lvl="2"/>
            <a:r>
              <a:rPr lang="en-US" dirty="0"/>
              <a:t>country=‘china’.</a:t>
            </a:r>
          </a:p>
          <a:p>
            <a:pPr lvl="2"/>
            <a:r>
              <a:rPr lang="en-US" dirty="0"/>
              <a:t>I.e., keep only the first row (below the headers) in the temp table.</a:t>
            </a:r>
          </a:p>
          <a:p>
            <a:r>
              <a:rPr lang="en-US" dirty="0"/>
              <a:t>The query in slide 4 is conceptual, showing the hidden intermediate steps.</a:t>
            </a:r>
          </a:p>
          <a:p>
            <a:pPr lvl="1"/>
            <a:r>
              <a:rPr lang="en-US" dirty="0"/>
              <a:t>The actual query is in slide 3.</a:t>
            </a:r>
          </a:p>
        </p:txBody>
      </p:sp>
      <p:sp>
        <p:nvSpPr>
          <p:cNvPr id="3" name="Content Placeholder 4"/>
          <p:cNvSpPr txBox="1">
            <a:spLocks/>
          </p:cNvSpPr>
          <p:nvPr/>
        </p:nvSpPr>
        <p:spPr>
          <a:xfrm>
            <a:off x="838201" y="296089"/>
            <a:ext cx="7480610" cy="2185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Slide 4: Cross table </a:t>
            </a:r>
          </a:p>
          <a:p>
            <a:r>
              <a:rPr lang="en-US" dirty="0"/>
              <a:t>Think of </a:t>
            </a:r>
            <a:r>
              <a:rPr lang="en-US" dirty="0">
                <a:solidFill>
                  <a:srgbClr val="FF0000"/>
                </a:solidFill>
              </a:rPr>
              <a:t>Cartesian products x</a:t>
            </a:r>
          </a:p>
          <a:p>
            <a:pPr lvl="1"/>
            <a:r>
              <a:rPr lang="en-US" dirty="0"/>
              <a:t>X = {1, 2, 3}, 	Y = {a, b}.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X </a:t>
            </a:r>
            <a:r>
              <a:rPr lang="en-US" dirty="0" err="1">
                <a:solidFill>
                  <a:srgbClr val="FF0000"/>
                </a:solidFill>
              </a:rPr>
              <a:t>x</a:t>
            </a:r>
            <a:r>
              <a:rPr lang="en-US" dirty="0">
                <a:solidFill>
                  <a:srgbClr val="FF0000"/>
                </a:solidFill>
              </a:rPr>
              <a:t> Y </a:t>
            </a:r>
            <a:r>
              <a:rPr lang="en-US" dirty="0"/>
              <a:t>= { (1, a), (1, b), (2, a), (2, b), (3,a), (3,b) }</a:t>
            </a:r>
          </a:p>
          <a:p>
            <a:pPr lvl="1"/>
            <a:r>
              <a:rPr lang="en-US" dirty="0"/>
              <a:t>All possible combinations of the elements in X and Y.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6089" y="163467"/>
            <a:ext cx="3124809" cy="205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523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/>
          <p:cNvSpPr txBox="1">
            <a:spLocks/>
          </p:cNvSpPr>
          <p:nvPr/>
        </p:nvSpPr>
        <p:spPr>
          <a:xfrm>
            <a:off x="838201" y="526093"/>
            <a:ext cx="10550912" cy="56442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Slide 5 Examples</a:t>
            </a:r>
          </a:p>
          <a:p>
            <a:pPr marL="0" indent="0">
              <a:buNone/>
            </a:pPr>
            <a:r>
              <a:rPr lang="en-US" dirty="0" smtClean="0"/>
              <a:t>Q1</a:t>
            </a:r>
            <a:r>
              <a:rPr lang="en-US" dirty="0"/>
              <a:t>: Find the </a:t>
            </a:r>
            <a:r>
              <a:rPr lang="en-US" dirty="0">
                <a:solidFill>
                  <a:srgbClr val="00B050"/>
                </a:solidFill>
              </a:rPr>
              <a:t>phone number </a:t>
            </a:r>
            <a:r>
              <a:rPr lang="en-US" dirty="0"/>
              <a:t>of the </a:t>
            </a:r>
            <a:r>
              <a:rPr lang="en-US" dirty="0">
                <a:solidFill>
                  <a:srgbClr val="0070C0"/>
                </a:solidFill>
              </a:rPr>
              <a:t>customer </a:t>
            </a:r>
            <a:r>
              <a:rPr lang="en-US" dirty="0">
                <a:solidFill>
                  <a:srgbClr val="FF0000"/>
                </a:solidFill>
              </a:rPr>
              <a:t>Lisa Anderson</a:t>
            </a:r>
            <a:r>
              <a:rPr lang="en-US" dirty="0"/>
              <a:t>.</a:t>
            </a:r>
          </a:p>
          <a:p>
            <a:r>
              <a:rPr lang="en-US" b="1" dirty="0"/>
              <a:t>Which tables </a:t>
            </a:r>
            <a:r>
              <a:rPr lang="en-US" dirty="0"/>
              <a:t>should we use</a:t>
            </a:r>
            <a:r>
              <a:rPr lang="en-US" dirty="0" smtClean="0"/>
              <a:t>? Check </a:t>
            </a:r>
            <a:r>
              <a:rPr lang="en-US" dirty="0" err="1"/>
              <a:t>S</a:t>
            </a:r>
            <a:r>
              <a:rPr lang="en-US" dirty="0" err="1" smtClean="0"/>
              <a:t>akila’s</a:t>
            </a:r>
            <a:r>
              <a:rPr lang="en-US" dirty="0" smtClean="0"/>
              <a:t> tables in XAMPP.</a:t>
            </a:r>
            <a:endParaRPr lang="en-US" dirty="0"/>
          </a:p>
          <a:p>
            <a:r>
              <a:rPr lang="en-US" b="1" dirty="0" smtClean="0"/>
              <a:t>Start</a:t>
            </a:r>
            <a:r>
              <a:rPr lang="en-US" dirty="0"/>
              <a:t>: </a:t>
            </a:r>
            <a:r>
              <a:rPr lang="en-US" dirty="0" smtClean="0"/>
              <a:t>Which table has customer Lisa Anderson?  </a:t>
            </a:r>
            <a:endParaRPr lang="en-US" dirty="0"/>
          </a:p>
          <a:p>
            <a:pPr lvl="1"/>
            <a:r>
              <a:rPr lang="en-US" dirty="0" smtClean="0"/>
              <a:t>Table </a:t>
            </a:r>
            <a:r>
              <a:rPr lang="en-US" b="1" dirty="0">
                <a:solidFill>
                  <a:srgbClr val="0070C0"/>
                </a:solidFill>
              </a:rPr>
              <a:t>customer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smtClean="0"/>
              <a:t>(</a:t>
            </a:r>
            <a:r>
              <a:rPr lang="en-US" dirty="0" err="1" smtClean="0"/>
              <a:t>customer_id</a:t>
            </a:r>
            <a:r>
              <a:rPr lang="en-US" dirty="0" smtClean="0"/>
              <a:t>, </a:t>
            </a:r>
            <a:r>
              <a:rPr lang="en-US" dirty="0" err="1" smtClean="0"/>
              <a:t>address_id</a:t>
            </a:r>
            <a:r>
              <a:rPr lang="en-US" dirty="0" smtClean="0"/>
              <a:t>, </a:t>
            </a:r>
            <a:r>
              <a:rPr lang="en-US" dirty="0" err="1" smtClean="0"/>
              <a:t>store_id</a:t>
            </a:r>
            <a:r>
              <a:rPr lang="en-US" dirty="0" smtClean="0"/>
              <a:t>, </a:t>
            </a:r>
            <a:r>
              <a:rPr lang="en-US" dirty="0" err="1" smtClean="0">
                <a:solidFill>
                  <a:srgbClr val="FF0000"/>
                </a:solidFill>
              </a:rPr>
              <a:t>first_name</a:t>
            </a:r>
            <a:r>
              <a:rPr lang="en-US" dirty="0" smtClean="0"/>
              <a:t>, </a:t>
            </a:r>
            <a:r>
              <a:rPr lang="en-US" dirty="0" err="1" smtClean="0">
                <a:solidFill>
                  <a:srgbClr val="FF0000"/>
                </a:solidFill>
              </a:rPr>
              <a:t>last_name</a:t>
            </a:r>
            <a:r>
              <a:rPr lang="en-US" dirty="0"/>
              <a:t>)</a:t>
            </a:r>
            <a:endParaRPr lang="en-US" dirty="0" smtClean="0"/>
          </a:p>
          <a:p>
            <a:r>
              <a:rPr lang="en-US" b="1" dirty="0" smtClean="0"/>
              <a:t>End: </a:t>
            </a:r>
            <a:r>
              <a:rPr lang="en-US" dirty="0" smtClean="0"/>
              <a:t>Which table has </a:t>
            </a:r>
            <a:r>
              <a:rPr lang="en-US" dirty="0" smtClean="0">
                <a:solidFill>
                  <a:srgbClr val="00B050"/>
                </a:solidFill>
              </a:rPr>
              <a:t>phone</a:t>
            </a:r>
            <a:r>
              <a:rPr lang="en-US" dirty="0" smtClean="0"/>
              <a:t> number?</a:t>
            </a:r>
          </a:p>
          <a:p>
            <a:pPr lvl="1"/>
            <a:r>
              <a:rPr lang="en-US" dirty="0" smtClean="0"/>
              <a:t>Not customer table, so we check the other two tables with foreign ID’s in customer: tables </a:t>
            </a:r>
            <a:r>
              <a:rPr lang="en-US" b="1" dirty="0" smtClean="0"/>
              <a:t>address </a:t>
            </a:r>
            <a:r>
              <a:rPr lang="en-US" dirty="0" smtClean="0"/>
              <a:t>and </a:t>
            </a:r>
            <a:r>
              <a:rPr lang="en-US" b="1" dirty="0" smtClean="0"/>
              <a:t>store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Table store (</a:t>
            </a:r>
            <a:r>
              <a:rPr lang="en-US" dirty="0" err="1" smtClean="0"/>
              <a:t>store_id</a:t>
            </a:r>
            <a:r>
              <a:rPr lang="en-US" dirty="0" smtClean="0"/>
              <a:t>, </a:t>
            </a:r>
            <a:r>
              <a:rPr lang="en-US" dirty="0" err="1" smtClean="0"/>
              <a:t>address_id</a:t>
            </a:r>
            <a:r>
              <a:rPr lang="en-US" dirty="0" smtClean="0"/>
              <a:t>, </a:t>
            </a:r>
            <a:r>
              <a:rPr lang="en-US" dirty="0" err="1" smtClean="0"/>
              <a:t>manager_staff_id</a:t>
            </a:r>
            <a:r>
              <a:rPr lang="en-US" dirty="0" smtClean="0"/>
              <a:t>) is not promising.</a:t>
            </a:r>
          </a:p>
          <a:p>
            <a:pPr lvl="1"/>
            <a:r>
              <a:rPr lang="en-US" dirty="0" smtClean="0"/>
              <a:t>Table </a:t>
            </a:r>
            <a:r>
              <a:rPr lang="en-US" dirty="0" smtClean="0">
                <a:solidFill>
                  <a:srgbClr val="0070C0"/>
                </a:solidFill>
              </a:rPr>
              <a:t>address </a:t>
            </a:r>
            <a:r>
              <a:rPr lang="en-US" dirty="0" smtClean="0"/>
              <a:t>(</a:t>
            </a:r>
            <a:r>
              <a:rPr lang="en-US" dirty="0" err="1" smtClean="0"/>
              <a:t>address_id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00B050"/>
                </a:solidFill>
              </a:rPr>
              <a:t>phone</a:t>
            </a:r>
            <a:r>
              <a:rPr lang="en-US" dirty="0" smtClean="0"/>
              <a:t>) </a:t>
            </a:r>
            <a:r>
              <a:rPr lang="en-US" dirty="0" smtClean="0"/>
              <a:t>has</a:t>
            </a:r>
            <a:r>
              <a:rPr lang="en-US" dirty="0" smtClean="0"/>
              <a:t> </a:t>
            </a:r>
            <a:r>
              <a:rPr lang="en-US" dirty="0" smtClean="0"/>
              <a:t>what we want!</a:t>
            </a:r>
          </a:p>
          <a:p>
            <a:r>
              <a:rPr lang="en-US" dirty="0"/>
              <a:t>I</a:t>
            </a:r>
            <a:r>
              <a:rPr lang="en-US" dirty="0" smtClean="0"/>
              <a:t>n our schema, ignore attributes that are not important to this problem; so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782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/>
          <p:cNvSpPr txBox="1">
            <a:spLocks/>
          </p:cNvSpPr>
          <p:nvPr/>
        </p:nvSpPr>
        <p:spPr>
          <a:xfrm>
            <a:off x="838201" y="526093"/>
            <a:ext cx="10550912" cy="56442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Slide 5 </a:t>
            </a:r>
            <a:r>
              <a:rPr lang="en-US" dirty="0" smtClean="0"/>
              <a:t>Examples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Q1</a:t>
            </a:r>
            <a:r>
              <a:rPr lang="en-US" dirty="0"/>
              <a:t>: Find the </a:t>
            </a:r>
            <a:r>
              <a:rPr lang="en-US" dirty="0">
                <a:solidFill>
                  <a:srgbClr val="00B050"/>
                </a:solidFill>
              </a:rPr>
              <a:t>phone number </a:t>
            </a:r>
            <a:r>
              <a:rPr lang="en-US" dirty="0"/>
              <a:t>of the </a:t>
            </a:r>
            <a:r>
              <a:rPr lang="en-US" dirty="0">
                <a:solidFill>
                  <a:srgbClr val="0070C0"/>
                </a:solidFill>
              </a:rPr>
              <a:t>customer </a:t>
            </a:r>
            <a:r>
              <a:rPr lang="en-US" dirty="0">
                <a:solidFill>
                  <a:srgbClr val="FF0000"/>
                </a:solidFill>
              </a:rPr>
              <a:t>Lisa Anderson</a:t>
            </a:r>
            <a:r>
              <a:rPr lang="en-US" dirty="0"/>
              <a:t>.</a:t>
            </a:r>
          </a:p>
          <a:p>
            <a:r>
              <a:rPr lang="en-US" b="1" dirty="0" smtClean="0"/>
              <a:t>Start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0070C0"/>
                </a:solidFill>
              </a:rPr>
              <a:t>customer</a:t>
            </a:r>
            <a:r>
              <a:rPr lang="en-US" dirty="0" smtClean="0"/>
              <a:t> (</a:t>
            </a:r>
            <a:r>
              <a:rPr lang="en-US" dirty="0" err="1" smtClean="0"/>
              <a:t>address_id</a:t>
            </a:r>
            <a:r>
              <a:rPr lang="en-US" dirty="0" smtClean="0"/>
              <a:t>, </a:t>
            </a:r>
            <a:r>
              <a:rPr lang="en-US" dirty="0" err="1" smtClean="0">
                <a:solidFill>
                  <a:srgbClr val="FF0000"/>
                </a:solidFill>
              </a:rPr>
              <a:t>first_name</a:t>
            </a:r>
            <a:r>
              <a:rPr lang="en-US" dirty="0" smtClean="0"/>
              <a:t>, </a:t>
            </a:r>
            <a:r>
              <a:rPr lang="en-US" dirty="0" err="1" smtClean="0">
                <a:solidFill>
                  <a:srgbClr val="FF0000"/>
                </a:solidFill>
              </a:rPr>
              <a:t>last_name</a:t>
            </a:r>
            <a:r>
              <a:rPr lang="en-US" dirty="0"/>
              <a:t>)</a:t>
            </a:r>
            <a:endParaRPr lang="en-US" dirty="0" smtClean="0"/>
          </a:p>
          <a:p>
            <a:endParaRPr lang="en-US" sz="1000" b="1" dirty="0" smtClean="0"/>
          </a:p>
          <a:p>
            <a:r>
              <a:rPr lang="en-US" b="1" dirty="0" smtClean="0"/>
              <a:t>End: </a:t>
            </a:r>
            <a:r>
              <a:rPr lang="en-US" dirty="0" smtClean="0">
                <a:solidFill>
                  <a:srgbClr val="0070C0"/>
                </a:solidFill>
              </a:rPr>
              <a:t>address </a:t>
            </a:r>
            <a:r>
              <a:rPr lang="en-US" dirty="0" smtClean="0"/>
              <a:t>(</a:t>
            </a:r>
            <a:r>
              <a:rPr lang="en-US" dirty="0" err="1" smtClean="0"/>
              <a:t>address_id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00B050"/>
                </a:solidFill>
              </a:rPr>
              <a:t>phone</a:t>
            </a:r>
            <a:r>
              <a:rPr lang="en-US" dirty="0" smtClean="0"/>
              <a:t>)</a:t>
            </a:r>
          </a:p>
          <a:p>
            <a:r>
              <a:rPr lang="en-US" dirty="0" smtClean="0"/>
              <a:t>We match the </a:t>
            </a:r>
            <a:r>
              <a:rPr lang="en-US" dirty="0" err="1" smtClean="0"/>
              <a:t>address_id</a:t>
            </a:r>
            <a:r>
              <a:rPr lang="en-US" dirty="0" smtClean="0"/>
              <a:t> from the two tables.  So</a:t>
            </a:r>
          </a:p>
          <a:p>
            <a:endParaRPr lang="en-US" sz="800" dirty="0"/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>
                <a:solidFill>
                  <a:srgbClr val="00B050"/>
                </a:solidFill>
              </a:rPr>
              <a:t>phone </a:t>
            </a:r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>
                <a:solidFill>
                  <a:srgbClr val="0070C0"/>
                </a:solidFill>
              </a:rPr>
              <a:t>address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0070C0"/>
                </a:solidFill>
              </a:rPr>
              <a:t>customer </a:t>
            </a:r>
            <a:endParaRPr 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>
                <a:solidFill>
                  <a:srgbClr val="FF0000"/>
                </a:solidFill>
              </a:rPr>
              <a:t>first_name</a:t>
            </a:r>
            <a:r>
              <a:rPr lang="en-US" dirty="0">
                <a:solidFill>
                  <a:srgbClr val="FF0000"/>
                </a:solidFill>
              </a:rPr>
              <a:t>='Lisa' </a:t>
            </a:r>
            <a:r>
              <a:rPr lang="en-US" dirty="0"/>
              <a:t>AND 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>
                <a:solidFill>
                  <a:srgbClr val="FF0000"/>
                </a:solidFill>
              </a:rPr>
              <a:t>last_name</a:t>
            </a:r>
            <a:r>
              <a:rPr lang="en-US" dirty="0">
                <a:solidFill>
                  <a:srgbClr val="FF0000"/>
                </a:solidFill>
              </a:rPr>
              <a:t>='Anderson' </a:t>
            </a:r>
            <a:r>
              <a:rPr lang="en-US" dirty="0"/>
              <a:t>AND 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customer.address_id</a:t>
            </a:r>
            <a:r>
              <a:rPr lang="en-US" dirty="0"/>
              <a:t>=</a:t>
            </a:r>
            <a:r>
              <a:rPr lang="en-US" dirty="0" err="1"/>
              <a:t>address.address_id</a:t>
            </a:r>
            <a:r>
              <a:rPr lang="en-US" dirty="0"/>
              <a:t>;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flipH="1">
            <a:off x="3807912" y="2004164"/>
            <a:ext cx="363256" cy="350729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9552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/>
          <p:cNvSpPr txBox="1">
            <a:spLocks/>
          </p:cNvSpPr>
          <p:nvPr/>
        </p:nvSpPr>
        <p:spPr>
          <a:xfrm>
            <a:off x="838201" y="646771"/>
            <a:ext cx="10550912" cy="55235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/>
              <a:t>Q2</a:t>
            </a:r>
            <a:r>
              <a:rPr lang="en-US" dirty="0"/>
              <a:t>: Find the </a:t>
            </a:r>
            <a:r>
              <a:rPr lang="en-US" dirty="0">
                <a:solidFill>
                  <a:srgbClr val="00B050"/>
                </a:solidFill>
              </a:rPr>
              <a:t>language</a:t>
            </a:r>
            <a:r>
              <a:rPr lang="en-US" dirty="0"/>
              <a:t> of the </a:t>
            </a:r>
            <a:r>
              <a:rPr lang="en-US" dirty="0">
                <a:solidFill>
                  <a:srgbClr val="0070C0"/>
                </a:solidFill>
              </a:rPr>
              <a:t>film </a:t>
            </a:r>
            <a:r>
              <a:rPr lang="en-US" dirty="0"/>
              <a:t>“</a:t>
            </a:r>
            <a:r>
              <a:rPr lang="en-US" dirty="0">
                <a:solidFill>
                  <a:srgbClr val="FF0000"/>
                </a:solidFill>
              </a:rPr>
              <a:t>Angels Life</a:t>
            </a:r>
            <a:r>
              <a:rPr lang="en-US" dirty="0" smtClean="0"/>
              <a:t>”.</a:t>
            </a:r>
          </a:p>
          <a:p>
            <a:pPr marL="0" indent="0">
              <a:buNone/>
            </a:pPr>
            <a:r>
              <a:rPr lang="en-US" dirty="0" smtClean="0"/>
              <a:t>Check the tables of </a:t>
            </a:r>
            <a:r>
              <a:rPr lang="en-US" dirty="0" err="1"/>
              <a:t>S</a:t>
            </a:r>
            <a:r>
              <a:rPr lang="en-US" dirty="0" err="1" smtClean="0"/>
              <a:t>akila</a:t>
            </a:r>
            <a:r>
              <a:rPr lang="en-US" dirty="0" smtClean="0"/>
              <a:t> in XAMPP.</a:t>
            </a:r>
          </a:p>
          <a:p>
            <a:pPr marL="0" indent="0">
              <a:buNone/>
            </a:pPr>
            <a:r>
              <a:rPr lang="en-US" dirty="0" smtClean="0"/>
              <a:t>Which table has film “</a:t>
            </a:r>
            <a:r>
              <a:rPr lang="en-US" dirty="0" smtClean="0">
                <a:solidFill>
                  <a:srgbClr val="FF0000"/>
                </a:solidFill>
              </a:rPr>
              <a:t>Angels </a:t>
            </a:r>
            <a:r>
              <a:rPr lang="en-US" dirty="0">
                <a:solidFill>
                  <a:srgbClr val="FF0000"/>
                </a:solidFill>
              </a:rPr>
              <a:t>Life</a:t>
            </a:r>
            <a:r>
              <a:rPr lang="en-US" dirty="0" smtClean="0"/>
              <a:t>”?</a:t>
            </a:r>
            <a:endParaRPr lang="en-US" sz="800" dirty="0"/>
          </a:p>
          <a:p>
            <a:r>
              <a:rPr lang="en-US" b="1" dirty="0" smtClean="0"/>
              <a:t>Start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0070C0"/>
                </a:solidFill>
              </a:rPr>
              <a:t>film</a:t>
            </a:r>
            <a:r>
              <a:rPr lang="en-US" dirty="0" smtClean="0"/>
              <a:t> (</a:t>
            </a:r>
            <a:r>
              <a:rPr lang="en-US" dirty="0" err="1" smtClean="0"/>
              <a:t>film_id</a:t>
            </a:r>
            <a:r>
              <a:rPr lang="en-US" dirty="0" smtClean="0"/>
              <a:t>, </a:t>
            </a:r>
            <a:r>
              <a:rPr lang="en-US" dirty="0" err="1" smtClean="0"/>
              <a:t>language_id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0000"/>
                </a:solidFill>
              </a:rPr>
              <a:t>title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In </a:t>
            </a:r>
            <a:r>
              <a:rPr lang="en-US" dirty="0" err="1"/>
              <a:t>S</a:t>
            </a:r>
            <a:r>
              <a:rPr lang="en-US" dirty="0" err="1" smtClean="0"/>
              <a:t>akila</a:t>
            </a:r>
            <a:r>
              <a:rPr lang="en-US" dirty="0" smtClean="0"/>
              <a:t>, we see </a:t>
            </a:r>
            <a:r>
              <a:rPr lang="en-US" dirty="0" err="1" smtClean="0"/>
              <a:t>film.title</a:t>
            </a:r>
            <a:r>
              <a:rPr lang="en-US" dirty="0" smtClean="0"/>
              <a:t> is the title of the film.</a:t>
            </a:r>
          </a:p>
          <a:p>
            <a:pPr marL="0" indent="0">
              <a:buNone/>
            </a:pPr>
            <a:endParaRPr lang="en-US" sz="800" dirty="0" smtClean="0"/>
          </a:p>
          <a:p>
            <a:pPr marL="0" indent="0">
              <a:buNone/>
            </a:pPr>
            <a:r>
              <a:rPr lang="en-US" dirty="0" smtClean="0"/>
              <a:t>Which table has the language of the film?</a:t>
            </a:r>
            <a:endParaRPr lang="en-US" dirty="0"/>
          </a:p>
          <a:p>
            <a:r>
              <a:rPr lang="en-US" b="1" dirty="0"/>
              <a:t>End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0070C0"/>
                </a:solidFill>
              </a:rPr>
              <a:t>language</a:t>
            </a:r>
            <a:r>
              <a:rPr lang="en-US" dirty="0" smtClean="0"/>
              <a:t> (</a:t>
            </a:r>
            <a:r>
              <a:rPr lang="en-US" dirty="0" err="1" smtClean="0"/>
              <a:t>language_id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00B050"/>
                </a:solidFill>
              </a:rPr>
              <a:t>name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In </a:t>
            </a:r>
            <a:r>
              <a:rPr lang="en-US" dirty="0" err="1"/>
              <a:t>S</a:t>
            </a:r>
            <a:r>
              <a:rPr lang="en-US" dirty="0" err="1" smtClean="0"/>
              <a:t>akila</a:t>
            </a:r>
            <a:r>
              <a:rPr lang="en-US" dirty="0" smtClean="0"/>
              <a:t>, we see language.name is the </a:t>
            </a:r>
            <a:r>
              <a:rPr lang="en-US" dirty="0" smtClean="0">
                <a:solidFill>
                  <a:srgbClr val="00B050"/>
                </a:solidFill>
              </a:rPr>
              <a:t>name of the language</a:t>
            </a:r>
            <a:r>
              <a:rPr lang="en-US" dirty="0" smtClean="0"/>
              <a:t>.</a:t>
            </a:r>
            <a:endParaRPr lang="en-US" dirty="0"/>
          </a:p>
          <a:p>
            <a:endParaRPr lang="en-US" sz="800" dirty="0"/>
          </a:p>
          <a:p>
            <a:r>
              <a:rPr lang="en-US" dirty="0"/>
              <a:t>In our schema, ignore attributes that are not important to this problem; </a:t>
            </a:r>
            <a:r>
              <a:rPr lang="en-US" dirty="0" smtClean="0"/>
              <a:t>so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045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/>
          <p:cNvSpPr txBox="1">
            <a:spLocks/>
          </p:cNvSpPr>
          <p:nvPr/>
        </p:nvSpPr>
        <p:spPr>
          <a:xfrm>
            <a:off x="838201" y="646771"/>
            <a:ext cx="10550912" cy="55235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Q2</a:t>
            </a:r>
            <a:r>
              <a:rPr lang="en-US" dirty="0"/>
              <a:t>: Find the </a:t>
            </a:r>
            <a:r>
              <a:rPr lang="en-US" dirty="0">
                <a:solidFill>
                  <a:srgbClr val="00B050"/>
                </a:solidFill>
              </a:rPr>
              <a:t>language</a:t>
            </a:r>
            <a:r>
              <a:rPr lang="en-US" dirty="0"/>
              <a:t> of the </a:t>
            </a:r>
            <a:r>
              <a:rPr lang="en-US" dirty="0">
                <a:solidFill>
                  <a:srgbClr val="0070C0"/>
                </a:solidFill>
              </a:rPr>
              <a:t>film </a:t>
            </a:r>
            <a:r>
              <a:rPr lang="en-US" dirty="0"/>
              <a:t>“</a:t>
            </a:r>
            <a:r>
              <a:rPr lang="en-US" dirty="0">
                <a:solidFill>
                  <a:srgbClr val="FF0000"/>
                </a:solidFill>
              </a:rPr>
              <a:t>Angels Life</a:t>
            </a:r>
            <a:r>
              <a:rPr lang="en-US" dirty="0" smtClean="0"/>
              <a:t>”.</a:t>
            </a:r>
          </a:p>
          <a:p>
            <a:r>
              <a:rPr lang="en-US" b="1" dirty="0" smtClean="0"/>
              <a:t>Start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0070C0"/>
                </a:solidFill>
              </a:rPr>
              <a:t>film</a:t>
            </a:r>
            <a:r>
              <a:rPr lang="en-US" dirty="0" smtClean="0"/>
              <a:t> (</a:t>
            </a:r>
            <a:r>
              <a:rPr lang="en-US" dirty="0" err="1" smtClean="0"/>
              <a:t>language_id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0000"/>
                </a:solidFill>
              </a:rPr>
              <a:t>title</a:t>
            </a:r>
            <a:r>
              <a:rPr lang="en-US" dirty="0" smtClean="0"/>
              <a:t>)</a:t>
            </a:r>
          </a:p>
          <a:p>
            <a:endParaRPr lang="en-US" sz="800" dirty="0" smtClean="0"/>
          </a:p>
          <a:p>
            <a:r>
              <a:rPr lang="en-US" b="1" dirty="0" smtClean="0"/>
              <a:t>End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0070C0"/>
                </a:solidFill>
              </a:rPr>
              <a:t>language</a:t>
            </a:r>
            <a:r>
              <a:rPr lang="en-US" dirty="0" smtClean="0"/>
              <a:t> (</a:t>
            </a:r>
            <a:r>
              <a:rPr lang="en-US" dirty="0" err="1" smtClean="0"/>
              <a:t>language_id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00B050"/>
                </a:solidFill>
              </a:rPr>
              <a:t>name</a:t>
            </a:r>
            <a:r>
              <a:rPr lang="en-US" dirty="0" smtClean="0"/>
              <a:t>)</a:t>
            </a:r>
          </a:p>
          <a:p>
            <a:endParaRPr lang="en-US" sz="800" dirty="0"/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>
                <a:solidFill>
                  <a:srgbClr val="00B050"/>
                </a:solidFill>
              </a:rPr>
              <a:t>name </a:t>
            </a:r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>
                <a:solidFill>
                  <a:srgbClr val="0070C0"/>
                </a:solidFill>
              </a:rPr>
              <a:t>language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film </a:t>
            </a:r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/>
              <a:t>film.language_id</a:t>
            </a:r>
            <a:r>
              <a:rPr lang="en-US" dirty="0"/>
              <a:t>=</a:t>
            </a:r>
            <a:r>
              <a:rPr lang="en-US" dirty="0" err="1"/>
              <a:t>language.language_id</a:t>
            </a:r>
            <a:r>
              <a:rPr lang="en-US" dirty="0"/>
              <a:t> AND </a:t>
            </a:r>
          </a:p>
          <a:p>
            <a:pPr marL="0" indent="0">
              <a:buNone/>
            </a:pPr>
            <a:r>
              <a:rPr lang="en-US" dirty="0" smtClean="0"/>
              <a:t>	   </a:t>
            </a:r>
            <a:r>
              <a:rPr lang="en-US" dirty="0" smtClean="0">
                <a:solidFill>
                  <a:srgbClr val="FF0000"/>
                </a:solidFill>
              </a:rPr>
              <a:t>title</a:t>
            </a:r>
            <a:r>
              <a:rPr lang="en-US" dirty="0">
                <a:solidFill>
                  <a:srgbClr val="FF0000"/>
                </a:solidFill>
              </a:rPr>
              <a:t>='Angels Life</a:t>
            </a:r>
            <a:r>
              <a:rPr lang="en-US" dirty="0" smtClean="0">
                <a:solidFill>
                  <a:srgbClr val="FF0000"/>
                </a:solidFill>
              </a:rPr>
              <a:t>';</a:t>
            </a:r>
          </a:p>
          <a:p>
            <a:endParaRPr lang="en-US" sz="800" dirty="0">
              <a:solidFill>
                <a:srgbClr val="FF0000"/>
              </a:solidFill>
            </a:endParaRPr>
          </a:p>
          <a:p>
            <a:r>
              <a:rPr lang="en-US" dirty="0"/>
              <a:t>Run the two </a:t>
            </a:r>
            <a:r>
              <a:rPr lang="en-US" dirty="0" smtClean="0"/>
              <a:t>examples queries </a:t>
            </a:r>
            <a:r>
              <a:rPr lang="en-US" dirty="0"/>
              <a:t>from slide 5.  Make sure they work</a:t>
            </a:r>
            <a:r>
              <a:rPr lang="en-US" dirty="0" smtClean="0"/>
              <a:t>.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3682652" y="1653436"/>
            <a:ext cx="338202" cy="300624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5001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13776"/>
            <a:ext cx="10515600" cy="556318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Slide </a:t>
            </a:r>
            <a:r>
              <a:rPr lang="en-US" dirty="0"/>
              <a:t>11 Example</a:t>
            </a:r>
          </a:p>
          <a:p>
            <a:pPr marL="0" indent="0">
              <a:buNone/>
            </a:pPr>
            <a:r>
              <a:rPr lang="en-US" dirty="0" smtClean="0"/>
              <a:t>Q: Find </a:t>
            </a:r>
            <a:r>
              <a:rPr lang="en-US" dirty="0"/>
              <a:t>the </a:t>
            </a:r>
            <a:r>
              <a:rPr lang="en-US" dirty="0">
                <a:solidFill>
                  <a:srgbClr val="00B050"/>
                </a:solidFill>
              </a:rPr>
              <a:t>name</a:t>
            </a:r>
            <a:r>
              <a:rPr lang="en-US" dirty="0"/>
              <a:t> (</a:t>
            </a:r>
            <a:r>
              <a:rPr lang="en-US" dirty="0">
                <a:solidFill>
                  <a:srgbClr val="00B050"/>
                </a:solidFill>
              </a:rPr>
              <a:t>first</a:t>
            </a:r>
            <a:r>
              <a:rPr lang="en-US" dirty="0"/>
              <a:t> and </a:t>
            </a:r>
            <a:r>
              <a:rPr lang="en-US" dirty="0">
                <a:solidFill>
                  <a:srgbClr val="00B050"/>
                </a:solidFill>
              </a:rPr>
              <a:t>last</a:t>
            </a:r>
            <a:r>
              <a:rPr lang="en-US" dirty="0"/>
              <a:t>) of </a:t>
            </a:r>
            <a:r>
              <a:rPr lang="en-US" dirty="0">
                <a:solidFill>
                  <a:srgbClr val="0070C0"/>
                </a:solidFill>
              </a:rPr>
              <a:t>actors</a:t>
            </a:r>
            <a:r>
              <a:rPr lang="en-US" dirty="0"/>
              <a:t> who have the same </a:t>
            </a:r>
            <a:r>
              <a:rPr lang="en-US" dirty="0">
                <a:solidFill>
                  <a:srgbClr val="FF0000"/>
                </a:solidFill>
              </a:rPr>
              <a:t>first name</a:t>
            </a:r>
            <a:r>
              <a:rPr lang="en-US" dirty="0"/>
              <a:t> with another actor</a:t>
            </a:r>
            <a:r>
              <a:rPr lang="en-US" dirty="0" smtClean="0"/>
              <a:t>.</a:t>
            </a:r>
          </a:p>
          <a:p>
            <a:r>
              <a:rPr lang="en-US" dirty="0" smtClean="0"/>
              <a:t>Table </a:t>
            </a:r>
            <a:r>
              <a:rPr lang="en-US" dirty="0" smtClean="0">
                <a:solidFill>
                  <a:srgbClr val="0070C0"/>
                </a:solidFill>
              </a:rPr>
              <a:t>actor</a:t>
            </a:r>
            <a:r>
              <a:rPr lang="en-US" dirty="0" smtClean="0"/>
              <a:t> (</a:t>
            </a:r>
            <a:r>
              <a:rPr lang="en-US" dirty="0" err="1" smtClean="0">
                <a:solidFill>
                  <a:srgbClr val="00B050"/>
                </a:solidFill>
              </a:rPr>
              <a:t>first_name</a:t>
            </a:r>
            <a:r>
              <a:rPr lang="en-US" dirty="0" smtClean="0"/>
              <a:t>, </a:t>
            </a:r>
            <a:r>
              <a:rPr lang="en-US" dirty="0" err="1" smtClean="0">
                <a:solidFill>
                  <a:srgbClr val="00B050"/>
                </a:solidFill>
              </a:rPr>
              <a:t>last_name</a:t>
            </a:r>
            <a:r>
              <a:rPr lang="en-US" dirty="0" smtClean="0"/>
              <a:t>) has all the info we need.</a:t>
            </a:r>
          </a:p>
          <a:p>
            <a:r>
              <a:rPr lang="en-US" dirty="0"/>
              <a:t>B</a:t>
            </a:r>
            <a:r>
              <a:rPr lang="en-US" dirty="0" smtClean="0"/>
              <a:t>ut we need </a:t>
            </a:r>
            <a:r>
              <a:rPr lang="en-US" dirty="0"/>
              <a:t>2 copies of the </a:t>
            </a:r>
            <a:r>
              <a:rPr lang="en-US" dirty="0" smtClean="0"/>
              <a:t>table</a:t>
            </a:r>
            <a:r>
              <a:rPr lang="en-US" dirty="0"/>
              <a:t> </a:t>
            </a:r>
            <a:r>
              <a:rPr lang="en-US" dirty="0" smtClean="0"/>
              <a:t>actor to check for actors with same first name.</a:t>
            </a:r>
          </a:p>
          <a:p>
            <a:pPr lvl="1"/>
            <a:r>
              <a:rPr lang="en-US" dirty="0" smtClean="0"/>
              <a:t>Want </a:t>
            </a:r>
            <a:r>
              <a:rPr lang="en-US" dirty="0" smtClean="0">
                <a:solidFill>
                  <a:srgbClr val="0070C0"/>
                </a:solidFill>
              </a:rPr>
              <a:t>a1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0070C0"/>
                </a:solidFill>
              </a:rPr>
              <a:t>a2</a:t>
            </a:r>
            <a:r>
              <a:rPr lang="en-US" dirty="0"/>
              <a:t> </a:t>
            </a:r>
            <a:r>
              <a:rPr lang="en-US" dirty="0" smtClean="0"/>
              <a:t>as separate copies of table </a:t>
            </a:r>
            <a:r>
              <a:rPr lang="en-US" dirty="0" smtClean="0">
                <a:solidFill>
                  <a:srgbClr val="0070C0"/>
                </a:solidFill>
              </a:rPr>
              <a:t>actor</a:t>
            </a:r>
            <a:r>
              <a:rPr lang="en-US" dirty="0" smtClean="0"/>
              <a:t>.</a:t>
            </a:r>
          </a:p>
          <a:p>
            <a:endParaRPr lang="en-US" sz="800" dirty="0" smtClean="0"/>
          </a:p>
          <a:p>
            <a:pPr marL="0" indent="0">
              <a:buNone/>
            </a:pPr>
            <a:r>
              <a:rPr lang="en-US" dirty="0"/>
              <a:t>SELECT a1.</a:t>
            </a:r>
            <a:r>
              <a:rPr lang="en-US" dirty="0">
                <a:solidFill>
                  <a:srgbClr val="00B050"/>
                </a:solidFill>
              </a:rPr>
              <a:t>first_name</a:t>
            </a:r>
            <a:r>
              <a:rPr lang="en-US" dirty="0" smtClean="0"/>
              <a:t>, a1.</a:t>
            </a:r>
            <a:r>
              <a:rPr lang="en-US" dirty="0" smtClean="0">
                <a:solidFill>
                  <a:srgbClr val="00B050"/>
                </a:solidFill>
              </a:rPr>
              <a:t>last_name</a:t>
            </a:r>
            <a:r>
              <a:rPr lang="en-US" dirty="0" smtClean="0"/>
              <a:t>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>
                <a:solidFill>
                  <a:srgbClr val="0070C0"/>
                </a:solidFill>
              </a:rPr>
              <a:t>actor</a:t>
            </a:r>
            <a:r>
              <a:rPr lang="en-US" dirty="0"/>
              <a:t> AS a1, </a:t>
            </a:r>
            <a:r>
              <a:rPr lang="en-US" dirty="0">
                <a:solidFill>
                  <a:srgbClr val="0070C0"/>
                </a:solidFill>
              </a:rPr>
              <a:t>actor</a:t>
            </a:r>
            <a:r>
              <a:rPr lang="en-US" dirty="0"/>
              <a:t> AS a2 </a:t>
            </a:r>
          </a:p>
          <a:p>
            <a:pPr marL="0" indent="0">
              <a:buNone/>
            </a:pPr>
            <a:r>
              <a:rPr lang="en-US" dirty="0"/>
              <a:t>WHERE a1.first_name = a2.first_name;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844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13776"/>
            <a:ext cx="10515600" cy="556318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Slide 12 Exercise 1: </a:t>
            </a:r>
            <a:r>
              <a:rPr lang="en-US" dirty="0"/>
              <a:t>Find the </a:t>
            </a:r>
            <a:r>
              <a:rPr lang="en-US" dirty="0">
                <a:solidFill>
                  <a:srgbClr val="00B050"/>
                </a:solidFill>
              </a:rPr>
              <a:t>films (name) </a:t>
            </a:r>
            <a:r>
              <a:rPr lang="en-US" dirty="0"/>
              <a:t>played by </a:t>
            </a:r>
            <a:r>
              <a:rPr lang="en-US" dirty="0">
                <a:solidFill>
                  <a:srgbClr val="FF0000"/>
                </a:solidFill>
              </a:rPr>
              <a:t>Zero Cage</a:t>
            </a:r>
            <a:r>
              <a:rPr lang="en-US" dirty="0"/>
              <a:t>.</a:t>
            </a:r>
          </a:p>
          <a:p>
            <a:r>
              <a:rPr lang="en-US" b="1" dirty="0" smtClean="0"/>
              <a:t>Start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0070C0"/>
                </a:solidFill>
              </a:rPr>
              <a:t>actor</a:t>
            </a:r>
            <a:r>
              <a:rPr lang="en-US" dirty="0" smtClean="0"/>
              <a:t> (</a:t>
            </a:r>
            <a:r>
              <a:rPr lang="en-US" dirty="0" err="1" smtClean="0"/>
              <a:t>actor_id</a:t>
            </a:r>
            <a:r>
              <a:rPr lang="en-US" dirty="0" smtClean="0"/>
              <a:t>, </a:t>
            </a:r>
            <a:r>
              <a:rPr lang="en-US" dirty="0" err="1" smtClean="0">
                <a:solidFill>
                  <a:srgbClr val="FF0000"/>
                </a:solidFill>
              </a:rPr>
              <a:t>first_name</a:t>
            </a:r>
            <a:r>
              <a:rPr lang="en-US" dirty="0" smtClean="0"/>
              <a:t>, </a:t>
            </a:r>
            <a:r>
              <a:rPr lang="en-US" dirty="0" err="1" smtClean="0">
                <a:solidFill>
                  <a:srgbClr val="FF0000"/>
                </a:solidFill>
              </a:rPr>
              <a:t>last_name</a:t>
            </a:r>
            <a:r>
              <a:rPr lang="en-US" dirty="0" smtClean="0"/>
              <a:t>)</a:t>
            </a:r>
          </a:p>
          <a:p>
            <a:r>
              <a:rPr lang="en-US" b="1" dirty="0" smtClean="0"/>
              <a:t>End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0070C0"/>
                </a:solidFill>
              </a:rPr>
              <a:t>film</a:t>
            </a:r>
            <a:r>
              <a:rPr lang="en-US" dirty="0" smtClean="0"/>
              <a:t> (</a:t>
            </a:r>
            <a:r>
              <a:rPr lang="en-US" dirty="0" err="1" smtClean="0"/>
              <a:t>film_id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00B050"/>
                </a:solidFill>
              </a:rPr>
              <a:t>title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In Q1 of slide 5, we noted </a:t>
            </a:r>
            <a:r>
              <a:rPr lang="en-US" dirty="0" err="1" smtClean="0">
                <a:solidFill>
                  <a:srgbClr val="00B050"/>
                </a:solidFill>
              </a:rPr>
              <a:t>film.title</a:t>
            </a:r>
            <a:r>
              <a:rPr lang="en-US" dirty="0" smtClean="0"/>
              <a:t> is the </a:t>
            </a:r>
            <a:r>
              <a:rPr lang="en-US" dirty="0" smtClean="0">
                <a:solidFill>
                  <a:srgbClr val="00B050"/>
                </a:solidFill>
              </a:rPr>
              <a:t>film name</a:t>
            </a:r>
            <a:r>
              <a:rPr lang="en-US" dirty="0" smtClean="0"/>
              <a:t>.</a:t>
            </a:r>
          </a:p>
          <a:p>
            <a:r>
              <a:rPr lang="en-US" dirty="0" smtClean="0"/>
              <a:t>How do we “walk” from table actor to table film?</a:t>
            </a:r>
          </a:p>
          <a:p>
            <a:r>
              <a:rPr lang="en-US" dirty="0" smtClean="0"/>
              <a:t>In </a:t>
            </a:r>
            <a:r>
              <a:rPr lang="en-US" dirty="0" err="1" smtClean="0"/>
              <a:t>Sakila</a:t>
            </a:r>
            <a:r>
              <a:rPr lang="en-US" dirty="0" smtClean="0"/>
              <a:t>, we note table </a:t>
            </a:r>
            <a:r>
              <a:rPr lang="en-US" dirty="0" err="1" smtClean="0"/>
              <a:t>film_actor</a:t>
            </a:r>
            <a:r>
              <a:rPr lang="en-US" dirty="0" smtClean="0"/>
              <a:t>(</a:t>
            </a:r>
            <a:r>
              <a:rPr lang="en-US" dirty="0" err="1" smtClean="0"/>
              <a:t>actor_id</a:t>
            </a:r>
            <a:r>
              <a:rPr lang="en-US" dirty="0" smtClean="0"/>
              <a:t>, </a:t>
            </a:r>
            <a:r>
              <a:rPr lang="en-US" dirty="0" err="1" smtClean="0"/>
              <a:t>film_id</a:t>
            </a:r>
            <a:r>
              <a:rPr lang="en-US" dirty="0" smtClean="0"/>
              <a:t>) connects these two table.</a:t>
            </a:r>
          </a:p>
          <a:p>
            <a:pPr lvl="1"/>
            <a:r>
              <a:rPr lang="en-US" dirty="0" smtClean="0"/>
              <a:t>The relationship </a:t>
            </a:r>
            <a:r>
              <a:rPr lang="en-US" dirty="0" err="1" smtClean="0"/>
              <a:t>film_actor</a:t>
            </a:r>
            <a:r>
              <a:rPr lang="en-US" dirty="0" smtClean="0"/>
              <a:t> connects the two entities actor and file together; see Lecture 2.</a:t>
            </a:r>
          </a:p>
          <a:p>
            <a:r>
              <a:rPr lang="en-US" dirty="0" smtClean="0"/>
              <a:t>So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0657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13776"/>
            <a:ext cx="10515600" cy="57369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Slide 12 Exercise </a:t>
            </a:r>
            <a:r>
              <a:rPr lang="en-US" dirty="0" smtClean="0"/>
              <a:t>1: </a:t>
            </a:r>
            <a:r>
              <a:rPr lang="en-US" dirty="0"/>
              <a:t>Find the </a:t>
            </a:r>
            <a:r>
              <a:rPr lang="en-US" dirty="0">
                <a:solidFill>
                  <a:srgbClr val="00B050"/>
                </a:solidFill>
              </a:rPr>
              <a:t>films (name) </a:t>
            </a:r>
            <a:r>
              <a:rPr lang="en-US" dirty="0"/>
              <a:t>played by </a:t>
            </a:r>
            <a:r>
              <a:rPr lang="en-US" dirty="0">
                <a:solidFill>
                  <a:srgbClr val="FF0000"/>
                </a:solidFill>
              </a:rPr>
              <a:t>Zero Cage</a:t>
            </a:r>
            <a:r>
              <a:rPr lang="en-US" dirty="0"/>
              <a:t>.</a:t>
            </a:r>
          </a:p>
          <a:p>
            <a:r>
              <a:rPr lang="en-US" b="1" dirty="0" smtClean="0"/>
              <a:t>Start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0070C0"/>
                </a:solidFill>
              </a:rPr>
              <a:t>actor</a:t>
            </a:r>
            <a:r>
              <a:rPr lang="en-US" dirty="0" smtClean="0"/>
              <a:t> (</a:t>
            </a:r>
            <a:r>
              <a:rPr lang="en-US" dirty="0" err="1" smtClean="0"/>
              <a:t>actor_id</a:t>
            </a:r>
            <a:r>
              <a:rPr lang="en-US" dirty="0" smtClean="0"/>
              <a:t>, </a:t>
            </a:r>
            <a:r>
              <a:rPr lang="en-US" dirty="0" err="1" smtClean="0">
                <a:solidFill>
                  <a:srgbClr val="FF0000"/>
                </a:solidFill>
              </a:rPr>
              <a:t>first_name</a:t>
            </a:r>
            <a:r>
              <a:rPr lang="en-US" dirty="0" smtClean="0"/>
              <a:t>, </a:t>
            </a:r>
            <a:r>
              <a:rPr lang="en-US" dirty="0" err="1" smtClean="0">
                <a:solidFill>
                  <a:srgbClr val="FF0000"/>
                </a:solidFill>
              </a:rPr>
              <a:t>last_name</a:t>
            </a:r>
            <a:r>
              <a:rPr lang="en-US" dirty="0" smtClean="0"/>
              <a:t>)</a:t>
            </a:r>
          </a:p>
          <a:p>
            <a:endParaRPr lang="en-US" sz="800" dirty="0" smtClean="0"/>
          </a:p>
          <a:p>
            <a:pPr marL="914400" lvl="2" indent="0">
              <a:buNone/>
            </a:pPr>
            <a:r>
              <a:rPr lang="en-US" sz="2800" dirty="0" smtClean="0"/>
              <a:t>  </a:t>
            </a:r>
            <a:r>
              <a:rPr lang="en-US" sz="2800" dirty="0" err="1" smtClean="0"/>
              <a:t>film_actor</a:t>
            </a:r>
            <a:r>
              <a:rPr lang="en-US" sz="2800" dirty="0" smtClean="0"/>
              <a:t> (</a:t>
            </a:r>
            <a:r>
              <a:rPr lang="en-US" sz="2800" dirty="0" err="1" smtClean="0"/>
              <a:t>actor_id</a:t>
            </a:r>
            <a:r>
              <a:rPr lang="en-US" sz="2800" dirty="0" smtClean="0"/>
              <a:t>, </a:t>
            </a:r>
            <a:r>
              <a:rPr lang="en-US" sz="2800" dirty="0" err="1" smtClean="0"/>
              <a:t>film_id</a:t>
            </a:r>
            <a:r>
              <a:rPr lang="en-US" sz="2800" dirty="0" smtClean="0"/>
              <a:t>)</a:t>
            </a:r>
          </a:p>
          <a:p>
            <a:pPr marL="914400" lvl="2" indent="0">
              <a:buNone/>
            </a:pPr>
            <a:endParaRPr lang="en-US" sz="800" dirty="0" smtClean="0"/>
          </a:p>
          <a:p>
            <a:r>
              <a:rPr lang="en-US" b="1" dirty="0" smtClean="0"/>
              <a:t>End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0070C0"/>
                </a:solidFill>
              </a:rPr>
              <a:t>film</a:t>
            </a:r>
            <a:r>
              <a:rPr lang="en-US" dirty="0" smtClean="0"/>
              <a:t> (</a:t>
            </a:r>
            <a:r>
              <a:rPr lang="en-US" dirty="0" err="1" smtClean="0"/>
              <a:t>film_id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00B050"/>
                </a:solidFill>
              </a:rPr>
              <a:t>title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endParaRPr lang="en-US" sz="800" dirty="0" smtClean="0"/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 smtClean="0">
                <a:solidFill>
                  <a:srgbClr val="00B050"/>
                </a:solidFill>
              </a:rPr>
              <a:t>film.title</a:t>
            </a:r>
            <a:r>
              <a:rPr lang="en-US" dirty="0" smtClean="0"/>
              <a:t>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>
                <a:solidFill>
                  <a:srgbClr val="0070C0"/>
                </a:solidFill>
              </a:rPr>
              <a:t>film</a:t>
            </a:r>
            <a:r>
              <a:rPr lang="en-US" dirty="0"/>
              <a:t>, </a:t>
            </a:r>
            <a:r>
              <a:rPr lang="en-US" dirty="0" err="1">
                <a:solidFill>
                  <a:srgbClr val="0070C0"/>
                </a:solidFill>
              </a:rPr>
              <a:t>film_actor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actor </a:t>
            </a:r>
          </a:p>
          <a:p>
            <a:pPr marL="0" indent="0">
              <a:buNone/>
            </a:pPr>
            <a:r>
              <a:rPr lang="en-US" dirty="0" smtClean="0"/>
              <a:t>WHERE </a:t>
            </a:r>
            <a:r>
              <a:rPr lang="en-US" dirty="0" err="1" smtClean="0"/>
              <a:t>actor.</a:t>
            </a:r>
            <a:r>
              <a:rPr lang="en-US" dirty="0" err="1" smtClean="0">
                <a:solidFill>
                  <a:srgbClr val="FF0000"/>
                </a:solidFill>
              </a:rPr>
              <a:t>first_name</a:t>
            </a:r>
            <a:r>
              <a:rPr lang="en-US" dirty="0"/>
              <a:t>='Zero' AND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actor.</a:t>
            </a:r>
            <a:r>
              <a:rPr lang="en-US" dirty="0" err="1">
                <a:solidFill>
                  <a:srgbClr val="FF0000"/>
                </a:solidFill>
              </a:rPr>
              <a:t>last_name</a:t>
            </a:r>
            <a:r>
              <a:rPr lang="en-US" dirty="0"/>
              <a:t>='Cage' AND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actor.actor_id</a:t>
            </a:r>
            <a:r>
              <a:rPr lang="en-US" dirty="0"/>
              <a:t>=</a:t>
            </a:r>
            <a:r>
              <a:rPr lang="en-US" dirty="0" err="1"/>
              <a:t>film_actor.actor_id</a:t>
            </a:r>
            <a:r>
              <a:rPr lang="en-US" dirty="0"/>
              <a:t> AND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film_actor.film_id</a:t>
            </a:r>
            <a:r>
              <a:rPr lang="en-US" dirty="0"/>
              <a:t>=</a:t>
            </a:r>
            <a:r>
              <a:rPr lang="en-US" dirty="0" err="1"/>
              <a:t>film.film_id</a:t>
            </a:r>
            <a:r>
              <a:rPr lang="en-US" dirty="0"/>
              <a:t>;</a:t>
            </a:r>
            <a:endParaRPr lang="en-US" dirty="0" smtClean="0"/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3657600" y="1565754"/>
            <a:ext cx="338202" cy="300624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H="1">
            <a:off x="3306871" y="2304789"/>
            <a:ext cx="2204582" cy="200416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1284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13776"/>
            <a:ext cx="10515600" cy="556318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Slide 12 Exercise </a:t>
            </a:r>
            <a:r>
              <a:rPr lang="en-US" dirty="0"/>
              <a:t>2</a:t>
            </a:r>
            <a:r>
              <a:rPr lang="en-US" dirty="0" smtClean="0"/>
              <a:t>: </a:t>
            </a:r>
            <a:r>
              <a:rPr lang="en-US" dirty="0"/>
              <a:t>Find the </a:t>
            </a:r>
            <a:r>
              <a:rPr lang="en-US" dirty="0">
                <a:solidFill>
                  <a:srgbClr val="00B050"/>
                </a:solidFill>
              </a:rPr>
              <a:t>films (name) </a:t>
            </a:r>
            <a:r>
              <a:rPr lang="en-US" dirty="0" smtClean="0">
                <a:solidFill>
                  <a:srgbClr val="0070C0"/>
                </a:solidFill>
              </a:rPr>
              <a:t>rented</a:t>
            </a:r>
            <a:r>
              <a:rPr lang="en-US" dirty="0" smtClean="0"/>
              <a:t> </a:t>
            </a:r>
            <a:r>
              <a:rPr lang="en-US" dirty="0"/>
              <a:t>by </a:t>
            </a:r>
            <a:r>
              <a:rPr lang="en-US" dirty="0" smtClean="0">
                <a:solidFill>
                  <a:srgbClr val="FF0000"/>
                </a:solidFill>
              </a:rPr>
              <a:t>George Linton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b="1" dirty="0" smtClean="0"/>
              <a:t>Start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0070C0"/>
                </a:solidFill>
              </a:rPr>
              <a:t>customer</a:t>
            </a:r>
            <a:r>
              <a:rPr lang="en-US" dirty="0" smtClean="0"/>
              <a:t> (</a:t>
            </a:r>
            <a:r>
              <a:rPr lang="en-US" dirty="0" err="1" smtClean="0"/>
              <a:t>customer_id</a:t>
            </a:r>
            <a:r>
              <a:rPr lang="en-US" dirty="0" smtClean="0"/>
              <a:t>, </a:t>
            </a:r>
            <a:r>
              <a:rPr lang="en-US" dirty="0" err="1" smtClean="0">
                <a:solidFill>
                  <a:srgbClr val="FF0000"/>
                </a:solidFill>
              </a:rPr>
              <a:t>first_name</a:t>
            </a:r>
            <a:r>
              <a:rPr lang="en-US" dirty="0" smtClean="0"/>
              <a:t>, </a:t>
            </a:r>
            <a:r>
              <a:rPr lang="en-US" dirty="0" err="1" smtClean="0">
                <a:solidFill>
                  <a:srgbClr val="FF0000"/>
                </a:solidFill>
              </a:rPr>
              <a:t>last_name</a:t>
            </a:r>
            <a:r>
              <a:rPr lang="en-US" dirty="0" smtClean="0"/>
              <a:t>)</a:t>
            </a:r>
            <a:endParaRPr lang="en-US" sz="2800" dirty="0" smtClean="0"/>
          </a:p>
          <a:p>
            <a:r>
              <a:rPr lang="en-US" b="1" dirty="0" smtClean="0"/>
              <a:t>End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0070C0"/>
                </a:solidFill>
              </a:rPr>
              <a:t>film</a:t>
            </a:r>
            <a:r>
              <a:rPr lang="en-US" dirty="0" smtClean="0"/>
              <a:t> (</a:t>
            </a:r>
            <a:r>
              <a:rPr lang="en-US" dirty="0" err="1" smtClean="0"/>
              <a:t>film_id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00B050"/>
                </a:solidFill>
              </a:rPr>
              <a:t>title</a:t>
            </a:r>
            <a:r>
              <a:rPr lang="en-US" dirty="0" smtClean="0"/>
              <a:t>)</a:t>
            </a:r>
          </a:p>
          <a:p>
            <a:endParaRPr lang="en-US" sz="800" dirty="0"/>
          </a:p>
          <a:p>
            <a:r>
              <a:rPr lang="en-US" dirty="0" smtClean="0"/>
              <a:t>Checking </a:t>
            </a:r>
            <a:r>
              <a:rPr lang="en-US" dirty="0" err="1" smtClean="0"/>
              <a:t>Sakila</a:t>
            </a:r>
            <a:r>
              <a:rPr lang="en-US" dirty="0" smtClean="0"/>
              <a:t>, we have </a:t>
            </a:r>
            <a:r>
              <a:rPr lang="en-US" dirty="0" smtClean="0">
                <a:solidFill>
                  <a:srgbClr val="0070C0"/>
                </a:solidFill>
              </a:rPr>
              <a:t>rental</a:t>
            </a:r>
            <a:r>
              <a:rPr lang="en-US" dirty="0" smtClean="0"/>
              <a:t> (</a:t>
            </a:r>
            <a:r>
              <a:rPr lang="en-US" dirty="0" err="1" smtClean="0"/>
              <a:t>customer_id</a:t>
            </a:r>
            <a:r>
              <a:rPr lang="en-US" dirty="0" smtClean="0"/>
              <a:t>, </a:t>
            </a:r>
            <a:r>
              <a:rPr lang="en-US" dirty="0" err="1" smtClean="0"/>
              <a:t>inventory_id</a:t>
            </a:r>
            <a:r>
              <a:rPr lang="en-US" dirty="0" smtClean="0"/>
              <a:t>).</a:t>
            </a:r>
          </a:p>
          <a:p>
            <a:r>
              <a:rPr lang="en-US" dirty="0" smtClean="0"/>
              <a:t>We can walk from </a:t>
            </a:r>
            <a:r>
              <a:rPr lang="en-US" dirty="0" smtClean="0">
                <a:solidFill>
                  <a:srgbClr val="0070C0"/>
                </a:solidFill>
              </a:rPr>
              <a:t>customer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0070C0"/>
                </a:solidFill>
              </a:rPr>
              <a:t>rental</a:t>
            </a:r>
            <a:r>
              <a:rPr lang="en-US" dirty="0"/>
              <a:t> </a:t>
            </a:r>
            <a:r>
              <a:rPr lang="en-US" dirty="0" smtClean="0"/>
              <a:t>by </a:t>
            </a:r>
            <a:r>
              <a:rPr lang="en-US" dirty="0" err="1" smtClean="0"/>
              <a:t>customer_id</a:t>
            </a:r>
            <a:r>
              <a:rPr lang="en-US" dirty="0" smtClean="0"/>
              <a:t>.</a:t>
            </a:r>
          </a:p>
          <a:p>
            <a:r>
              <a:rPr lang="en-US" dirty="0" smtClean="0"/>
              <a:t>For </a:t>
            </a:r>
            <a:r>
              <a:rPr lang="en-US" dirty="0" err="1" smtClean="0"/>
              <a:t>inventory_id</a:t>
            </a:r>
            <a:r>
              <a:rPr lang="en-US" dirty="0" smtClean="0"/>
              <a:t>, we see </a:t>
            </a:r>
            <a:r>
              <a:rPr lang="en-US" dirty="0" err="1" smtClean="0"/>
              <a:t>Sakila</a:t>
            </a:r>
            <a:r>
              <a:rPr lang="en-US" dirty="0" smtClean="0"/>
              <a:t> has </a:t>
            </a:r>
            <a:r>
              <a:rPr lang="en-US" dirty="0" smtClean="0">
                <a:solidFill>
                  <a:srgbClr val="0070C0"/>
                </a:solidFill>
              </a:rPr>
              <a:t>inventory</a:t>
            </a:r>
            <a:r>
              <a:rPr lang="en-US" dirty="0" smtClean="0"/>
              <a:t> (</a:t>
            </a:r>
            <a:r>
              <a:rPr lang="en-US" dirty="0" err="1" smtClean="0"/>
              <a:t>inventory_id</a:t>
            </a:r>
            <a:r>
              <a:rPr lang="en-US" dirty="0" smtClean="0"/>
              <a:t>, </a:t>
            </a:r>
            <a:r>
              <a:rPr lang="en-US" dirty="0" err="1" smtClean="0"/>
              <a:t>film_id</a:t>
            </a:r>
            <a:r>
              <a:rPr lang="en-US" dirty="0" smtClean="0"/>
              <a:t>)</a:t>
            </a:r>
          </a:p>
          <a:p>
            <a:pPr lvl="1"/>
            <a:r>
              <a:rPr lang="en-US" dirty="0"/>
              <a:t>F</a:t>
            </a:r>
            <a:r>
              <a:rPr lang="en-US" dirty="0" smtClean="0"/>
              <a:t>rom </a:t>
            </a:r>
            <a:r>
              <a:rPr lang="en-US" dirty="0" err="1" smtClean="0"/>
              <a:t>film_id</a:t>
            </a:r>
            <a:r>
              <a:rPr lang="en-US" dirty="0" smtClean="0"/>
              <a:t>, we can walk to </a:t>
            </a:r>
            <a:r>
              <a:rPr lang="en-US" dirty="0" smtClean="0"/>
              <a:t>the end table </a:t>
            </a:r>
            <a:r>
              <a:rPr lang="en-US" dirty="0" smtClean="0">
                <a:solidFill>
                  <a:srgbClr val="0070C0"/>
                </a:solidFill>
              </a:rPr>
              <a:t>film</a:t>
            </a:r>
            <a:r>
              <a:rPr lang="en-US" dirty="0" smtClean="0"/>
              <a:t>!</a:t>
            </a:r>
          </a:p>
          <a:p>
            <a:r>
              <a:rPr lang="en-US" dirty="0" smtClean="0"/>
              <a:t>So,</a:t>
            </a:r>
          </a:p>
          <a:p>
            <a:pPr marL="0" indent="0">
              <a:buNone/>
            </a:pPr>
            <a:endParaRPr lang="en-US" dirty="0" smtClean="0"/>
          </a:p>
          <a:p>
            <a:pPr marL="457200" lvl="1" indent="0">
              <a:buNone/>
            </a:pPr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153058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75573"/>
            <a:ext cx="10515600" cy="622543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/>
              <a:t>Slide 12 Exercise </a:t>
            </a:r>
            <a:r>
              <a:rPr lang="en-US" dirty="0"/>
              <a:t>2</a:t>
            </a:r>
            <a:r>
              <a:rPr lang="en-US" dirty="0" smtClean="0"/>
              <a:t>: </a:t>
            </a:r>
            <a:r>
              <a:rPr lang="en-US" dirty="0"/>
              <a:t>Find the </a:t>
            </a:r>
            <a:r>
              <a:rPr lang="en-US" dirty="0">
                <a:solidFill>
                  <a:srgbClr val="00B050"/>
                </a:solidFill>
              </a:rPr>
              <a:t>films (name) </a:t>
            </a:r>
            <a:r>
              <a:rPr lang="en-US" dirty="0" smtClean="0">
                <a:solidFill>
                  <a:srgbClr val="0070C0"/>
                </a:solidFill>
              </a:rPr>
              <a:t>rented</a:t>
            </a:r>
            <a:r>
              <a:rPr lang="en-US" dirty="0" smtClean="0"/>
              <a:t> </a:t>
            </a:r>
            <a:r>
              <a:rPr lang="en-US" dirty="0"/>
              <a:t>by </a:t>
            </a:r>
            <a:r>
              <a:rPr lang="en-US" dirty="0" smtClean="0">
                <a:solidFill>
                  <a:srgbClr val="FF0000"/>
                </a:solidFill>
              </a:rPr>
              <a:t>George Linton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b="1" dirty="0" smtClean="0"/>
              <a:t>Start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0070C0"/>
                </a:solidFill>
              </a:rPr>
              <a:t>customer</a:t>
            </a:r>
            <a:r>
              <a:rPr lang="en-US" dirty="0" smtClean="0"/>
              <a:t> (</a:t>
            </a:r>
            <a:r>
              <a:rPr lang="en-US" dirty="0" err="1" smtClean="0"/>
              <a:t>customer_id</a:t>
            </a:r>
            <a:r>
              <a:rPr lang="en-US" dirty="0" smtClean="0"/>
              <a:t>, </a:t>
            </a:r>
            <a:r>
              <a:rPr lang="en-US" dirty="0" err="1" smtClean="0">
                <a:solidFill>
                  <a:srgbClr val="FF0000"/>
                </a:solidFill>
              </a:rPr>
              <a:t>first_name</a:t>
            </a:r>
            <a:r>
              <a:rPr lang="en-US" dirty="0" smtClean="0"/>
              <a:t>, </a:t>
            </a:r>
            <a:r>
              <a:rPr lang="en-US" dirty="0" err="1" smtClean="0">
                <a:solidFill>
                  <a:srgbClr val="FF0000"/>
                </a:solidFill>
              </a:rPr>
              <a:t>last_name</a:t>
            </a:r>
            <a:r>
              <a:rPr lang="en-US" dirty="0" smtClean="0"/>
              <a:t>)</a:t>
            </a:r>
          </a:p>
          <a:p>
            <a:endParaRPr lang="en-US" sz="800" dirty="0" smtClean="0"/>
          </a:p>
          <a:p>
            <a:pPr marL="457200" lvl="1" indent="0">
              <a:buNone/>
            </a:pPr>
            <a:r>
              <a:rPr lang="en-US" sz="2800" dirty="0">
                <a:solidFill>
                  <a:srgbClr val="0070C0"/>
                </a:solidFill>
              </a:rPr>
              <a:t>rental</a:t>
            </a:r>
            <a:r>
              <a:rPr lang="en-US" sz="2800" dirty="0"/>
              <a:t> (</a:t>
            </a:r>
            <a:r>
              <a:rPr lang="en-US" sz="2800" dirty="0" err="1"/>
              <a:t>customer_id</a:t>
            </a:r>
            <a:r>
              <a:rPr lang="en-US" sz="2800" dirty="0"/>
              <a:t>, </a:t>
            </a:r>
            <a:r>
              <a:rPr lang="en-US" sz="2800" dirty="0" err="1"/>
              <a:t>inventory_id</a:t>
            </a:r>
            <a:r>
              <a:rPr lang="en-US" sz="2800" dirty="0" smtClean="0"/>
              <a:t>)</a:t>
            </a:r>
          </a:p>
          <a:p>
            <a:pPr marL="457200" lvl="1" indent="0">
              <a:buNone/>
            </a:pPr>
            <a:endParaRPr lang="en-US" sz="800" dirty="0"/>
          </a:p>
          <a:p>
            <a:pPr marL="457200" lvl="1" indent="0">
              <a:buNone/>
            </a:pPr>
            <a:r>
              <a:rPr lang="en-US" sz="2800" dirty="0">
                <a:solidFill>
                  <a:srgbClr val="0070C0"/>
                </a:solidFill>
              </a:rPr>
              <a:t>inventory</a:t>
            </a:r>
            <a:r>
              <a:rPr lang="en-US" sz="2800" dirty="0"/>
              <a:t> (</a:t>
            </a:r>
            <a:r>
              <a:rPr lang="en-US" sz="2800" dirty="0" err="1"/>
              <a:t>inventory_id</a:t>
            </a:r>
            <a:r>
              <a:rPr lang="en-US" sz="2800" dirty="0"/>
              <a:t>, </a:t>
            </a:r>
            <a:r>
              <a:rPr lang="en-US" sz="2800" dirty="0" err="1"/>
              <a:t>film_id</a:t>
            </a:r>
            <a:r>
              <a:rPr lang="en-US" sz="2800" dirty="0" smtClean="0"/>
              <a:t>)</a:t>
            </a:r>
          </a:p>
          <a:p>
            <a:pPr marL="457200" lvl="1" indent="0">
              <a:buNone/>
            </a:pPr>
            <a:endParaRPr lang="en-US" sz="800" dirty="0" smtClean="0"/>
          </a:p>
          <a:p>
            <a:r>
              <a:rPr lang="en-US" b="1" dirty="0" smtClean="0"/>
              <a:t>End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0070C0"/>
                </a:solidFill>
              </a:rPr>
              <a:t>film</a:t>
            </a:r>
            <a:r>
              <a:rPr lang="en-US" dirty="0" smtClean="0"/>
              <a:t> (</a:t>
            </a:r>
            <a:r>
              <a:rPr lang="en-US" dirty="0" err="1" smtClean="0"/>
              <a:t>film_id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00B050"/>
                </a:solidFill>
              </a:rPr>
              <a:t>title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endParaRPr lang="en-US" sz="900" dirty="0" smtClean="0"/>
          </a:p>
          <a:p>
            <a:pPr marL="0" indent="0">
              <a:buNone/>
            </a:pPr>
            <a:r>
              <a:rPr lang="en-US" dirty="0" smtClean="0"/>
              <a:t>SELECT </a:t>
            </a:r>
            <a:r>
              <a:rPr lang="en-US" dirty="0" err="1" smtClean="0"/>
              <a:t>film.</a:t>
            </a:r>
            <a:r>
              <a:rPr lang="en-US" dirty="0" err="1" smtClean="0">
                <a:solidFill>
                  <a:srgbClr val="00B050"/>
                </a:solidFill>
              </a:rPr>
              <a:t>title</a:t>
            </a:r>
            <a:r>
              <a:rPr lang="en-US" dirty="0" smtClean="0"/>
              <a:t>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	film</a:t>
            </a:r>
            <a:r>
              <a:rPr lang="en-US" dirty="0" smtClean="0"/>
              <a:t>, inventory, rental, customer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 smtClean="0"/>
              <a:t>customer.</a:t>
            </a:r>
            <a:r>
              <a:rPr lang="en-US" dirty="0" err="1" smtClean="0">
                <a:solidFill>
                  <a:srgbClr val="FF0000"/>
                </a:solidFill>
              </a:rPr>
              <a:t>first_name</a:t>
            </a:r>
            <a:r>
              <a:rPr lang="en-US" dirty="0" smtClean="0"/>
              <a:t>='</a:t>
            </a:r>
            <a:r>
              <a:rPr lang="en-US" dirty="0" smtClean="0">
                <a:solidFill>
                  <a:srgbClr val="FF0000"/>
                </a:solidFill>
              </a:rPr>
              <a:t>George</a:t>
            </a:r>
            <a:r>
              <a:rPr lang="en-US" dirty="0"/>
              <a:t>' AND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customer.</a:t>
            </a:r>
            <a:r>
              <a:rPr lang="en-US" dirty="0" err="1">
                <a:solidFill>
                  <a:srgbClr val="FF0000"/>
                </a:solidFill>
              </a:rPr>
              <a:t>last_name</a:t>
            </a:r>
            <a:r>
              <a:rPr lang="en-US" dirty="0"/>
              <a:t>='</a:t>
            </a:r>
            <a:r>
              <a:rPr lang="en-US" dirty="0">
                <a:solidFill>
                  <a:srgbClr val="FF0000"/>
                </a:solidFill>
              </a:rPr>
              <a:t>Linton</a:t>
            </a:r>
            <a:r>
              <a:rPr lang="en-US" dirty="0"/>
              <a:t>' AND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customer.customer_id</a:t>
            </a:r>
            <a:r>
              <a:rPr lang="en-US" dirty="0"/>
              <a:t>=</a:t>
            </a:r>
            <a:r>
              <a:rPr lang="en-US" dirty="0" err="1"/>
              <a:t>rental.customer_id</a:t>
            </a:r>
            <a:r>
              <a:rPr lang="en-US" dirty="0"/>
              <a:t> AND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rental.inventory_id</a:t>
            </a:r>
            <a:r>
              <a:rPr lang="en-US" dirty="0"/>
              <a:t>=</a:t>
            </a:r>
            <a:r>
              <a:rPr lang="en-US" dirty="0" err="1"/>
              <a:t>inventory.inventory_id</a:t>
            </a:r>
            <a:r>
              <a:rPr lang="en-US" dirty="0"/>
              <a:t> AND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inventory.film_id</a:t>
            </a:r>
            <a:r>
              <a:rPr lang="en-US" dirty="0"/>
              <a:t>=</a:t>
            </a:r>
            <a:r>
              <a:rPr lang="en-US" dirty="0" err="1"/>
              <a:t>film.film_id</a:t>
            </a:r>
            <a:r>
              <a:rPr lang="en-US" dirty="0"/>
              <a:t>;</a:t>
            </a:r>
            <a:endParaRPr lang="en-US" dirty="0" smtClean="0"/>
          </a:p>
          <a:p>
            <a:pPr marL="457200" lvl="1" indent="0">
              <a:buNone/>
            </a:pPr>
            <a:endParaRPr lang="en-US" dirty="0" smtClean="0"/>
          </a:p>
          <a:p>
            <a:endParaRPr lang="en-US" dirty="0" smtClean="0"/>
          </a:p>
        </p:txBody>
      </p:sp>
      <p:cxnSp>
        <p:nvCxnSpPr>
          <p:cNvPr id="4" name="Straight Arrow Connector 3"/>
          <p:cNvCxnSpPr/>
          <p:nvPr/>
        </p:nvCxnSpPr>
        <p:spPr>
          <a:xfrm flipH="1">
            <a:off x="3707704" y="1120428"/>
            <a:ext cx="839244" cy="259783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H="1">
            <a:off x="4296428" y="1719457"/>
            <a:ext cx="898741" cy="197025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3206663" y="2225066"/>
            <a:ext cx="1988506" cy="304146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3450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910</Words>
  <Application>Microsoft Office PowerPoint</Application>
  <PresentationFormat>Widescreen</PresentationFormat>
  <Paragraphs>130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Assignment 1</vt:lpstr>
      <vt:lpstr>Lab03 Cross Table Query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DBMS Tasks Lab 2</dc:title>
  <dc:creator>j f</dc:creator>
  <cp:lastModifiedBy>Microsoft account</cp:lastModifiedBy>
  <cp:revision>73</cp:revision>
  <dcterms:created xsi:type="dcterms:W3CDTF">2022-09-15T13:11:40Z</dcterms:created>
  <dcterms:modified xsi:type="dcterms:W3CDTF">2025-09-25T17:03:56Z</dcterms:modified>
</cp:coreProperties>
</file>