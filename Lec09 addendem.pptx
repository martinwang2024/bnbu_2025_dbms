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73" r:id="rId3"/>
    <p:sldId id="571" r:id="rId4"/>
    <p:sldId id="572" r:id="rId5"/>
    <p:sldId id="568" r:id="rId6"/>
    <p:sldId id="557" r:id="rId7"/>
    <p:sldId id="555" r:id="rId8"/>
    <p:sldId id="564" r:id="rId9"/>
    <p:sldId id="561" r:id="rId10"/>
    <p:sldId id="570" r:id="rId11"/>
    <p:sldId id="560" r:id="rId12"/>
    <p:sldId id="562" r:id="rId13"/>
    <p:sldId id="563" r:id="rId14"/>
    <p:sldId id="569" r:id="rId15"/>
    <p:sldId id="5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0" autoAdjust="0"/>
    <p:restoredTop sz="93126" autoAdjust="0"/>
  </p:normalViewPr>
  <p:slideViewPr>
    <p:cSldViewPr snapToGrid="0">
      <p:cViewPr varScale="1">
        <p:scale>
          <a:sx n="58" d="100"/>
          <a:sy n="58" d="100"/>
        </p:scale>
        <p:origin x="77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</a:t>
                </a:r>
                <a:r>
                  <a:rPr lang="en-US" dirty="0" smtClean="0"/>
                  <a:t>{G}</a:t>
                </a:r>
                <a:r>
                  <a:rPr lang="en-US" baseline="0" dirty="0" smtClean="0"/>
                  <a:t> not a super key.  So {AG} is a candidate key.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〖</a:t>
                </a:r>
                <a:r>
                  <a:rPr lang="en-US" i="0">
                    <a:latin typeface="Cambria Math" panose="02040503050406030204" pitchFamily="18" charset="0"/>
                  </a:rPr>
                  <a:t>{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G</a:t>
                </a:r>
                <a:r>
                  <a:rPr lang="en-US" i="0">
                    <a:latin typeface="Cambria Math" panose="02040503050406030204" pitchFamily="18" charset="0"/>
                  </a:rPr>
                  <a:t>}</a:t>
                </a:r>
                <a:r>
                  <a:rPr lang="en-US" i="0" smtClean="0">
                    <a:latin typeface="Cambria Math" panose="02040503050406030204" pitchFamily="18" charset="0"/>
                  </a:rPr>
                  <a:t>〗^</a:t>
                </a:r>
                <a:r>
                  <a:rPr lang="en-US" i="0">
                    <a:latin typeface="Cambria Math" panose="02040503050406030204" pitchFamily="18" charset="0"/>
                  </a:rPr>
                  <a:t>+</a:t>
                </a:r>
                <a:r>
                  <a:rPr lang="en-US" dirty="0"/>
                  <a:t> = </a:t>
                </a:r>
                <a:r>
                  <a:rPr lang="en-US" dirty="0" smtClean="0"/>
                  <a:t>{G}</a:t>
                </a:r>
                <a:r>
                  <a:rPr lang="en-US" baseline="0" dirty="0" smtClean="0"/>
                  <a:t> not a super key.  So {AG} is a candidate key.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A7CB6F-1EC6-4E88-BB90-B62A7FA4EB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62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Lecture 9</a:t>
            </a:r>
            <a:br>
              <a:rPr lang="en-US" dirty="0"/>
            </a:br>
            <a:r>
              <a:rPr lang="en-US" dirty="0"/>
              <a:t>Relational Design</a:t>
            </a:r>
            <a:br>
              <a:rPr lang="en-US" dirty="0"/>
            </a:br>
            <a:r>
              <a:rPr lang="en-US" dirty="0"/>
              <a:t>Functional Dependencies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Addendum</a:t>
            </a:r>
          </a:p>
          <a:p>
            <a:r>
              <a:rPr lang="en-US" sz="3200" dirty="0"/>
              <a:t>Dr. Jefferson Fong</a:t>
            </a:r>
          </a:p>
          <a:p>
            <a:r>
              <a:rPr lang="en-US" sz="3200"/>
              <a:t>Reference 7.4</a:t>
            </a:r>
            <a:endParaRPr lang="en-US" sz="32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5210"/>
          </a:xfrm>
        </p:spPr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9191"/>
            <a:ext cx="10515600" cy="4677772"/>
          </a:xfrm>
        </p:spPr>
        <p:txBody>
          <a:bodyPr>
            <a:normAutofit/>
          </a:bodyPr>
          <a:lstStyle/>
          <a:p>
            <a:r>
              <a:rPr lang="en-US" dirty="0"/>
              <a:t>Project </a:t>
            </a:r>
            <a:r>
              <a:rPr lang="en-US" dirty="0" smtClean="0">
                <a:solidFill>
                  <a:srgbClr val="FF0000"/>
                </a:solidFill>
              </a:rPr>
              <a:t>ER diagrams </a:t>
            </a:r>
            <a:r>
              <a:rPr lang="en-US" dirty="0" smtClean="0"/>
              <a:t>are </a:t>
            </a:r>
            <a:r>
              <a:rPr lang="en-US" dirty="0"/>
              <a:t>due on </a:t>
            </a:r>
            <a:r>
              <a:rPr lang="en-US" dirty="0" smtClean="0"/>
              <a:t>Sun </a:t>
            </a:r>
            <a:r>
              <a:rPr lang="en-US" dirty="0" smtClean="0">
                <a:solidFill>
                  <a:srgbClr val="FF0000"/>
                </a:solidFill>
              </a:rPr>
              <a:t>23 Nov</a:t>
            </a:r>
            <a:r>
              <a:rPr lang="en-US" dirty="0" smtClean="0"/>
              <a:t>, </a:t>
            </a:r>
            <a:r>
              <a:rPr lang="en-US" dirty="0"/>
              <a:t>right before midnight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Project </a:t>
            </a:r>
            <a:r>
              <a:rPr lang="en-US" dirty="0" smtClean="0">
                <a:solidFill>
                  <a:srgbClr val="FF0000"/>
                </a:solidFill>
              </a:rPr>
              <a:t>Static Webpages </a:t>
            </a:r>
            <a:r>
              <a:rPr lang="en-US" dirty="0" smtClean="0"/>
              <a:t>(HTML files) are due on Sun</a:t>
            </a:r>
            <a:r>
              <a:rPr lang="en-US" dirty="0" smtClean="0">
                <a:solidFill>
                  <a:srgbClr val="FF0000"/>
                </a:solidFill>
              </a:rPr>
              <a:t> 30 Nov</a:t>
            </a:r>
            <a:r>
              <a:rPr lang="en-US" dirty="0" smtClean="0"/>
              <a:t>, right before midnight.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Concepts of FD are complicated; the Addendum is almost as long as the lecture!  </a:t>
            </a:r>
            <a:endParaRPr lang="en-US" dirty="0" smtClean="0"/>
          </a:p>
          <a:p>
            <a:pPr lvl="1"/>
            <a:r>
              <a:rPr lang="en-US" dirty="0" smtClean="0"/>
              <a:t>I </a:t>
            </a:r>
            <a:r>
              <a:rPr lang="en-US" dirty="0"/>
              <a:t>hope the extra explanations help.</a:t>
            </a:r>
          </a:p>
        </p:txBody>
      </p:sp>
    </p:spTree>
    <p:extLst>
      <p:ext uri="{BB962C8B-B14F-4D97-AF65-F5344CB8AC3E}">
        <p14:creationId xmlns:p14="http://schemas.microsoft.com/office/powerpoint/2010/main" val="31110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8066"/>
          </a:xfrm>
        </p:spPr>
        <p:txBody>
          <a:bodyPr/>
          <a:lstStyle/>
          <a:p>
            <a:r>
              <a:rPr lang="en-US" dirty="0"/>
              <a:t>Functional Dependency (FD)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7578"/>
                <a:ext cx="10515600" cy="44357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Slide 3	</a:t>
                </a:r>
                <a:r>
                  <a:rPr lang="en-US" dirty="0"/>
                  <a:t>Motivation</a:t>
                </a:r>
              </a:p>
              <a:p>
                <a:r>
                  <a:rPr lang="en-US" dirty="0"/>
                  <a:t>Recall Lecture 8, Slide 11</a:t>
                </a:r>
              </a:p>
              <a:p>
                <a:pPr lvl="1"/>
                <a:r>
                  <a:rPr lang="en-US" dirty="0">
                    <a:ea typeface="Batang" panose="02030600000101010101"/>
                  </a:rPr>
                  <a:t>We need to decompose </a:t>
                </a:r>
              </a:p>
              <a:p>
                <a:pPr marL="457200" lvl="1" indent="0">
                  <a:buNone/>
                </a:pPr>
                <a:r>
                  <a:rPr lang="en-US" dirty="0">
                    <a:ea typeface="Batang" panose="02030600000101010101"/>
                  </a:rPr>
                  <a:t>	</a:t>
                </a:r>
                <a:r>
                  <a:rPr lang="en-US" i="1" dirty="0" err="1">
                    <a:ea typeface="Batang" panose="02030600000101010101"/>
                  </a:rPr>
                  <a:t>course_info</a:t>
                </a:r>
                <a:r>
                  <a:rPr lang="en-US" dirty="0">
                    <a:ea typeface="Batang" panose="02030600000101010101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bar>
                      <m:bar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𝑛𝑎𝑚𝑒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宋体" charset="-122"/>
                  </a:rPr>
                  <a:t>)</a:t>
                </a:r>
                <a:endParaRPr lang="en-US" dirty="0">
                  <a:ea typeface="Batang" panose="02030600000101010101"/>
                </a:endParaRPr>
              </a:p>
              <a:p>
                <a:pPr lvl="1"/>
                <a:r>
                  <a:rPr lang="en-US" dirty="0">
                    <a:ea typeface="Batang" panose="02030600000101010101"/>
                  </a:rPr>
                  <a:t>We have		</a:t>
                </a:r>
                <a:r>
                  <a:rPr lang="en-US" dirty="0" err="1">
                    <a:ea typeface="Batang" panose="02030600000101010101"/>
                  </a:rPr>
                  <a:t>c_name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credits, domain, </a:t>
                </a:r>
                <a:r>
                  <a:rPr lang="en-US" dirty="0" err="1">
                    <a:ea typeface="Batang" panose="02030600000101010101"/>
                    <a:sym typeface="Wingdings" panose="05000000000000000000" pitchFamily="2" charset="2"/>
                  </a:rPr>
                  <a:t>c_number</a:t>
                </a:r>
                <a:endParaRPr lang="en-US" dirty="0">
                  <a:ea typeface="Batang" panose="02030600000101010101"/>
                  <a:sym typeface="Wingdings" panose="05000000000000000000" pitchFamily="2" charset="2"/>
                </a:endParaRPr>
              </a:p>
              <a:p>
                <a:pPr marL="914400" lvl="2" indent="0">
                  <a:buNone/>
                </a:pPr>
                <a:r>
                  <a:rPr lang="en-US" sz="2400" dirty="0">
                    <a:ea typeface="Batang" panose="02030600000101010101"/>
                  </a:rPr>
                  <a:t>(i.e. </a:t>
                </a:r>
                <a:r>
                  <a:rPr lang="en-US" sz="2400" i="1" dirty="0" err="1">
                    <a:ea typeface="Batang" panose="02030600000101010101"/>
                  </a:rPr>
                  <a:t>c_name</a:t>
                </a:r>
                <a:r>
                  <a:rPr lang="en-US" sz="2400" dirty="0"/>
                  <a:t> determines </a:t>
                </a:r>
                <a:r>
                  <a:rPr lang="en-US" sz="2400" i="1" dirty="0"/>
                  <a:t>credits, domain and </a:t>
                </a:r>
                <a:r>
                  <a:rPr lang="en-US" sz="2400" i="1" dirty="0" err="1"/>
                  <a:t>c_number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This suggests {</a:t>
                </a:r>
                <a:r>
                  <a:rPr lang="en-US" dirty="0" err="1">
                    <a:ea typeface="Batang" panose="02030600000101010101"/>
                  </a:rPr>
                  <a:t>c_name</a:t>
                </a:r>
                <a:r>
                  <a:rPr lang="en-US" dirty="0">
                    <a:ea typeface="Batang" panose="02030600000101010101"/>
                  </a:rPr>
                  <a:t>,</a:t>
                </a:r>
                <a:r>
                  <a:rPr lang="en-US" dirty="0"/>
                  <a:t> </a:t>
                </a:r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credits, domain, </a:t>
                </a:r>
                <a:r>
                  <a:rPr lang="en-US" dirty="0" err="1">
                    <a:ea typeface="Batang" panose="02030600000101010101"/>
                    <a:sym typeface="Wingdings" panose="05000000000000000000" pitchFamily="2" charset="2"/>
                  </a:rPr>
                  <a:t>c_number</a:t>
                </a:r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} should be in a separate table with </a:t>
                </a:r>
                <a:r>
                  <a:rPr lang="en-US" dirty="0" err="1">
                    <a:ea typeface="Batang" panose="02030600000101010101"/>
                    <a:sym typeface="Wingdings" panose="05000000000000000000" pitchFamily="2" charset="2"/>
                  </a:rPr>
                  <a:t>c_name</a:t>
                </a:r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 as the key</a:t>
                </a:r>
                <a:r>
                  <a:rPr lang="en-US" dirty="0" smtClean="0">
                    <a:ea typeface="Batang" panose="02030600000101010101"/>
                    <a:sym typeface="Wingdings" panose="05000000000000000000" pitchFamily="2" charset="2"/>
                  </a:rPr>
                  <a:t>.  </a:t>
                </a:r>
                <a:r>
                  <a:rPr lang="en-US" smtClean="0">
                    <a:ea typeface="Batang" panose="02030600000101010101"/>
                    <a:sym typeface="Wingdings" panose="05000000000000000000" pitchFamily="2" charset="2"/>
                  </a:rPr>
                  <a:t>And </a:t>
                </a:r>
                <a:r>
                  <a:rPr lang="en-US" dirty="0" err="1" smtClean="0">
                    <a:ea typeface="Batang" panose="02030600000101010101"/>
                    <a:sym typeface="Wingdings" panose="05000000000000000000" pitchFamily="2" charset="2"/>
                  </a:rPr>
                  <a:t>p_code</a:t>
                </a:r>
                <a:r>
                  <a:rPr lang="en-US" dirty="0" smtClean="0">
                    <a:ea typeface="Batang" panose="02030600000101010101"/>
                    <a:sym typeface="Wingdings" panose="05000000000000000000" pitchFamily="2" charset="2"/>
                  </a:rPr>
                  <a:t> belongs to another table.</a:t>
                </a:r>
                <a:endParaRPr lang="en-US" dirty="0">
                  <a:ea typeface="Batang" panose="02030600000101010101"/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ea typeface="Batang" panose="02030600000101010101"/>
                    <a:sym typeface="Wingdings" panose="05000000000000000000" pitchFamily="2" charset="2"/>
                  </a:rPr>
                  <a:t>FD is a generalization of a key, useful in decomposing tables.</a:t>
                </a:r>
              </a:p>
              <a:p>
                <a:pPr lvl="1"/>
                <a:endParaRPr lang="en-US" dirty="0">
                  <a:ea typeface="Batang" panose="02030600000101010101"/>
                  <a:sym typeface="Wingdings" panose="05000000000000000000" pitchFamily="2" charset="2"/>
                </a:endParaRPr>
              </a:p>
              <a:p>
                <a:pPr lvl="1"/>
                <a:endParaRPr lang="en-US" sz="800" dirty="0">
                  <a:ea typeface="Batang" panose="02030600000101010101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7578"/>
                <a:ext cx="10515600" cy="4435710"/>
              </a:xfrm>
              <a:blipFill rotWithShape="0">
                <a:blip r:embed="rId2"/>
                <a:stretch>
                  <a:fillRect l="-1217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96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849ABD-3708-4ED2-983B-FB82D93F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965" y="350050"/>
            <a:ext cx="10758379" cy="2276192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Side 4 Motivation </a:t>
            </a:r>
            <a:r>
              <a:rPr lang="en-US" sz="3200" dirty="0" smtClean="0"/>
              <a:t>on Functional Dependency (FD)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Mathematically we express </a:t>
            </a:r>
            <a:r>
              <a:rPr lang="en-US" b="1" dirty="0">
                <a:solidFill>
                  <a:srgbClr val="00B050"/>
                </a:solidFill>
              </a:rPr>
              <a:t>tuples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/>
              <a:t>(X, </a:t>
            </a:r>
            <a:r>
              <a:rPr lang="en-US" dirty="0"/>
              <a:t>Y</a:t>
            </a:r>
            <a:r>
              <a:rPr lang="en-US" dirty="0" smtClean="0"/>
              <a:t>, </a:t>
            </a:r>
            <a:r>
              <a:rPr lang="en-US" dirty="0"/>
              <a:t>Z</a:t>
            </a:r>
            <a:r>
              <a:rPr lang="en-US" dirty="0" smtClean="0"/>
              <a:t>) </a:t>
            </a:r>
            <a:r>
              <a:rPr lang="en-US" dirty="0"/>
              <a:t>in the rows of a table.</a:t>
            </a:r>
          </a:p>
          <a:p>
            <a:pPr lvl="1"/>
            <a:r>
              <a:rPr lang="en-US" dirty="0">
                <a:ea typeface="Batang" panose="02030600000101010101" pitchFamily="18" charset="-127"/>
              </a:rPr>
              <a:t>In DB table, we should not have duplicate rows.</a:t>
            </a:r>
          </a:p>
          <a:p>
            <a:r>
              <a:rPr lang="en-US" dirty="0">
                <a:ea typeface="Batang" panose="02030600000101010101" pitchFamily="18" charset="-127"/>
              </a:rPr>
              <a:t>Consider the function </a:t>
            </a:r>
            <a:r>
              <a:rPr lang="en-US" dirty="0" smtClean="0">
                <a:ea typeface="Batang" panose="02030600000101010101" pitchFamily="18" charset="-127"/>
              </a:rPr>
              <a:t>Y=f(X).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E849ABD-3708-4ED2-983B-FB82D93F38CD}"/>
              </a:ext>
            </a:extLst>
          </p:cNvPr>
          <p:cNvSpPr txBox="1">
            <a:spLocks/>
          </p:cNvSpPr>
          <p:nvPr/>
        </p:nvSpPr>
        <p:spPr>
          <a:xfrm>
            <a:off x="979965" y="3466213"/>
            <a:ext cx="10077893" cy="288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left table,</a:t>
            </a:r>
          </a:p>
          <a:p>
            <a:pPr lvl="1"/>
            <a:r>
              <a:rPr lang="en-US" dirty="0"/>
              <a:t>Y=f(X) is a function; f(1) = </a:t>
            </a:r>
            <a:r>
              <a:rPr lang="en-US" dirty="0" smtClean="0"/>
              <a:t>10 in both rows.</a:t>
            </a:r>
            <a:endParaRPr lang="en-US" dirty="0"/>
          </a:p>
          <a:p>
            <a:pPr lvl="1"/>
            <a:r>
              <a:rPr lang="en-US" dirty="0"/>
              <a:t>FD </a:t>
            </a:r>
            <a:r>
              <a:rPr lang="en-US" dirty="0" smtClean="0"/>
              <a:t>X </a:t>
            </a:r>
            <a:r>
              <a:rPr lang="en-US" dirty="0"/>
              <a:t>determines </a:t>
            </a:r>
            <a:r>
              <a:rPr lang="en-US" dirty="0" smtClean="0"/>
              <a:t>Y, </a:t>
            </a:r>
            <a:r>
              <a:rPr lang="en-US" dirty="0"/>
              <a:t>written as </a:t>
            </a:r>
            <a:r>
              <a:rPr lang="en-US" dirty="0" smtClean="0"/>
              <a:t>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smtClean="0">
                <a:sym typeface="Wingdings" panose="05000000000000000000" pitchFamily="2" charset="2"/>
              </a:rPr>
              <a:t>Y.</a:t>
            </a:r>
            <a:endParaRPr lang="en-US" dirty="0"/>
          </a:p>
          <a:p>
            <a:r>
              <a:rPr lang="en-US" dirty="0"/>
              <a:t>In right table,</a:t>
            </a:r>
          </a:p>
          <a:p>
            <a:pPr lvl="1"/>
            <a:r>
              <a:rPr lang="en-US" dirty="0"/>
              <a:t>Y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a function of X; f(1) = 10 in row 1, but f(1) = 11 in row 2.</a:t>
            </a:r>
          </a:p>
          <a:p>
            <a:pPr lvl="1"/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en-US" dirty="0"/>
              <a:t>does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determine </a:t>
            </a:r>
            <a:r>
              <a:rPr lang="en-US" dirty="0" smtClean="0"/>
              <a:t>Y; </a:t>
            </a:r>
            <a:r>
              <a:rPr lang="en-US" dirty="0"/>
              <a:t>we </a:t>
            </a:r>
            <a:r>
              <a:rPr lang="en-US" dirty="0">
                <a:solidFill>
                  <a:srgbClr val="FF0000"/>
                </a:solidFill>
              </a:rPr>
              <a:t>don’t</a:t>
            </a:r>
            <a:r>
              <a:rPr lang="en-US" dirty="0"/>
              <a:t> have </a:t>
            </a:r>
            <a:r>
              <a:rPr lang="en-US" dirty="0" smtClean="0"/>
              <a:t>X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smtClean="0">
                <a:sym typeface="Wingdings" panose="05000000000000000000" pitchFamily="2" charset="2"/>
              </a:rPr>
              <a:t>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998699"/>
              </p:ext>
            </p:extLst>
          </p:nvPr>
        </p:nvGraphicFramePr>
        <p:xfrm>
          <a:off x="6018911" y="2459485"/>
          <a:ext cx="22709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569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69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844976"/>
              </p:ext>
            </p:extLst>
          </p:nvPr>
        </p:nvGraphicFramePr>
        <p:xfrm>
          <a:off x="8925982" y="2459485"/>
          <a:ext cx="244238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1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41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41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89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5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5935"/>
                <a:ext cx="10515600" cy="605693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200" dirty="0" smtClean="0"/>
                  <a:t>Slide 4 Motivation (continue)</a:t>
                </a:r>
                <a:endParaRPr lang="en-US" dirty="0"/>
              </a:p>
              <a:p>
                <a:r>
                  <a:rPr lang="en-US" dirty="0" smtClean="0"/>
                  <a:t>In </a:t>
                </a:r>
                <a:r>
                  <a:rPr lang="en-US" dirty="0"/>
                  <a:t>common English, the word “</a:t>
                </a:r>
                <a:r>
                  <a:rPr lang="en-US" dirty="0">
                    <a:solidFill>
                      <a:srgbClr val="FF0000"/>
                    </a:solidFill>
                  </a:rPr>
                  <a:t>functional</a:t>
                </a:r>
                <a:r>
                  <a:rPr lang="en-US" dirty="0"/>
                  <a:t>” means something that works.</a:t>
                </a:r>
              </a:p>
              <a:p>
                <a:pPr lvl="1"/>
                <a:r>
                  <a:rPr lang="en-US" dirty="0"/>
                  <a:t>A car or plane is functional means it is behaving like a car or plane should</a:t>
                </a:r>
                <a:r>
                  <a:rPr lang="en-US" dirty="0" smtClean="0"/>
                  <a:t>.</a:t>
                </a:r>
              </a:p>
              <a:p>
                <a:pPr lvl="1"/>
                <a:r>
                  <a:rPr lang="en-US" dirty="0" smtClean="0"/>
                  <a:t>My 17 years old car may not be very pretty, but it’s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functional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/>
                  <a:t>In math, a “</a:t>
                </a:r>
                <a:r>
                  <a:rPr lang="en-US" dirty="0">
                    <a:solidFill>
                      <a:srgbClr val="FF0000"/>
                    </a:solidFill>
                  </a:rPr>
                  <a:t>functional</a:t>
                </a:r>
                <a:r>
                  <a:rPr lang="en-US" dirty="0"/>
                  <a:t>” is like a </a:t>
                </a:r>
                <a:r>
                  <a:rPr lang="en-US" dirty="0" smtClean="0"/>
                  <a:t>function, intuitively</a:t>
                </a:r>
                <a:endParaRPr lang="en-US" dirty="0"/>
              </a:p>
              <a:p>
                <a:pPr lvl="1"/>
                <a:r>
                  <a:rPr lang="en-US" dirty="0"/>
                  <a:t>The elements in a vector space is a function rather </a:t>
                </a:r>
                <a:r>
                  <a:rPr lang="en-US" dirty="0" smtClean="0"/>
                  <a:t>than points in </a:t>
                </a:r>
                <a:r>
                  <a:rPr lang="en-US" b="1" dirty="0" smtClean="0"/>
                  <a:t>R</a:t>
                </a:r>
                <a:r>
                  <a:rPr lang="en-US" b="1" baseline="30000" dirty="0" smtClean="0"/>
                  <a:t>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lvl="1"/>
                <a:r>
                  <a:rPr lang="en-US" dirty="0"/>
                  <a:t>T</a:t>
                </a:r>
                <a:r>
                  <a:rPr lang="en-US" dirty="0" smtClean="0"/>
                  <a:t>he </a:t>
                </a:r>
                <a:r>
                  <a:rPr lang="en-US" dirty="0"/>
                  <a:t>definition of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is similar to that of a function.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Dependency</a:t>
                </a:r>
                <a:r>
                  <a:rPr lang="en-US" dirty="0"/>
                  <a:t> refers to how one attribute depends on another, as in	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 </a:t>
                </a:r>
                <a:r>
                  <a:rPr lang="en-US" dirty="0" smtClean="0"/>
                  <a:t>means “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 smtClean="0"/>
                  <a:t> determines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 smtClean="0"/>
                  <a:t>“ or “</a:t>
                </a:r>
                <a:r>
                  <a:rPr lang="en-US" dirty="0" smtClean="0">
                    <a:latin typeface="Symbol" panose="05050102010706020507" pitchFamily="18" charset="2"/>
                  </a:rPr>
                  <a:t>b</a:t>
                </a:r>
                <a:r>
                  <a:rPr lang="en-US" dirty="0" smtClean="0"/>
                  <a:t> </a:t>
                </a:r>
                <a:r>
                  <a:rPr lang="en-US" dirty="0"/>
                  <a:t>depends on </a:t>
                </a:r>
                <a:r>
                  <a:rPr lang="en-US" dirty="0" smtClean="0">
                    <a:latin typeface="Symbol" panose="05050102010706020507" pitchFamily="18" charset="2"/>
                  </a:rPr>
                  <a:t>a</a:t>
                </a:r>
                <a:r>
                  <a:rPr lang="en-US" dirty="0" smtClean="0"/>
                  <a:t>”.</a:t>
                </a:r>
              </a:p>
              <a:p>
                <a:endParaRPr lang="en-US" sz="800" dirty="0"/>
              </a:p>
              <a:p>
                <a:r>
                  <a:rPr lang="en-US" b="1" dirty="0"/>
                  <a:t>Meaning of symbols </a:t>
                </a:r>
                <a:r>
                  <a:rPr lang="en-US" dirty="0"/>
                  <a:t>in this lecture:</a:t>
                </a:r>
              </a:p>
              <a:p>
                <a:pPr lvl="1"/>
                <a:r>
                  <a:rPr lang="en-US" dirty="0"/>
                  <a:t>Greek letters (</a:t>
                </a:r>
                <a:r>
                  <a:rPr lang="en-US" dirty="0">
                    <a:latin typeface="Symbol" panose="05050102010706020507" pitchFamily="18" charset="2"/>
                  </a:rPr>
                  <a:t>a, b</a:t>
                </a:r>
                <a:r>
                  <a:rPr lang="en-US" dirty="0"/>
                  <a:t>) are attributes in the relation schema </a:t>
                </a:r>
                <a:r>
                  <a:rPr lang="en-US" dirty="0" smtClean="0"/>
                  <a:t>R (e.g. columns </a:t>
                </a:r>
                <a:r>
                  <a:rPr lang="en-US" dirty="0" smtClean="0">
                    <a:latin typeface="Symbol" panose="05050102010706020507" pitchFamily="18" charset="2"/>
                  </a:rPr>
                  <a:t>b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pPr lvl="1"/>
                <a:r>
                  <a:rPr lang="en-US" dirty="0"/>
                  <a:t>r(R) is any (legal) relation in the schema.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dirty="0" smtClean="0"/>
                  <a:t>tuples </a:t>
                </a:r>
                <a:r>
                  <a:rPr lang="en-US" dirty="0"/>
                  <a:t>values; </a:t>
                </a:r>
                <a:r>
                  <a:rPr lang="en-US" dirty="0" smtClean="0"/>
                  <a:t>(e.g. </a:t>
                </a:r>
                <a:r>
                  <a:rPr lang="en-US" dirty="0"/>
                  <a:t>row 1 and row </a:t>
                </a:r>
                <a:r>
                  <a:rPr lang="en-US" dirty="0" smtClean="0"/>
                  <a:t>2).</a:t>
                </a:r>
                <a:endParaRPr lang="en-US" sz="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5935"/>
                <a:ext cx="10515600" cy="6056939"/>
              </a:xfrm>
              <a:blipFill rotWithShape="0">
                <a:blip r:embed="rId2"/>
                <a:stretch>
                  <a:fillRect l="-1507" t="-2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29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"/>
                <a:ext cx="10515600" cy="6172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solidFill>
                      <a:srgbClr val="0070C0"/>
                    </a:solidFill>
                  </a:rPr>
                  <a:t>Now we are ready for</a:t>
                </a:r>
              </a:p>
              <a:p>
                <a:pPr marL="0" indent="0">
                  <a:buNone/>
                </a:pPr>
                <a:r>
                  <a:rPr lang="en-US" dirty="0" smtClean="0"/>
                  <a:t>Slide </a:t>
                </a:r>
                <a:r>
                  <a:rPr lang="en-US" dirty="0"/>
                  <a:t>4 Functional Dependencies – Definition [7.4]</a:t>
                </a:r>
              </a:p>
              <a:p>
                <a:r>
                  <a:rPr lang="en-US" dirty="0"/>
                  <a:t>E</a:t>
                </a:r>
                <a:r>
                  <a:rPr lang="en-US" dirty="0" smtClean="0"/>
                  <a:t>xample</a:t>
                </a:r>
                <a:r>
                  <a:rPr lang="en-US" dirty="0"/>
                  <a:t>, </a:t>
                </a:r>
                <a:r>
                  <a:rPr lang="en-US" dirty="0" smtClean="0"/>
                  <a:t>consider </a:t>
                </a:r>
                <a:r>
                  <a:rPr lang="en-US" dirty="0">
                    <a:solidFill>
                      <a:srgbClr val="FF0000"/>
                    </a:solidFill>
                  </a:rPr>
                  <a:t>rows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(rows 1 and 2).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dirty="0"/>
                  <a:t>A] means “row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in </a:t>
                </a:r>
                <a:r>
                  <a:rPr lang="en-US" dirty="0"/>
                  <a:t>column A”</a:t>
                </a:r>
              </a:p>
              <a:p>
                <a:pPr lvl="1"/>
                <a:r>
                  <a:rPr lang="en-US" dirty="0" smtClean="0"/>
                  <a:t>So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dirty="0"/>
                  <a:t>A]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[A] =1,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[B]=4</a:t>
                </a:r>
                <a:r>
                  <a:rPr lang="en-US" dirty="0" smtClean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[B]=5; 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[B] </a:t>
                </a:r>
                <a:r>
                  <a:rPr lang="en-US" dirty="0">
                    <a:sym typeface="Symbol" panose="05050102010706020507" pitchFamily="18" charset="2"/>
                  </a:rPr>
                  <a:t>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[B]</a:t>
                </a:r>
              </a:p>
              <a:p>
                <a:pPr lvl="1"/>
                <a:r>
                  <a:rPr lang="en-US" dirty="0"/>
                  <a:t>So A → B is </a:t>
                </a:r>
                <a:r>
                  <a:rPr lang="en-US" dirty="0">
                    <a:solidFill>
                      <a:srgbClr val="FF0000"/>
                    </a:solidFill>
                  </a:rPr>
                  <a:t>not</a:t>
                </a:r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true</a:t>
                </a:r>
                <a:endParaRPr lang="en-US" dirty="0" smtClean="0"/>
              </a:p>
              <a:p>
                <a:pPr lvl="2"/>
                <a:r>
                  <a:rPr lang="en-US" dirty="0" smtClean="0"/>
                  <a:t>Same A maps into different B. </a:t>
                </a:r>
                <a:endParaRPr lang="en-US" dirty="0"/>
              </a:p>
              <a:p>
                <a:pPr lvl="2"/>
                <a:r>
                  <a:rPr lang="en-US" b="1" dirty="0" smtClean="0"/>
                  <a:t>Not </a:t>
                </a:r>
                <a:r>
                  <a:rPr lang="en-US" b="1" dirty="0"/>
                  <a:t>possible </a:t>
                </a:r>
                <a:r>
                  <a:rPr lang="en-US" dirty="0"/>
                  <a:t>for</a:t>
                </a:r>
                <a:r>
                  <a:rPr lang="en-US" b="1" dirty="0"/>
                  <a:t> A </a:t>
                </a:r>
                <a:r>
                  <a:rPr lang="en-US" dirty="0"/>
                  <a:t>to be a </a:t>
                </a:r>
                <a:r>
                  <a:rPr lang="en-US" b="1" dirty="0"/>
                  <a:t>key </a:t>
                </a:r>
                <a:r>
                  <a:rPr lang="en-US" dirty="0"/>
                  <a:t>in this table.</a:t>
                </a:r>
              </a:p>
              <a:p>
                <a:pPr lvl="1"/>
                <a:r>
                  <a:rPr lang="en-US" dirty="0"/>
                  <a:t>But B → A is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true</a:t>
                </a:r>
                <a:r>
                  <a:rPr lang="en-US" dirty="0" smtClean="0"/>
                  <a:t> </a:t>
                </a:r>
                <a:endParaRPr lang="en-US" dirty="0"/>
              </a:p>
              <a:p>
                <a:pPr lvl="2"/>
                <a:r>
                  <a:rPr lang="en-US" dirty="0"/>
                  <a:t>4 is mapped into 1, and 5 is mapped into 1; </a:t>
                </a:r>
                <a:r>
                  <a:rPr lang="en-US" dirty="0" smtClean="0"/>
                  <a:t>OK in definition </a:t>
                </a:r>
                <a:r>
                  <a:rPr lang="en-US" dirty="0"/>
                  <a:t>of a function.</a:t>
                </a:r>
              </a:p>
              <a:p>
                <a:pPr lvl="2"/>
                <a:r>
                  <a:rPr lang="en-US" dirty="0"/>
                  <a:t>Is </a:t>
                </a:r>
                <a:r>
                  <a:rPr lang="en-US" b="1" dirty="0"/>
                  <a:t>possible </a:t>
                </a:r>
                <a:r>
                  <a:rPr lang="en-US" dirty="0"/>
                  <a:t>for </a:t>
                </a:r>
                <a:r>
                  <a:rPr lang="en-US" b="1" dirty="0"/>
                  <a:t>B</a:t>
                </a:r>
                <a:r>
                  <a:rPr lang="en-US" dirty="0"/>
                  <a:t> to be a </a:t>
                </a:r>
                <a:r>
                  <a:rPr lang="en-US" b="1" dirty="0"/>
                  <a:t>key</a:t>
                </a:r>
                <a:r>
                  <a:rPr lang="en-US" dirty="0"/>
                  <a:t> in </a:t>
                </a:r>
                <a:r>
                  <a:rPr lang="en-US" dirty="0" smtClean="0"/>
                  <a:t>this table.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"/>
                <a:ext cx="10515600" cy="6172200"/>
              </a:xfrm>
              <a:blipFill rotWithShape="0">
                <a:blip r:embed="rId2"/>
                <a:stretch>
                  <a:fillRect l="-1217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66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30316"/>
                <a:ext cx="10515600" cy="57887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Slide 5 Example</a:t>
                </a:r>
              </a:p>
              <a:p>
                <a:r>
                  <a:rPr lang="en-US" dirty="0"/>
                  <a:t>B </a:t>
                </a:r>
                <a:r>
                  <a:rPr lang="en-US" dirty="0">
                    <a:sym typeface="Wingdings" panose="05000000000000000000" pitchFamily="2" charset="2"/>
                  </a:rPr>
                  <a:t> C because 2</a:t>
                </a:r>
                <a:r>
                  <a:rPr lang="en-US" baseline="30000" dirty="0">
                    <a:sym typeface="Wingdings" panose="05000000000000000000" pitchFamily="2" charset="2"/>
                  </a:rPr>
                  <a:t>nd</a:t>
                </a:r>
                <a:r>
                  <a:rPr lang="en-US" dirty="0">
                    <a:sym typeface="Wingdings" panose="05000000000000000000" pitchFamily="2" charset="2"/>
                  </a:rPr>
                  <a:t> and 3</a:t>
                </a:r>
                <a:r>
                  <a:rPr lang="en-US" baseline="30000" dirty="0">
                    <a:sym typeface="Wingdings" panose="05000000000000000000" pitchFamily="2" charset="2"/>
                  </a:rPr>
                  <a:t>rd</a:t>
                </a:r>
                <a:r>
                  <a:rPr lang="en-US" dirty="0">
                    <a:sym typeface="Wingdings" panose="05000000000000000000" pitchFamily="2" charset="2"/>
                  </a:rPr>
                  <a:t> rows are </a:t>
                </a:r>
                <a:r>
                  <a:rPr lang="en-US" dirty="0" smtClean="0">
                    <a:sym typeface="Wingdings" panose="05000000000000000000" pitchFamily="2" charset="2"/>
                  </a:rPr>
                  <a:t>consistent for B and C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[B]=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we have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[C]=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[C]=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Does C </a:t>
                </a:r>
                <a:r>
                  <a:rPr lang="en-US" dirty="0">
                    <a:sym typeface="Wingdings" panose="05000000000000000000" pitchFamily="2" charset="2"/>
                  </a:rPr>
                  <a:t> D?  No.  </a:t>
                </a:r>
                <a:r>
                  <a:rPr lang="en-US" dirty="0" smtClean="0">
                    <a:sym typeface="Wingdings" panose="05000000000000000000" pitchFamily="2" charset="2"/>
                  </a:rPr>
                  <a:t>Consider rows 2 and 3.</a:t>
                </a:r>
              </a:p>
              <a:p>
                <a:pPr lvl="1"/>
                <a:r>
                  <a:rPr lang="en-US" dirty="0" smtClean="0">
                    <a:sym typeface="Wingdings" panose="05000000000000000000" pitchFamily="2" charset="2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[C]=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[C]=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sym typeface="Wingdings" panose="05000000000000000000" pitchFamily="2" charset="2"/>
                  </a:rPr>
                  <a:t>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[D]=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smtClean="0">
                    <a:sym typeface="Symbol" panose="05050102010706020507" pitchFamily="18" charset="2"/>
                  </a:rPr>
                  <a:t>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[D]=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>
                    <a:sym typeface="Wingdings" panose="05000000000000000000" pitchFamily="2" charset="2"/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6 FD Properties</a:t>
                </a:r>
              </a:p>
              <a:p>
                <a:r>
                  <a:rPr lang="en-US" dirty="0"/>
                  <a:t>Recall Lecture 6: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Super key </a:t>
                </a:r>
                <a:r>
                  <a:rPr lang="en-US" dirty="0"/>
                  <a:t>is a set of attributes that uniquely identifies each row.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Candidate key </a:t>
                </a:r>
                <a:r>
                  <a:rPr lang="en-US" dirty="0"/>
                  <a:t>is the minimal (smallest subset of) super key</a:t>
                </a:r>
                <a:r>
                  <a:rPr lang="en-US" dirty="0" smtClean="0"/>
                  <a:t>.</a:t>
                </a:r>
              </a:p>
              <a:p>
                <a:pPr lvl="2"/>
                <a:r>
                  <a:rPr lang="en-US" dirty="0" smtClean="0"/>
                  <a:t>Cannot remove any attribute </a:t>
                </a:r>
                <a:r>
                  <a:rPr lang="en-US" dirty="0" smtClean="0">
                    <a:latin typeface="Symbol" panose="05050102010706020507" pitchFamily="18" charset="2"/>
                  </a:rPr>
                  <a:t>a</a:t>
                </a:r>
                <a:r>
                  <a:rPr lang="en-US" dirty="0" smtClean="0"/>
                  <a:t> from K and still remain as super key.</a:t>
                </a:r>
                <a:endParaRPr lang="en-US" dirty="0"/>
              </a:p>
              <a:p>
                <a:pPr lvl="1"/>
                <a:r>
                  <a:rPr lang="en-US" dirty="0"/>
                  <a:t>Primary key is the most appropriate candidate key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30316"/>
                <a:ext cx="10515600" cy="5788772"/>
              </a:xfrm>
              <a:blipFill rotWithShape="0">
                <a:blip r:embed="rId2"/>
                <a:stretch>
                  <a:fillRect l="-1217" t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43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0995" y="387556"/>
                <a:ext cx="11164185" cy="32502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7 Use of FD [7.3]</a:t>
                </a:r>
              </a:p>
              <a:p>
                <a:r>
                  <a:rPr lang="en-US" dirty="0" smtClean="0"/>
                  <a:t>The FD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</a:t>
                </a:r>
                <a:r>
                  <a:rPr lang="en-US" dirty="0" smtClean="0"/>
                  <a:t>is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satisfied</a:t>
                </a:r>
                <a:r>
                  <a:rPr lang="en-US" dirty="0" smtClean="0"/>
                  <a:t> for an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instance</a:t>
                </a:r>
                <a:r>
                  <a:rPr lang="en-US" dirty="0" smtClean="0"/>
                  <a:t> means</a:t>
                </a:r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[</a:t>
                </a:r>
                <a:r>
                  <a:rPr lang="en-US" dirty="0">
                    <a:latin typeface="Symbol" panose="05050102010706020507" pitchFamily="18" charset="2"/>
                  </a:rPr>
                  <a:t>a]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</a:t>
                </a:r>
                <a:r>
                  <a:rPr lang="en-US" dirty="0">
                    <a:latin typeface="Symbol" panose="05050102010706020507" pitchFamily="18" charset="2"/>
                  </a:rPr>
                  <a:t>a]</a:t>
                </a:r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[</a:t>
                </a:r>
                <a:r>
                  <a:rPr lang="en-US" dirty="0">
                    <a:latin typeface="Symbol" panose="05050102010706020507" pitchFamily="18" charset="2"/>
                  </a:rPr>
                  <a:t>b]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</a:t>
                </a:r>
                <a:r>
                  <a:rPr lang="en-US" dirty="0">
                    <a:latin typeface="Symbol" panose="05050102010706020507" pitchFamily="18" charset="2"/>
                  </a:rPr>
                  <a:t>b]</a:t>
                </a:r>
                <a:r>
                  <a:rPr lang="en-US" dirty="0"/>
                  <a:t>  for every pair of tuples in r(R) </a:t>
                </a:r>
                <a:r>
                  <a:rPr lang="en-US" dirty="0">
                    <a:solidFill>
                      <a:srgbClr val="FF0000"/>
                    </a:solidFill>
                  </a:rPr>
                  <a:t>in that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instance</a:t>
                </a:r>
                <a:r>
                  <a:rPr lang="en-US" dirty="0" smtClean="0"/>
                  <a:t> </a:t>
                </a:r>
                <a:r>
                  <a:rPr lang="en-US" dirty="0"/>
                  <a:t>i</a:t>
                </a:r>
                <a:r>
                  <a:rPr lang="en-US" dirty="0" smtClean="0"/>
                  <a:t>n the table.</a:t>
                </a: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dirty="0" smtClean="0"/>
                  <a:t>FD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holds </a:t>
                </a:r>
                <a:r>
                  <a:rPr lang="en-US" dirty="0"/>
                  <a:t>on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schema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r(R)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means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is true </a:t>
                </a:r>
                <a:r>
                  <a:rPr lang="en-US" dirty="0">
                    <a:solidFill>
                      <a:srgbClr val="FF0000"/>
                    </a:solidFill>
                  </a:rPr>
                  <a:t>for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every legal instance</a:t>
                </a:r>
                <a:r>
                  <a:rPr lang="en-US" dirty="0"/>
                  <a:t> of the schema.</a:t>
                </a:r>
              </a:p>
              <a:p>
                <a:pPr lvl="1"/>
                <a:r>
                  <a:rPr lang="en-US" dirty="0"/>
                  <a:t>I.e.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→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rgbClr val="FF0000"/>
                    </a:solidFill>
                  </a:rPr>
                  <a:t>still true after any valid change </a:t>
                </a:r>
                <a:r>
                  <a:rPr lang="en-US" dirty="0"/>
                  <a:t>in the database.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995" y="387556"/>
                <a:ext cx="11164185" cy="3250255"/>
              </a:xfrm>
              <a:blipFill rotWithShape="0">
                <a:blip r:embed="rId2"/>
                <a:stretch>
                  <a:fillRect l="-1092" t="-3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64705"/>
              </p:ext>
            </p:extLst>
          </p:nvPr>
        </p:nvGraphicFramePr>
        <p:xfrm>
          <a:off x="8720467" y="3682055"/>
          <a:ext cx="261561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4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991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c_name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DBMS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Workshop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597191" y="3950898"/>
                <a:ext cx="7518993" cy="1939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Slide 8</a:t>
                </a:r>
              </a:p>
              <a:p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𝑐𝑟𝑒𝑑𝑖𝑡𝑠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_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onotype Sorts" pitchFamily="2" charset="2"/>
                      </a:rPr>
                      <m:t>𝑛𝑎𝑚𝑒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rgbClr val="FF0000"/>
                    </a:solidFill>
                  </a:rPr>
                  <a:t>satisfied</a:t>
                </a:r>
                <a:r>
                  <a:rPr lang="en-US" dirty="0"/>
                  <a:t> in the instance at top. </a:t>
                </a:r>
              </a:p>
              <a:p>
                <a:pPr lvl="1"/>
                <a:r>
                  <a:rPr lang="en-US" dirty="0"/>
                  <a:t>But the FD does </a:t>
                </a:r>
                <a:r>
                  <a:rPr lang="en-US" dirty="0">
                    <a:solidFill>
                      <a:srgbClr val="FF0000"/>
                    </a:solidFill>
                  </a:rPr>
                  <a:t>not hold </a:t>
                </a:r>
                <a:r>
                  <a:rPr lang="en-US" dirty="0"/>
                  <a:t>in all instances, such as the instance at the bottom.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91" y="3950898"/>
                <a:ext cx="7518993" cy="1939539"/>
              </a:xfrm>
              <a:prstGeom prst="rect">
                <a:avLst/>
              </a:prstGeom>
              <a:blipFill>
                <a:blip r:embed="rId3"/>
                <a:stretch>
                  <a:fillRect l="-1703" t="-6918" r="-568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96804"/>
              </p:ext>
            </p:extLst>
          </p:nvPr>
        </p:nvGraphicFramePr>
        <p:xfrm>
          <a:off x="8201245" y="5168486"/>
          <a:ext cx="365405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4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986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c_name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DBMS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Software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Enineering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97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1800"/>
            <a:ext cx="10515600" cy="619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9</a:t>
            </a:r>
          </a:p>
          <a:p>
            <a:r>
              <a:rPr lang="en-US" dirty="0"/>
              <a:t>These FD are trivial:</a:t>
            </a:r>
          </a:p>
          <a:p>
            <a:pPr marL="0" indent="0">
              <a:buNone/>
            </a:pPr>
            <a:r>
              <a:rPr lang="en-US" dirty="0"/>
              <a:t>	{A, B} </a:t>
            </a:r>
            <a:r>
              <a:rPr lang="en-US" dirty="0">
                <a:sym typeface="Wingdings" panose="05000000000000000000" pitchFamily="2" charset="2"/>
              </a:rPr>
              <a:t> {A}, 	and {A}  {A}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41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1800"/>
                <a:ext cx="10515600" cy="6197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Aside: Closure of a set.</a:t>
                </a:r>
              </a:p>
              <a:p>
                <a:r>
                  <a:rPr lang="en-US" dirty="0"/>
                  <a:t>The set of positive integers is </a:t>
                </a:r>
                <a:r>
                  <a:rPr lang="en-US" dirty="0">
                    <a:solidFill>
                      <a:srgbClr val="FF0000"/>
                    </a:solidFill>
                  </a:rPr>
                  <a:t>closed</a:t>
                </a:r>
                <a:r>
                  <a:rPr lang="en-US" dirty="0"/>
                  <a:t> under multiplication.</a:t>
                </a:r>
              </a:p>
              <a:p>
                <a:pPr lvl="1"/>
                <a:r>
                  <a:rPr lang="en-US" dirty="0"/>
                  <a:t>If we multiply 2 positive integer, the result is a positive integer.</a:t>
                </a:r>
              </a:p>
              <a:p>
                <a:r>
                  <a:rPr lang="en-US" dirty="0"/>
                  <a:t>The set of negative integers is </a:t>
                </a:r>
                <a:r>
                  <a:rPr lang="en-US" dirty="0">
                    <a:solidFill>
                      <a:srgbClr val="FF0000"/>
                    </a:solidFill>
                  </a:rPr>
                  <a:t>not closed </a:t>
                </a:r>
                <a:r>
                  <a:rPr lang="en-US" dirty="0"/>
                  <a:t>under multiplication.</a:t>
                </a:r>
              </a:p>
              <a:p>
                <a:pPr lvl="1"/>
                <a:r>
                  <a:rPr lang="en-US" dirty="0"/>
                  <a:t>If we multiple two negative integers, the result is not a negative integer.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dirty="0">
                    <a:solidFill>
                      <a:srgbClr val="FF0000"/>
                    </a:solidFill>
                  </a:rPr>
                  <a:t>closure</a:t>
                </a:r>
                <a:r>
                  <a:rPr lang="en-US" dirty="0"/>
                  <a:t> of negative integer under multiplication is the set of </a:t>
                </a:r>
                <a:r>
                  <a:rPr lang="en-US" dirty="0">
                    <a:solidFill>
                      <a:srgbClr val="FF0000"/>
                    </a:solidFill>
                  </a:rPr>
                  <a:t>all integers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Closure</a:t>
                </a:r>
                <a:r>
                  <a:rPr lang="en-US" dirty="0"/>
                  <a:t> means expand the set until it is closed.</a:t>
                </a:r>
              </a:p>
              <a:p>
                <a:pPr marL="457200" lvl="1" indent="0">
                  <a:buNone/>
                </a:pPr>
                <a:endParaRPr lang="en-US" sz="800" dirty="0"/>
              </a:p>
              <a:p>
                <a:r>
                  <a:rPr lang="en-US" dirty="0"/>
                  <a:t>Slide 10 Closure of a Set of FDs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Given</a:t>
                </a:r>
                <a:r>
                  <a:rPr 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A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B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and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	BC,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dirty="0"/>
                  <a:t>A]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[A] </a:t>
                </a:r>
                <a:r>
                  <a:rPr lang="en-US" dirty="0"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[B] ) and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[B] </a:t>
                </a:r>
                <a:r>
                  <a:rPr lang="en-US" dirty="0"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[C])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then A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C</a:t>
                </a:r>
              </a:p>
              <a:p>
                <a:pPr lvl="2"/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dirty="0"/>
                  <a:t>A]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[A] </a:t>
                </a:r>
                <a:r>
                  <a:rPr lang="en-US" dirty="0"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[C]).</a:t>
                </a:r>
              </a:p>
              <a:p>
                <a:pPr lvl="1"/>
                <a:r>
                  <a:rPr lang="en-US" dirty="0"/>
                  <a:t>So for F = </a:t>
                </a:r>
                <a:r>
                  <a:rPr lang="en-US" dirty="0">
                    <a:sym typeface="Wingdings" panose="05000000000000000000" pitchFamily="2" charset="2"/>
                  </a:rPr>
                  <a:t>{</a:t>
                </a:r>
                <a:r>
                  <a:rPr lang="en-US" dirty="0"/>
                  <a:t>A</a:t>
                </a:r>
                <a:r>
                  <a:rPr lang="en-US" dirty="0">
                    <a:sym typeface="Wingdings" panose="05000000000000000000" pitchFamily="2" charset="2"/>
                  </a:rPr>
                  <a:t>B, BC}, we have</a:t>
                </a:r>
                <a:r>
                  <a:rPr lang="en-US" dirty="0"/>
                  <a:t> (A</a:t>
                </a:r>
                <a:r>
                  <a:rPr lang="en-US" dirty="0">
                    <a:sym typeface="Wingdings" panose="05000000000000000000" pitchFamily="2" charset="2"/>
                  </a:rPr>
                  <a:t>C) </a:t>
                </a:r>
                <a:r>
                  <a:rPr lang="en-US" dirty="0">
                    <a:sym typeface="Symbol" panose="05050102010706020507" pitchFamily="18" charset="2"/>
                  </a:rPr>
                  <a:t> F</a:t>
                </a:r>
                <a:r>
                  <a:rPr lang="en-US" baseline="30000" dirty="0">
                    <a:sym typeface="Symbol" panose="05050102010706020507" pitchFamily="18" charset="2"/>
                  </a:rPr>
                  <a:t>+</a:t>
                </a:r>
                <a:r>
                  <a:rPr lang="en-US" dirty="0">
                    <a:sym typeface="Symbol" panose="05050102010706020507" pitchFamily="18" charset="2"/>
                  </a:rPr>
                  <a:t> .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dirty="0"/>
                  <a:t>A</a:t>
                </a:r>
                <a:r>
                  <a:rPr lang="en-US" dirty="0">
                    <a:sym typeface="Wingdings" panose="05000000000000000000" pitchFamily="2" charset="2"/>
                  </a:rPr>
                  <a:t>C belongs to the 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closure </a:t>
                </a:r>
                <a:r>
                  <a:rPr lang="en-US" dirty="0">
                    <a:sym typeface="Wingdings" panose="05000000000000000000" pitchFamily="2" charset="2"/>
                  </a:rPr>
                  <a:t>of F.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1800"/>
                <a:ext cx="10515600" cy="6197600"/>
              </a:xfrm>
              <a:blipFill rotWithShape="0">
                <a:blip r:embed="rId2"/>
                <a:stretch>
                  <a:fillRect l="-1217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30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8500" y="630316"/>
                <a:ext cx="11112500" cy="587681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Slide 11 Armstrong’s axioms [See book]</a:t>
                </a:r>
                <a:endParaRPr lang="en-US" sz="8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Reflexivity – called this “trivial” in Slide 9; see example there.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>
                    <a:latin typeface="Symbol" panose="05050102010706020507" pitchFamily="18" charset="2"/>
                  </a:rPr>
                  <a:t>ga</a:t>
                </a:r>
                <a:r>
                  <a:rPr lang="en-US" dirty="0">
                    <a:latin typeface="Symbol" panose="05050102010706020507" pitchFamily="18" charset="2"/>
                  </a:rPr>
                  <a:t> </a:t>
                </a:r>
                <a:r>
                  <a:rPr lang="en-US" dirty="0"/>
                  <a:t>is the union of the sets of attributes (columns) of </a:t>
                </a:r>
                <a:r>
                  <a:rPr lang="en-US" dirty="0">
                    <a:latin typeface="Symbol" panose="05050102010706020507" pitchFamily="18" charset="2"/>
                  </a:rPr>
                  <a:t>g</a:t>
                </a:r>
                <a:r>
                  <a:rPr lang="en-US" dirty="0"/>
                  <a:t> and 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; i.e. consider (</a:t>
                </a:r>
                <a:r>
                  <a:rPr lang="en-US" dirty="0">
                    <a:latin typeface="Symbol" panose="05050102010706020507" pitchFamily="18" charset="2"/>
                  </a:rPr>
                  <a:t>g</a:t>
                </a:r>
                <a:r>
                  <a:rPr lang="en-US" dirty="0"/>
                  <a:t>, </a:t>
                </a:r>
                <a:r>
                  <a:rPr lang="en-US" dirty="0">
                    <a:latin typeface="Symbol" panose="05050102010706020507" pitchFamily="18" charset="2"/>
                  </a:rPr>
                  <a:t>a) </a:t>
                </a:r>
                <a:r>
                  <a:rPr lang="en-US" dirty="0"/>
                  <a:t>together.</a:t>
                </a:r>
                <a:r>
                  <a:rPr lang="en-US" dirty="0">
                    <a:latin typeface="Symbol" panose="05050102010706020507" pitchFamily="18" charset="2"/>
                  </a:rPr>
                  <a:t> </a:t>
                </a:r>
                <a:r>
                  <a:rPr lang="en-US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Transitivity – see </a:t>
                </a:r>
                <a:r>
                  <a:rPr lang="en-US" dirty="0" smtClean="0"/>
                  <a:t>previous </a:t>
                </a:r>
                <a:r>
                  <a:rPr lang="en-US" dirty="0"/>
                  <a:t>slide </a:t>
                </a:r>
                <a:r>
                  <a:rPr lang="en-US" dirty="0" smtClean="0"/>
                  <a:t>of </a:t>
                </a:r>
                <a:r>
                  <a:rPr lang="en-US" dirty="0"/>
                  <a:t>this addendum.</a:t>
                </a:r>
              </a:p>
              <a:p>
                <a:pPr lvl="1"/>
                <a:r>
                  <a:rPr lang="en-US" dirty="0"/>
                  <a:t>Consider </a:t>
                </a:r>
                <a:r>
                  <a:rPr lang="en-US" dirty="0">
                    <a:latin typeface="Symbol" panose="05050102010706020507" pitchFamily="18" charset="2"/>
                  </a:rPr>
                  <a:t>a, b, g, </a:t>
                </a:r>
                <a:r>
                  <a:rPr lang="en-US" dirty="0" err="1">
                    <a:latin typeface="Symbol" panose="05050102010706020507" pitchFamily="18" charset="2"/>
                  </a:rPr>
                  <a:t>ga</a:t>
                </a:r>
                <a:r>
                  <a:rPr lang="en-US" dirty="0">
                    <a:latin typeface="Symbol" panose="05050102010706020507" pitchFamily="18" charset="2"/>
                  </a:rPr>
                  <a:t>, </a:t>
                </a:r>
                <a:r>
                  <a:rPr lang="en-US" dirty="0"/>
                  <a:t>etc. as columns in a table.  Then ask which column determines the other columns in the FD.</a:t>
                </a:r>
              </a:p>
              <a:p>
                <a:pPr marL="457200" lvl="1" indent="0">
                  <a:buNone/>
                </a:pPr>
                <a:endParaRPr lang="en-US" sz="800" dirty="0"/>
              </a:p>
              <a:p>
                <a:r>
                  <a:rPr lang="en-US" dirty="0"/>
                  <a:t>Slide 12 (FD) Closure Example [See book]</a:t>
                </a:r>
              </a:p>
              <a:p>
                <a:pPr lvl="1"/>
                <a:r>
                  <a:rPr lang="en-US" dirty="0"/>
                  <a:t>Table R has columns A, B, C, G, H, I .  Given the FDs F, then …</a:t>
                </a:r>
              </a:p>
              <a:p>
                <a:r>
                  <a:rPr lang="en-US" dirty="0"/>
                  <a:t>Slide 13	Pseudo Code for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by:</a:t>
                </a:r>
              </a:p>
              <a:p>
                <a:pPr lvl="2"/>
                <a:r>
                  <a:rPr lang="en-US" dirty="0"/>
                  <a:t>Start with set of functional dependencies F, </a:t>
                </a:r>
              </a:p>
              <a:p>
                <a:pPr lvl="2"/>
                <a:r>
                  <a:rPr lang="en-US" dirty="0"/>
                  <a:t>Use Armstrong’s axioms (Slide 11): reflexivity, augmentation, transitivity; to expand the set F.</a:t>
                </a:r>
              </a:p>
              <a:p>
                <a:pPr lvl="2"/>
                <a:r>
                  <a:rPr lang="en-US" dirty="0"/>
                  <a:t>Repeat until we could not expand the set anymore; result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works theoretically, but not computationally </a:t>
                </a:r>
                <a:r>
                  <a:rPr lang="en-US" dirty="0" smtClean="0"/>
                  <a:t>efficient. Learn better way later.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8500" y="630316"/>
                <a:ext cx="11112500" cy="5876810"/>
              </a:xfrm>
              <a:blipFill rotWithShape="0">
                <a:blip r:embed="rId2"/>
                <a:stretch>
                  <a:fillRect l="-987" t="-2282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95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1800"/>
                <a:ext cx="10515600" cy="6197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Slide 14 Three more rules [p339]</a:t>
                </a:r>
              </a:p>
              <a:p>
                <a:endParaRPr lang="en-US" sz="800" dirty="0"/>
              </a:p>
              <a:p>
                <a:r>
                  <a:rPr lang="en-US" dirty="0"/>
                  <a:t>Slide 15 Pseudo code for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[Figure 8.8, p341]</a:t>
                </a:r>
                <a:endParaRPr lang="en-US" dirty="0">
                  <a:latin typeface="Symbol" panose="05050102010706020507" pitchFamily="18" charset="2"/>
                </a:endParaRPr>
              </a:p>
              <a:p>
                <a:pPr lvl="1"/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F is a set of </a:t>
                </a:r>
                <a:r>
                  <a:rPr lang="en-US" dirty="0">
                    <a:solidFill>
                      <a:srgbClr val="FF0000"/>
                    </a:solidFill>
                  </a:rPr>
                  <a:t>function dependencies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 is a set of </a:t>
                </a:r>
                <a:r>
                  <a:rPr lang="en-US" dirty="0">
                    <a:solidFill>
                      <a:srgbClr val="FF0000"/>
                    </a:solidFill>
                  </a:rPr>
                  <a:t>attributes </a:t>
                </a:r>
                <a:r>
                  <a:rPr lang="en-US" dirty="0"/>
                  <a:t>(columns)</a:t>
                </a:r>
              </a:p>
              <a:p>
                <a:pPr lvl="2"/>
                <a:r>
                  <a:rPr lang="en-US" dirty="0"/>
                  <a:t>I.e. find all attributes (other columns) determined by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; call this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 smtClean="0">
                    <a:latin typeface="Symbol" panose="05050102010706020507" pitchFamily="18" charset="2"/>
                  </a:rPr>
                  <a:t>a</a:t>
                </a:r>
                <a:r>
                  <a:rPr lang="en-US" dirty="0" smtClean="0"/>
                  <a:t>  </a:t>
                </a:r>
                <a:r>
                  <a:rPr lang="en-US" dirty="0"/>
                  <a:t>is </a:t>
                </a:r>
                <a:r>
                  <a:rPr lang="en-US" dirty="0" smtClean="0"/>
                  <a:t>then a (primary) </a:t>
                </a:r>
                <a:r>
                  <a:rPr lang="en-US" dirty="0"/>
                  <a:t>key for the table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2"/>
                <a:endParaRPr lang="en-US" sz="800" dirty="0"/>
              </a:p>
              <a:p>
                <a:pPr lvl="1"/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Start with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Use the “three more rules” in Slide 14 to expand the set.</a:t>
                </a:r>
              </a:p>
              <a:p>
                <a:pPr lvl="2"/>
                <a:r>
                  <a:rPr lang="en-US" dirty="0"/>
                  <a:t>Repeat until we could not expand the set anymore; result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Symbol" panose="05050102010706020507" pitchFamily="18" charset="2"/>
                          </a:rPr>
                          <m:t>a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dirty="0"/>
              </a:p>
              <a:p>
                <a:pPr lvl="1"/>
                <a:endParaRPr lang="en-US" sz="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1800"/>
                <a:ext cx="10515600" cy="6197600"/>
              </a:xfrm>
              <a:blipFill rotWithShape="0">
                <a:blip r:embed="rId2"/>
                <a:stretch>
                  <a:fillRect l="-1043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19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3816" y="698500"/>
                <a:ext cx="10539984" cy="54784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Slide 16 Example of Attribute Set Closure [see book]</a:t>
                </a:r>
              </a:p>
              <a:p>
                <a:pPr lvl="1"/>
                <a:r>
                  <a:rPr lang="en-US" dirty="0"/>
                  <a:t>Steps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{AG}	</a:t>
                </a:r>
                <a:r>
                  <a:rPr lang="en-US" sz="2400" baseline="30000" dirty="0"/>
                  <a:t>+</a:t>
                </a:r>
                <a:r>
                  <a:rPr lang="en-US" dirty="0"/>
                  <a:t>	// Start with the given set {A, G}</a:t>
                </a:r>
              </a:p>
              <a:p>
                <a:pPr marL="1371600" lvl="2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{ABCG}</a:t>
                </a:r>
                <a:r>
                  <a:rPr lang="en-US" baseline="30000" dirty="0"/>
                  <a:t> + </a:t>
                </a:r>
                <a:r>
                  <a:rPr lang="en-US" dirty="0"/>
                  <a:t>	// A → B and A → C; so add B and C to the set</a:t>
                </a:r>
              </a:p>
              <a:p>
                <a:pPr marL="457200" lvl="1" indent="0">
                  <a:buNone/>
                </a:pPr>
                <a:r>
                  <a:rPr lang="en-US" dirty="0"/>
                  <a:t>	…</a:t>
                </a:r>
              </a:p>
              <a:p>
                <a:pPr marL="1371600" lvl="2" indent="-45720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宋体" charset="-122"/>
                                <a:cs typeface="Arial" panose="020B0604020202020204" pitchFamily="34" charset="0"/>
                                <a:sym typeface="MS LineDraw" pitchFamily="49" charset="2"/>
                              </a:rPr>
                              <m:t>𝐴𝐺</m:t>
                            </m:r>
                          </m:e>
                        </m:d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MS LineDraw" pitchFamily="49" charset="2"/>
                          </a:rPr>
                          <m:t>+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𝐴𝐵𝐶𝐺𝐻𝐼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MS LineDraw" pitchFamily="49" charset="2"/>
                      </a:rPr>
                      <m:t>}</m:t>
                    </m:r>
                  </m:oMath>
                </a14:m>
                <a:r>
                  <a:rPr lang="en-US" dirty="0"/>
                  <a:t> = R	// {</a:t>
                </a:r>
                <a:r>
                  <a:rPr lang="en-US" dirty="0">
                    <a:solidFill>
                      <a:srgbClr val="FF0000"/>
                    </a:solidFill>
                  </a:rPr>
                  <a:t>A, G} is a super key</a:t>
                </a:r>
                <a:r>
                  <a:rPr lang="en-US" dirty="0"/>
                  <a:t> for R.</a:t>
                </a:r>
              </a:p>
              <a:p>
                <a:pPr lvl="2"/>
                <a:r>
                  <a:rPr lang="en-US" dirty="0"/>
                  <a:t>At each step, ask which attribute is missing?  Then consider which </a:t>
                </a:r>
                <a:r>
                  <a:rPr lang="en-US" dirty="0" smtClean="0"/>
                  <a:t>FD </a:t>
                </a:r>
                <a:r>
                  <a:rPr lang="en-US" dirty="0"/>
                  <a:t>to use to get that missing attribute</a:t>
                </a:r>
                <a:r>
                  <a:rPr lang="en-US" dirty="0" smtClean="0"/>
                  <a:t>.  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sz="800" dirty="0"/>
              </a:p>
              <a:p>
                <a:pPr lvl="1"/>
                <a:r>
                  <a:rPr lang="en-US" dirty="0"/>
                  <a:t>Is {AG} a candidate key?</a:t>
                </a:r>
              </a:p>
              <a:p>
                <a:pPr lvl="2"/>
                <a:r>
                  <a:rPr lang="en-US" dirty="0"/>
                  <a:t>We just 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</a:t>
                </a:r>
                <a:r>
                  <a:rPr lang="en-US" dirty="0"/>
                  <a:t> R; so {AG} is a super key.</a:t>
                </a:r>
              </a:p>
              <a:p>
                <a:pPr lvl="2"/>
                <a:r>
                  <a:rPr lang="en-US" dirty="0" smtClean="0"/>
                  <a:t>Is it candidate key?  Check if we can remove any elements from AG.</a:t>
                </a:r>
                <a:endParaRPr lang="en-US" dirty="0"/>
              </a:p>
              <a:p>
                <a:pPr lvl="3"/>
                <a:r>
                  <a:rPr lang="en-US" dirty="0" smtClean="0"/>
                  <a:t>Can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be </a:t>
                </a:r>
                <a:r>
                  <a:rPr lang="en-US" dirty="0"/>
                  <a:t>super </a:t>
                </a:r>
                <a:r>
                  <a:rPr lang="en-US" dirty="0" smtClean="0"/>
                  <a:t>key?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{ABC}</a:t>
                </a:r>
                <a:r>
                  <a:rPr lang="en-US" baseline="30000" dirty="0"/>
                  <a:t>+</a:t>
                </a:r>
                <a:r>
                  <a:rPr lang="en-US" dirty="0"/>
                  <a:t> = {ABHC}</a:t>
                </a:r>
                <a:r>
                  <a:rPr lang="en-US" baseline="30000" dirty="0"/>
                  <a:t>+</a:t>
                </a:r>
                <a:r>
                  <a:rPr lang="en-US" dirty="0"/>
                  <a:t> = {ABHC} does not contain R, not super key.</a:t>
                </a:r>
                <a:endParaRPr lang="en-US" baseline="30000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_____</a:t>
                </a:r>
              </a:p>
              <a:p>
                <a:pPr lvl="3"/>
                <a:endParaRPr lang="en-US" sz="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816" y="698500"/>
                <a:ext cx="10539984" cy="5478463"/>
              </a:xfrm>
              <a:blipFill rotWithShape="0">
                <a:blip r:embed="rId3"/>
                <a:stretch>
                  <a:fillRect l="-1041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787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3816" y="698500"/>
                <a:ext cx="10539984" cy="5478463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Slide 17 Uses of Attribute Closure [see book]</a:t>
                </a:r>
              </a:p>
              <a:p>
                <a:pPr lvl="1"/>
                <a:r>
                  <a:rPr lang="en-US" dirty="0" smtClean="0"/>
                  <a:t>3 ways to use the attribute closure</a:t>
                </a:r>
              </a:p>
              <a:p>
                <a:pPr lvl="1"/>
                <a:r>
                  <a:rPr lang="en-US" dirty="0" smtClean="0"/>
                  <a:t>2</a:t>
                </a:r>
                <a:r>
                  <a:rPr lang="en-US" baseline="30000" dirty="0" smtClean="0"/>
                  <a:t>nd</a:t>
                </a:r>
                <a:r>
                  <a:rPr lang="en-US" dirty="0" smtClean="0"/>
                  <a:t> </a:t>
                </a:r>
                <a:r>
                  <a:rPr lang="en-US" dirty="0"/>
                  <a:t>and 3</a:t>
                </a:r>
                <a:r>
                  <a:rPr lang="en-US" baseline="30000" dirty="0"/>
                  <a:t>rd</a:t>
                </a:r>
                <a:r>
                  <a:rPr lang="en-US" dirty="0"/>
                  <a:t> bullet is the alternative way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mentioned in Slide 13 [See figure in book</a:t>
                </a:r>
                <a:r>
                  <a:rPr lang="en-US" dirty="0" smtClean="0"/>
                  <a:t>].</a:t>
                </a:r>
              </a:p>
              <a:p>
                <a:pPr lvl="1"/>
                <a:r>
                  <a:rPr lang="en-US" dirty="0" smtClean="0"/>
                  <a:t>Example in next slide.</a:t>
                </a:r>
                <a:endParaRPr lang="en-US" dirty="0"/>
              </a:p>
              <a:p>
                <a:endParaRPr lang="en-US" sz="800" dirty="0"/>
              </a:p>
              <a:p>
                <a:r>
                  <a:rPr lang="en-US" dirty="0"/>
                  <a:t>Slide </a:t>
                </a:r>
                <a:r>
                  <a:rPr lang="en-US" dirty="0" smtClean="0"/>
                  <a:t>18  Example</a:t>
                </a:r>
                <a:endParaRPr lang="en-US" dirty="0"/>
              </a:p>
              <a:p>
                <a:pPr lvl="1"/>
                <a:r>
                  <a:rPr lang="en-US" dirty="0" smtClean="0"/>
                  <a:t>As </a:t>
                </a:r>
                <a:r>
                  <a:rPr lang="en-US" dirty="0"/>
                  <a:t>you use up a FD, underline or colorize that FD in F.</a:t>
                </a:r>
              </a:p>
              <a:p>
                <a:pPr lvl="1"/>
                <a:r>
                  <a:rPr lang="en-US" dirty="0"/>
                  <a:t>{A, B}</a:t>
                </a:r>
                <a:r>
                  <a:rPr lang="en-US" baseline="40000" dirty="0"/>
                  <a:t>+</a:t>
                </a:r>
                <a:r>
                  <a:rPr lang="en-US" dirty="0"/>
                  <a:t> = {A, B, </a:t>
                </a:r>
                <a:r>
                  <a:rPr lang="en-US" b="1" dirty="0">
                    <a:solidFill>
                      <a:srgbClr val="00B050"/>
                    </a:solidFill>
                  </a:rPr>
                  <a:t>C</a:t>
                </a:r>
                <a:r>
                  <a:rPr lang="en-US" dirty="0"/>
                  <a:t>}</a:t>
                </a:r>
                <a:r>
                  <a:rPr lang="en-US" baseline="30000" dirty="0"/>
                  <a:t>+</a:t>
                </a:r>
                <a:r>
                  <a:rPr lang="en-US" dirty="0"/>
                  <a:t> = {A, B, C, </a:t>
                </a:r>
                <a:r>
                  <a:rPr lang="en-US" b="1" dirty="0">
                    <a:solidFill>
                      <a:srgbClr val="FF0000"/>
                    </a:solidFill>
                  </a:rPr>
                  <a:t>D</a:t>
                </a:r>
                <a:r>
                  <a:rPr lang="en-US" dirty="0"/>
                  <a:t>}</a:t>
                </a:r>
                <a:r>
                  <a:rPr lang="en-US" baseline="30000" dirty="0"/>
                  <a:t>+</a:t>
                </a:r>
                <a:r>
                  <a:rPr lang="en-US" dirty="0"/>
                  <a:t> = {A, B, C, D, </a:t>
                </a:r>
                <a:r>
                  <a:rPr lang="en-US" b="1" dirty="0">
                    <a:solidFill>
                      <a:srgbClr val="7030A0"/>
                    </a:solidFill>
                  </a:rPr>
                  <a:t>E</a:t>
                </a:r>
                <a:r>
                  <a:rPr lang="en-US" dirty="0" smtClean="0"/>
                  <a:t>}</a:t>
                </a:r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𝑨𝑫</m:t>
                    </m:r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lvl="2"/>
                <a:r>
                  <a:rPr lang="en-US" dirty="0" smtClean="0"/>
                  <a:t>From the uncolored FDs in F, we cannot get G.  So we stop at {A, B, C, D, E}</a:t>
                </a:r>
                <a:endParaRPr lang="en-US" dirty="0"/>
              </a:p>
              <a:p>
                <a:pPr lvl="1"/>
                <a:r>
                  <a:rPr lang="en-US" dirty="0"/>
                  <a:t>{A, </a:t>
                </a:r>
                <a:r>
                  <a:rPr lang="en-US" dirty="0" smtClean="0"/>
                  <a:t>G}</a:t>
                </a:r>
                <a:r>
                  <a:rPr lang="en-US" baseline="40000" dirty="0" smtClean="0"/>
                  <a:t>+</a:t>
                </a:r>
                <a:r>
                  <a:rPr lang="en-US" dirty="0" smtClean="0"/>
                  <a:t> </a:t>
                </a:r>
                <a:r>
                  <a:rPr lang="en-US" dirty="0"/>
                  <a:t>= {A, </a:t>
                </a:r>
                <a:r>
                  <a:rPr lang="en-US" dirty="0" smtClean="0"/>
                  <a:t>G, </a:t>
                </a:r>
                <a:r>
                  <a:rPr lang="en-US" b="1" dirty="0">
                    <a:solidFill>
                      <a:srgbClr val="00B050"/>
                    </a:solidFill>
                  </a:rPr>
                  <a:t>B</a:t>
                </a:r>
                <a:r>
                  <a:rPr lang="en-US" dirty="0"/>
                  <a:t>}</a:t>
                </a:r>
                <a:r>
                  <a:rPr lang="en-US" baseline="30000" dirty="0"/>
                  <a:t>+</a:t>
                </a:r>
                <a:r>
                  <a:rPr lang="en-US" dirty="0"/>
                  <a:t> = … = {A, </a:t>
                </a:r>
                <a:r>
                  <a:rPr lang="en-US" dirty="0" smtClean="0"/>
                  <a:t>G, </a:t>
                </a:r>
                <a:r>
                  <a:rPr lang="en-US" dirty="0"/>
                  <a:t>B, C, D, E} = R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𝑨𝑮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So {A, </a:t>
                </a:r>
                <a:r>
                  <a:rPr lang="en-US" dirty="0" smtClean="0"/>
                  <a:t>G} </a:t>
                </a:r>
                <a:r>
                  <a:rPr lang="en-US" dirty="0"/>
                  <a:t>is a candidate key.</a:t>
                </a:r>
                <a:endParaRPr lang="en-US" sz="2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816" y="698500"/>
                <a:ext cx="10539984" cy="5478463"/>
              </a:xfrm>
              <a:blipFill rotWithShape="0">
                <a:blip r:embed="rId2"/>
                <a:stretch>
                  <a:fillRect l="-1041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079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time </a:t>
            </a:r>
            <a:r>
              <a:rPr lang="en-US"/>
              <a:t>permits, lecture </a:t>
            </a:r>
            <a:r>
              <a:rPr lang="en-US" dirty="0"/>
              <a:t>a </a:t>
            </a:r>
            <a:r>
              <a:rPr lang="en-US"/>
              <a:t>few slides.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08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9402</TotalTime>
  <Words>703</Words>
  <Application>Microsoft Office PowerPoint</Application>
  <PresentationFormat>Widescreen</PresentationFormat>
  <Paragraphs>180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Batang</vt:lpstr>
      <vt:lpstr>Monotype Sorts</vt:lpstr>
      <vt:lpstr>MS LineDraw</vt:lpstr>
      <vt:lpstr>宋体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Database Lecture 9 Relational Design Functional Dependencies</vt:lpstr>
      <vt:lpstr>Reminder</vt:lpstr>
      <vt:lpstr>Functional Dependency (FD)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09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Microsoft account</cp:lastModifiedBy>
  <cp:revision>970</cp:revision>
  <dcterms:created xsi:type="dcterms:W3CDTF">2021-08-02T03:54:37Z</dcterms:created>
  <dcterms:modified xsi:type="dcterms:W3CDTF">2025-11-18T10:24:44Z</dcterms:modified>
</cp:coreProperties>
</file>