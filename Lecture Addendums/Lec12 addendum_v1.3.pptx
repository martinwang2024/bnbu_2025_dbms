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7" r:id="rId2"/>
    <p:sldId id="319" r:id="rId3"/>
    <p:sldId id="322" r:id="rId4"/>
    <p:sldId id="321" r:id="rId5"/>
    <p:sldId id="314" r:id="rId6"/>
    <p:sldId id="324" r:id="rId7"/>
    <p:sldId id="317" r:id="rId8"/>
    <p:sldId id="318" r:id="rId9"/>
    <p:sldId id="320" r:id="rId10"/>
    <p:sldId id="281" r:id="rId11"/>
    <p:sldId id="284" r:id="rId12"/>
    <p:sldId id="272" r:id="rId13"/>
    <p:sldId id="298" r:id="rId14"/>
    <p:sldId id="293" r:id="rId15"/>
    <p:sldId id="285" r:id="rId16"/>
    <p:sldId id="310" r:id="rId17"/>
    <p:sldId id="311" r:id="rId18"/>
    <p:sldId id="290" r:id="rId19"/>
    <p:sldId id="287" r:id="rId20"/>
    <p:sldId id="299" r:id="rId21"/>
    <p:sldId id="323" r:id="rId22"/>
    <p:sldId id="302" r:id="rId23"/>
    <p:sldId id="305" r:id="rId24"/>
    <p:sldId id="30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D6D"/>
    <a:srgbClr val="FF5050"/>
    <a:srgbClr val="CC9900"/>
    <a:srgbClr val="FFCC66"/>
    <a:srgbClr val="8E8E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575BF-6987-4786-AD3A-DA832F697ED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AF054-1712-4639-B42C-CC5916667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5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4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20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6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0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5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6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27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9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6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1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00F8E-535C-4AD9-A6D4-9E1905C319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0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95149"/>
            <a:ext cx="9144000" cy="2906830"/>
          </a:xfrm>
        </p:spPr>
        <p:txBody>
          <a:bodyPr>
            <a:normAutofit/>
          </a:bodyPr>
          <a:lstStyle/>
          <a:p>
            <a:r>
              <a:rPr lang="en-US" sz="5300" dirty="0"/>
              <a:t>Lecture 12</a:t>
            </a:r>
            <a:br>
              <a:rPr lang="en-US" sz="5300" dirty="0"/>
            </a:br>
            <a:r>
              <a:rPr lang="en-US" sz="5300" dirty="0"/>
              <a:t>Relational Database Design</a:t>
            </a:r>
            <a:br>
              <a:rPr lang="en-US" dirty="0"/>
            </a:br>
            <a:r>
              <a:rPr lang="en-US" sz="4900" dirty="0"/>
              <a:t>Multivalued Dependency </a:t>
            </a:r>
            <a:br>
              <a:rPr lang="en-US" sz="4900" dirty="0"/>
            </a:br>
            <a:r>
              <a:rPr lang="en-US" sz="4900" dirty="0"/>
              <a:t>and Database Design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49142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Addendum</a:t>
            </a:r>
          </a:p>
          <a:p>
            <a:r>
              <a:rPr lang="en-US" sz="3600" dirty="0"/>
              <a:t>Dr. Jefferson Fong</a:t>
            </a:r>
          </a:p>
          <a:p>
            <a:r>
              <a:rPr lang="en-US" sz="3600" dirty="0"/>
              <a:t>Reference 7.6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513" y="3602037"/>
            <a:ext cx="2320290" cy="274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0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3D6D1E-D3DB-428C-9935-3C2638B1A3F2}"/>
              </a:ext>
            </a:extLst>
          </p:cNvPr>
          <p:cNvSpPr txBox="1">
            <a:spLocks/>
          </p:cNvSpPr>
          <p:nvPr/>
        </p:nvSpPr>
        <p:spPr>
          <a:xfrm>
            <a:off x="803030" y="726518"/>
            <a:ext cx="9605790" cy="4068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Assignment 3 </a:t>
            </a:r>
            <a:r>
              <a:rPr lang="en-US" dirty="0"/>
              <a:t>due </a:t>
            </a:r>
            <a:r>
              <a:rPr lang="en-US" dirty="0">
                <a:solidFill>
                  <a:srgbClr val="FF0000"/>
                </a:solidFill>
              </a:rPr>
              <a:t>Sunday 14 December</a:t>
            </a:r>
            <a:r>
              <a:rPr lang="en-US" dirty="0"/>
              <a:t>, right before midnight.</a:t>
            </a:r>
          </a:p>
          <a:p>
            <a:r>
              <a:rPr lang="en-US" dirty="0"/>
              <a:t>Short lecture today</a:t>
            </a:r>
          </a:p>
          <a:p>
            <a:pPr lvl="1"/>
            <a:r>
              <a:rPr lang="en-US" dirty="0"/>
              <a:t>Hold team meeting at 2</a:t>
            </a:r>
            <a:r>
              <a:rPr lang="en-US" baseline="30000" dirty="0"/>
              <a:t>nd</a:t>
            </a:r>
            <a:r>
              <a:rPr lang="en-US" dirty="0"/>
              <a:t> hour</a:t>
            </a:r>
          </a:p>
          <a:p>
            <a:pPr lvl="1"/>
            <a:r>
              <a:rPr lang="en-US" dirty="0"/>
              <a:t>Notify your team members now.</a:t>
            </a:r>
          </a:p>
          <a:p>
            <a:r>
              <a:rPr lang="en-US" dirty="0"/>
              <a:t>Presentation sign-up around break time in the middle of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635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568"/>
          </a:xfrm>
        </p:spPr>
        <p:txBody>
          <a:bodyPr/>
          <a:lstStyle/>
          <a:p>
            <a:r>
              <a:rPr lang="en-US" dirty="0"/>
              <a:t>Presentation Sign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2"/>
            <a:ext cx="10515600" cy="135902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Presentations</a:t>
            </a:r>
            <a:r>
              <a:rPr lang="en-US" dirty="0"/>
              <a:t> will be held on </a:t>
            </a:r>
            <a:r>
              <a:rPr lang="en-US" dirty="0">
                <a:solidFill>
                  <a:srgbClr val="FF0000"/>
                </a:solidFill>
              </a:rPr>
              <a:t>Wed Dec 17 </a:t>
            </a:r>
            <a:r>
              <a:rPr lang="en-US" dirty="0"/>
              <a:t>and</a:t>
            </a:r>
            <a:r>
              <a:rPr lang="en-US" dirty="0">
                <a:solidFill>
                  <a:srgbClr val="FF0000"/>
                </a:solidFill>
              </a:rPr>
              <a:t> Thu Dec 18</a:t>
            </a:r>
          </a:p>
          <a:p>
            <a:pPr lvl="1"/>
            <a:r>
              <a:rPr lang="en-US" dirty="0"/>
              <a:t>Talk with your team on your preferred time slot.</a:t>
            </a:r>
          </a:p>
          <a:p>
            <a:pPr lvl="1"/>
            <a:r>
              <a:rPr lang="en-US" dirty="0"/>
              <a:t>Team leader sign up for time slots on Wed Dec 10.  (15 teams)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570904"/>
              </p:ext>
            </p:extLst>
          </p:nvPr>
        </p:nvGraphicFramePr>
        <p:xfrm>
          <a:off x="1489787" y="3090256"/>
          <a:ext cx="5952735" cy="276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302">
                <a:tc>
                  <a:txBody>
                    <a:bodyPr/>
                    <a:lstStyle/>
                    <a:p>
                      <a:r>
                        <a:rPr lang="en-US" sz="2400" dirty="0"/>
                        <a:t>Data and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051">
                <a:tc>
                  <a:txBody>
                    <a:bodyPr/>
                    <a:lstStyle/>
                    <a:p>
                      <a:r>
                        <a:rPr lang="en-US" sz="2400" dirty="0"/>
                        <a:t>Wed 17 Dec,</a:t>
                      </a:r>
                      <a:r>
                        <a:rPr lang="en-US" sz="2400" baseline="0" dirty="0"/>
                        <a:t> 10-11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5, 9, 8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41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Wed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17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Dec, 11-noon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3, 2, 11, 14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711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Thu 18 Dec, 4:20-5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6, 1, 15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99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Thu 18 Dec, 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10, 7, 4, 12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711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Thu 18 Dec, 6-6:15 (1 team)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53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80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5966"/>
            <a:ext cx="10515600" cy="903235"/>
          </a:xfrm>
        </p:spPr>
        <p:txBody>
          <a:bodyPr/>
          <a:lstStyle/>
          <a:p>
            <a:r>
              <a:rPr lang="en-US" dirty="0"/>
              <a:t>On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From “</a:t>
            </a:r>
            <a:r>
              <a:rPr lang="en-US" dirty="0">
                <a:solidFill>
                  <a:srgbClr val="FF0000"/>
                </a:solidFill>
              </a:rPr>
              <a:t>Project Presentation Guideline.docx</a:t>
            </a:r>
            <a:r>
              <a:rPr lang="en-US" dirty="0"/>
              <a:t>”</a:t>
            </a:r>
          </a:p>
          <a:p>
            <a:pPr lvl="0"/>
            <a:r>
              <a:rPr lang="en-US" dirty="0"/>
              <a:t>The presentation is worth 20% of the project score.</a:t>
            </a:r>
          </a:p>
          <a:p>
            <a:pPr lvl="0"/>
            <a:r>
              <a:rPr lang="en-US" dirty="0"/>
              <a:t>Project demo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Live demo </a:t>
            </a:r>
            <a:r>
              <a:rPr lang="en-US" dirty="0"/>
              <a:t>is best, but sometimes things goes wrong.</a:t>
            </a:r>
          </a:p>
          <a:p>
            <a:pPr lvl="1"/>
            <a:r>
              <a:rPr lang="en-US" dirty="0"/>
              <a:t>Also prepare a </a:t>
            </a:r>
            <a:r>
              <a:rPr lang="en-US" dirty="0">
                <a:solidFill>
                  <a:srgbClr val="FF0000"/>
                </a:solidFill>
              </a:rPr>
              <a:t>recording demo </a:t>
            </a:r>
            <a:r>
              <a:rPr lang="en-US" dirty="0"/>
              <a:t>(less than </a:t>
            </a:r>
            <a:r>
              <a:rPr lang="en-US" dirty="0">
                <a:solidFill>
                  <a:srgbClr val="FF0000"/>
                </a:solidFill>
              </a:rPr>
              <a:t>3 minutes long</a:t>
            </a:r>
            <a:r>
              <a:rPr lang="en-US" dirty="0"/>
              <a:t>, regular speed) in case something goes wrong in the live demo.</a:t>
            </a:r>
          </a:p>
          <a:p>
            <a:pPr lvl="1"/>
            <a:r>
              <a:rPr lang="en-US" dirty="0"/>
              <a:t>TA uses the recorded demo to clarify if features are working properly.</a:t>
            </a:r>
          </a:p>
          <a:p>
            <a:pPr lvl="2"/>
            <a:r>
              <a:rPr lang="en-US" dirty="0"/>
              <a:t>If the demo is not clear, no points for that feature.</a:t>
            </a:r>
          </a:p>
          <a:p>
            <a:pPr lvl="0"/>
            <a:r>
              <a:rPr lang="en-US" dirty="0"/>
              <a:t>Each group has 10 min to present (including demo), plus 1 min for Q&amp;A.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Practice your presentation</a:t>
            </a:r>
            <a:r>
              <a:rPr lang="en-US" dirty="0"/>
              <a:t> to make sure it fit within 10 minutes.</a:t>
            </a:r>
          </a:p>
          <a:p>
            <a:r>
              <a:rPr lang="en-US" dirty="0"/>
              <a:t>Every group member </a:t>
            </a:r>
            <a:r>
              <a:rPr lang="en-US" b="1" dirty="0"/>
              <a:t>must </a:t>
            </a:r>
            <a:r>
              <a:rPr lang="en-US" dirty="0"/>
              <a:t>speak for at least 1 min.</a:t>
            </a:r>
          </a:p>
          <a:p>
            <a:pPr lvl="0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44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269"/>
          </a:xfrm>
        </p:spPr>
        <p:txBody>
          <a:bodyPr/>
          <a:lstStyle/>
          <a:p>
            <a:r>
              <a:rPr lang="en-US" dirty="0"/>
              <a:t>On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22" y="1285384"/>
            <a:ext cx="11047956" cy="4854001"/>
          </a:xfrm>
        </p:spPr>
        <p:txBody>
          <a:bodyPr>
            <a:normAutofit/>
          </a:bodyPr>
          <a:lstStyle/>
          <a:p>
            <a:r>
              <a:rPr lang="en-US" dirty="0"/>
              <a:t>This is a database class, so your presentation should focus on </a:t>
            </a:r>
            <a:r>
              <a:rPr lang="en-US" dirty="0">
                <a:solidFill>
                  <a:srgbClr val="FF0000"/>
                </a:solidFill>
              </a:rPr>
              <a:t>your DB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Create a website to demonstrate your DB.</a:t>
            </a:r>
          </a:p>
          <a:p>
            <a:pPr lvl="1"/>
            <a:r>
              <a:rPr lang="en-US" dirty="0"/>
              <a:t>HTML, CSS, JavaScript, PHP have been taught in SWDW class.</a:t>
            </a:r>
          </a:p>
          <a:p>
            <a:pPr lvl="1"/>
            <a:r>
              <a:rPr lang="en-US" dirty="0"/>
              <a:t>You can use that to develop your website.</a:t>
            </a:r>
          </a:p>
          <a:p>
            <a:pPr lvl="1"/>
            <a:r>
              <a:rPr lang="en-US" dirty="0"/>
              <a:t>You can also use other tools (Python tools, Vue.js, Dreamweaver, Coffee Cup, etc.) to create your webpages, but you won’t get extra credit on how pretty your webpages look. 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365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269"/>
          </a:xfrm>
        </p:spPr>
        <p:txBody>
          <a:bodyPr/>
          <a:lstStyle/>
          <a:p>
            <a:r>
              <a:rPr lang="en-US" dirty="0"/>
              <a:t>On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22" y="1285384"/>
            <a:ext cx="11047956" cy="4854001"/>
          </a:xfrm>
        </p:spPr>
        <p:txBody>
          <a:bodyPr>
            <a:normAutofit/>
          </a:bodyPr>
          <a:lstStyle/>
          <a:p>
            <a:r>
              <a:rPr lang="en-US" dirty="0"/>
              <a:t>Possible run-down for your presentation:</a:t>
            </a:r>
          </a:p>
          <a:p>
            <a:pPr marL="914400" lvl="1" indent="-457200">
              <a:buAutoNum type="alphaLcParenBoth"/>
            </a:pPr>
            <a:r>
              <a:rPr lang="en-US" dirty="0"/>
              <a:t>Mention what your website does.</a:t>
            </a:r>
          </a:p>
          <a:p>
            <a:pPr marL="914400" lvl="1" indent="-457200">
              <a:buAutoNum type="alphaLcParenBoth"/>
            </a:pPr>
            <a:r>
              <a:rPr lang="en-US" dirty="0"/>
              <a:t>Very briefly show the front end: login, inputs, menus, etc.</a:t>
            </a:r>
          </a:p>
          <a:p>
            <a:pPr marL="914400" lvl="1" indent="-457200">
              <a:buAutoNum type="alphaLcParenBoth"/>
            </a:pPr>
            <a:r>
              <a:rPr lang="en-US" dirty="0"/>
              <a:t>Show the design of the DB: ER diagram, schema, etc.</a:t>
            </a:r>
          </a:p>
          <a:p>
            <a:pPr marL="914400" lvl="1" indent="-457200">
              <a:buAutoNum type="alphaLcParenBoth"/>
            </a:pPr>
            <a:r>
              <a:rPr lang="en-US" dirty="0"/>
              <a:t>Mention DB size, tables in normal forms, maintaining the DB, various SQLs, triggers, and other things covered in this class.</a:t>
            </a:r>
          </a:p>
          <a:p>
            <a:pPr marL="914400" lvl="1" indent="-457200">
              <a:buAutoNum type="alphaLcParenBoth"/>
            </a:pPr>
            <a:r>
              <a:rPr lang="en-US" dirty="0"/>
              <a:t>Point out </a:t>
            </a:r>
            <a:r>
              <a:rPr lang="en-US" dirty="0">
                <a:solidFill>
                  <a:srgbClr val="FF0000"/>
                </a:solidFill>
              </a:rPr>
              <a:t>anything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special</a:t>
            </a:r>
            <a:r>
              <a:rPr lang="en-US" dirty="0"/>
              <a:t> about your database that’s better than others.</a:t>
            </a:r>
          </a:p>
          <a:p>
            <a:pPr marL="914400" lvl="1" indent="-457200">
              <a:buAutoNum type="alphaLcParenBoth"/>
            </a:pPr>
            <a:r>
              <a:rPr lang="en-US" dirty="0"/>
              <a:t>Run the code live.</a:t>
            </a:r>
          </a:p>
          <a:p>
            <a:r>
              <a:rPr lang="en-US" dirty="0"/>
              <a:t>See the </a:t>
            </a:r>
            <a:r>
              <a:rPr lang="en-US" dirty="0">
                <a:solidFill>
                  <a:srgbClr val="FF0000"/>
                </a:solidFill>
              </a:rPr>
              <a:t>Tips</a:t>
            </a:r>
            <a:r>
              <a:rPr lang="en-US" dirty="0"/>
              <a:t> section of </a:t>
            </a:r>
            <a:r>
              <a:rPr lang="en-US" dirty="0">
                <a:solidFill>
                  <a:srgbClr val="FF0000"/>
                </a:solidFill>
              </a:rPr>
              <a:t>Course Project\Project Requirement.pdf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216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5966"/>
            <a:ext cx="10515600" cy="903235"/>
          </a:xfrm>
        </p:spPr>
        <p:txBody>
          <a:bodyPr/>
          <a:lstStyle/>
          <a:p>
            <a:r>
              <a:rPr lang="en-US" dirty="0"/>
              <a:t>On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5338"/>
            <a:ext cx="10515600" cy="4811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Also</a:t>
            </a:r>
          </a:p>
          <a:p>
            <a:r>
              <a:rPr lang="en-US" dirty="0"/>
              <a:t>On the slides, </a:t>
            </a:r>
            <a:r>
              <a:rPr lang="en-US" dirty="0">
                <a:solidFill>
                  <a:srgbClr val="FF0000"/>
                </a:solidFill>
              </a:rPr>
              <a:t>write down </a:t>
            </a: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name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ID number </a:t>
            </a:r>
            <a:r>
              <a:rPr lang="en-US" dirty="0"/>
              <a:t>of the </a:t>
            </a:r>
            <a:r>
              <a:rPr lang="en-US" dirty="0">
                <a:solidFill>
                  <a:srgbClr val="FF0000"/>
                </a:solidFill>
              </a:rPr>
              <a:t>person who presented </a:t>
            </a:r>
            <a:r>
              <a:rPr lang="en-US" dirty="0"/>
              <a:t>that slide.</a:t>
            </a:r>
          </a:p>
          <a:p>
            <a:r>
              <a:rPr lang="en-US" dirty="0"/>
              <a:t>Right before your presentation, give teacher a </a:t>
            </a:r>
            <a:r>
              <a:rPr lang="en-US" dirty="0">
                <a:solidFill>
                  <a:srgbClr val="FF0000"/>
                </a:solidFill>
              </a:rPr>
              <a:t>printed copy </a:t>
            </a:r>
            <a:r>
              <a:rPr lang="en-US" dirty="0"/>
              <a:t>of your PPT</a:t>
            </a:r>
          </a:p>
          <a:p>
            <a:pPr lvl="1"/>
            <a:r>
              <a:rPr lang="en-US" dirty="0"/>
              <a:t>You can print 2 slides on each side of the page; so can print 4 slides per page.</a:t>
            </a:r>
          </a:p>
          <a:p>
            <a:pPr lvl="1"/>
            <a:endParaRPr lang="en-US" dirty="0"/>
          </a:p>
          <a:p>
            <a:r>
              <a:rPr lang="en-US" dirty="0"/>
              <a:t>Use computer to draw ER diagrams.</a:t>
            </a:r>
          </a:p>
          <a:p>
            <a:pPr lvl="1"/>
            <a:r>
              <a:rPr lang="en-US" dirty="0"/>
              <a:t>We allowed hand-drawn ER diagrams in assignments because you worked on that by yourself.</a:t>
            </a:r>
          </a:p>
          <a:p>
            <a:pPr lvl="1"/>
            <a:r>
              <a:rPr lang="en-US" dirty="0"/>
              <a:t>PowerPoint is good enough</a:t>
            </a:r>
            <a:r>
              <a:rPr lang="en-US"/>
              <a:t>; OK </a:t>
            </a:r>
            <a:r>
              <a:rPr lang="en-US" dirty="0"/>
              <a:t>if you want something fancier.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336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5966"/>
            <a:ext cx="10515600" cy="903235"/>
          </a:xfrm>
        </p:spPr>
        <p:txBody>
          <a:bodyPr/>
          <a:lstStyle/>
          <a:p>
            <a:r>
              <a:rPr lang="en-US" dirty="0"/>
              <a:t>On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5338"/>
            <a:ext cx="10515600" cy="4811626"/>
          </a:xfrm>
        </p:spPr>
        <p:txBody>
          <a:bodyPr>
            <a:normAutofit/>
          </a:bodyPr>
          <a:lstStyle/>
          <a:p>
            <a:r>
              <a:rPr lang="en-US" dirty="0"/>
              <a:t>Follow “Documentation Requirement” section of “</a:t>
            </a:r>
            <a:r>
              <a:rPr lang="en-US" dirty="0">
                <a:solidFill>
                  <a:srgbClr val="FF0000"/>
                </a:solidFill>
              </a:rPr>
              <a:t>Project Requirement.pdf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Different members write different parts of the document.</a:t>
            </a:r>
          </a:p>
          <a:p>
            <a:r>
              <a:rPr lang="en-US" dirty="0"/>
              <a:t>Group leader combine the different parts together.</a:t>
            </a:r>
          </a:p>
          <a:p>
            <a:r>
              <a:rPr lang="en-US" dirty="0"/>
              <a:t>On the </a:t>
            </a:r>
            <a:r>
              <a:rPr lang="en-US" dirty="0">
                <a:solidFill>
                  <a:srgbClr val="FF0000"/>
                </a:solidFill>
              </a:rPr>
              <a:t>first page</a:t>
            </a:r>
            <a:r>
              <a:rPr lang="en-US" dirty="0"/>
              <a:t>, write down the </a:t>
            </a:r>
            <a:r>
              <a:rPr lang="en-US" dirty="0">
                <a:solidFill>
                  <a:srgbClr val="FF0000"/>
                </a:solidFill>
              </a:rPr>
              <a:t>workload</a:t>
            </a:r>
            <a:r>
              <a:rPr lang="en-US" dirty="0"/>
              <a:t> of each team member.</a:t>
            </a:r>
          </a:p>
          <a:p>
            <a:pPr lvl="1"/>
            <a:r>
              <a:rPr lang="en-US" dirty="0"/>
              <a:t>Indicate which member did which part of the project.</a:t>
            </a:r>
          </a:p>
          <a:p>
            <a:pPr lvl="1"/>
            <a:r>
              <a:rPr lang="en-US" dirty="0"/>
              <a:t>Indicate any </a:t>
            </a:r>
            <a:r>
              <a:rPr lang="en-US" dirty="0">
                <a:solidFill>
                  <a:srgbClr val="FF0000"/>
                </a:solidFill>
              </a:rPr>
              <a:t>non-cooperating member</a:t>
            </a:r>
            <a:r>
              <a:rPr lang="en-US" dirty="0"/>
              <a:t>, e.g. “Joe missed 3 out of the 4 meetings and did only a little work on the ER diagram.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259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4714"/>
          </a:xfrm>
        </p:spPr>
        <p:txBody>
          <a:bodyPr/>
          <a:lstStyle/>
          <a:p>
            <a:r>
              <a:rPr lang="en-US" dirty="0"/>
              <a:t>Submission by </a:t>
            </a:r>
            <a:r>
              <a:rPr lang="en-US" dirty="0">
                <a:solidFill>
                  <a:srgbClr val="FF0000"/>
                </a:solidFill>
              </a:rPr>
              <a:t>Group 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9840"/>
            <a:ext cx="10515600" cy="4917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See Timeline section in </a:t>
            </a:r>
            <a:r>
              <a:rPr lang="en-US" dirty="0">
                <a:solidFill>
                  <a:srgbClr val="FF0000"/>
                </a:solidFill>
              </a:rPr>
              <a:t>Course Project\Project Requirement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Submit by the night before your presentations</a:t>
            </a:r>
          </a:p>
          <a:p>
            <a:pPr lvl="1"/>
            <a:r>
              <a:rPr lang="en-US" dirty="0"/>
              <a:t>Your PPT slides</a:t>
            </a:r>
          </a:p>
          <a:p>
            <a:pPr marL="0" indent="0">
              <a:buNone/>
            </a:pPr>
            <a:r>
              <a:rPr lang="en-US" dirty="0"/>
              <a:t>Submit by </a:t>
            </a:r>
            <a:r>
              <a:rPr lang="en-US" dirty="0">
                <a:solidFill>
                  <a:srgbClr val="FF0000"/>
                </a:solidFill>
              </a:rPr>
              <a:t>21 Dec, </a:t>
            </a:r>
            <a:r>
              <a:rPr lang="en-US" dirty="0"/>
              <a:t>as stated in iSpace</a:t>
            </a:r>
          </a:p>
          <a:p>
            <a:pPr lvl="1"/>
            <a:r>
              <a:rPr lang="en-US" dirty="0"/>
              <a:t>Documentations (i.e. the report)</a:t>
            </a:r>
          </a:p>
          <a:p>
            <a:pPr lvl="1"/>
            <a:r>
              <a:rPr lang="en-US" dirty="0"/>
              <a:t>Code and DB</a:t>
            </a:r>
          </a:p>
          <a:p>
            <a:pPr lvl="1"/>
            <a:r>
              <a:rPr lang="en-US" dirty="0"/>
              <a:t>Recorded demo</a:t>
            </a:r>
          </a:p>
          <a:p>
            <a:pPr lvl="1"/>
            <a:r>
              <a:rPr lang="en-US" dirty="0"/>
              <a:t>Other requirements listed in </a:t>
            </a:r>
            <a:r>
              <a:rPr lang="en-US" dirty="0">
                <a:solidFill>
                  <a:srgbClr val="FF0000"/>
                </a:solidFill>
              </a:rPr>
              <a:t>Project Requirement</a:t>
            </a:r>
            <a:r>
              <a:rPr lang="en-US" dirty="0"/>
              <a:t> and the iSpace submission link.</a:t>
            </a:r>
          </a:p>
        </p:txBody>
      </p:sp>
    </p:spTree>
    <p:extLst>
      <p:ext uri="{BB962C8B-B14F-4D97-AF65-F5344CB8AC3E}">
        <p14:creationId xmlns:p14="http://schemas.microsoft.com/office/powerpoint/2010/main" val="1081981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727"/>
          </a:xfrm>
        </p:spPr>
        <p:txBody>
          <a:bodyPr>
            <a:normAutofit fontScale="90000"/>
          </a:bodyPr>
          <a:lstStyle/>
          <a:p>
            <a:r>
              <a:rPr lang="en-US" dirty="0"/>
              <a:t>Multivalued Dependencies (MVD) and Decomposition Slide 2-15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2657"/>
            <a:ext cx="10515600" cy="46899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attributes (e.g. phone number) can be multivalued.</a:t>
            </a:r>
          </a:p>
          <a:p>
            <a:r>
              <a:rPr lang="en-US" dirty="0">
                <a:solidFill>
                  <a:srgbClr val="FF0000"/>
                </a:solidFill>
              </a:rPr>
              <a:t>BCNF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3NF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can’t handle multivalued attributes </a:t>
            </a:r>
            <a:r>
              <a:rPr lang="en-US" dirty="0"/>
              <a:t>well, especially the functional dependencies for these schemas.</a:t>
            </a:r>
          </a:p>
          <a:p>
            <a:endParaRPr lang="en-US" sz="800" dirty="0"/>
          </a:p>
          <a:p>
            <a:r>
              <a:rPr lang="en-US" dirty="0"/>
              <a:t>Slide 3 Multivalued Dependencies (examples)</a:t>
            </a:r>
          </a:p>
          <a:p>
            <a:pPr lvl="1"/>
            <a:r>
              <a:rPr lang="en-US" dirty="0"/>
              <a:t>(Instructor’s) ID, ISBN and </a:t>
            </a:r>
            <a:r>
              <a:rPr lang="en-US" dirty="0" err="1"/>
              <a:t>phone_number</a:t>
            </a:r>
            <a:r>
              <a:rPr lang="en-US" dirty="0"/>
              <a:t> are all keys.</a:t>
            </a:r>
          </a:p>
          <a:p>
            <a:pPr lvl="1"/>
            <a:r>
              <a:rPr lang="en-US" dirty="0"/>
              <a:t>There are </a:t>
            </a:r>
            <a:r>
              <a:rPr lang="en-US" dirty="0">
                <a:solidFill>
                  <a:srgbClr val="00B050"/>
                </a:solidFill>
              </a:rPr>
              <a:t>no functional dependencies</a:t>
            </a:r>
            <a:r>
              <a:rPr lang="en-US" dirty="0"/>
              <a:t>, so there are </a:t>
            </a:r>
            <a:r>
              <a:rPr lang="en-US" dirty="0">
                <a:solidFill>
                  <a:srgbClr val="00B050"/>
                </a:solidFill>
              </a:rPr>
              <a:t>no FD violations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Schemes are in </a:t>
            </a:r>
            <a:r>
              <a:rPr lang="en-US" dirty="0">
                <a:solidFill>
                  <a:srgbClr val="00B050"/>
                </a:solidFill>
              </a:rPr>
              <a:t>BCNF </a:t>
            </a:r>
            <a:r>
              <a:rPr lang="en-US" dirty="0"/>
              <a:t>and </a:t>
            </a:r>
            <a:r>
              <a:rPr lang="en-US" dirty="0">
                <a:solidFill>
                  <a:srgbClr val="00B050"/>
                </a:solidFill>
              </a:rPr>
              <a:t>3NF</a:t>
            </a:r>
            <a:r>
              <a:rPr lang="en-US" dirty="0"/>
              <a:t>.</a:t>
            </a:r>
          </a:p>
          <a:p>
            <a:endParaRPr lang="en-US" sz="800" dirty="0"/>
          </a:p>
          <a:p>
            <a:r>
              <a:rPr lang="en-US" dirty="0"/>
              <a:t>Slide 4 the combined table at bottom is </a:t>
            </a:r>
            <a:r>
              <a:rPr lang="en-US" dirty="0">
                <a:solidFill>
                  <a:srgbClr val="FF0000"/>
                </a:solidFill>
              </a:rPr>
              <a:t>in BCNF.</a:t>
            </a:r>
          </a:p>
          <a:p>
            <a:pPr lvl="1"/>
            <a:r>
              <a:rPr lang="en-US" dirty="0"/>
              <a:t>Lots of redundancies; need to decompose to another normal form.</a:t>
            </a:r>
          </a:p>
          <a:p>
            <a:pPr lvl="1"/>
            <a:r>
              <a:rPr lang="en-US" dirty="0"/>
              <a:t>The two tables at the top are good, already in that new normal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2754" y="365125"/>
            <a:ext cx="1076085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Do</a:t>
            </a:r>
          </a:p>
        </p:txBody>
      </p:sp>
    </p:spTree>
    <p:extLst>
      <p:ext uri="{BB962C8B-B14F-4D97-AF65-F5344CB8AC3E}">
        <p14:creationId xmlns:p14="http://schemas.microsoft.com/office/powerpoint/2010/main" val="1941388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537" y="870319"/>
            <a:ext cx="4391638" cy="212437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698502"/>
            <a:ext cx="7178040" cy="56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5-8 Multivalued Dependencies (MVDs)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41363" y="3342968"/>
            <a:ext cx="11097812" cy="30873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600" dirty="0"/>
              <a:t>The colors of the properties in Slide 5 approximately match the colors in the table.</a:t>
            </a:r>
          </a:p>
          <a:p>
            <a:pPr lvl="2"/>
            <a:r>
              <a:rPr lang="en-US" sz="2200" dirty="0"/>
              <a:t>Cells with the same color have the same values.</a:t>
            </a:r>
          </a:p>
          <a:p>
            <a:pPr lvl="2"/>
            <a:r>
              <a:rPr lang="en-US" sz="2200" dirty="0">
                <a:solidFill>
                  <a:srgbClr val="8E8E8E"/>
                </a:solidFill>
              </a:rPr>
              <a:t>1</a:t>
            </a:r>
            <a:r>
              <a:rPr lang="en-US" sz="2200" baseline="30000" dirty="0">
                <a:solidFill>
                  <a:srgbClr val="8E8E8E"/>
                </a:solidFill>
              </a:rPr>
              <a:t>st</a:t>
            </a:r>
            <a:r>
              <a:rPr lang="en-US" sz="2200" dirty="0">
                <a:solidFill>
                  <a:srgbClr val="8E8E8E"/>
                </a:solidFill>
              </a:rPr>
              <a:t> column</a:t>
            </a:r>
            <a:r>
              <a:rPr lang="en-US" sz="2200" dirty="0"/>
              <a:t> contains same value.</a:t>
            </a:r>
          </a:p>
          <a:p>
            <a:pPr lvl="2"/>
            <a:r>
              <a:rPr lang="en-US" sz="2200" dirty="0"/>
              <a:t>2</a:t>
            </a:r>
            <a:r>
              <a:rPr lang="en-US" sz="2200" baseline="30000" dirty="0"/>
              <a:t>nd</a:t>
            </a:r>
            <a:r>
              <a:rPr lang="en-US" sz="2200" dirty="0"/>
              <a:t> and 3</a:t>
            </a:r>
            <a:r>
              <a:rPr lang="en-US" sz="2200" baseline="30000" dirty="0"/>
              <a:t>rd</a:t>
            </a:r>
            <a:r>
              <a:rPr lang="en-US" sz="2200" dirty="0"/>
              <a:t> columns contain possible combinations of the 4 colors there; no redundancies in the combinations. </a:t>
            </a:r>
            <a:endParaRPr lang="en-US" sz="900" dirty="0"/>
          </a:p>
          <a:p>
            <a:r>
              <a:rPr lang="en-US" dirty="0"/>
              <a:t>In Slide 4 example </a:t>
            </a:r>
          </a:p>
          <a:p>
            <a:pPr lvl="1"/>
            <a:r>
              <a:rPr lang="en-US" dirty="0">
                <a:latin typeface="Symbol" panose="05050102010706020507" pitchFamily="18" charset="2"/>
              </a:rPr>
              <a:t>a</a:t>
            </a:r>
            <a:r>
              <a:rPr lang="en-US" dirty="0"/>
              <a:t> is ID (1</a:t>
            </a:r>
            <a:r>
              <a:rPr lang="en-US" baseline="30000" dirty="0"/>
              <a:t>st</a:t>
            </a:r>
            <a:r>
              <a:rPr lang="en-US" dirty="0"/>
              <a:t> column has same value; info for the same person).</a:t>
            </a:r>
          </a:p>
          <a:p>
            <a:pPr lvl="1"/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dirty="0"/>
              <a:t> is ISBN, R \ (</a:t>
            </a:r>
            <a:r>
              <a:rPr lang="en-US" dirty="0">
                <a:latin typeface="Symbol" panose="05050102010706020507" pitchFamily="18" charset="2"/>
              </a:rPr>
              <a:t>a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</a:t>
            </a:r>
            <a:r>
              <a:rPr lang="en-US" dirty="0"/>
              <a:t>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dirty="0"/>
              <a:t>) is </a:t>
            </a:r>
            <a:r>
              <a:rPr lang="en-US" dirty="0" err="1"/>
              <a:t>phone_number</a:t>
            </a:r>
            <a:r>
              <a:rPr lang="en-US" dirty="0"/>
              <a:t> (switch rows 2 and 3 in Slide 4).</a:t>
            </a:r>
          </a:p>
          <a:p>
            <a:pPr lvl="1"/>
            <a:r>
              <a:rPr lang="en-US" dirty="0"/>
              <a:t>Alternately we can have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dirty="0"/>
              <a:t> is </a:t>
            </a:r>
            <a:r>
              <a:rPr lang="en-US" dirty="0" err="1"/>
              <a:t>phone_number</a:t>
            </a:r>
            <a:r>
              <a:rPr lang="en-US" dirty="0"/>
              <a:t>, R \ (</a:t>
            </a:r>
            <a:r>
              <a:rPr lang="en-US" dirty="0">
                <a:latin typeface="Symbol" panose="05050102010706020507" pitchFamily="18" charset="2"/>
              </a:rPr>
              <a:t>a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</a:t>
            </a:r>
            <a:r>
              <a:rPr lang="en-US" dirty="0"/>
              <a:t>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dirty="0"/>
              <a:t>) is ISBN.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641363" y="1342267"/>
                <a:ext cx="6559777" cy="20007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ea typeface="宋体" charset="-122"/>
                    <a:sym typeface="Symbol" pitchFamily="18" charset="2"/>
                  </a:rPr>
                  <a:t>Define </a:t>
                </a:r>
                <a:r>
                  <a:rPr lang="en-US" altLang="zh-CN" i="1" dirty="0">
                    <a:latin typeface="Symbol" panose="05050102010706020507" pitchFamily="18" charset="2"/>
                    <a:ea typeface="宋体" charset="-122"/>
                    <a:sym typeface="Symbol" pitchFamily="18" charset="2"/>
                  </a:rPr>
                  <a:t>a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b="1" dirty="0" err="1">
                    <a:ea typeface="宋体" charset="-122"/>
                    <a:sym typeface="Symbol" pitchFamily="18" charset="2"/>
                  </a:rPr>
                  <a:t>multidetermines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i="1" dirty="0">
                    <a:latin typeface="Symbol" panose="05050102010706020507" pitchFamily="18" charset="2"/>
                    <a:ea typeface="宋体" charset="-122"/>
                    <a:sym typeface="Symbol" pitchFamily="18" charset="2"/>
                  </a:rPr>
                  <a:t>b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, denoted by </a:t>
                </a:r>
                <a14:m>
                  <m:oMath xmlns:m="http://schemas.openxmlformats.org/officeDocument/2006/math"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↠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dirty="0"/>
                  <a:t>, if it has the properties specified by the table (and at bottom half of Slide 5).</a:t>
                </a:r>
              </a:p>
              <a:p>
                <a:pPr lvl="1"/>
                <a:r>
                  <a:rPr lang="en-US" dirty="0"/>
                  <a:t>Verify all the properties in Slide 5 are true in the table at right (taken from Slide 6).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63" y="1342267"/>
                <a:ext cx="6559777" cy="2000701"/>
              </a:xfrm>
              <a:prstGeom prst="rect">
                <a:avLst/>
              </a:prstGeom>
              <a:blipFill rotWithShape="0">
                <a:blip r:embed="rId3"/>
                <a:stretch>
                  <a:fillRect l="-1673" t="-5793" r="-3067" b="-5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201140" y="48917"/>
            <a:ext cx="1076085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Do</a:t>
            </a:r>
          </a:p>
        </p:txBody>
      </p:sp>
    </p:spTree>
    <p:extLst>
      <p:ext uri="{BB962C8B-B14F-4D97-AF65-F5344CB8AC3E}">
        <p14:creationId xmlns:p14="http://schemas.microsoft.com/office/powerpoint/2010/main" val="2632576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630936" y="618903"/>
                <a:ext cx="10503408" cy="56182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Slide 7-8 	(intuitive meaning)	</a:t>
                </a:r>
                <a:endParaRPr lang="en-US" sz="8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 Z 	 is true IFF</a:t>
                </a:r>
              </a:p>
              <a:p>
                <a:pPr marL="0" indent="0">
                  <a:buNone/>
                </a:pPr>
                <a:r>
                  <a:rPr lang="en-US" dirty="0"/>
                  <a:t>Given the table (in Slide 6) with rows  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t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1</a:t>
                </a:r>
                <a:r>
                  <a:rPr lang="en-US" dirty="0"/>
                  <a:t>, 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t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2</a:t>
                </a:r>
                <a:r>
                  <a:rPr lang="en-US" dirty="0"/>
                  <a:t>, 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t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3</a:t>
                </a:r>
                <a:r>
                  <a:rPr lang="en-US" dirty="0"/>
                  <a:t>, 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t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4</a:t>
                </a:r>
                <a:r>
                  <a:rPr lang="en-US" dirty="0"/>
                  <a:t> with </a:t>
                </a:r>
              </a:p>
              <a:p>
                <a:pPr marL="457200" lvl="1" indent="0">
                  <a:buNone/>
                </a:pP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t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1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= 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&lt; </a:t>
                </a:r>
                <a:r>
                  <a:rPr lang="en-US" altLang="zh-CN" i="1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y</a:t>
                </a:r>
                <a:r>
                  <a:rPr lang="en-US" altLang="zh-CN" baseline="-25000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1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:r>
                  <a:rPr lang="en-US" altLang="zh-CN" i="1" dirty="0">
                    <a:solidFill>
                      <a:srgbClr val="CC9900"/>
                    </a:solidFill>
                    <a:ea typeface="宋体" charset="-122"/>
                    <a:sym typeface="Monotype Sorts" pitchFamily="2" charset="2"/>
                  </a:rPr>
                  <a:t>z</a:t>
                </a:r>
                <a:r>
                  <a:rPr lang="en-US" altLang="zh-CN" baseline="-25000" dirty="0">
                    <a:solidFill>
                      <a:srgbClr val="CC9900"/>
                    </a:solidFill>
                    <a:ea typeface="宋体" charset="-122"/>
                    <a:sym typeface="Monotype Sorts" pitchFamily="2" charset="2"/>
                  </a:rPr>
                  <a:t>1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:r>
                  <a:rPr lang="en-US" altLang="zh-CN" i="1" dirty="0">
                    <a:solidFill>
                      <a:srgbClr val="00B0F0"/>
                    </a:solidFill>
                    <a:ea typeface="宋体" charset="-122"/>
                    <a:sym typeface="Monotype Sorts" pitchFamily="2" charset="2"/>
                  </a:rPr>
                  <a:t>w</a:t>
                </a:r>
                <a:r>
                  <a:rPr lang="en-US" altLang="zh-CN" baseline="-25000" dirty="0">
                    <a:solidFill>
                      <a:srgbClr val="00B0F0"/>
                    </a:solidFill>
                    <a:ea typeface="宋体" charset="-122"/>
                    <a:sym typeface="Monotype Sorts" pitchFamily="2" charset="2"/>
                  </a:rPr>
                  <a:t>1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&gt;</a:t>
                </a:r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,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	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t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2</a:t>
                </a:r>
                <a:r>
                  <a:rPr lang="en-US" dirty="0"/>
                  <a:t> = 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&lt; </a:t>
                </a:r>
                <a:r>
                  <a:rPr lang="en-US" altLang="zh-CN" i="1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y</a:t>
                </a:r>
                <a:r>
                  <a:rPr lang="en-US" altLang="zh-CN" baseline="-25000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1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:r>
                  <a:rPr lang="en-US" altLang="zh-CN" i="1" dirty="0">
                    <a:solidFill>
                      <a:srgbClr val="00B050"/>
                    </a:solidFill>
                    <a:ea typeface="宋体" charset="-122"/>
                    <a:sym typeface="Monotype Sorts" pitchFamily="2" charset="2"/>
                  </a:rPr>
                  <a:t>z</a:t>
                </a:r>
                <a:r>
                  <a:rPr lang="en-US" altLang="zh-CN" baseline="-25000" dirty="0">
                    <a:solidFill>
                      <a:srgbClr val="00B050"/>
                    </a:solidFill>
                    <a:ea typeface="宋体" charset="-122"/>
                    <a:sym typeface="Monotype Sorts" pitchFamily="2" charset="2"/>
                  </a:rPr>
                  <a:t>2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:r>
                  <a:rPr lang="en-US" altLang="zh-CN" i="1" dirty="0">
                    <a:solidFill>
                      <a:srgbClr val="FF6D6D"/>
                    </a:solidFill>
                    <a:ea typeface="宋体" charset="-122"/>
                    <a:sym typeface="Monotype Sorts" pitchFamily="2" charset="2"/>
                  </a:rPr>
                  <a:t>w</a:t>
                </a:r>
                <a:r>
                  <a:rPr lang="en-US" altLang="zh-CN" baseline="-25000" dirty="0">
                    <a:solidFill>
                      <a:srgbClr val="FF6D6D"/>
                    </a:solidFill>
                    <a:ea typeface="宋体" charset="-122"/>
                    <a:sym typeface="Monotype Sorts" pitchFamily="2" charset="2"/>
                  </a:rPr>
                  <a:t>2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&gt;,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t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3</a:t>
                </a:r>
                <a:r>
                  <a:rPr lang="en-US" dirty="0"/>
                  <a:t> = 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&lt; </a:t>
                </a:r>
                <a:r>
                  <a:rPr lang="en-US" altLang="zh-CN" i="1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y</a:t>
                </a:r>
                <a:r>
                  <a:rPr lang="en-US" altLang="zh-CN" baseline="-25000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1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:r>
                  <a:rPr lang="en-US" altLang="zh-CN" i="1" dirty="0">
                    <a:solidFill>
                      <a:srgbClr val="CC9900"/>
                    </a:solidFill>
                    <a:ea typeface="宋体" charset="-122"/>
                    <a:sym typeface="Monotype Sorts" pitchFamily="2" charset="2"/>
                  </a:rPr>
                  <a:t>z</a:t>
                </a:r>
                <a:r>
                  <a:rPr lang="en-US" altLang="zh-CN" baseline="-25000" dirty="0">
                    <a:solidFill>
                      <a:srgbClr val="CC9900"/>
                    </a:solidFill>
                    <a:ea typeface="宋体" charset="-122"/>
                    <a:sym typeface="Monotype Sorts" pitchFamily="2" charset="2"/>
                  </a:rPr>
                  <a:t>1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:r>
                  <a:rPr lang="en-US" altLang="zh-CN" i="1" dirty="0">
                    <a:solidFill>
                      <a:srgbClr val="FF6D6D"/>
                    </a:solidFill>
                    <a:ea typeface="宋体" charset="-122"/>
                    <a:sym typeface="Monotype Sorts" pitchFamily="2" charset="2"/>
                  </a:rPr>
                  <a:t>w</a:t>
                </a:r>
                <a:r>
                  <a:rPr lang="en-US" altLang="zh-CN" baseline="-25000" dirty="0">
                    <a:solidFill>
                      <a:srgbClr val="FF6D6D"/>
                    </a:solidFill>
                    <a:ea typeface="宋体" charset="-122"/>
                    <a:sym typeface="Monotype Sorts" pitchFamily="2" charset="2"/>
                  </a:rPr>
                  <a:t>2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&gt;</a:t>
                </a:r>
                <a:r>
                  <a:rPr lang="en-US" dirty="0"/>
                  <a:t>,	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t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4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</a:t>
                </a:r>
                <a:r>
                  <a:rPr lang="en-US" altLang="zh-CN" dirty="0">
                    <a:sym typeface="Greek Symbols" pitchFamily="18" charset="2"/>
                  </a:rPr>
                  <a:t>= 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&lt; </a:t>
                </a:r>
                <a:r>
                  <a:rPr lang="en-US" altLang="zh-CN" i="1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y</a:t>
                </a:r>
                <a:r>
                  <a:rPr lang="en-US" altLang="zh-CN" baseline="-25000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1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:r>
                  <a:rPr lang="en-US" altLang="zh-CN" i="1" dirty="0">
                    <a:solidFill>
                      <a:srgbClr val="00B050"/>
                    </a:solidFill>
                    <a:ea typeface="宋体" charset="-122"/>
                    <a:sym typeface="Monotype Sorts" pitchFamily="2" charset="2"/>
                  </a:rPr>
                  <a:t>z</a:t>
                </a:r>
                <a:r>
                  <a:rPr lang="en-US" altLang="zh-CN" baseline="-25000" dirty="0">
                    <a:solidFill>
                      <a:srgbClr val="00B050"/>
                    </a:solidFill>
                    <a:ea typeface="宋体" charset="-122"/>
                    <a:sym typeface="Monotype Sorts" pitchFamily="2" charset="2"/>
                  </a:rPr>
                  <a:t>2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:r>
                  <a:rPr lang="en-US" altLang="zh-CN" i="1" dirty="0">
                    <a:solidFill>
                      <a:srgbClr val="00B0F0"/>
                    </a:solidFill>
                    <a:ea typeface="宋体" charset="-122"/>
                    <a:sym typeface="Monotype Sorts" pitchFamily="2" charset="2"/>
                  </a:rPr>
                  <a:t>w</a:t>
                </a:r>
                <a:r>
                  <a:rPr lang="en-US" altLang="zh-CN" baseline="-25000" dirty="0">
                    <a:solidFill>
                      <a:srgbClr val="00B0F0"/>
                    </a:solidFill>
                    <a:ea typeface="宋体" charset="-122"/>
                    <a:sym typeface="Monotype Sorts" pitchFamily="2" charset="2"/>
                  </a:rPr>
                  <a:t>1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&gt;</a:t>
                </a:r>
              </a:p>
              <a:p>
                <a:pPr lvl="1"/>
                <a:r>
                  <a:rPr lang="en-US" altLang="zh-CN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1</a:t>
                </a:r>
                <a:r>
                  <a:rPr lang="en-US" altLang="zh-CN" baseline="30000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st</a:t>
                </a:r>
                <a:r>
                  <a:rPr lang="en-US" altLang="zh-CN" dirty="0">
                    <a:solidFill>
                      <a:srgbClr val="8E8E8E"/>
                    </a:solidFill>
                    <a:ea typeface="宋体" charset="-122"/>
                    <a:sym typeface="Monotype Sorts" pitchFamily="2" charset="2"/>
                  </a:rPr>
                  <a:t> column 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same, 2</a:t>
                </a:r>
                <a:r>
                  <a:rPr lang="en-US" altLang="zh-CN" baseline="30000" dirty="0">
                    <a:ea typeface="宋体" charset="-122"/>
                    <a:sym typeface="Monotype Sorts" pitchFamily="2" charset="2"/>
                  </a:rPr>
                  <a:t>nd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and 3</a:t>
                </a:r>
                <a:r>
                  <a:rPr lang="en-US" altLang="zh-CN" baseline="30000" dirty="0">
                    <a:ea typeface="宋体" charset="-122"/>
                    <a:sym typeface="Monotype Sorts" pitchFamily="2" charset="2"/>
                  </a:rPr>
                  <a:t>rd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columns for different combinations in Slide 6.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If</a:t>
                </a:r>
                <a:r>
                  <a:rPr lang="en-US" dirty="0">
                    <a:solidFill>
                      <a:srgbClr val="FF0000"/>
                    </a:solidFill>
                  </a:rPr>
                  <a:t> rows 1 and 2 are in the table, </a:t>
                </a:r>
                <a:r>
                  <a:rPr lang="en-US" b="1" dirty="0">
                    <a:solidFill>
                      <a:srgbClr val="FF0000"/>
                    </a:solidFill>
                  </a:rPr>
                  <a:t>then</a:t>
                </a:r>
                <a:r>
                  <a:rPr lang="en-US" dirty="0">
                    <a:solidFill>
                      <a:srgbClr val="FF0000"/>
                    </a:solidFill>
                  </a:rPr>
                  <a:t> rows 3 and 4 are also be in table</a:t>
                </a:r>
                <a:r>
                  <a:rPr lang="en-US" dirty="0"/>
                  <a:t>.</a:t>
                </a:r>
                <a:endParaRPr lang="en-US" sz="800" dirty="0"/>
              </a:p>
              <a:p>
                <a:r>
                  <a:rPr lang="en-US" dirty="0"/>
                  <a:t>Equivalently, if rows 3 and 4 are in the table, then rows 1 and 2 also.</a:t>
                </a:r>
              </a:p>
              <a:p>
                <a:pPr lvl="1"/>
                <a:r>
                  <a:rPr lang="en-US" dirty="0"/>
                  <a:t>So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 Z and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 W are equivalent. </a:t>
                </a:r>
              </a:p>
              <a:p>
                <a:pPr marL="0" indent="0">
                  <a:buNone/>
                </a:pPr>
                <a:endParaRPr lang="en-US" sz="900" dirty="0"/>
              </a:p>
              <a:p>
                <a:pPr marL="0" indent="0">
                  <a:buNone/>
                </a:pPr>
                <a:r>
                  <a:rPr lang="en-US" dirty="0"/>
                  <a:t>Slide 8</a:t>
                </a:r>
              </a:p>
              <a:p>
                <a:r>
                  <a:rPr lang="en-US" dirty="0"/>
                  <a:t>ID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ISBN, </a:t>
                </a:r>
                <a:r>
                  <a:rPr lang="en-US" dirty="0" err="1"/>
                  <a:t>phone_number</a:t>
                </a:r>
                <a:endParaRPr lang="en-US" dirty="0"/>
              </a:p>
              <a:p>
                <a:r>
                  <a:rPr lang="en-US" dirty="0"/>
                  <a:t>The ID </a:t>
                </a:r>
                <a:r>
                  <a:rPr lang="en-US" dirty="0">
                    <a:solidFill>
                      <a:srgbClr val="FF6D6D"/>
                    </a:solidFill>
                  </a:rPr>
                  <a:t>multi-determines</a:t>
                </a:r>
                <a:r>
                  <a:rPr lang="en-US" dirty="0"/>
                  <a:t> ISBN and </a:t>
                </a:r>
                <a:r>
                  <a:rPr lang="en-US" dirty="0" err="1"/>
                  <a:t>phone_number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618903"/>
                <a:ext cx="10503408" cy="5618267"/>
              </a:xfrm>
              <a:prstGeom prst="rect">
                <a:avLst/>
              </a:prstGeom>
              <a:blipFill rotWithShape="0">
                <a:blip r:embed="rId2"/>
                <a:stretch>
                  <a:fillRect l="-1219" t="-2497" r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8176070" y="530412"/>
            <a:ext cx="2015680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Mention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9548" y="4449971"/>
            <a:ext cx="1976196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/>
            <a:r>
              <a:rPr kumimoji="1" lang="en-US" sz="3600" b="1" dirty="0">
                <a:solidFill>
                  <a:srgbClr val="FF0000"/>
                </a:solidFill>
              </a:rPr>
              <a:t>Mention</a:t>
            </a:r>
          </a:p>
        </p:txBody>
      </p:sp>
    </p:spTree>
    <p:extLst>
      <p:ext uri="{BB962C8B-B14F-4D97-AF65-F5344CB8AC3E}">
        <p14:creationId xmlns:p14="http://schemas.microsoft.com/office/powerpoint/2010/main" val="4001222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934" y="577516"/>
            <a:ext cx="10722864" cy="5062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9 Use of Multivalued Dependencies</a:t>
            </a:r>
          </a:p>
          <a:p>
            <a:r>
              <a:rPr lang="en-US" dirty="0"/>
              <a:t>Suppose we want </a:t>
            </a:r>
            <a:r>
              <a:rPr lang="el-GR" altLang="zh-CN" dirty="0">
                <a:ea typeface="宋体" charset="-122"/>
                <a:sym typeface="Symbol" pitchFamily="18" charset="2"/>
              </a:rPr>
              <a:t>α</a:t>
            </a:r>
            <a:r>
              <a:rPr lang="en-US" altLang="zh-CN" dirty="0">
                <a:ea typeface="宋体" charset="-122"/>
                <a:sym typeface="Greek Symbols" pitchFamily="18" charset="2"/>
              </a:rPr>
              <a:t> </a:t>
            </a:r>
            <a:r>
              <a:rPr lang="en-US" altLang="zh-CN" dirty="0"/>
              <a:t>↠</a:t>
            </a:r>
            <a:r>
              <a:rPr lang="en-US" altLang="zh-CN" dirty="0">
                <a:ea typeface="宋体" charset="-122"/>
                <a:sym typeface="Monotype Sorts" pitchFamily="2" charset="2"/>
              </a:rPr>
              <a:t> </a:t>
            </a:r>
            <a:r>
              <a:rPr lang="el-GR" altLang="zh-CN" dirty="0">
                <a:ea typeface="宋体" charset="-122"/>
                <a:sym typeface="Symbol" pitchFamily="18" charset="2"/>
              </a:rPr>
              <a:t>β</a:t>
            </a:r>
            <a:r>
              <a:rPr lang="en-US" altLang="zh-CN" dirty="0">
                <a:ea typeface="宋体" charset="-122"/>
                <a:sym typeface="Symbol" pitchFamily="18" charset="2"/>
              </a:rPr>
              <a:t>, but some dependencies are missing.</a:t>
            </a:r>
          </a:p>
          <a:p>
            <a:pPr lvl="1"/>
            <a:r>
              <a:rPr lang="en-US" dirty="0"/>
              <a:t>E.g. only 3 of the 4 rows are true in the table in Slide 6.</a:t>
            </a:r>
          </a:p>
          <a:p>
            <a:r>
              <a:rPr lang="en-US" dirty="0"/>
              <a:t>We can create a new schema by adding the missing row to the table.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64560" y="373096"/>
            <a:ext cx="1646356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SKIP</a:t>
            </a:r>
          </a:p>
        </p:txBody>
      </p:sp>
    </p:spTree>
    <p:extLst>
      <p:ext uri="{BB962C8B-B14F-4D97-AF65-F5344CB8AC3E}">
        <p14:creationId xmlns:p14="http://schemas.microsoft.com/office/powerpoint/2010/main" val="367827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0936" y="698500"/>
                <a:ext cx="10722864" cy="56931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Slide 10 Theory of MVDs, compare with FDs </a:t>
                </a:r>
              </a:p>
              <a:p>
                <a:r>
                  <a:rPr lang="en-US" dirty="0"/>
                  <a:t>For </a:t>
                </a:r>
                <a:r>
                  <a:rPr lang="en-US" dirty="0">
                    <a:solidFill>
                      <a:srgbClr val="FF0000"/>
                    </a:solidFill>
                  </a:rPr>
                  <a:t>functional dependency </a:t>
                </a:r>
                <a:r>
                  <a:rPr lang="en-US" dirty="0"/>
                  <a:t>(FD)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a </a:t>
                </a:r>
                <a:r>
                  <a:rPr lang="en-US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 panose="05050102010706020507" pitchFamily="18" charset="2"/>
                  </a:rPr>
                  <a:t>→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</a:rPr>
                  <a:t>(</a:t>
                </a:r>
                <a:r>
                  <a:rPr lang="en-US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dirty="0">
                    <a:solidFill>
                      <a:srgbClr val="00B050"/>
                    </a:solidFill>
                  </a:rPr>
                  <a:t>determines</a:t>
                </a:r>
                <a:r>
                  <a:rPr lang="en-US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US" dirty="0">
                    <a:solidFill>
                      <a:prstClr val="black"/>
                    </a:solidFill>
                  </a:rPr>
                  <a:t>),</a:t>
                </a:r>
                <a:r>
                  <a:rPr lang="en-US" dirty="0"/>
                  <a:t> in schema R with </a:t>
                </a:r>
                <a:r>
                  <a:rPr lang="en-US" dirty="0">
                    <a:solidFill>
                      <a:srgbClr val="0070C0"/>
                    </a:solidFill>
                  </a:rPr>
                  <a:t>functional dependencies F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prstClr val="black"/>
                    </a:solidFill>
                  </a:rPr>
                  <a:t>we define (Lecture 10 BCNF)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as the closure of F,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as the decomposition of R,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as subset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that only contains attributes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For </a:t>
                </a:r>
                <a:r>
                  <a:rPr lang="en-US" dirty="0">
                    <a:solidFill>
                      <a:srgbClr val="FF0000"/>
                    </a:solidFill>
                  </a:rPr>
                  <a:t>functional multivalued dependency </a:t>
                </a:r>
                <a:r>
                  <a:rPr lang="en-US" dirty="0"/>
                  <a:t>(MVD)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b </a:t>
                </a:r>
                <a:r>
                  <a:rPr lang="en-US" dirty="0">
                    <a:solidFill>
                      <a:prstClr val="black"/>
                    </a:solidFill>
                  </a:rPr>
                  <a:t>(</a:t>
                </a:r>
                <a:r>
                  <a:rPr lang="en-US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</a:rPr>
                  <a:t>multi</a:t>
                </a:r>
                <a:r>
                  <a:rPr lang="en-US" dirty="0">
                    <a:solidFill>
                      <a:srgbClr val="00B050"/>
                    </a:solidFill>
                  </a:rPr>
                  <a:t>-determines</a:t>
                </a:r>
                <a:r>
                  <a:rPr lang="en-US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US" dirty="0">
                    <a:solidFill>
                      <a:prstClr val="black"/>
                    </a:solidFill>
                  </a:rPr>
                  <a:t>),</a:t>
                </a:r>
                <a:r>
                  <a:rPr lang="en-US" dirty="0"/>
                  <a:t> in schema R with </a:t>
                </a:r>
                <a:r>
                  <a:rPr lang="en-US" dirty="0">
                    <a:solidFill>
                      <a:srgbClr val="0070C0"/>
                    </a:solidFill>
                  </a:rPr>
                  <a:t>functional multivalued dependencies D</a:t>
                </a:r>
                <a:r>
                  <a:rPr lang="en-US" dirty="0">
                    <a:solidFill>
                      <a:prstClr val="black"/>
                    </a:solidFill>
                  </a:rPr>
                  <a:t>, define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as the closure of D,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as the decomposition of R,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as subset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that only contains attributes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Basically </a:t>
                </a:r>
                <a:r>
                  <a:rPr lang="en-US" b="1" dirty="0"/>
                  <a:t>same idea </a:t>
                </a:r>
                <a:r>
                  <a:rPr lang="en-US" dirty="0"/>
                  <a:t>except we use </a:t>
                </a:r>
                <a:r>
                  <a:rPr lang="en-US" b="1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instead of </a:t>
                </a:r>
                <a:r>
                  <a:rPr lang="en-US" b="1" dirty="0">
                    <a:latin typeface="Symbol" panose="05050102010706020507" pitchFamily="18" charset="2"/>
                  </a:rPr>
                  <a:t>a 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  <a:sym typeface="Symbol" panose="05050102010706020507" pitchFamily="18" charset="2"/>
                  </a:rPr>
                  <a:t>→ </a:t>
                </a:r>
                <a:r>
                  <a:rPr lang="en-US" b="1" dirty="0">
                    <a:latin typeface="Symbol" panose="05050102010706020507" pitchFamily="18" charset="2"/>
                  </a:rPr>
                  <a:t>b</a:t>
                </a:r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698500"/>
                <a:ext cx="10722864" cy="5693156"/>
              </a:xfrm>
              <a:blipFill>
                <a:blip r:embed="rId2"/>
                <a:stretch>
                  <a:fillRect l="-1194" t="-1820" b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306101" y="266845"/>
            <a:ext cx="1076085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Do</a:t>
            </a:r>
          </a:p>
        </p:txBody>
      </p:sp>
    </p:spTree>
    <p:extLst>
      <p:ext uri="{BB962C8B-B14F-4D97-AF65-F5344CB8AC3E}">
        <p14:creationId xmlns:p14="http://schemas.microsoft.com/office/powerpoint/2010/main" val="2296486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5790" y="530352"/>
                <a:ext cx="10835640" cy="59733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Slide 11 Fourth Normal Form</a:t>
                </a:r>
              </a:p>
              <a:p>
                <a:r>
                  <a:rPr lang="en-US" dirty="0"/>
                  <a:t>Using functional dependencies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a </a:t>
                </a:r>
                <a:r>
                  <a:rPr lang="en-US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 panose="05050102010706020507" pitchFamily="18" charset="2"/>
                  </a:rPr>
                  <a:t>→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in last slide, we defined </a:t>
                </a:r>
                <a:r>
                  <a:rPr lang="en-US" b="1" dirty="0"/>
                  <a:t>BCNF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Using functional multivalued dependencies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in last slide, we define the </a:t>
                </a:r>
                <a:r>
                  <a:rPr lang="en-US" b="1" dirty="0"/>
                  <a:t>fourth normal form (4NF</a:t>
                </a:r>
                <a:r>
                  <a:rPr lang="en-US" dirty="0"/>
                  <a:t>).</a:t>
                </a:r>
              </a:p>
              <a:p>
                <a:r>
                  <a:rPr lang="en-US" dirty="0"/>
                  <a:t>Example at bottom: </a:t>
                </a:r>
                <a:r>
                  <a:rPr lang="en-US" dirty="0" err="1"/>
                  <a:t>bor_con</a:t>
                </a:r>
                <a:r>
                  <a:rPr lang="en-US" dirty="0"/>
                  <a:t> on Slide 4 is not in 4NF</a:t>
                </a:r>
              </a:p>
              <a:p>
                <a:pPr lvl="1"/>
                <a:r>
                  <a:rPr lang="en-US" dirty="0"/>
                  <a:t>id is not a </a:t>
                </a:r>
                <a:r>
                  <a:rPr lang="en-US" dirty="0" err="1"/>
                  <a:t>superkey</a:t>
                </a:r>
                <a:r>
                  <a:rPr lang="en-US" dirty="0"/>
                  <a:t> of </a:t>
                </a:r>
                <a:r>
                  <a:rPr lang="en-US" dirty="0" err="1"/>
                  <a:t>bor_con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So we should decompose </a:t>
                </a:r>
                <a:r>
                  <a:rPr lang="en-US" dirty="0" err="1"/>
                  <a:t>bor_con</a:t>
                </a:r>
                <a:r>
                  <a:rPr lang="en-US" dirty="0"/>
                  <a:t> into separate tables for ID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ISBN and ID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 err="1"/>
                  <a:t>pnone_number</a:t>
                </a:r>
                <a:r>
                  <a:rPr lang="en-US" dirty="0"/>
                  <a:t> to reduce redundancies.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790" y="530352"/>
                <a:ext cx="10835640" cy="5973318"/>
              </a:xfrm>
              <a:blipFill rotWithShape="0">
                <a:blip r:embed="rId2"/>
                <a:stretch>
                  <a:fillRect l="-1125" t="-1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140792" y="207852"/>
            <a:ext cx="1076085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Do</a:t>
            </a:r>
          </a:p>
        </p:txBody>
      </p:sp>
    </p:spTree>
    <p:extLst>
      <p:ext uri="{BB962C8B-B14F-4D97-AF65-F5344CB8AC3E}">
        <p14:creationId xmlns:p14="http://schemas.microsoft.com/office/powerpoint/2010/main" val="2152892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5790" y="530352"/>
                <a:ext cx="10835640" cy="59733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Slide 13 4NF Decomposition algorithm</a:t>
                </a:r>
              </a:p>
              <a:p>
                <a:r>
                  <a:rPr lang="en-US" dirty="0"/>
                  <a:t>Basically </a:t>
                </a:r>
                <a:r>
                  <a:rPr lang="en-US" dirty="0">
                    <a:solidFill>
                      <a:srgbClr val="FF0000"/>
                    </a:solidFill>
                  </a:rPr>
                  <a:t>same as BCNF</a:t>
                </a:r>
                <a:r>
                  <a:rPr lang="en-US" dirty="0"/>
                  <a:t> decomposition, except use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instead of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a </a:t>
                </a:r>
                <a:r>
                  <a:rPr lang="en-US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 panose="05050102010706020507" pitchFamily="18" charset="2"/>
                  </a:rPr>
                  <a:t>→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As with BCNF, the decomposition is lossless-join (Lecture 10 BCNF)</a:t>
                </a:r>
              </a:p>
              <a:p>
                <a:pPr lvl="1"/>
                <a:r>
                  <a:rPr lang="en-US" dirty="0"/>
                  <a:t>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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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If </a:t>
                </a:r>
                <a:r>
                  <a:rPr lang="en-US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b </a:t>
                </a:r>
                <a:r>
                  <a:rPr lang="en-US" dirty="0">
                    <a:solidFill>
                      <a:prstClr val="black"/>
                    </a:solidFill>
                  </a:rPr>
                  <a:t>is violated in</a:t>
                </a:r>
                <a:r>
                  <a:rPr lang="en-US" dirty="0"/>
                  <a:t> 4NF, decompose that subschema into 2 smaller subschemas (line 5 of algorithm):</a:t>
                </a:r>
              </a:p>
              <a:p>
                <a:pPr lvl="1"/>
                <a:r>
                  <a:rPr lang="en-US" dirty="0"/>
                  <a:t>One subschema contains attributes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 and </a:t>
                </a:r>
                <a:r>
                  <a:rPr lang="en-US" dirty="0"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from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. (“good” part”)</a:t>
                </a:r>
              </a:p>
              <a:p>
                <a:pPr lvl="1"/>
                <a:r>
                  <a:rPr lang="en-US" dirty="0"/>
                  <a:t>Other subschema is previous subschema with </a:t>
                </a:r>
                <a:r>
                  <a:rPr lang="en-US" dirty="0"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removed. (“leftover part”)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790" y="530352"/>
                <a:ext cx="10835640" cy="5973318"/>
              </a:xfrm>
              <a:blipFill rotWithShape="0">
                <a:blip r:embed="rId2"/>
                <a:stretch>
                  <a:fillRect l="-1125" t="-1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025695" y="306173"/>
            <a:ext cx="3602976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/>
            <a:r>
              <a:rPr kumimoji="1" lang="en-US" sz="4400" b="1" dirty="0">
                <a:solidFill>
                  <a:srgbClr val="FF0000"/>
                </a:solidFill>
              </a:rPr>
              <a:t>Do first line</a:t>
            </a:r>
          </a:p>
        </p:txBody>
      </p:sp>
    </p:spTree>
    <p:extLst>
      <p:ext uri="{BB962C8B-B14F-4D97-AF65-F5344CB8AC3E}">
        <p14:creationId xmlns:p14="http://schemas.microsoft.com/office/powerpoint/2010/main" val="1708563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0936" y="698500"/>
                <a:ext cx="10722864" cy="54784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Slide 14 Example, basically same as BCNF decomposition.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D</a:t>
                </a:r>
                <a:r>
                  <a:rPr lang="en-US" dirty="0"/>
                  <a:t> = {A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B, 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HI, CG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H},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BCNF.</a:t>
                </a:r>
              </a:p>
              <a:p>
                <a:r>
                  <a:rPr lang="en-US" altLang="zh-CN" dirty="0">
                    <a:ea typeface="宋体" charset="-122"/>
                  </a:rPr>
                  <a:t>D</a:t>
                </a:r>
                <a:r>
                  <a:rPr lang="en-US" altLang="zh-CN" baseline="30000" dirty="0">
                    <a:ea typeface="宋体" charset="-122"/>
                  </a:rPr>
                  <a:t>+</a:t>
                </a:r>
                <a:r>
                  <a:rPr lang="en-US" dirty="0"/>
                  <a:t> = {A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B, 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HI, CG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H}</a:t>
                </a:r>
                <a:r>
                  <a:rPr lang="en-US" baseline="30000" dirty="0"/>
                  <a:t>+</a:t>
                </a:r>
                <a:r>
                  <a:rPr lang="en-US" dirty="0"/>
                  <a:t> = {A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B, 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HI, </a:t>
                </a:r>
                <a:r>
                  <a:rPr lang="en-US" dirty="0">
                    <a:solidFill>
                      <a:srgbClr val="00B050"/>
                    </a:solidFill>
                  </a:rPr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HI</a:t>
                </a:r>
                <a:r>
                  <a:rPr lang="en-US" dirty="0"/>
                  <a:t>, CG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H}</a:t>
                </a:r>
                <a:r>
                  <a:rPr lang="en-US" baseline="30000" dirty="0"/>
                  <a:t>+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Decom of R: </a:t>
                </a:r>
              </a:p>
              <a:p>
                <a:pPr lvl="1"/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={A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B}, </a:t>
                </a:r>
                <a:r>
                  <a:rPr lang="en-US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= {attributes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} = </a:t>
                </a:r>
                <a:r>
                  <a:rPr lang="en-US" dirty="0">
                    <a:solidFill>
                      <a:srgbClr val="00B050"/>
                    </a:solidFill>
                  </a:rPr>
                  <a:t>{A, B}</a:t>
                </a:r>
                <a:r>
                  <a:rPr lang="en-US" dirty="0"/>
                  <a:t>; nice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R \ {B} = {A, C, G, H, I},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altLang="zh-CN" dirty="0">
                    <a:ea typeface="宋体" charset="-122"/>
                  </a:rPr>
                  <a:t>D</a:t>
                </a:r>
                <a:r>
                  <a:rPr lang="en-US" altLang="zh-CN" baseline="30000" dirty="0">
                    <a:ea typeface="宋体" charset="-122"/>
                  </a:rPr>
                  <a:t>+</a:t>
                </a:r>
                <a:r>
                  <a:rPr lang="en-US" dirty="0"/>
                  <a:t> \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{A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HI, CG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H}; leftover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only contains MVDs for attributes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; </a:t>
                </a:r>
                <a:r>
                  <a:rPr lang="en-US" dirty="0">
                    <a:solidFill>
                      <a:srgbClr val="FF0000"/>
                    </a:solidFill>
                  </a:rPr>
                  <a:t>didn’t preserve B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HI </a:t>
                </a:r>
                <a:r>
                  <a:rPr lang="en-US" dirty="0"/>
                  <a:t>because B is not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Decom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= {CG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H}, </a:t>
                </a:r>
                <a:r>
                  <a:rPr lang="en-US" dirty="0"/>
                  <a:t>then </a:t>
                </a:r>
                <a:r>
                  <a:rPr lang="en-US" altLang="zh-CN" i="1" dirty="0">
                    <a:solidFill>
                      <a:srgbClr val="00B050"/>
                    </a:solidFill>
                    <a:ea typeface="宋体" charset="-122"/>
                  </a:rPr>
                  <a:t>R</a:t>
                </a:r>
                <a:r>
                  <a:rPr lang="en-US" altLang="zh-CN" baseline="-25000" dirty="0">
                    <a:solidFill>
                      <a:srgbClr val="00B05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B050"/>
                    </a:solidFill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= {attributes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} = </a:t>
                </a:r>
                <a:r>
                  <a:rPr lang="en-US" altLang="zh-CN" dirty="0"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rgbClr val="00B050"/>
                    </a:solidFill>
                    <a:ea typeface="宋体" charset="-122"/>
                  </a:rPr>
                  <a:t>{</a:t>
                </a:r>
                <a:r>
                  <a:rPr lang="en-US" altLang="zh-CN" i="1" dirty="0">
                    <a:solidFill>
                      <a:srgbClr val="00B050"/>
                    </a:solidFill>
                    <a:ea typeface="宋体" charset="-122"/>
                  </a:rPr>
                  <a:t>C, G, H</a:t>
                </a:r>
                <a:r>
                  <a:rPr lang="en-US" altLang="zh-CN" dirty="0">
                    <a:solidFill>
                      <a:srgbClr val="00B050"/>
                    </a:solidFill>
                    <a:ea typeface="宋体" charset="-122"/>
                  </a:rPr>
                  <a:t>}</a:t>
                </a:r>
                <a:r>
                  <a:rPr lang="en-US" altLang="zh-CN" dirty="0">
                    <a:ea typeface="宋体" charset="-122"/>
                  </a:rPr>
                  <a:t>; nice</a:t>
                </a:r>
                <a:endParaRPr lang="en-US" dirty="0"/>
              </a:p>
              <a:p>
                <a:pPr lvl="1"/>
                <a:r>
                  <a:rPr lang="en-US" altLang="zh-CN" dirty="0">
                    <a:ea typeface="宋体" charset="-122"/>
                  </a:rPr>
                  <a:t>R</a:t>
                </a:r>
                <a:r>
                  <a:rPr lang="en-US" altLang="zh-CN" baseline="-25000" dirty="0">
                    <a:ea typeface="宋体" charset="-122"/>
                  </a:rPr>
                  <a:t>4</a:t>
                </a:r>
                <a:r>
                  <a:rPr lang="en-US" altLang="zh-CN" dirty="0">
                    <a:ea typeface="宋体" charset="-122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\ {H} = {A, C, G, I},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\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{A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I}; leftover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only contains MVDs for attributes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; </a:t>
                </a:r>
                <a:r>
                  <a:rPr lang="en-US" dirty="0">
                    <a:solidFill>
                      <a:srgbClr val="FF0000"/>
                    </a:solidFill>
                  </a:rPr>
                  <a:t>didn’t preserve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H</a:t>
                </a:r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698500"/>
                <a:ext cx="10722864" cy="5478463"/>
              </a:xfrm>
              <a:blipFill rotWithShape="0">
                <a:blip r:embed="rId2"/>
                <a:stretch>
                  <a:fillRect l="-1194" t="-1893" r="-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621411" y="266845"/>
            <a:ext cx="1076085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Do</a:t>
            </a:r>
          </a:p>
        </p:txBody>
      </p:sp>
    </p:spTree>
    <p:extLst>
      <p:ext uri="{BB962C8B-B14F-4D97-AF65-F5344CB8AC3E}">
        <p14:creationId xmlns:p14="http://schemas.microsoft.com/office/powerpoint/2010/main" val="1092859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0936" y="698500"/>
                <a:ext cx="10722864" cy="54784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Decom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(from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= {A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I}, </a:t>
                </a:r>
                <a:r>
                  <a:rPr lang="en-US" dirty="0"/>
                  <a:t>then </a:t>
                </a:r>
                <a:r>
                  <a:rPr lang="en-US" altLang="zh-CN" dirty="0">
                    <a:solidFill>
                      <a:srgbClr val="00B050"/>
                    </a:solidFill>
                    <a:ea typeface="宋体" charset="-122"/>
                  </a:rPr>
                  <a:t>R</a:t>
                </a:r>
                <a:r>
                  <a:rPr lang="en-US" altLang="zh-CN" baseline="-25000" dirty="0">
                    <a:solidFill>
                      <a:srgbClr val="00B050"/>
                    </a:solidFill>
                    <a:ea typeface="宋体" charset="-122"/>
                  </a:rPr>
                  <a:t>5</a:t>
                </a:r>
                <a:r>
                  <a:rPr lang="en-US" altLang="zh-CN" dirty="0">
                    <a:ea typeface="宋体" charset="-122"/>
                  </a:rPr>
                  <a:t> = {attributes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} = </a:t>
                </a:r>
                <a:r>
                  <a:rPr lang="en-US" altLang="zh-CN" dirty="0"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rgbClr val="00B050"/>
                    </a:solidFill>
                    <a:ea typeface="宋体" charset="-122"/>
                  </a:rPr>
                  <a:t>{A, I}</a:t>
                </a:r>
                <a:r>
                  <a:rPr lang="en-US" altLang="zh-CN" dirty="0">
                    <a:ea typeface="宋体" charset="-122"/>
                  </a:rPr>
                  <a:t>;</a:t>
                </a:r>
                <a:r>
                  <a:rPr lang="en-US" altLang="zh-CN" dirty="0">
                    <a:solidFill>
                      <a:srgbClr val="00B050"/>
                    </a:solidFill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nice</a:t>
                </a:r>
                <a:endParaRPr lang="en-US" dirty="0"/>
              </a:p>
              <a:p>
                <a:pPr lvl="1"/>
                <a:r>
                  <a:rPr lang="en-US" altLang="zh-CN" dirty="0">
                    <a:solidFill>
                      <a:srgbClr val="00B050"/>
                    </a:solidFill>
                    <a:ea typeface="宋体" charset="-122"/>
                  </a:rPr>
                  <a:t>R</a:t>
                </a:r>
                <a:r>
                  <a:rPr lang="en-US" altLang="zh-CN" baseline="-25000" dirty="0">
                    <a:solidFill>
                      <a:srgbClr val="00B050"/>
                    </a:solidFill>
                    <a:ea typeface="宋体" charset="-122"/>
                  </a:rPr>
                  <a:t>6</a:t>
                </a:r>
                <a:r>
                  <a:rPr lang="en-US" altLang="zh-CN" dirty="0">
                    <a:ea typeface="宋体" charset="-122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\ {I} = </a:t>
                </a:r>
                <a:r>
                  <a:rPr lang="en-US" dirty="0">
                    <a:solidFill>
                      <a:srgbClr val="00B050"/>
                    </a:solidFill>
                  </a:rPr>
                  <a:t>{A, C, G},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\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dirty="0">
                    <a:solidFill>
                      <a:srgbClr val="00B050"/>
                    </a:solidFill>
                  </a:rPr>
                  <a:t>{}; </a:t>
                </a:r>
                <a:r>
                  <a:rPr lang="en-US" dirty="0"/>
                  <a:t>no </a:t>
                </a:r>
                <a:r>
                  <a:rPr lang="en-US" dirty="0" err="1"/>
                  <a:t>leftovver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= {A, C, G}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= {} </a:t>
                </a:r>
                <a:r>
                  <a:rPr lang="en-US" dirty="0"/>
                  <a:t>tells us {A, C, G} forms the key.</a:t>
                </a:r>
              </a:p>
              <a:p>
                <a:r>
                  <a:rPr lang="en-US" dirty="0"/>
                  <a:t>So 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={A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B},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= {CG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H},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= {A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I},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= {} </a:t>
                </a:r>
                <a:endParaRPr lang="en-US" dirty="0"/>
              </a:p>
              <a:p>
                <a:pPr lvl="1"/>
                <a:r>
                  <a:rPr lang="en-US" dirty="0"/>
                  <a:t>In 4NF.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dirty="0"/>
                  <a:t>Slide 15 Further Normal Forms</a:t>
                </a:r>
              </a:p>
              <a:p>
                <a:r>
                  <a:rPr lang="en-US" dirty="0"/>
                  <a:t>What about the MVDs not preserved (such as 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↠</m:t>
                    </m:r>
                  </m:oMath>
                </a14:m>
                <a:r>
                  <a:rPr lang="en-US" dirty="0"/>
                  <a:t> HI in last e.g.)?</a:t>
                </a:r>
              </a:p>
              <a:p>
                <a:pPr lvl="1"/>
                <a:r>
                  <a:rPr lang="en-US" dirty="0"/>
                  <a:t>Recall for FDs, we generalize BCNF into 3NF to preserve FDs.</a:t>
                </a:r>
              </a:p>
              <a:p>
                <a:pPr lvl="1"/>
                <a:r>
                  <a:rPr lang="en-US" dirty="0"/>
                  <a:t>(4NF for MVDs is just like BCNF for FDs.)</a:t>
                </a:r>
              </a:p>
              <a:p>
                <a:pPr lvl="1"/>
                <a:r>
                  <a:rPr lang="en-US" dirty="0"/>
                  <a:t>So for MVDs, we generalize 4NF into 5NF to preserve MVDs.</a:t>
                </a:r>
              </a:p>
              <a:p>
                <a:pPr lvl="2"/>
                <a:r>
                  <a:rPr lang="en-US" dirty="0"/>
                  <a:t>However 5NF is not practical; recall 2NF is also not practical.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698500"/>
                <a:ext cx="10722864" cy="5478463"/>
              </a:xfrm>
              <a:blipFill rotWithShape="0">
                <a:blip r:embed="rId2"/>
                <a:stretch>
                  <a:fillRect l="-1194" t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773109" y="726394"/>
            <a:ext cx="1076085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31075" y="3437731"/>
            <a:ext cx="1503789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Skip</a:t>
            </a:r>
          </a:p>
        </p:txBody>
      </p:sp>
    </p:spTree>
    <p:extLst>
      <p:ext uri="{BB962C8B-B14F-4D97-AF65-F5344CB8AC3E}">
        <p14:creationId xmlns:p14="http://schemas.microsoft.com/office/powerpoint/2010/main" val="2026706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408"/>
          </a:xfrm>
        </p:spPr>
        <p:txBody>
          <a:bodyPr>
            <a:normAutofit/>
          </a:bodyPr>
          <a:lstStyle/>
          <a:p>
            <a:r>
              <a:rPr lang="en-US" dirty="0"/>
              <a:t>Database-Design Process, Slide 16-19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1534"/>
                <a:ext cx="10515600" cy="49953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Slide 17</a:t>
                </a:r>
              </a:p>
              <a:p>
                <a:r>
                  <a:rPr lang="en-US" dirty="0"/>
                  <a:t>Goals (learned in last 2 lectures)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BCNF</a:t>
                </a:r>
                <a:r>
                  <a:rPr lang="en-US" dirty="0"/>
                  <a:t> (has minimal redundancy)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Lossless join 			</a:t>
                </a:r>
                <a:r>
                  <a:rPr lang="en-US" sz="2800" dirty="0"/>
                  <a:t>R</a:t>
                </a:r>
                <a:r>
                  <a:rPr lang="en-US" dirty="0"/>
                  <a:t> =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R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1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anose="05050102010706020507" pitchFamily="18" charset="2"/>
                  </a:rPr>
                  <a:t></a:t>
                </a:r>
                <a:r>
                  <a:rPr lang="en-US" altLang="zh-CN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R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2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 …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anose="05050102010706020507" pitchFamily="18" charset="2"/>
                  </a:rPr>
                  <a:t></a:t>
                </a:r>
                <a:r>
                  <a:rPr lang="en-US" altLang="zh-CN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R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n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Dependency preservation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=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F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1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anose="05050102010706020507" pitchFamily="18" charset="2"/>
                  </a:rPr>
                  <a:t></a:t>
                </a:r>
                <a:r>
                  <a:rPr lang="en-US" altLang="zh-CN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F</a:t>
                </a:r>
                <a:r>
                  <a:rPr lang="en-US" altLang="zh-CN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2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 …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anose="05050102010706020507" pitchFamily="18" charset="2"/>
                  </a:rPr>
                  <a:t></a:t>
                </a:r>
                <a:r>
                  <a:rPr lang="en-US" altLang="zh-CN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CN" dirty="0" err="1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F</a:t>
                </a:r>
                <a:r>
                  <a:rPr lang="en-US" altLang="zh-CN" baseline="-25000" dirty="0" err="1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n</a:t>
                </a:r>
                <a:endParaRPr lang="en-US" sz="800" dirty="0"/>
              </a:p>
              <a:p>
                <a:r>
                  <a:rPr lang="en-US" dirty="0"/>
                  <a:t>But sometimes not possible to meet all 3 goals; need to make compromise</a:t>
                </a:r>
              </a:p>
              <a:p>
                <a:pPr lvl="1"/>
                <a:r>
                  <a:rPr lang="en-US" dirty="0"/>
                  <a:t>Not requiring total dependency preservation (use BCNF)</a:t>
                </a:r>
              </a:p>
              <a:p>
                <a:pPr lvl="1"/>
                <a:r>
                  <a:rPr lang="en-US" dirty="0"/>
                  <a:t>Allow some redundancy (use 3NF)</a:t>
                </a:r>
              </a:p>
              <a:p>
                <a:pPr marL="0" indent="0">
                  <a:buNone/>
                </a:pPr>
                <a:r>
                  <a:rPr lang="en-US" dirty="0"/>
                  <a:t>Slide 18</a:t>
                </a:r>
              </a:p>
              <a:p>
                <a:r>
                  <a:rPr lang="en-US" dirty="0"/>
                  <a:t>Bullets 1, 3 and 4 are taken from the book.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1534"/>
                <a:ext cx="10515600" cy="4995333"/>
              </a:xfrm>
              <a:blipFill rotWithShape="0">
                <a:blip r:embed="rId2"/>
                <a:stretch>
                  <a:fillRect l="-1217" t="-2076" b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515281" y="1451615"/>
            <a:ext cx="1503789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Skip</a:t>
            </a:r>
          </a:p>
        </p:txBody>
      </p:sp>
    </p:spTree>
    <p:extLst>
      <p:ext uri="{BB962C8B-B14F-4D97-AF65-F5344CB8AC3E}">
        <p14:creationId xmlns:p14="http://schemas.microsoft.com/office/powerpoint/2010/main" val="3317475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8640"/>
                <a:ext cx="10515600" cy="23518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3200" b="1" dirty="0">
                    <a:ea typeface="宋体" charset="-122"/>
                    <a:sym typeface="Symbol" pitchFamily="18" charset="2"/>
                  </a:rPr>
                  <a:t>Remarks</a:t>
                </a:r>
              </a:p>
              <a:p>
                <a14:m>
                  <m:oMath xmlns:m="http://schemas.openxmlformats.org/officeDocument/2006/math"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↠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i="1" dirty="0"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and 4NF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  <a:sym typeface="Greek Symbols" pitchFamily="18" charset="2"/>
                  </a:rPr>
                  <a:t>won’t be in the final exam</a:t>
                </a: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, because we introduced them so late.</a:t>
                </a:r>
              </a:p>
              <a:p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However this (short) lecture is a good review for BCNF, which will be in the final exam.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8640"/>
                <a:ext cx="10515600" cy="2351876"/>
              </a:xfrm>
              <a:blipFill rotWithShape="0">
                <a:blip r:embed="rId2"/>
                <a:stretch>
                  <a:fillRect l="-1507" t="-5440" b="-5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2379564"/>
                  </p:ext>
                </p:extLst>
              </p:nvPr>
            </p:nvGraphicFramePr>
            <p:xfrm>
              <a:off x="1305724" y="3127969"/>
              <a:ext cx="9037812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189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189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Functional </a:t>
                          </a:r>
                          <a:r>
                            <a:rPr lang="en-US" sz="2000" dirty="0" err="1"/>
                            <a:t>Dependancy</a:t>
                          </a:r>
                          <a:r>
                            <a:rPr lang="en-US" sz="2000" baseline="0" dirty="0"/>
                            <a:t> (FD)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 err="1"/>
                            <a:t>Multivalue</a:t>
                          </a:r>
                          <a:r>
                            <a:rPr lang="en-US" sz="2000" dirty="0"/>
                            <a:t>  Dependency (MVD)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a </a:t>
                          </a:r>
                          <a:r>
                            <a:rPr lang="en-US" sz="2000" i="1" dirty="0"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anose="05050102010706020507" pitchFamily="18" charset="2"/>
                            </a:rPr>
                            <a:t>→ </a:t>
                          </a:r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b</a:t>
                          </a:r>
                          <a:endParaRPr lang="en-US" sz="2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l-GR" altLang="zh-CN" sz="2000" i="1" dirty="0" smtClean="0">
                                  <a:latin typeface="Cambria Math" panose="02040503050406030204" pitchFamily="18" charset="0"/>
                                  <a:ea typeface="宋体" charset="-122"/>
                                  <a:sym typeface="Symbol" pitchFamily="18" charset="2"/>
                                </a:rPr>
                                <m:t>𝛼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↠</m:t>
                              </m:r>
                              <m:r>
                                <a:rPr lang="el-GR" altLang="zh-CN" sz="2000" i="1" dirty="0">
                                  <a:latin typeface="Cambria Math" panose="02040503050406030204" pitchFamily="18" charset="0"/>
                                  <a:ea typeface="宋体" charset="-122"/>
                                  <a:sym typeface="Symbol" pitchFamily="18" charset="2"/>
                                </a:rPr>
                                <m:t>𝛽</m:t>
                              </m:r>
                            </m:oMath>
                          </a14:m>
                          <a:r>
                            <a:rPr lang="en-US" altLang="zh-CN" sz="2000" i="1" dirty="0">
                              <a:ea typeface="宋体" charset="-122"/>
                              <a:sym typeface="Greek Symbols" pitchFamily="18" charset="2"/>
                            </a:rPr>
                            <a:t> 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a </a:t>
                          </a:r>
                          <a:r>
                            <a:rPr lang="en-US" sz="200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anose="05050102010706020507" pitchFamily="18" charset="2"/>
                            </a:rPr>
                            <a:t>determines</a:t>
                          </a:r>
                          <a:r>
                            <a:rPr lang="en-US" sz="2000" i="1" dirty="0"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anose="05050102010706020507" pitchFamily="18" charset="2"/>
                            </a:rPr>
                            <a:t> </a:t>
                          </a:r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b</a:t>
                          </a:r>
                          <a:endParaRPr lang="en-US" sz="2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a </a:t>
                          </a:r>
                          <a:r>
                            <a:rPr lang="en-US" sz="2000" i="0" dirty="0">
                              <a:latin typeface="+mn-lt"/>
                            </a:rPr>
                            <a:t>multi-</a:t>
                          </a:r>
                          <a:r>
                            <a:rPr lang="en-US" sz="200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anose="05050102010706020507" pitchFamily="18" charset="2"/>
                            </a:rPr>
                            <a:t>determines</a:t>
                          </a:r>
                          <a:r>
                            <a:rPr lang="en-US" sz="2000" i="1" dirty="0"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anose="05050102010706020507" pitchFamily="18" charset="2"/>
                            </a:rPr>
                            <a:t> </a:t>
                          </a:r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b</a:t>
                          </a:r>
                          <a:endParaRPr lang="en-US" sz="20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BCNF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4NF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Lossless decomposition, no</a:t>
                          </a:r>
                          <a:r>
                            <a:rPr lang="en-US" sz="2000" baseline="0" dirty="0"/>
                            <a:t> redundancies, some FDs may not be preserved.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Lossless decomposition, no</a:t>
                          </a:r>
                          <a:r>
                            <a:rPr lang="en-US" sz="2000" baseline="0" dirty="0"/>
                            <a:t> redundancies, some MVDs may not be preserved.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2379564"/>
                  </p:ext>
                </p:extLst>
              </p:nvPr>
            </p:nvGraphicFramePr>
            <p:xfrm>
              <a:off x="1305724" y="3127969"/>
              <a:ext cx="9037812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18906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4518906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Functional </a:t>
                          </a:r>
                          <a:r>
                            <a:rPr lang="en-US" sz="2000" dirty="0" err="1"/>
                            <a:t>Dependancy</a:t>
                          </a:r>
                          <a:r>
                            <a:rPr lang="en-US" sz="2000" baseline="0" dirty="0"/>
                            <a:t> (FD)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 err="1"/>
                            <a:t>Multivalue</a:t>
                          </a:r>
                          <a:r>
                            <a:rPr lang="en-US" sz="2000" dirty="0"/>
                            <a:t>  Dependency (MVD)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a </a:t>
                          </a:r>
                          <a:r>
                            <a:rPr lang="en-US" sz="2000" i="1" dirty="0"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anose="05050102010706020507" pitchFamily="18" charset="2"/>
                            </a:rPr>
                            <a:t>→ </a:t>
                          </a:r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b</a:t>
                          </a:r>
                          <a:endParaRPr lang="en-US" sz="2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270" t="-107692" r="-540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a </a:t>
                          </a:r>
                          <a:r>
                            <a:rPr lang="en-US" sz="200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anose="05050102010706020507" pitchFamily="18" charset="2"/>
                            </a:rPr>
                            <a:t>determines</a:t>
                          </a:r>
                          <a:r>
                            <a:rPr lang="en-US" sz="2000" i="1" dirty="0"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anose="05050102010706020507" pitchFamily="18" charset="2"/>
                            </a:rPr>
                            <a:t> </a:t>
                          </a:r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b</a:t>
                          </a:r>
                          <a:endParaRPr lang="en-US" sz="2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a </a:t>
                          </a:r>
                          <a:r>
                            <a:rPr lang="en-US" sz="2000" i="0" dirty="0">
                              <a:latin typeface="+mn-lt"/>
                            </a:rPr>
                            <a:t>multi-</a:t>
                          </a:r>
                          <a:r>
                            <a:rPr lang="en-US" sz="200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anose="05050102010706020507" pitchFamily="18" charset="2"/>
                            </a:rPr>
                            <a:t>determines</a:t>
                          </a:r>
                          <a:r>
                            <a:rPr lang="en-US" sz="2000" i="1" dirty="0"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anose="05050102010706020507" pitchFamily="18" charset="2"/>
                            </a:rPr>
                            <a:t> </a:t>
                          </a:r>
                          <a:r>
                            <a:rPr lang="en-US" sz="2000" i="1" dirty="0">
                              <a:latin typeface="Symbol" panose="05050102010706020507" pitchFamily="18" charset="2"/>
                            </a:rPr>
                            <a:t>b</a:t>
                          </a:r>
                          <a:endParaRPr lang="en-US" sz="20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BCNF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4NF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Lossless decomposition, no</a:t>
                          </a:r>
                          <a:r>
                            <a:rPr lang="en-US" sz="2000" baseline="0" dirty="0"/>
                            <a:t> redundancies, </a:t>
                          </a:r>
                          <a:r>
                            <a:rPr lang="en-US" sz="2000" baseline="0" dirty="0" smtClean="0"/>
                            <a:t>some FDs may not be preserved.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Lossless decomposition, no</a:t>
                          </a:r>
                          <a:r>
                            <a:rPr lang="en-US" sz="2000" baseline="0" dirty="0"/>
                            <a:t> redundancies, </a:t>
                          </a:r>
                          <a:r>
                            <a:rPr lang="en-US" sz="2000" baseline="0" dirty="0" smtClean="0"/>
                            <a:t>some MVDs may not be preserved.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52824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9558"/>
            <a:ext cx="10515600" cy="5617405"/>
          </a:xfrm>
        </p:spPr>
        <p:txBody>
          <a:bodyPr/>
          <a:lstStyle/>
          <a:p>
            <a:r>
              <a:rPr lang="en-US"/>
              <a:t>Presentation sign-up</a:t>
            </a:r>
          </a:p>
          <a:p>
            <a:endParaRPr lang="en-US"/>
          </a:p>
          <a:p>
            <a:r>
              <a:rPr lang="en-US" dirty="0"/>
              <a:t>Lab 12 Intro</a:t>
            </a:r>
          </a:p>
        </p:txBody>
      </p:sp>
    </p:spTree>
    <p:extLst>
      <p:ext uri="{BB962C8B-B14F-4D97-AF65-F5344CB8AC3E}">
        <p14:creationId xmlns:p14="http://schemas.microsoft.com/office/powerpoint/2010/main" val="430604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We will also skip Lecture 13  (not in final exam)</a:t>
            </a:r>
          </a:p>
          <a:p>
            <a:r>
              <a:rPr lang="en-US" dirty="0"/>
              <a:t>Important topic, but no time</a:t>
            </a:r>
          </a:p>
          <a:p>
            <a:pPr lvl="1"/>
            <a:r>
              <a:rPr lang="en-US" dirty="0"/>
              <a:t>Just mention a little here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Reference Chapter 30</a:t>
            </a:r>
          </a:p>
          <a:p>
            <a:pPr marL="0" indent="0">
              <a:buNone/>
            </a:pPr>
            <a:r>
              <a:rPr lang="en-US" dirty="0"/>
              <a:t>Slide 3 – 4 (Lecture 13)</a:t>
            </a:r>
          </a:p>
          <a:p>
            <a:r>
              <a:rPr lang="en-US" dirty="0"/>
              <a:t>XML stands for Extensive Markup Language</a:t>
            </a:r>
          </a:p>
          <a:p>
            <a:pPr lvl="1"/>
            <a:r>
              <a:rPr lang="en-US" dirty="0"/>
              <a:t>C.f. other markup languages such as HTML, </a:t>
            </a:r>
            <a:r>
              <a:rPr lang="en-US" dirty="0" err="1"/>
              <a:t>TeX</a:t>
            </a:r>
            <a:r>
              <a:rPr lang="en-US" dirty="0"/>
              <a:t>, etc.</a:t>
            </a:r>
          </a:p>
          <a:p>
            <a:r>
              <a:rPr lang="en-US" dirty="0"/>
              <a:t>Uses tags similar to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90585" y="827379"/>
            <a:ext cx="1503789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Skip</a:t>
            </a:r>
          </a:p>
        </p:txBody>
      </p:sp>
    </p:spTree>
    <p:extLst>
      <p:ext uri="{BB962C8B-B14F-4D97-AF65-F5344CB8AC3E}">
        <p14:creationId xmlns:p14="http://schemas.microsoft.com/office/powerpoint/2010/main" val="2494103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41660" y="1867302"/>
            <a:ext cx="8893742" cy="4194240"/>
            <a:chOff x="2438702" y="2235201"/>
            <a:chExt cx="7866063" cy="3644549"/>
          </a:xfrm>
        </p:grpSpPr>
        <p:pic>
          <p:nvPicPr>
            <p:cNvPr id="13315" name="Picture 4">
              <a:extLst>
                <a:ext uri="{FF2B5EF4-FFF2-40B4-BE49-F238E27FC236}">
                  <a16:creationId xmlns:a16="http://schemas.microsoft.com/office/drawing/2014/main" id="{E8A8805D-6ACC-AD29-AC31-56462E771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702" y="2235201"/>
              <a:ext cx="7866063" cy="291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6" name="TextBox 9">
              <a:extLst>
                <a:ext uri="{FF2B5EF4-FFF2-40B4-BE49-F238E27FC236}">
                  <a16:creationId xmlns:a16="http://schemas.microsoft.com/office/drawing/2014/main" id="{C0EBF2F5-E9FD-694F-3D9E-CA4A37767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6539" y="5294313"/>
              <a:ext cx="1768475" cy="52322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72C62"/>
                </a:buClr>
                <a:buSzPct val="60000"/>
                <a:buFont typeface="Wingdings" panose="05000000000000000000" pitchFamily="2" charset="2"/>
                <a:buChar char="u"/>
                <a:defRPr sz="32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atin typeface="Calibri" panose="020F0502020204030204" pitchFamily="34" charset="0"/>
                </a:rPr>
                <a:t>Machine language – for computers</a:t>
              </a:r>
            </a:p>
          </p:txBody>
        </p:sp>
        <p:sp>
          <p:nvSpPr>
            <p:cNvPr id="13317" name="TextBox 10">
              <a:extLst>
                <a:ext uri="{FF2B5EF4-FFF2-40B4-BE49-F238E27FC236}">
                  <a16:creationId xmlns:a16="http://schemas.microsoft.com/office/drawing/2014/main" id="{917186B8-50D1-DA98-43E0-8750F0FE9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375" y="5386388"/>
              <a:ext cx="1511190" cy="29418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072C62"/>
                </a:buClr>
                <a:buSzPct val="60000"/>
                <a:buFont typeface="Wingdings" panose="05000000000000000000" pitchFamily="2" charset="2"/>
                <a:buChar char="u"/>
                <a:defRPr sz="32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atin typeface="Calibri" panose="020F0502020204030204" pitchFamily="34" charset="0"/>
                </a:rPr>
                <a:t>PDF – for humans       </a:t>
              </a:r>
            </a:p>
          </p:txBody>
        </p:sp>
        <p:sp>
          <p:nvSpPr>
            <p:cNvPr id="13318" name="TextBox 11">
              <a:extLst>
                <a:ext uri="{FF2B5EF4-FFF2-40B4-BE49-F238E27FC236}">
                  <a16:creationId xmlns:a16="http://schemas.microsoft.com/office/drawing/2014/main" id="{88F875A0-F211-66AC-A37A-7EAA0A1B6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0092" y="5318126"/>
              <a:ext cx="2149109" cy="56162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072C62"/>
                </a:buClr>
                <a:buSzPct val="60000"/>
                <a:buFont typeface="Wingdings" panose="05000000000000000000" pitchFamily="2" charset="2"/>
                <a:buChar char="u"/>
                <a:defRPr sz="32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8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XML </a:t>
              </a:r>
              <a:r>
                <a:rPr lang="en-US" altLang="ko-KR" sz="1800" dirty="0">
                  <a:latin typeface="Calibri" panose="020F0502020204030204" pitchFamily="34" charset="0"/>
                </a:rPr>
                <a:t>– compromise for humans and machine.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4404" y="596251"/>
            <a:ext cx="1503789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Skip</a:t>
            </a:r>
          </a:p>
        </p:txBody>
      </p:sp>
    </p:spTree>
    <p:extLst>
      <p:ext uri="{BB962C8B-B14F-4D97-AF65-F5344CB8AC3E}">
        <p14:creationId xmlns:p14="http://schemas.microsoft.com/office/powerpoint/2010/main" val="1715501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 5</a:t>
            </a:r>
          </a:p>
          <a:p>
            <a:r>
              <a:rPr lang="en-US" dirty="0"/>
              <a:t>XML is generally used for exchanging data over the networks.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Slide 11-12</a:t>
            </a:r>
          </a:p>
          <a:p>
            <a:r>
              <a:rPr lang="en-US" dirty="0"/>
              <a:t>For DBMS, the main issue is how to handle attributes with tags.</a:t>
            </a:r>
          </a:p>
          <a:p>
            <a:endParaRPr lang="en-US" dirty="0"/>
          </a:p>
          <a:p>
            <a:r>
              <a:rPr lang="en-US" dirty="0"/>
              <a:t>For more info, see Chapter 13 of the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7192" y="827379"/>
            <a:ext cx="1503789" cy="8633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algn="l"/>
            <a:r>
              <a:rPr kumimoji="1" lang="en-US" sz="6000" b="1" dirty="0">
                <a:solidFill>
                  <a:srgbClr val="FF0000"/>
                </a:solidFill>
              </a:rPr>
              <a:t>Skip</a:t>
            </a:r>
          </a:p>
        </p:txBody>
      </p:sp>
    </p:spTree>
    <p:extLst>
      <p:ext uri="{BB962C8B-B14F-4D97-AF65-F5344CB8AC3E}">
        <p14:creationId xmlns:p14="http://schemas.microsoft.com/office/powerpoint/2010/main" val="1548542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4527</TotalTime>
  <Words>2276</Words>
  <Application>Microsoft Office PowerPoint</Application>
  <PresentationFormat>Widescreen</PresentationFormat>
  <Paragraphs>236</Paragraphs>
  <Slides>24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Greek Symbols</vt:lpstr>
      <vt:lpstr>Monotype Sorts</vt:lpstr>
      <vt:lpstr>宋体</vt:lpstr>
      <vt:lpstr>等线</vt:lpstr>
      <vt:lpstr>Arial</vt:lpstr>
      <vt:lpstr>Calibri</vt:lpstr>
      <vt:lpstr>Calibri Light</vt:lpstr>
      <vt:lpstr>Cambria Math</vt:lpstr>
      <vt:lpstr>Symbol</vt:lpstr>
      <vt:lpstr>Wingdings</vt:lpstr>
      <vt:lpstr>Office Theme</vt:lpstr>
      <vt:lpstr>Lecture 12 Relational Database Design Multivalued Dependency  and Database Design Process</vt:lpstr>
      <vt:lpstr>PowerPoint Presentation</vt:lpstr>
      <vt:lpstr>Presentation Sign up</vt:lpstr>
      <vt:lpstr>On Presentation</vt:lpstr>
      <vt:lpstr>On Presentation</vt:lpstr>
      <vt:lpstr>On Presentation</vt:lpstr>
      <vt:lpstr>On Presentation</vt:lpstr>
      <vt:lpstr>On Documentation</vt:lpstr>
      <vt:lpstr>Submission by Group Leader</vt:lpstr>
      <vt:lpstr>Multivalued Dependencies (MVD) and Decomposition Slide 2-15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Database-Design Process, Slide 16-19</vt:lpstr>
      <vt:lpstr>PowerPoint Presentation</vt:lpstr>
      <vt:lpstr>PowerPoint Presentation</vt:lpstr>
      <vt:lpstr>Lecture 13</vt:lpstr>
      <vt:lpstr>Lecture 13</vt:lpstr>
      <vt:lpstr>Lecture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Relational Database Design</dc:title>
  <dc:creator>TEST</dc:creator>
  <cp:lastModifiedBy>UIC</cp:lastModifiedBy>
  <cp:revision>421</cp:revision>
  <dcterms:created xsi:type="dcterms:W3CDTF">2021-11-23T02:45:17Z</dcterms:created>
  <dcterms:modified xsi:type="dcterms:W3CDTF">2025-12-11T09:15:25Z</dcterms:modified>
</cp:coreProperties>
</file>