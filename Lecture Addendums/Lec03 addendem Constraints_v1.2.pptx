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419" r:id="rId4"/>
    <p:sldId id="361" r:id="rId5"/>
    <p:sldId id="410" r:id="rId6"/>
    <p:sldId id="539" r:id="rId7"/>
    <p:sldId id="411" r:id="rId8"/>
    <p:sldId id="416" r:id="rId9"/>
    <p:sldId id="417" r:id="rId10"/>
    <p:sldId id="407" r:id="rId11"/>
    <p:sldId id="409" r:id="rId12"/>
    <p:sldId id="538" r:id="rId13"/>
    <p:sldId id="378" r:id="rId14"/>
    <p:sldId id="4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4843" autoAdjust="0"/>
  </p:normalViewPr>
  <p:slideViewPr>
    <p:cSldViewPr snapToGrid="0">
      <p:cViewPr varScale="1">
        <p:scale>
          <a:sx n="57" d="100"/>
          <a:sy n="57" d="100"/>
        </p:scale>
        <p:origin x="2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87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50139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350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13499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030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764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4854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04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49645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5770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93801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4154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4945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COMP3013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kumimoji="1" lang="en-US" altLang="zh-CN" sz="1200" dirty="0">
                <a:solidFill>
                  <a:srgbClr val="FFFFFF"/>
                </a:solidFill>
              </a:rPr>
              <a:t>ER Model</a:t>
            </a:r>
            <a:endParaRPr kumimoji="1"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200" dirty="0">
              <a:solidFill>
                <a:srgbClr val="000000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rgbClr val="FFFFFF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rgbClr val="FFFFFF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316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Lecture 3</a:t>
            </a:r>
            <a:br>
              <a:rPr lang="en-US" dirty="0"/>
            </a:br>
            <a:r>
              <a:rPr lang="en-US" dirty="0"/>
              <a:t>Entity-Relationship  Model, Constraints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4"/>
          </a:xfrm>
        </p:spPr>
        <p:txBody>
          <a:bodyPr/>
          <a:lstStyle/>
          <a:p>
            <a:r>
              <a:rPr lang="en-US" dirty="0"/>
              <a:t>Exercise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2811"/>
            <a:ext cx="10515600" cy="469415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Lecture exercises </a:t>
            </a:r>
            <a:r>
              <a:rPr lang="en-US" dirty="0"/>
              <a:t>solutions are in the following week’s lecture notes.</a:t>
            </a:r>
          </a:p>
          <a:p>
            <a:r>
              <a:rPr lang="en-US" strike="sngStrike" dirty="0">
                <a:solidFill>
                  <a:srgbClr val="FF0000"/>
                </a:solidFill>
              </a:rPr>
              <a:t>Lab exercises </a:t>
            </a:r>
            <a:r>
              <a:rPr lang="en-US" strike="sngStrike" dirty="0"/>
              <a:t>solutions are in iSpace beneath the lab submission links, available after the submission deadline for that lab.</a:t>
            </a:r>
          </a:p>
        </p:txBody>
      </p:sp>
    </p:spTree>
    <p:extLst>
      <p:ext uri="{BB962C8B-B14F-4D97-AF65-F5344CB8AC3E}">
        <p14:creationId xmlns:p14="http://schemas.microsoft.com/office/powerpoint/2010/main" val="420700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304800"/>
            <a:ext cx="10483849" cy="60498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ym typeface="Symbol" panose="05050102010706020507" pitchFamily="18" charset="2"/>
              </a:rPr>
              <a:t>Reference:	[6.4 Mapping Cardinalities]</a:t>
            </a:r>
          </a:p>
          <a:p>
            <a:pPr marL="0" indent="0"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Slide 5</a:t>
            </a:r>
          </a:p>
          <a:p>
            <a:r>
              <a:rPr lang="en-US" strike="sngStrike" dirty="0">
                <a:solidFill>
                  <a:prstClr val="black"/>
                </a:solidFill>
                <a:ea typeface="+mj-ea"/>
                <a:cs typeface="+mj-cs"/>
                <a:sym typeface="Symbol" panose="05050102010706020507" pitchFamily="18" charset="2"/>
              </a:rPr>
              <a:t>“One student can have many majors”; </a:t>
            </a:r>
            <a:r>
              <a:rPr lang="en-US" dirty="0">
                <a:solidFill>
                  <a:prstClr val="black"/>
                </a:solidFill>
                <a:ea typeface="+mj-ea"/>
                <a:cs typeface="+mj-cs"/>
                <a:sym typeface="Symbol" panose="05050102010706020507" pitchFamily="18" charset="2"/>
              </a:rPr>
              <a:t>not allowed in UIC</a:t>
            </a:r>
          </a:p>
          <a:p>
            <a:pPr lvl="1"/>
            <a:r>
              <a:rPr lang="en-US" dirty="0">
                <a:solidFill>
                  <a:prstClr val="black"/>
                </a:solidFill>
                <a:ea typeface="+mj-ea"/>
                <a:cs typeface="+mj-cs"/>
                <a:sym typeface="Symbol" panose="05050102010706020507" pitchFamily="18" charset="2"/>
              </a:rPr>
              <a:t>So we don’t model that in our database.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“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One program </a:t>
            </a:r>
            <a:r>
              <a:rPr lang="en-US" dirty="0">
                <a:sym typeface="Symbol" panose="05050102010706020507" pitchFamily="18" charset="2"/>
              </a:rPr>
              <a:t>can have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many students</a:t>
            </a:r>
            <a:r>
              <a:rPr lang="en-US" dirty="0">
                <a:sym typeface="Symbol" panose="05050102010706020507" pitchFamily="18" charset="2"/>
              </a:rPr>
              <a:t>”, and “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many students </a:t>
            </a:r>
            <a:r>
              <a:rPr lang="en-US" dirty="0">
                <a:sym typeface="Symbol" panose="05050102010706020507" pitchFamily="18" charset="2"/>
              </a:rPr>
              <a:t>can be in 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one program</a:t>
            </a:r>
            <a:r>
              <a:rPr lang="en-US" dirty="0">
                <a:sym typeface="Symbol" panose="05050102010706020507" pitchFamily="18" charset="2"/>
              </a:rPr>
              <a:t>”</a:t>
            </a:r>
          </a:p>
          <a:p>
            <a:pPr marL="0" indent="0"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6 </a:t>
            </a:r>
          </a:p>
          <a:p>
            <a:r>
              <a:rPr lang="en-US" dirty="0">
                <a:sym typeface="Symbol" panose="05050102010706020507" pitchFamily="18" charset="2"/>
              </a:rPr>
              <a:t>In many-to-one and one-to-many cardinality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arrow points to “one”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(Point “</a:t>
            </a:r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you’re the one</a:t>
            </a:r>
            <a:r>
              <a:rPr lang="en-US" dirty="0">
                <a:sym typeface="Symbol" panose="05050102010706020507" pitchFamily="18" charset="2"/>
              </a:rPr>
              <a:t>”)</a:t>
            </a:r>
          </a:p>
          <a:p>
            <a:r>
              <a:rPr lang="en-US" dirty="0">
                <a:sym typeface="Symbol" panose="05050102010706020507" pitchFamily="18" charset="2"/>
              </a:rPr>
              <a:t>Reading from left to right: “Many student can major in 1 program.”</a:t>
            </a:r>
          </a:p>
          <a:p>
            <a:r>
              <a:rPr lang="en-US" dirty="0">
                <a:sym typeface="Symbol" panose="05050102010706020507" pitchFamily="18" charset="2"/>
              </a:rPr>
              <a:t>Reading right to </a:t>
            </a:r>
            <a:r>
              <a:rPr lang="en-US">
                <a:sym typeface="Symbol" panose="05050102010706020507" pitchFamily="18" charset="2"/>
              </a:rPr>
              <a:t>left “One </a:t>
            </a:r>
            <a:r>
              <a:rPr lang="en-US" dirty="0">
                <a:sym typeface="Symbol" panose="05050102010706020507" pitchFamily="18" charset="2"/>
              </a:rPr>
              <a:t>program can be majored by many students.”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456" y="3771827"/>
            <a:ext cx="1154648" cy="87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203200"/>
            <a:ext cx="10483849" cy="6289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Slide 7</a:t>
            </a:r>
          </a:p>
          <a:p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Reading left to right: an instructor can be PD in (at most) one program.</a:t>
            </a:r>
          </a:p>
          <a:p>
            <a:pPr lvl="1"/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I.e. an instructor cannot be PD at 2 programs.</a:t>
            </a:r>
          </a:p>
          <a:p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Reading right to left: a program can have one (at most) instructor as PD. </a:t>
            </a:r>
          </a:p>
          <a:p>
            <a:pPr lvl="1"/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I.e. a program cannot have 2 instructors as PD.</a:t>
            </a:r>
          </a:p>
          <a:p>
            <a:pPr marL="0" indent="0">
              <a:buNone/>
            </a:pPr>
            <a:endParaRPr lang="en-US" sz="800" dirty="0">
              <a:solidFill>
                <a:prstClr val="black"/>
              </a:solidFill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Slide 8</a:t>
            </a:r>
          </a:p>
          <a:p>
            <a:r>
              <a:rPr lang="en-US" dirty="0">
                <a:solidFill>
                  <a:prstClr val="black"/>
                </a:solidFill>
                <a:ea typeface="+mj-ea"/>
                <a:cs typeface="+mj-cs"/>
                <a:sym typeface="Symbol" panose="05050102010706020507" pitchFamily="18" charset="2"/>
              </a:rPr>
              <a:t>Left to Right: a student can borrow many books.</a:t>
            </a:r>
          </a:p>
          <a:p>
            <a:r>
              <a:rPr lang="en-US" dirty="0">
                <a:solidFill>
                  <a:prstClr val="black"/>
                </a:solidFill>
                <a:ea typeface="+mj-ea"/>
                <a:cs typeface="+mj-cs"/>
                <a:sym typeface="Symbol" panose="05050102010706020507" pitchFamily="18" charset="2"/>
              </a:rPr>
              <a:t>Right to Left: a book can be borrowed by many students.</a:t>
            </a: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6610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203200"/>
            <a:ext cx="10483849" cy="62899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ea typeface="+mj-ea"/>
                <a:cs typeface="+mj-cs"/>
              </a:rPr>
              <a:t>Slide 11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Not every </a:t>
            </a:r>
            <a:r>
              <a:rPr lang="en-US" dirty="0">
                <a:sym typeface="Symbol" panose="05050102010706020507" pitchFamily="18" charset="2"/>
              </a:rPr>
              <a:t>instructor is a program director.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So “instructor” is partial participation.</a:t>
            </a:r>
            <a:endParaRPr lang="en-US" sz="800" dirty="0">
              <a:sym typeface="Symbol" panose="05050102010706020507" pitchFamily="18" charset="2"/>
            </a:endParaRPr>
          </a:p>
          <a:p>
            <a:r>
              <a:rPr lang="en-US" b="1" dirty="0">
                <a:solidFill>
                  <a:srgbClr val="00B050"/>
                </a:solidFill>
                <a:sym typeface="Symbol" panose="05050102010706020507" pitchFamily="18" charset="2"/>
              </a:rPr>
              <a:t>Every </a:t>
            </a:r>
            <a:r>
              <a:rPr lang="en-US" dirty="0">
                <a:sym typeface="Symbol" panose="05050102010706020507" pitchFamily="18" charset="2"/>
              </a:rPr>
              <a:t>program has a program director.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So “program” is total participation.</a:t>
            </a:r>
          </a:p>
          <a:p>
            <a:endParaRPr lang="en-US" sz="9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12 Alternative Notation for Cardinality Limits</a:t>
            </a:r>
          </a:p>
          <a:p>
            <a:r>
              <a:rPr lang="en-US" dirty="0">
                <a:sym typeface="Symbol" panose="05050102010706020507" pitchFamily="18" charset="2"/>
              </a:rPr>
              <a:t>* actually means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any</a:t>
            </a:r>
            <a:r>
              <a:rPr lang="en-US" dirty="0">
                <a:sym typeface="Symbol" panose="05050102010706020507" pitchFamily="18" charset="2"/>
              </a:rPr>
              <a:t> permissible value, including 0.</a:t>
            </a:r>
          </a:p>
          <a:p>
            <a:r>
              <a:rPr lang="en-US" dirty="0">
                <a:sym typeface="Symbol" panose="05050102010706020507" pitchFamily="18" charset="2"/>
              </a:rPr>
              <a:t>1..1 means min of 1 to max of 1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 student can major in exactly 1 program</a:t>
            </a:r>
          </a:p>
          <a:p>
            <a:r>
              <a:rPr lang="en-US" dirty="0">
                <a:sym typeface="Symbol" panose="05050102010706020507" pitchFamily="18" charset="2"/>
              </a:rPr>
              <a:t>1..* means min of 1 to max of any number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 program can have any number of students (minimum of 1).</a:t>
            </a:r>
          </a:p>
          <a:p>
            <a:r>
              <a:rPr lang="en-US" dirty="0">
                <a:sym typeface="Symbol" panose="05050102010706020507" pitchFamily="18" charset="2"/>
              </a:rPr>
              <a:t>Bottom example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An instructor can be program director in 0 or 1 program.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A program can have 1 instructor as program director.</a:t>
            </a:r>
          </a:p>
        </p:txBody>
      </p:sp>
    </p:spTree>
    <p:extLst>
      <p:ext uri="{BB962C8B-B14F-4D97-AF65-F5344CB8AC3E}">
        <p14:creationId xmlns:p14="http://schemas.microsoft.com/office/powerpoint/2010/main" val="391560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33055" y="367862"/>
            <a:ext cx="10044834" cy="60434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15</a:t>
            </a:r>
          </a:p>
          <a:p>
            <a:r>
              <a:rPr lang="en-US" dirty="0">
                <a:sym typeface="Symbol" panose="05050102010706020507" pitchFamily="18" charset="2"/>
              </a:rPr>
              <a:t>Meaning 1 constraints: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One student can enroll 1 course.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One student can enroll 1 instructor.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No constraint between course and instructor.</a:t>
            </a:r>
          </a:p>
          <a:p>
            <a:r>
              <a:rPr lang="en-US" dirty="0">
                <a:sym typeface="Symbol" panose="05050102010706020507" pitchFamily="18" charset="2"/>
              </a:rPr>
              <a:t>Meaning 2 constraints: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One course is taught by 1 instructor.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One instructor teaches 1 course.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No constraints on students</a:t>
            </a:r>
          </a:p>
          <a:p>
            <a:r>
              <a:rPr lang="en-US" dirty="0">
                <a:sym typeface="Symbol" panose="05050102010706020507" pitchFamily="18" charset="2"/>
              </a:rPr>
              <a:t>In row 1, we enroll the ternary relationship </a:t>
            </a:r>
            <a:r>
              <a:rPr lang="en-US" dirty="0"/>
              <a:t>(𝑠</a:t>
            </a:r>
            <a:r>
              <a:rPr lang="en-US" baseline="-25000" dirty="0"/>
              <a:t>1</a:t>
            </a:r>
            <a:r>
              <a:rPr lang="en-US" dirty="0"/>
              <a:t>,𝑖</a:t>
            </a:r>
            <a:r>
              <a:rPr lang="en-US" baseline="-25000" dirty="0"/>
              <a:t>1</a:t>
            </a:r>
            <a:r>
              <a:rPr lang="en-US" dirty="0"/>
              <a:t>,𝑐</a:t>
            </a:r>
            <a:r>
              <a:rPr lang="en-US" baseline="-25000" dirty="0"/>
              <a:t>1</a:t>
            </a:r>
            <a:r>
              <a:rPr lang="en-US" dirty="0"/>
              <a:t>) for student 1, instructor 1 and course 1.</a:t>
            </a:r>
          </a:p>
          <a:p>
            <a:pPr lvl="1"/>
            <a:r>
              <a:rPr lang="en-US" dirty="0"/>
              <a:t>OK for both meanings.</a:t>
            </a:r>
          </a:p>
          <a:p>
            <a:r>
              <a:rPr lang="en-US" dirty="0"/>
              <a:t>In row 2, we try to enroll (𝑠</a:t>
            </a:r>
            <a:r>
              <a:rPr lang="en-US" baseline="-25000" dirty="0"/>
              <a:t>2</a:t>
            </a:r>
            <a:r>
              <a:rPr lang="en-US" dirty="0"/>
              <a:t>,𝑖</a:t>
            </a:r>
            <a:r>
              <a:rPr lang="en-US" baseline="-25000" dirty="0"/>
              <a:t>2</a:t>
            </a:r>
            <a:r>
              <a:rPr lang="en-US" dirty="0"/>
              <a:t>,𝑐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Meaning 1 is OK; each of students 𝑠</a:t>
            </a:r>
            <a:r>
              <a:rPr lang="en-US" baseline="-25000" dirty="0"/>
              <a:t>1</a:t>
            </a:r>
            <a:r>
              <a:rPr lang="en-US" dirty="0"/>
              <a:t> and 𝑠</a:t>
            </a:r>
            <a:r>
              <a:rPr lang="en-US" baseline="-25000" dirty="0"/>
              <a:t>2</a:t>
            </a:r>
            <a:r>
              <a:rPr lang="en-US" dirty="0"/>
              <a:t> enroll in only 1 course taught by 1 instructor.</a:t>
            </a:r>
          </a:p>
          <a:p>
            <a:pPr lvl="1"/>
            <a:r>
              <a:rPr lang="en-US" dirty="0"/>
              <a:t>Meaning 2 is violated; 𝑐</a:t>
            </a:r>
            <a:r>
              <a:rPr lang="en-US" baseline="-25000" dirty="0"/>
              <a:t>1</a:t>
            </a:r>
            <a:r>
              <a:rPr lang="en-US" dirty="0"/>
              <a:t> is taught by 2 different instructors.</a:t>
            </a:r>
          </a:p>
        </p:txBody>
      </p:sp>
    </p:spTree>
    <p:extLst>
      <p:ext uri="{BB962C8B-B14F-4D97-AF65-F5344CB8AC3E}">
        <p14:creationId xmlns:p14="http://schemas.microsoft.com/office/powerpoint/2010/main" val="126945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54076" y="591127"/>
            <a:ext cx="10483849" cy="5809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15 (continue)</a:t>
            </a:r>
          </a:p>
          <a:p>
            <a:r>
              <a:rPr lang="en-US" dirty="0"/>
              <a:t>In row 3, we try to enroll (𝑠</a:t>
            </a:r>
            <a:r>
              <a:rPr lang="en-US" baseline="-25000" dirty="0"/>
              <a:t>3</a:t>
            </a:r>
            <a:r>
              <a:rPr lang="en-US" dirty="0"/>
              <a:t>,𝑖</a:t>
            </a:r>
            <a:r>
              <a:rPr lang="en-US" baseline="-25000" dirty="0"/>
              <a:t>1</a:t>
            </a:r>
            <a:r>
              <a:rPr lang="en-US" dirty="0"/>
              <a:t>,𝑐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Meaning 1 is OK; each of the 3 students enroll in only 1 course, enrolled with 1 instructor.</a:t>
            </a:r>
          </a:p>
          <a:p>
            <a:pPr lvl="1"/>
            <a:r>
              <a:rPr lang="en-US" dirty="0"/>
              <a:t>Meaning 2 is violated; </a:t>
            </a:r>
            <a:r>
              <a:rPr lang="en-US" i="1" dirty="0"/>
              <a:t>i</a:t>
            </a:r>
            <a:r>
              <a:rPr lang="en-US" baseline="-25000" dirty="0"/>
              <a:t>1</a:t>
            </a:r>
            <a:r>
              <a:rPr lang="en-US" dirty="0"/>
              <a:t> teaches 𝑐</a:t>
            </a:r>
            <a:r>
              <a:rPr lang="en-US" baseline="-25000" dirty="0"/>
              <a:t>1</a:t>
            </a:r>
            <a:r>
              <a:rPr lang="en-US" dirty="0"/>
              <a:t> and 𝑐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r>
              <a:rPr lang="en-US" dirty="0"/>
              <a:t>In row 4, we try to enroll (𝑠</a:t>
            </a:r>
            <a:r>
              <a:rPr lang="en-US" baseline="-25000" dirty="0"/>
              <a:t>1</a:t>
            </a:r>
            <a:r>
              <a:rPr lang="en-US" dirty="0"/>
              <a:t>,𝑖</a:t>
            </a:r>
            <a:r>
              <a:rPr lang="en-US" baseline="-25000" dirty="0"/>
              <a:t>2</a:t>
            </a:r>
            <a:r>
              <a:rPr lang="en-US" dirty="0"/>
              <a:t>,𝑐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Meaning 1 is violated; 𝑠</a:t>
            </a:r>
            <a:r>
              <a:rPr lang="en-US" baseline="-25000" dirty="0"/>
              <a:t>1 </a:t>
            </a:r>
            <a:r>
              <a:rPr lang="en-US" dirty="0"/>
              <a:t>is taking two courses.</a:t>
            </a:r>
          </a:p>
          <a:p>
            <a:pPr lvl="1"/>
            <a:endParaRPr lang="en-US" sz="900" dirty="0"/>
          </a:p>
          <a:p>
            <a:pPr marL="0" indent="0">
              <a:buNone/>
            </a:pPr>
            <a:r>
              <a:rPr lang="en-US" dirty="0"/>
              <a:t>Slide 16 (to Slide 19)</a:t>
            </a:r>
          </a:p>
          <a:p>
            <a:r>
              <a:rPr lang="en-US" dirty="0"/>
              <a:t>Convert ternary diagram to binary relations for Meaning 1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Add artificial entities E and artificial relationships R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R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R</a:t>
            </a:r>
            <a:r>
              <a:rPr lang="en-US" baseline="-25000" dirty="0">
                <a:sym typeface="Symbol" panose="05050102010706020507" pitchFamily="18" charset="2"/>
              </a:rPr>
              <a:t>3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729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54076" y="452583"/>
            <a:ext cx="10483849" cy="5948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18</a:t>
            </a:r>
          </a:p>
          <a:p>
            <a:r>
              <a:rPr lang="en-US" dirty="0">
                <a:sym typeface="Symbol" panose="05050102010706020507" pitchFamily="18" charset="2"/>
              </a:rPr>
              <a:t>E contains the 4 allowable enrolls from the table at top right, which is from the table in Slide 15.</a:t>
            </a:r>
          </a:p>
          <a:p>
            <a:r>
              <a:rPr lang="en-US" dirty="0">
                <a:sym typeface="Symbol" panose="05050102010706020507" pitchFamily="18" charset="2"/>
              </a:rPr>
              <a:t>R1 enrolls student, R2 enrolls instructor, R3 enrolls course, separately</a:t>
            </a:r>
          </a:p>
          <a:p>
            <a:r>
              <a:rPr lang="en-US" dirty="0">
                <a:sym typeface="Symbol" panose="05050102010706020507" pitchFamily="18" charset="2"/>
              </a:rPr>
              <a:t>In </a:t>
            </a:r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i="1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/>
              <a:t>(𝑠</a:t>
            </a:r>
            <a:r>
              <a:rPr lang="en-US" baseline="-25000" dirty="0"/>
              <a:t>1</a:t>
            </a:r>
            <a:r>
              <a:rPr lang="en-US" dirty="0"/>
              <a:t>,e</a:t>
            </a:r>
            <a:r>
              <a:rPr lang="en-US" baseline="-25000" dirty="0"/>
              <a:t>1</a:t>
            </a:r>
            <a:r>
              <a:rPr lang="en-US" dirty="0"/>
              <a:t>) is from row 1; (𝑠</a:t>
            </a:r>
            <a:r>
              <a:rPr lang="en-US" baseline="-25000" dirty="0"/>
              <a:t>2</a:t>
            </a:r>
            <a:r>
              <a:rPr lang="en-US" dirty="0"/>
              <a:t>,e</a:t>
            </a:r>
            <a:r>
              <a:rPr lang="en-US" baseline="-25000" dirty="0"/>
              <a:t>2</a:t>
            </a:r>
            <a:r>
              <a:rPr lang="en-US" dirty="0"/>
              <a:t>) is from row 2; (𝑠</a:t>
            </a:r>
            <a:r>
              <a:rPr lang="en-US" baseline="-25000" dirty="0"/>
              <a:t>3</a:t>
            </a:r>
            <a:r>
              <a:rPr lang="en-US" dirty="0"/>
              <a:t>,e</a:t>
            </a:r>
            <a:r>
              <a:rPr lang="en-US" baseline="-25000" dirty="0"/>
              <a:t>3</a:t>
            </a:r>
            <a:r>
              <a:rPr lang="en-US" dirty="0"/>
              <a:t>) is from row 3; and (𝑠</a:t>
            </a:r>
            <a:r>
              <a:rPr lang="en-US" baseline="-25000" dirty="0"/>
              <a:t>4</a:t>
            </a:r>
            <a:r>
              <a:rPr lang="en-US" dirty="0"/>
              <a:t>,e</a:t>
            </a:r>
            <a:r>
              <a:rPr lang="en-US" baseline="-25000" dirty="0"/>
              <a:t>6</a:t>
            </a:r>
            <a:r>
              <a:rPr lang="en-US" dirty="0"/>
              <a:t>) is from row 6 of the table at right. </a:t>
            </a:r>
          </a:p>
          <a:p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i="1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is an one-to-many relationship because instructor </a:t>
            </a:r>
            <a:r>
              <a:rPr lang="en-US" i="1" dirty="0"/>
              <a:t>i</a:t>
            </a:r>
            <a:r>
              <a:rPr lang="en-US" baseline="-25000" dirty="0"/>
              <a:t>1 </a:t>
            </a:r>
            <a:r>
              <a:rPr lang="en-US" dirty="0"/>
              <a:t>is associated with e</a:t>
            </a:r>
            <a:r>
              <a:rPr lang="en-US" baseline="-25000" dirty="0"/>
              <a:t>1</a:t>
            </a:r>
            <a:r>
              <a:rPr lang="en-US" dirty="0"/>
              <a:t>, e</a:t>
            </a:r>
            <a:r>
              <a:rPr lang="en-US" baseline="-25000" dirty="0"/>
              <a:t>3</a:t>
            </a:r>
            <a:r>
              <a:rPr lang="en-US" dirty="0"/>
              <a:t> and e</a:t>
            </a:r>
            <a:r>
              <a:rPr lang="en-US" baseline="-25000" dirty="0"/>
              <a:t>6</a:t>
            </a:r>
            <a:r>
              <a:rPr lang="en-US" dirty="0"/>
              <a:t>.</a:t>
            </a:r>
          </a:p>
          <a:p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i="1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is an one-to-one relationship; each </a:t>
            </a:r>
            <a:r>
              <a:rPr lang="en-US" i="1" dirty="0">
                <a:sym typeface="Symbol" panose="05050102010706020507" pitchFamily="18" charset="2"/>
              </a:rPr>
              <a:t>s</a:t>
            </a:r>
            <a:r>
              <a:rPr lang="en-US" dirty="0">
                <a:sym typeface="Symbol" panose="05050102010706020507" pitchFamily="18" charset="2"/>
              </a:rPr>
              <a:t> is mapped to a different </a:t>
            </a:r>
            <a:r>
              <a:rPr lang="en-US" i="1" dirty="0">
                <a:sym typeface="Symbol" panose="05050102010706020507" pitchFamily="18" charset="2"/>
              </a:rPr>
              <a:t>e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19</a:t>
            </a:r>
          </a:p>
          <a:p>
            <a:r>
              <a:rPr lang="en-US" dirty="0">
                <a:sym typeface="Symbol" panose="05050102010706020507" pitchFamily="18" charset="2"/>
              </a:rPr>
              <a:t>Diagram don’t have the participation constraints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For </a:t>
            </a:r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i="1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student entity should have double line, and maybe E also. </a:t>
            </a:r>
          </a:p>
        </p:txBody>
      </p:sp>
    </p:spTree>
    <p:extLst>
      <p:ext uri="{BB962C8B-B14F-4D97-AF65-F5344CB8AC3E}">
        <p14:creationId xmlns:p14="http://schemas.microsoft.com/office/powerpoint/2010/main" val="49565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54076" y="577049"/>
            <a:ext cx="10483849" cy="5823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Slide 20-21</a:t>
            </a:r>
          </a:p>
          <a:p>
            <a:r>
              <a:rPr lang="en-US" dirty="0"/>
              <a:t>Convert to binary relations for Meaning 2.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20</a:t>
            </a:r>
          </a:p>
          <a:p>
            <a:r>
              <a:rPr lang="en-US" dirty="0"/>
              <a:t>The diagram for Meaning 1 in Slides 16-19 violates “there is no constraints on students”. </a:t>
            </a:r>
          </a:p>
          <a:p>
            <a:r>
              <a:rPr lang="en-US" dirty="0"/>
              <a:t>“One course is instructed by (at most) one instructor” suggests we need a relationship between entity course and entity instructor.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So we add an artificial relationships </a:t>
            </a:r>
            <a:r>
              <a:rPr lang="en-US" i="1" dirty="0">
                <a:sym typeface="Symbol" panose="05050102010706020507" pitchFamily="18" charset="2"/>
              </a:rPr>
              <a:t>R</a:t>
            </a:r>
            <a:r>
              <a:rPr lang="en-US" i="1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between entities course and instructor.</a:t>
            </a:r>
          </a:p>
          <a:p>
            <a:pPr lvl="1"/>
            <a:endParaRPr lang="en-US" sz="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/>
              <a:t>Slide 21</a:t>
            </a:r>
          </a:p>
          <a:p>
            <a:r>
              <a:rPr lang="en-US" dirty="0"/>
              <a:t>Table at top right are the allowable enrollments from Slide 15 table.</a:t>
            </a:r>
          </a:p>
          <a:p>
            <a:r>
              <a:rPr lang="en-US" dirty="0"/>
              <a:t>Specify elements in </a:t>
            </a:r>
            <a:r>
              <a:rPr lang="en-US" dirty="0">
                <a:sym typeface="Symbol" panose="05050102010706020507" pitchFamily="18" charset="2"/>
              </a:rPr>
              <a:t>R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R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R</a:t>
            </a:r>
            <a:r>
              <a:rPr lang="en-US" baseline="-25000" dirty="0">
                <a:sym typeface="Symbol" panose="05050102010706020507" pitchFamily="18" charset="2"/>
              </a:rPr>
              <a:t>3</a:t>
            </a:r>
            <a:r>
              <a:rPr lang="en-US" dirty="0">
                <a:sym typeface="Symbol" panose="05050102010706020507" pitchFamily="18" charset="2"/>
              </a:rPr>
              <a:t> similar to what we did in Slide 18 for Meaning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65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7185031B-8265-4F1B-A92F-819216077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4076" y="577049"/>
                <a:ext cx="10483849" cy="58237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Slide 21 (continue)</a:t>
                </a:r>
                <a:endParaRPr lang="en-US" dirty="0">
                  <a:sym typeface="Symbol" panose="05050102010706020507" pitchFamily="18" charset="2"/>
                </a:endParaRPr>
              </a:p>
              <a:p>
                <a:r>
                  <a:rPr lang="en-US" dirty="0">
                    <a:sym typeface="Symbol" panose="05050102010706020507" pitchFamily="18" charset="2"/>
                  </a:rPr>
                  <a:t>For </a:t>
                </a:r>
                <a:r>
                  <a:rPr lang="en-US" i="1" dirty="0">
                    <a:sym typeface="Symbol" panose="05050102010706020507" pitchFamily="18" charset="2"/>
                  </a:rPr>
                  <a:t>R</a:t>
                </a:r>
                <a:r>
                  <a:rPr lang="en-US" baseline="-25000" dirty="0">
                    <a:sym typeface="Symbol" panose="05050102010706020507" pitchFamily="18" charset="2"/>
                  </a:rPr>
                  <a:t>1</a:t>
                </a:r>
                <a:endParaRPr lang="en-US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From the diagram, we see </a:t>
                </a:r>
                <a:r>
                  <a:rPr lang="en-US" i="1" dirty="0">
                    <a:sym typeface="Symbol" panose="05050102010706020507" pitchFamily="18" charset="2"/>
                  </a:rPr>
                  <a:t>R</a:t>
                </a:r>
                <a:r>
                  <a:rPr lang="en-US" baseline="-25000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 is between instructor and student.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From allowable relationship at the top right table, we have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) 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)</a:t>
                </a:r>
              </a:p>
              <a:p>
                <a:pPr lvl="1"/>
                <a:endParaRPr lang="en-US" sz="80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Slide 22</a:t>
                </a:r>
              </a:p>
              <a:p>
                <a:r>
                  <a:rPr lang="en-US" dirty="0"/>
                  <a:t>First 2 requirements are from meaning 2, and last requirement is from meaning 1.</a:t>
                </a:r>
              </a:p>
              <a:p>
                <a:r>
                  <a:rPr lang="en-US" dirty="0"/>
                  <a:t>Later we will learn about weak entities to solve this problem.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23-24 Exercise</a:t>
                </a:r>
              </a:p>
              <a:p>
                <a:r>
                  <a:rPr lang="en-US" dirty="0"/>
                  <a:t>Slide 24 is the solution to last week’s exercise.</a:t>
                </a:r>
              </a:p>
              <a:p>
                <a:pPr lvl="1"/>
                <a:r>
                  <a:rPr lang="en-US" dirty="0"/>
                  <a:t>For relationship “major” (top left of Slide 24), see Slide 10.</a:t>
                </a:r>
              </a:p>
              <a:p>
                <a:pPr lvl="1"/>
                <a:r>
                  <a:rPr lang="en-US" dirty="0"/>
                  <a:t>For relationship “PD” (far right of Slide 24), see Slide 11.</a:t>
                </a:r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7185031B-8265-4F1B-A92F-819216077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76" y="577049"/>
                <a:ext cx="10483849" cy="5823751"/>
              </a:xfrm>
              <a:prstGeom prst="rect">
                <a:avLst/>
              </a:prstGeom>
              <a:blipFill>
                <a:blip r:embed="rId2"/>
                <a:stretch>
                  <a:fillRect l="-1163" t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847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7A01-2F15-4220-A32B-3812C4A6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E2A1C26E-0A8F-44E6-A32D-E00C132CA4B9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318780EC-97E9-40AA-913E-774E982ADA5A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D052671E-0C72-48A5-AF5F-D585A99A8340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A0C45-89D4-4E6E-84A7-AE477AB31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9" y="1653929"/>
            <a:ext cx="7859590" cy="4034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41568-0AC2-4DBE-9321-1E91D26122C9}"/>
              </a:ext>
            </a:extLst>
          </p:cNvPr>
          <p:cNvSpPr txBox="1"/>
          <p:nvPr/>
        </p:nvSpPr>
        <p:spPr>
          <a:xfrm>
            <a:off x="8118089" y="1817649"/>
            <a:ext cx="36481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acceptable if you submit a drawing this bad.</a:t>
            </a:r>
          </a:p>
          <a:p>
            <a:r>
              <a:rPr lang="en-US" sz="2400" dirty="0"/>
              <a:t>You can </a:t>
            </a:r>
          </a:p>
          <a:p>
            <a:pPr marL="457200" indent="-457200">
              <a:buAutoNum type="arabicParenBoth"/>
            </a:pPr>
            <a:r>
              <a:rPr lang="en-US" sz="2400" dirty="0"/>
              <a:t>use computer tool to draw the diagram (see the answer), or </a:t>
            </a:r>
          </a:p>
          <a:p>
            <a:pPr marL="457200" indent="-457200">
              <a:buAutoNum type="arabicParenBoth"/>
            </a:pPr>
            <a:r>
              <a:rPr lang="en-US" sz="2400" dirty="0"/>
              <a:t>(2) print out the diagram in slide 29, then use pen or pencil to neatly change </a:t>
            </a:r>
            <a:r>
              <a:rPr lang="en-US" sz="2400"/>
              <a:t>the figure,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597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Summary of ER Diagram Design</a:t>
            </a:r>
            <a:endParaRPr lang="zh-CN" altLang="en-US" dirty="0"/>
          </a:p>
        </p:txBody>
      </p:sp>
      <p:sp>
        <p:nvSpPr>
          <p:cNvPr id="13" name="矩形 12">
            <a:hlinkClick r:id="" action="ppaction://noaction"/>
            <a:extLst>
              <a:ext uri="{FF2B5EF4-FFF2-40B4-BE49-F238E27FC236}">
                <a16:creationId xmlns:a16="http://schemas.microsoft.com/office/drawing/2014/main" id="{7AF88F3A-D700-427E-BAE4-7C8331FFB359}"/>
              </a:ext>
            </a:extLst>
          </p:cNvPr>
          <p:cNvSpPr/>
          <p:nvPr/>
        </p:nvSpPr>
        <p:spPr>
          <a:xfrm>
            <a:off x="15240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hlinkClick r:id="" action="ppaction://noaction"/>
            <a:extLst>
              <a:ext uri="{FF2B5EF4-FFF2-40B4-BE49-F238E27FC236}">
                <a16:creationId xmlns:a16="http://schemas.microsoft.com/office/drawing/2014/main" id="{F9E20F86-8C42-4B3B-ACDB-EA5FD16F71A3}"/>
              </a:ext>
            </a:extLst>
          </p:cNvPr>
          <p:cNvSpPr/>
          <p:nvPr/>
        </p:nvSpPr>
        <p:spPr>
          <a:xfrm>
            <a:off x="25336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hlinkClick r:id="" action="ppaction://noaction"/>
            <a:extLst>
              <a:ext uri="{FF2B5EF4-FFF2-40B4-BE49-F238E27FC236}">
                <a16:creationId xmlns:a16="http://schemas.microsoft.com/office/drawing/2014/main" id="{F136C49E-85D2-45B7-BB18-D140A07D0A34}"/>
              </a:ext>
            </a:extLst>
          </p:cNvPr>
          <p:cNvSpPr/>
          <p:nvPr/>
        </p:nvSpPr>
        <p:spPr>
          <a:xfrm>
            <a:off x="35433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hlinkClick r:id="" action="ppaction://noaction"/>
            <a:extLst>
              <a:ext uri="{FF2B5EF4-FFF2-40B4-BE49-F238E27FC236}">
                <a16:creationId xmlns:a16="http://schemas.microsoft.com/office/drawing/2014/main" id="{68783B5D-D60F-4C53-ABC8-ED661E890E51}"/>
              </a:ext>
            </a:extLst>
          </p:cNvPr>
          <p:cNvSpPr/>
          <p:nvPr/>
        </p:nvSpPr>
        <p:spPr>
          <a:xfrm>
            <a:off x="45529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hlinkClick r:id="" action="ppaction://noaction"/>
            <a:extLst>
              <a:ext uri="{FF2B5EF4-FFF2-40B4-BE49-F238E27FC236}">
                <a16:creationId xmlns:a16="http://schemas.microsoft.com/office/drawing/2014/main" id="{A6F9743A-3816-4A03-B0E4-03A0E8757B07}"/>
              </a:ext>
            </a:extLst>
          </p:cNvPr>
          <p:cNvSpPr/>
          <p:nvPr/>
        </p:nvSpPr>
        <p:spPr>
          <a:xfrm>
            <a:off x="55626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hlinkClick r:id="" action="ppaction://noaction"/>
            <a:extLst>
              <a:ext uri="{FF2B5EF4-FFF2-40B4-BE49-F238E27FC236}">
                <a16:creationId xmlns:a16="http://schemas.microsoft.com/office/drawing/2014/main" id="{6592AE57-2C68-4265-971F-22D741F1ADDC}"/>
              </a:ext>
            </a:extLst>
          </p:cNvPr>
          <p:cNvSpPr/>
          <p:nvPr/>
        </p:nvSpPr>
        <p:spPr>
          <a:xfrm>
            <a:off x="65722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Issue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hlinkClick r:id="" action="ppaction://noaction"/>
            <a:extLst>
              <a:ext uri="{FF2B5EF4-FFF2-40B4-BE49-F238E27FC236}">
                <a16:creationId xmlns:a16="http://schemas.microsoft.com/office/drawing/2014/main" id="{1B96678A-2BC9-4412-92CE-E06D003359C9}"/>
              </a:ext>
            </a:extLst>
          </p:cNvPr>
          <p:cNvSpPr/>
          <p:nvPr/>
        </p:nvSpPr>
        <p:spPr>
          <a:xfrm>
            <a:off x="75819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Tech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hlinkClick r:id="" action="ppaction://noaction"/>
            <a:extLst>
              <a:ext uri="{FF2B5EF4-FFF2-40B4-BE49-F238E27FC236}">
                <a16:creationId xmlns:a16="http://schemas.microsoft.com/office/drawing/2014/main" id="{6C3CC5FB-D3FC-4D93-A811-84F4D70AD59F}"/>
              </a:ext>
            </a:extLst>
          </p:cNvPr>
          <p:cNvSpPr/>
          <p:nvPr/>
        </p:nvSpPr>
        <p:spPr>
          <a:xfrm>
            <a:off x="85915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hlinkClick r:id="" action="ppaction://noaction"/>
            <a:extLst>
              <a:ext uri="{FF2B5EF4-FFF2-40B4-BE49-F238E27FC236}">
                <a16:creationId xmlns:a16="http://schemas.microsoft.com/office/drawing/2014/main" id="{C5331E20-40E2-448C-94B6-A40A27BA0294}"/>
              </a:ext>
            </a:extLst>
          </p:cNvPr>
          <p:cNvSpPr/>
          <p:nvPr/>
        </p:nvSpPr>
        <p:spPr>
          <a:xfrm>
            <a:off x="9601200" y="-2"/>
            <a:ext cx="10668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Schema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A26BE-5D13-4CBD-BB27-CD213C46EF7F}"/>
              </a:ext>
            </a:extLst>
          </p:cNvPr>
          <p:cNvSpPr/>
          <p:nvPr/>
        </p:nvSpPr>
        <p:spPr>
          <a:xfrm>
            <a:off x="2619595" y="1588553"/>
            <a:ext cx="3743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D351283-F7CC-402F-A7BD-FA7AFD519189}"/>
              </a:ext>
            </a:extLst>
          </p:cNvPr>
          <p:cNvGrpSpPr/>
          <p:nvPr/>
        </p:nvGrpSpPr>
        <p:grpSpPr>
          <a:xfrm>
            <a:off x="5130424" y="1463892"/>
            <a:ext cx="550463" cy="550463"/>
            <a:chOff x="5578646" y="5157139"/>
            <a:chExt cx="1040454" cy="1040454"/>
          </a:xfrm>
        </p:grpSpPr>
        <p:sp>
          <p:nvSpPr>
            <p:cNvPr id="26" name="菱形 25">
              <a:extLst>
                <a:ext uri="{FF2B5EF4-FFF2-40B4-BE49-F238E27FC236}">
                  <a16:creationId xmlns:a16="http://schemas.microsoft.com/office/drawing/2014/main" id="{C0DC76B3-58D4-491A-BC14-C0A83F8EA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F21A4CA-B9C1-4D26-AD3B-30DC2B3DBA4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C917966D-0057-4D42-B1D5-75FFCFBB751D}"/>
              </a:ext>
            </a:extLst>
          </p:cNvPr>
          <p:cNvSpPr txBox="1"/>
          <p:nvPr/>
        </p:nvSpPr>
        <p:spPr>
          <a:xfrm>
            <a:off x="3614098" y="1588553"/>
            <a:ext cx="90120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DFD521B-09D2-4382-B8F6-5857EE963CB3}"/>
              </a:ext>
            </a:extLst>
          </p:cNvPr>
          <p:cNvSpPr/>
          <p:nvPr/>
        </p:nvSpPr>
        <p:spPr>
          <a:xfrm>
            <a:off x="7824030" y="1572067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0C16E6-49E6-4A40-BBB7-4EBC7893807F}"/>
              </a:ext>
            </a:extLst>
          </p:cNvPr>
          <p:cNvSpPr txBox="1"/>
          <p:nvPr/>
        </p:nvSpPr>
        <p:spPr>
          <a:xfrm>
            <a:off x="5981810" y="1585234"/>
            <a:ext cx="1388522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77F3B9F-F74E-4AD3-9507-53E1C262AABF}"/>
              </a:ext>
            </a:extLst>
          </p:cNvPr>
          <p:cNvSpPr/>
          <p:nvPr/>
        </p:nvSpPr>
        <p:spPr>
          <a:xfrm>
            <a:off x="2612938" y="2280989"/>
            <a:ext cx="374343" cy="307777"/>
          </a:xfrm>
          <a:prstGeom prst="rect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4A8C81-E56A-46AB-8A2C-EFFB8E45D4DA}"/>
              </a:ext>
            </a:extLst>
          </p:cNvPr>
          <p:cNvSpPr txBox="1"/>
          <p:nvPr/>
        </p:nvSpPr>
        <p:spPr>
          <a:xfrm>
            <a:off x="3607440" y="2280989"/>
            <a:ext cx="1369286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3106681-CD66-45D5-B94D-46069BF0A0EF}"/>
              </a:ext>
            </a:extLst>
          </p:cNvPr>
          <p:cNvGrpSpPr/>
          <p:nvPr/>
        </p:nvGrpSpPr>
        <p:grpSpPr>
          <a:xfrm>
            <a:off x="5130424" y="2191284"/>
            <a:ext cx="550463" cy="550463"/>
            <a:chOff x="5578646" y="5157139"/>
            <a:chExt cx="1040454" cy="1040454"/>
          </a:xfrm>
        </p:grpSpPr>
        <p:sp>
          <p:nvSpPr>
            <p:cNvPr id="41" name="菱形 40">
              <a:extLst>
                <a:ext uri="{FF2B5EF4-FFF2-40B4-BE49-F238E27FC236}">
                  <a16:creationId xmlns:a16="http://schemas.microsoft.com/office/drawing/2014/main" id="{BC780BFB-CF05-4A86-AE58-13F643CEC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E05839E-4DDC-462A-A40C-B9F0D3AEEA26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EBE1C928-94BC-4AF3-BDEF-BD837C05B612}"/>
              </a:ext>
            </a:extLst>
          </p:cNvPr>
          <p:cNvSpPr txBox="1"/>
          <p:nvPr/>
        </p:nvSpPr>
        <p:spPr>
          <a:xfrm>
            <a:off x="5981810" y="2204904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BD2FEE4-3A1E-4385-91B2-16839A93BB23}"/>
              </a:ext>
            </a:extLst>
          </p:cNvPr>
          <p:cNvSpPr txBox="1"/>
          <p:nvPr/>
        </p:nvSpPr>
        <p:spPr>
          <a:xfrm>
            <a:off x="8627256" y="1588553"/>
            <a:ext cx="83067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2B5BF29-9DD7-4BB4-BFD5-7EDC2E21E2E8}"/>
              </a:ext>
            </a:extLst>
          </p:cNvPr>
          <p:cNvSpPr/>
          <p:nvPr/>
        </p:nvSpPr>
        <p:spPr>
          <a:xfrm>
            <a:off x="7824030" y="2282519"/>
            <a:ext cx="374343" cy="354072"/>
          </a:xfrm>
          <a:prstGeom prst="ellipse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163EE33-288C-4A6A-9BFC-0C605C0D873B}"/>
              </a:ext>
            </a:extLst>
          </p:cNvPr>
          <p:cNvSpPr txBox="1"/>
          <p:nvPr/>
        </p:nvSpPr>
        <p:spPr>
          <a:xfrm>
            <a:off x="8627256" y="2191283"/>
            <a:ext cx="109036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multivalued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618D895-47BD-4611-9984-45029BDE7E13}"/>
              </a:ext>
            </a:extLst>
          </p:cNvPr>
          <p:cNvSpPr/>
          <p:nvPr/>
        </p:nvSpPr>
        <p:spPr>
          <a:xfrm>
            <a:off x="7824030" y="3070883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D5A68-950D-4DEF-835D-7B6FFC9490FC}"/>
              </a:ext>
            </a:extLst>
          </p:cNvPr>
          <p:cNvSpPr txBox="1"/>
          <p:nvPr/>
        </p:nvSpPr>
        <p:spPr>
          <a:xfrm>
            <a:off x="8627256" y="2979647"/>
            <a:ext cx="8306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1D9302B-F524-4DE1-A4B9-5057EBABB21D}"/>
              </a:ext>
            </a:extLst>
          </p:cNvPr>
          <p:cNvSpPr/>
          <p:nvPr/>
        </p:nvSpPr>
        <p:spPr>
          <a:xfrm>
            <a:off x="7824030" y="3859247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74F44A6-59D6-4747-B872-AF0C2D34131A}"/>
              </a:ext>
            </a:extLst>
          </p:cNvPr>
          <p:cNvSpPr txBox="1"/>
          <p:nvPr/>
        </p:nvSpPr>
        <p:spPr>
          <a:xfrm>
            <a:off x="8627256" y="3875733"/>
            <a:ext cx="110959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C3901E6C-82EC-4D10-992A-B038E46E6BFB}"/>
              </a:ext>
            </a:extLst>
          </p:cNvPr>
          <p:cNvSpPr/>
          <p:nvPr/>
        </p:nvSpPr>
        <p:spPr>
          <a:xfrm>
            <a:off x="7824030" y="4539690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dashLo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endParaRPr lang="zh-CN" altLang="en-US" sz="1400" i="1" u="dashLo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2F1E923-CE3C-47C5-94F7-6406C90666BE}"/>
              </a:ext>
            </a:extLst>
          </p:cNvPr>
          <p:cNvSpPr txBox="1"/>
          <p:nvPr/>
        </p:nvSpPr>
        <p:spPr>
          <a:xfrm>
            <a:off x="8627256" y="4556176"/>
            <a:ext cx="119936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B03DC5F-76FF-4D5C-848F-1083E22D4E62}"/>
              </a:ext>
            </a:extLst>
          </p:cNvPr>
          <p:cNvGrpSpPr/>
          <p:nvPr/>
        </p:nvGrpSpPr>
        <p:grpSpPr>
          <a:xfrm>
            <a:off x="5130424" y="2968530"/>
            <a:ext cx="550463" cy="550463"/>
            <a:chOff x="5578646" y="5157139"/>
            <a:chExt cx="1040454" cy="1040454"/>
          </a:xfrm>
        </p:grpSpPr>
        <p:sp>
          <p:nvSpPr>
            <p:cNvPr id="54" name="菱形 53">
              <a:extLst>
                <a:ext uri="{FF2B5EF4-FFF2-40B4-BE49-F238E27FC236}">
                  <a16:creationId xmlns:a16="http://schemas.microsoft.com/office/drawing/2014/main" id="{60240726-CE61-4A2B-A07E-7D4AE3FCE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F8A008E-0D61-450F-8F8B-A720F28A4927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90F6B9-630D-46C5-A967-4B75C93CEF2C}"/>
              </a:ext>
            </a:extLst>
          </p:cNvPr>
          <p:cNvCxnSpPr>
            <a:stCxn id="54" idx="1"/>
          </p:cNvCxnSpPr>
          <p:nvPr/>
        </p:nvCxnSpPr>
        <p:spPr>
          <a:xfrm flipH="1" flipV="1">
            <a:off x="4910239" y="3241257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F85651A-D720-4143-AF04-2163E0EF33C8}"/>
              </a:ext>
            </a:extLst>
          </p:cNvPr>
          <p:cNvCxnSpPr/>
          <p:nvPr/>
        </p:nvCxnSpPr>
        <p:spPr>
          <a:xfrm flipH="1" flipV="1">
            <a:off x="5680887" y="3245415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E5AD3D0F-02D8-4675-9A35-23F5D5F1C56B}"/>
              </a:ext>
            </a:extLst>
          </p:cNvPr>
          <p:cNvSpPr txBox="1"/>
          <p:nvPr/>
        </p:nvSpPr>
        <p:spPr>
          <a:xfrm>
            <a:off x="5981810" y="2963418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many-to-many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ED71C711-B3EE-456D-834B-2238101B2FB4}"/>
              </a:ext>
            </a:extLst>
          </p:cNvPr>
          <p:cNvGrpSpPr/>
          <p:nvPr/>
        </p:nvGrpSpPr>
        <p:grpSpPr>
          <a:xfrm>
            <a:off x="5130424" y="3721933"/>
            <a:ext cx="550463" cy="550463"/>
            <a:chOff x="5578646" y="5157139"/>
            <a:chExt cx="1040454" cy="1040454"/>
          </a:xfrm>
        </p:grpSpPr>
        <p:sp>
          <p:nvSpPr>
            <p:cNvPr id="59" name="菱形 58">
              <a:extLst>
                <a:ext uri="{FF2B5EF4-FFF2-40B4-BE49-F238E27FC236}">
                  <a16:creationId xmlns:a16="http://schemas.microsoft.com/office/drawing/2014/main" id="{68E12798-C6FD-4A3E-AFE5-0A20AD212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74A9C71-FD4C-4257-B64E-3B4F647DDB74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B0452D8-F5F9-4A83-A719-9A23AE54CCCC}"/>
              </a:ext>
            </a:extLst>
          </p:cNvPr>
          <p:cNvCxnSpPr>
            <a:stCxn id="59" idx="1"/>
          </p:cNvCxnSpPr>
          <p:nvPr/>
        </p:nvCxnSpPr>
        <p:spPr>
          <a:xfrm flipH="1" flipV="1">
            <a:off x="4910239" y="3994660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5617342A-E310-4F3A-97AF-B61763083D1D}"/>
              </a:ext>
            </a:extLst>
          </p:cNvPr>
          <p:cNvCxnSpPr/>
          <p:nvPr/>
        </p:nvCxnSpPr>
        <p:spPr>
          <a:xfrm flipH="1" flipV="1">
            <a:off x="5680887" y="3998818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D55059F-4A23-4E38-B608-8D66D3E2CD51}"/>
              </a:ext>
            </a:extLst>
          </p:cNvPr>
          <p:cNvSpPr txBox="1"/>
          <p:nvPr/>
        </p:nvSpPr>
        <p:spPr>
          <a:xfrm>
            <a:off x="5981811" y="3716821"/>
            <a:ext cx="1237839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3AFB0AC-0781-44C5-B204-856BFD5B72A9}"/>
              </a:ext>
            </a:extLst>
          </p:cNvPr>
          <p:cNvGrpSpPr/>
          <p:nvPr/>
        </p:nvGrpSpPr>
        <p:grpSpPr>
          <a:xfrm>
            <a:off x="5130424" y="4425470"/>
            <a:ext cx="550463" cy="550463"/>
            <a:chOff x="5578646" y="5157139"/>
            <a:chExt cx="1040454" cy="1040454"/>
          </a:xfrm>
        </p:grpSpPr>
        <p:sp>
          <p:nvSpPr>
            <p:cNvPr id="65" name="菱形 64">
              <a:extLst>
                <a:ext uri="{FF2B5EF4-FFF2-40B4-BE49-F238E27FC236}">
                  <a16:creationId xmlns:a16="http://schemas.microsoft.com/office/drawing/2014/main" id="{CC48A84E-E51D-4659-A946-97B400611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FC0C16E-0FB8-43F6-B02E-243BAE8737D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5F7BD41-4153-46AC-AA3B-93BE08286DA0}"/>
              </a:ext>
            </a:extLst>
          </p:cNvPr>
          <p:cNvCxnSpPr>
            <a:stCxn id="65" idx="1"/>
          </p:cNvCxnSpPr>
          <p:nvPr/>
        </p:nvCxnSpPr>
        <p:spPr>
          <a:xfrm flipH="1" flipV="1">
            <a:off x="4910239" y="4698197"/>
            <a:ext cx="220185" cy="250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BC7885A4-8AE5-48D4-9DC1-EEF8F6BB9FA7}"/>
              </a:ext>
            </a:extLst>
          </p:cNvPr>
          <p:cNvCxnSpPr/>
          <p:nvPr/>
        </p:nvCxnSpPr>
        <p:spPr>
          <a:xfrm flipH="1" flipV="1">
            <a:off x="5680887" y="4702355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FC57332-0080-463E-96A4-EBA76E3E2450}"/>
              </a:ext>
            </a:extLst>
          </p:cNvPr>
          <p:cNvSpPr txBox="1"/>
          <p:nvPr/>
        </p:nvSpPr>
        <p:spPr>
          <a:xfrm>
            <a:off x="5981811" y="4420358"/>
            <a:ext cx="1099981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772424F-3156-47CC-BD55-DB846C8D5842}"/>
              </a:ext>
            </a:extLst>
          </p:cNvPr>
          <p:cNvGrpSpPr/>
          <p:nvPr/>
        </p:nvGrpSpPr>
        <p:grpSpPr>
          <a:xfrm>
            <a:off x="1994520" y="2936176"/>
            <a:ext cx="1504017" cy="550463"/>
            <a:chOff x="470519" y="2936175"/>
            <a:chExt cx="1504017" cy="55046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545A23B-E9FD-487A-B920-D4D184B7B21E}"/>
                </a:ext>
              </a:extLst>
            </p:cNvPr>
            <p:cNvGrpSpPr/>
            <p:nvPr/>
          </p:nvGrpSpPr>
          <p:grpSpPr>
            <a:xfrm>
              <a:off x="470519" y="2936175"/>
              <a:ext cx="550463" cy="550463"/>
              <a:chOff x="5578646" y="5157139"/>
              <a:chExt cx="1040454" cy="1040454"/>
            </a:xfrm>
          </p:grpSpPr>
          <p:sp>
            <p:nvSpPr>
              <p:cNvPr id="71" name="菱形 70">
                <a:extLst>
                  <a:ext uri="{FF2B5EF4-FFF2-40B4-BE49-F238E27FC236}">
                    <a16:creationId xmlns:a16="http://schemas.microsoft.com/office/drawing/2014/main" id="{829C6498-0410-4028-BEC6-539C6371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2776C50-FBBA-43A1-B2D4-F2F82A65C064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9FE82DB-B258-4703-A236-E73A96A84F51}"/>
                </a:ext>
              </a:extLst>
            </p:cNvPr>
            <p:cNvCxnSpPr>
              <a:cxnSpLocks/>
              <a:stCxn id="75" idx="1"/>
              <a:endCxn id="71" idx="3"/>
            </p:cNvCxnSpPr>
            <p:nvPr/>
          </p:nvCxnSpPr>
          <p:spPr>
            <a:xfrm flipH="1">
              <a:off x="1020982" y="3211406"/>
              <a:ext cx="579211" cy="1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56B4B5E-D11F-416D-AA6C-5051CEA11D15}"/>
                </a:ext>
              </a:extLst>
            </p:cNvPr>
            <p:cNvSpPr/>
            <p:nvPr/>
          </p:nvSpPr>
          <p:spPr>
            <a:xfrm>
              <a:off x="1600193" y="3057517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DE4230CE-3A25-4EEC-B4C5-BEA3D07AB368}"/>
              </a:ext>
            </a:extLst>
          </p:cNvPr>
          <p:cNvSpPr txBox="1"/>
          <p:nvPr/>
        </p:nvSpPr>
        <p:spPr>
          <a:xfrm>
            <a:off x="3610323" y="2963162"/>
            <a:ext cx="1149674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EA7E2B6-ABE0-4A1A-B0BD-50E9EDA07CCE}"/>
              </a:ext>
            </a:extLst>
          </p:cNvPr>
          <p:cNvSpPr txBox="1"/>
          <p:nvPr/>
        </p:nvSpPr>
        <p:spPr>
          <a:xfrm>
            <a:off x="3609654" y="3743808"/>
            <a:ext cx="9909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9820585-E054-4676-ABDE-DDAAADD974DA}"/>
              </a:ext>
            </a:extLst>
          </p:cNvPr>
          <p:cNvSpPr txBox="1"/>
          <p:nvPr/>
        </p:nvSpPr>
        <p:spPr>
          <a:xfrm>
            <a:off x="3613979" y="4443096"/>
            <a:ext cx="86113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3AB51E85-4F13-45D0-9ECD-846FAE1CBFC1}"/>
              </a:ext>
            </a:extLst>
          </p:cNvPr>
          <p:cNvGrpSpPr/>
          <p:nvPr/>
        </p:nvGrpSpPr>
        <p:grpSpPr>
          <a:xfrm>
            <a:off x="1993850" y="3716822"/>
            <a:ext cx="1504017" cy="550463"/>
            <a:chOff x="469849" y="3716821"/>
            <a:chExt cx="1504017" cy="550463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C7FDC5A-3F65-4A2D-BC28-004AAC96D2EB}"/>
                </a:ext>
              </a:extLst>
            </p:cNvPr>
            <p:cNvGrpSpPr/>
            <p:nvPr/>
          </p:nvGrpSpPr>
          <p:grpSpPr>
            <a:xfrm>
              <a:off x="469849" y="3716821"/>
              <a:ext cx="550463" cy="550463"/>
              <a:chOff x="5578646" y="5157139"/>
              <a:chExt cx="1040454" cy="1040454"/>
            </a:xfrm>
          </p:grpSpPr>
          <p:sp>
            <p:nvSpPr>
              <p:cNvPr id="84" name="菱形 83">
                <a:extLst>
                  <a:ext uri="{FF2B5EF4-FFF2-40B4-BE49-F238E27FC236}">
                    <a16:creationId xmlns:a16="http://schemas.microsoft.com/office/drawing/2014/main" id="{252AD122-0FB9-4192-A9F2-050DE2DD9B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A3CE1C1C-E682-407C-86CD-186F7DBEF81C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13C0AD70-2235-43D5-BD20-380BDCA01C92}"/>
                </a:ext>
              </a:extLst>
            </p:cNvPr>
            <p:cNvCxnSpPr>
              <a:cxnSpLocks/>
              <a:stCxn id="83" idx="1"/>
              <a:endCxn id="84" idx="3"/>
            </p:cNvCxnSpPr>
            <p:nvPr/>
          </p:nvCxnSpPr>
          <p:spPr>
            <a:xfrm flipH="1">
              <a:off x="1020312" y="3992052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C8CC880-3589-4054-937F-9F22733505FB}"/>
                </a:ext>
              </a:extLst>
            </p:cNvPr>
            <p:cNvSpPr/>
            <p:nvPr/>
          </p:nvSpPr>
          <p:spPr>
            <a:xfrm>
              <a:off x="1599523" y="3838163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54E89B1A-765C-48F8-8585-8AE89CDD20AE}"/>
                </a:ext>
              </a:extLst>
            </p:cNvPr>
            <p:cNvSpPr txBox="1"/>
            <p:nvPr/>
          </p:nvSpPr>
          <p:spPr>
            <a:xfrm>
              <a:off x="1027718" y="3721843"/>
              <a:ext cx="482824" cy="307777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1..h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6F468FCB-4963-4B81-A788-40DEA991E837}"/>
              </a:ext>
            </a:extLst>
          </p:cNvPr>
          <p:cNvGrpSpPr/>
          <p:nvPr/>
        </p:nvGrpSpPr>
        <p:grpSpPr>
          <a:xfrm>
            <a:off x="1998175" y="4416050"/>
            <a:ext cx="1504017" cy="550523"/>
            <a:chOff x="474174" y="4416049"/>
            <a:chExt cx="1504017" cy="550523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353819A-FB42-4952-88B5-5FE07FF2DFD3}"/>
                </a:ext>
              </a:extLst>
            </p:cNvPr>
            <p:cNvGrpSpPr/>
            <p:nvPr/>
          </p:nvGrpSpPr>
          <p:grpSpPr>
            <a:xfrm>
              <a:off x="474174" y="4416109"/>
              <a:ext cx="550463" cy="550463"/>
              <a:chOff x="5578646" y="5157139"/>
              <a:chExt cx="1040454" cy="1040454"/>
            </a:xfrm>
          </p:grpSpPr>
          <p:sp>
            <p:nvSpPr>
              <p:cNvPr id="91" name="菱形 90">
                <a:extLst>
                  <a:ext uri="{FF2B5EF4-FFF2-40B4-BE49-F238E27FC236}">
                    <a16:creationId xmlns:a16="http://schemas.microsoft.com/office/drawing/2014/main" id="{A9D89F97-FE6B-415D-BB16-51572E9E5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97EC29E-E5ED-4CD0-8216-30883A4F1675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DDBC077D-A282-4B2A-A0CA-193880130457}"/>
                </a:ext>
              </a:extLst>
            </p:cNvPr>
            <p:cNvCxnSpPr>
              <a:cxnSpLocks/>
              <a:stCxn id="90" idx="1"/>
              <a:endCxn id="91" idx="3"/>
            </p:cNvCxnSpPr>
            <p:nvPr/>
          </p:nvCxnSpPr>
          <p:spPr>
            <a:xfrm flipH="1">
              <a:off x="1024637" y="4691340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768F09F-F1F8-4A05-9C61-6809B3927E14}"/>
                </a:ext>
              </a:extLst>
            </p:cNvPr>
            <p:cNvSpPr/>
            <p:nvPr/>
          </p:nvSpPr>
          <p:spPr>
            <a:xfrm>
              <a:off x="1603848" y="4537451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27FCB26B-90F6-4407-BC2A-0B884E94CDCF}"/>
                </a:ext>
              </a:extLst>
            </p:cNvPr>
            <p:cNvSpPr txBox="1"/>
            <p:nvPr/>
          </p:nvSpPr>
          <p:spPr>
            <a:xfrm>
              <a:off x="1010464" y="4416049"/>
              <a:ext cx="631904" cy="523220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role </a:t>
              </a:r>
            </a:p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4F8413C2-F62D-49B7-A244-26326F13A5C4}"/>
              </a:ext>
            </a:extLst>
          </p:cNvPr>
          <p:cNvGrpSpPr/>
          <p:nvPr/>
        </p:nvGrpSpPr>
        <p:grpSpPr>
          <a:xfrm>
            <a:off x="2469637" y="5186393"/>
            <a:ext cx="667081" cy="1047774"/>
            <a:chOff x="945636" y="5186393"/>
            <a:chExt cx="667081" cy="1047774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CC72B9CB-62F7-4356-AF67-4C083DAB592A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00" name="等腰三角形 99">
                <a:extLst>
                  <a:ext uri="{FF2B5EF4-FFF2-40B4-BE49-F238E27FC236}">
                    <a16:creationId xmlns:a16="http://schemas.microsoft.com/office/drawing/2014/main" id="{D7324F69-4DE0-4754-BE0E-E037438D93A8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6497611-B308-4EC2-B129-024559660C94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F162D8EB-7B4F-4C81-A446-C80DFFE60630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6BC99FB-2CF4-4104-9B90-E7ADC8C06F2F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6A5210B-DADD-4D8C-A0A0-4A63BE15FB4A}"/>
              </a:ext>
            </a:extLst>
          </p:cNvPr>
          <p:cNvSpPr txBox="1"/>
          <p:nvPr/>
        </p:nvSpPr>
        <p:spPr>
          <a:xfrm>
            <a:off x="3613978" y="5434636"/>
            <a:ext cx="474810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93BB2242-5BC9-4044-99AC-85ED9CD9C658}"/>
              </a:ext>
            </a:extLst>
          </p:cNvPr>
          <p:cNvGrpSpPr/>
          <p:nvPr/>
        </p:nvGrpSpPr>
        <p:grpSpPr>
          <a:xfrm>
            <a:off x="5090973" y="5184663"/>
            <a:ext cx="667081" cy="1047774"/>
            <a:chOff x="945636" y="5186393"/>
            <a:chExt cx="667081" cy="1047774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C2BE8B48-3CBF-4804-92A7-B3AA37F48D3E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17" name="等腰三角形 116">
                <a:extLst>
                  <a:ext uri="{FF2B5EF4-FFF2-40B4-BE49-F238E27FC236}">
                    <a16:creationId xmlns:a16="http://schemas.microsoft.com/office/drawing/2014/main" id="{72B9A6C3-F2D9-4F3F-9527-E75DF4B28BA4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EFC754B4-7081-464A-AB11-0DF76196929C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0ADB96B-5A80-4B18-B28A-FF47A76BB781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3415765-35E3-4F2C-8EDA-3AD8B218F994}"/>
                </a:ext>
              </a:extLst>
            </p:cNvPr>
            <p:cNvCxnSpPr>
              <a:cxnSpLocks/>
              <a:endCxn id="117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E4CCC2B-7E99-4F0B-B60B-2DC020B0AFE0}"/>
              </a:ext>
            </a:extLst>
          </p:cNvPr>
          <p:cNvSpPr txBox="1"/>
          <p:nvPr/>
        </p:nvSpPr>
        <p:spPr>
          <a:xfrm>
            <a:off x="6096001" y="5332651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C0086FC3-28C4-4E51-8E5F-1D87530419DE}"/>
              </a:ext>
            </a:extLst>
          </p:cNvPr>
          <p:cNvGrpSpPr/>
          <p:nvPr/>
        </p:nvGrpSpPr>
        <p:grpSpPr>
          <a:xfrm>
            <a:off x="7708721" y="5180380"/>
            <a:ext cx="667081" cy="1047774"/>
            <a:chOff x="945636" y="5186393"/>
            <a:chExt cx="667081" cy="1047774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5781F809-5AC4-4756-96D5-45C99005401D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24" name="等腰三角形 123">
                <a:extLst>
                  <a:ext uri="{FF2B5EF4-FFF2-40B4-BE49-F238E27FC236}">
                    <a16:creationId xmlns:a16="http://schemas.microsoft.com/office/drawing/2014/main" id="{44BB9C81-9E16-40B4-838A-3BDD8AE62CE9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DC4CBF89-F46C-4753-A113-B63C06E92C3A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1B52413-C371-4E5E-ACD8-B0547F856D8B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95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8809180-C992-43B5-BCE2-3BAC7351B221}"/>
                </a:ext>
              </a:extLst>
            </p:cNvPr>
            <p:cNvCxnSpPr>
              <a:cxnSpLocks/>
              <a:endCxn id="124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7773FDEF-FF95-43F3-8C52-9537FE125BA5}"/>
              </a:ext>
            </a:extLst>
          </p:cNvPr>
          <p:cNvSpPr txBox="1"/>
          <p:nvPr/>
        </p:nvSpPr>
        <p:spPr>
          <a:xfrm>
            <a:off x="8629979" y="5328368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69A0EDB-6C51-4756-8B10-769FB49FB72F}"/>
              </a:ext>
            </a:extLst>
          </p:cNvPr>
          <p:cNvSpPr txBox="1"/>
          <p:nvPr/>
        </p:nvSpPr>
        <p:spPr>
          <a:xfrm>
            <a:off x="8011201" y="5928191"/>
            <a:ext cx="742511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</a:p>
        </p:txBody>
      </p:sp>
    </p:spTree>
    <p:extLst>
      <p:ext uri="{BB962C8B-B14F-4D97-AF65-F5344CB8AC3E}">
        <p14:creationId xmlns:p14="http://schemas.microsoft.com/office/powerpoint/2010/main" val="4146724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from Lab 5 addendum.</a:t>
            </a:r>
          </a:p>
        </p:txBody>
      </p:sp>
    </p:spTree>
    <p:extLst>
      <p:ext uri="{BB962C8B-B14F-4D97-AF65-F5344CB8AC3E}">
        <p14:creationId xmlns:p14="http://schemas.microsoft.com/office/powerpoint/2010/main" val="258363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1117</Words>
  <Application>Microsoft Office PowerPoint</Application>
  <PresentationFormat>Widescreen</PresentationFormat>
  <Paragraphs>174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Adobe Heiti Std R</vt:lpstr>
      <vt:lpstr>Hiragino Sans GB W3</vt:lpstr>
      <vt:lpstr>等线</vt:lpstr>
      <vt:lpstr>等线 Light</vt:lpstr>
      <vt:lpstr>宋体</vt:lpstr>
      <vt:lpstr>Microsoft YaHei</vt:lpstr>
      <vt:lpstr>Arial</vt:lpstr>
      <vt:lpstr>Calibri</vt:lpstr>
      <vt:lpstr>Calibri Light</vt:lpstr>
      <vt:lpstr>Cambria Math</vt:lpstr>
      <vt:lpstr>Symbol</vt:lpstr>
      <vt:lpstr>Office Theme</vt:lpstr>
      <vt:lpstr>beamer_like</vt:lpstr>
      <vt:lpstr>Database Lecture 3 Entity-Relationship  Model, Constraints Addendum</vt:lpstr>
      <vt:lpstr>Exercise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  <vt:lpstr>Summary of ER Diagram Design</vt:lpstr>
      <vt:lpstr>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725</cp:revision>
  <dcterms:created xsi:type="dcterms:W3CDTF">2021-08-02T03:54:37Z</dcterms:created>
  <dcterms:modified xsi:type="dcterms:W3CDTF">2025-10-11T01:32:00Z</dcterms:modified>
</cp:coreProperties>
</file>