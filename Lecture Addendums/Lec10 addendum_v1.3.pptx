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05" r:id="rId3"/>
    <p:sldId id="306" r:id="rId4"/>
    <p:sldId id="295" r:id="rId5"/>
    <p:sldId id="300" r:id="rId6"/>
    <p:sldId id="301" r:id="rId7"/>
    <p:sldId id="269" r:id="rId8"/>
    <p:sldId id="274" r:id="rId9"/>
    <p:sldId id="273" r:id="rId10"/>
    <p:sldId id="270" r:id="rId11"/>
    <p:sldId id="275" r:id="rId12"/>
    <p:sldId id="304" r:id="rId13"/>
    <p:sldId id="3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24" autoAdjust="0"/>
    <p:restoredTop sz="94660"/>
  </p:normalViewPr>
  <p:slideViewPr>
    <p:cSldViewPr snapToGrid="0">
      <p:cViewPr varScale="1">
        <p:scale>
          <a:sx n="53" d="100"/>
          <a:sy n="53" d="100"/>
        </p:scale>
        <p:origin x="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575BF-6987-4786-AD3A-DA832F697ED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AF054-1712-4639-B42C-CC5916667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5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4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20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6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0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5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6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9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6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1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00F8E-535C-4AD9-A6D4-9E1905C3198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8EA97-FB8A-4642-B627-DA7C5DECE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0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10</a:t>
            </a:r>
            <a:br>
              <a:rPr lang="en-US" dirty="0"/>
            </a:br>
            <a:r>
              <a:rPr lang="en-US" dirty="0"/>
              <a:t>Relational Database Design</a:t>
            </a:r>
            <a:br>
              <a:rPr lang="en-US"/>
            </a:br>
            <a:r>
              <a:rPr lang="en-US"/>
              <a:t>BCNF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/>
              <a:t>Addendum</a:t>
            </a:r>
          </a:p>
          <a:p>
            <a:r>
              <a:rPr lang="en-US" sz="3600" dirty="0"/>
              <a:t>Dr. Jefferson Fong</a:t>
            </a:r>
          </a:p>
          <a:p>
            <a:r>
              <a:rPr lang="en-US" sz="3600" dirty="0"/>
              <a:t>Reference: 7.3 and 7.5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013" y="2836493"/>
            <a:ext cx="2320290" cy="274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2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5792"/>
          </a:xfrm>
        </p:spPr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495"/>
            <a:ext cx="10515600" cy="135776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Static (HTML and CSS) web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pages</a:t>
            </a:r>
            <a:r>
              <a:rPr lang="en-US" dirty="0"/>
              <a:t> are due on </a:t>
            </a:r>
            <a:r>
              <a:rPr lang="en-US" dirty="0">
                <a:solidFill>
                  <a:srgbClr val="FF0000"/>
                </a:solidFill>
              </a:rPr>
              <a:t>Sun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Nov 30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You can use other software tools for </a:t>
            </a:r>
            <a:r>
              <a:rPr lang="en-US"/>
              <a:t>the front end, </a:t>
            </a:r>
            <a:r>
              <a:rPr lang="en-US" dirty="0"/>
              <a:t>but no extra credit will be given on how nice you web pages look.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981" y="2527329"/>
            <a:ext cx="3982006" cy="36390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625633"/>
            <a:ext cx="6294120" cy="206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Our focus is on the </a:t>
            </a:r>
            <a:r>
              <a:rPr lang="en-US" dirty="0">
                <a:solidFill>
                  <a:srgbClr val="FF0000"/>
                </a:solidFill>
              </a:rPr>
              <a:t>database</a:t>
            </a:r>
            <a:r>
              <a:rPr lang="en-US" dirty="0"/>
              <a:t>.  See the </a:t>
            </a:r>
            <a:r>
              <a:rPr lang="en-US" dirty="0">
                <a:solidFill>
                  <a:srgbClr val="FF0000"/>
                </a:solidFill>
              </a:rPr>
              <a:t>Course Project </a:t>
            </a:r>
            <a:r>
              <a:rPr lang="en-US" dirty="0"/>
              <a:t>links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details.</a:t>
            </a:r>
          </a:p>
          <a:p>
            <a:pPr lvl="1"/>
            <a:r>
              <a:rPr lang="en-US" dirty="0"/>
              <a:t>The front end needs to be good enough to demonstrate the database requirements.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89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783"/>
          </a:xfrm>
        </p:spPr>
        <p:txBody>
          <a:bodyPr/>
          <a:lstStyle/>
          <a:p>
            <a:r>
              <a:rPr lang="en-US" dirty="0"/>
              <a:t>Make-up Midterm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0336"/>
            <a:ext cx="10515600" cy="4826627"/>
          </a:xfrm>
        </p:spPr>
        <p:txBody>
          <a:bodyPr>
            <a:normAutofit/>
          </a:bodyPr>
          <a:lstStyle/>
          <a:p>
            <a:r>
              <a:rPr lang="en-US" dirty="0"/>
              <a:t>Students who are approved to take the make-up midterm exam have been notified.  Please join the </a:t>
            </a:r>
            <a:r>
              <a:rPr lang="en-US" dirty="0" err="1"/>
              <a:t>WeCom</a:t>
            </a:r>
            <a:r>
              <a:rPr lang="en-US" dirty="0"/>
              <a:t> chat group.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64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6835"/>
            <a:ext cx="10515600" cy="56601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Last Time</a:t>
            </a:r>
          </a:p>
          <a:p>
            <a:r>
              <a:rPr lang="en-US" dirty="0">
                <a:solidFill>
                  <a:srgbClr val="FF0000"/>
                </a:solidFill>
              </a:rPr>
              <a:t>Functional Dependency </a:t>
            </a:r>
            <a:r>
              <a:rPr lang="en-US" dirty="0"/>
              <a:t>(FD) is a generalization of a key.</a:t>
            </a:r>
          </a:p>
          <a:p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{B, C}	means columns </a:t>
            </a:r>
            <a:r>
              <a:rPr lang="en-US" dirty="0">
                <a:solidFill>
                  <a:srgbClr val="FF0000"/>
                </a:solidFill>
              </a:rPr>
              <a:t>B, C </a:t>
            </a:r>
            <a:r>
              <a:rPr lang="en-US" dirty="0"/>
              <a:t>are </a:t>
            </a:r>
            <a:r>
              <a:rPr lang="en-US" dirty="0">
                <a:solidFill>
                  <a:srgbClr val="FF0000"/>
                </a:solidFill>
              </a:rPr>
              <a:t>determined by </a:t>
            </a:r>
            <a:r>
              <a:rPr lang="en-US" dirty="0"/>
              <a:t>column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{</a:t>
            </a:r>
            <a:r>
              <a:rPr lang="en-US" u="sng" dirty="0"/>
              <a:t>A</a:t>
            </a:r>
            <a:r>
              <a:rPr lang="en-US" dirty="0"/>
              <a:t>, B, C} forms a “nice” table with A as the key.</a:t>
            </a:r>
          </a:p>
          <a:p>
            <a:pPr lvl="1"/>
            <a:endParaRPr lang="en-US" dirty="0"/>
          </a:p>
          <a:p>
            <a:r>
              <a:rPr lang="en-US" dirty="0"/>
              <a:t>There is an algorithm to decompose a schema into </a:t>
            </a:r>
            <a:r>
              <a:rPr lang="en-US"/>
              <a:t>“nice” tables.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40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1935"/>
          </a:xfrm>
        </p:spPr>
        <p:txBody>
          <a:bodyPr>
            <a:normAutofit/>
          </a:bodyPr>
          <a:lstStyle/>
          <a:p>
            <a:r>
              <a:rPr lang="en-US" dirty="0"/>
              <a:t>Boyce-</a:t>
            </a:r>
            <a:r>
              <a:rPr lang="en-US" dirty="0" err="1"/>
              <a:t>Codd</a:t>
            </a:r>
            <a:r>
              <a:rPr lang="en-US" dirty="0"/>
              <a:t> Normal Form (BCNF)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0186"/>
                <a:ext cx="10515600" cy="504707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Slide 3 Boyce-</a:t>
                </a:r>
                <a:r>
                  <a:rPr lang="en-US" dirty="0" err="1"/>
                  <a:t>Codd</a:t>
                </a:r>
                <a:r>
                  <a:rPr lang="en-US" dirty="0"/>
                  <a:t> Normal Form </a:t>
                </a:r>
              </a:p>
              <a:p>
                <a:pPr lvl="1"/>
                <a:r>
                  <a:rPr lang="en-US" dirty="0"/>
                  <a:t>Purpose: remove redundancies by using functional dependency (FD).</a:t>
                </a:r>
              </a:p>
              <a:p>
                <a:pPr lvl="1"/>
                <a:r>
                  <a:rPr lang="en-US" dirty="0"/>
                  <a:t>“Good Design” is the first bullet in the outline (Slide 2); examples given in Lecture 08.</a:t>
                </a:r>
                <a:endParaRPr lang="en-US" sz="1200" dirty="0"/>
              </a:p>
              <a:p>
                <a:r>
                  <a:rPr lang="en-US" dirty="0"/>
                  <a:t>Slide 4 Lossless-Join Decomposition</a:t>
                </a:r>
              </a:p>
              <a:p>
                <a:pPr lvl="1"/>
                <a:r>
                  <a:rPr lang="en-US" dirty="0"/>
                  <a:t>In another word, decomposition of 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solidFill>
                      <a:srgbClr val="FF0000"/>
                    </a:solidFill>
                  </a:rPr>
                  <a:t>lossless join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determines (forms a </a:t>
                </a:r>
                <a:r>
                  <a:rPr lang="en-US" dirty="0">
                    <a:solidFill>
                      <a:srgbClr val="FF0000"/>
                    </a:solidFill>
                  </a:rPr>
                  <a:t>super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key</a:t>
                </a:r>
                <a:r>
                  <a:rPr lang="en-US" dirty="0"/>
                  <a:t> for)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F</a:t>
                </a:r>
                <a:r>
                  <a:rPr lang="en-US" baseline="30000" dirty="0"/>
                  <a:t>+</a:t>
                </a:r>
                <a:r>
                  <a:rPr lang="en-US" dirty="0"/>
                  <a:t> is the closure of the FDs.</a:t>
                </a:r>
              </a:p>
              <a:p>
                <a:pPr lvl="1"/>
                <a:r>
                  <a:rPr lang="en-US" dirty="0"/>
                  <a:t>Jump ahead to top example in Slide 6: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{A, B},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{B, C},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{B}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(because B → C).</a:t>
                </a:r>
              </a:p>
              <a:p>
                <a:pPr lvl="2"/>
                <a:r>
                  <a:rPr lang="en-US" dirty="0"/>
                  <a:t>We have a </a:t>
                </a:r>
                <a:r>
                  <a:rPr lang="en-US" dirty="0">
                    <a:solidFill>
                      <a:srgbClr val="C00000"/>
                    </a:solidFill>
                  </a:rPr>
                  <a:t>“</a:t>
                </a:r>
                <a:r>
                  <a:rPr lang="en-US" dirty="0">
                    <a:solidFill>
                      <a:srgbClr val="FF0000"/>
                    </a:solidFill>
                  </a:rPr>
                  <a:t>nice</a:t>
                </a:r>
                <a:r>
                  <a:rPr lang="en-US" dirty="0">
                    <a:solidFill>
                      <a:srgbClr val="C00000"/>
                    </a:solidFill>
                  </a:rPr>
                  <a:t>” </a:t>
                </a:r>
                <a:r>
                  <a:rPr lang="en-US" dirty="0"/>
                  <a:t>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with B as its key.</a:t>
                </a:r>
              </a:p>
              <a:p>
                <a:pPr lvl="2"/>
                <a:r>
                  <a:rPr lang="en-US" dirty="0"/>
                  <a:t>Everything else from R goes to the “</a:t>
                </a:r>
                <a:r>
                  <a:rPr lang="en-US" dirty="0">
                    <a:solidFill>
                      <a:srgbClr val="C00000"/>
                    </a:solidFill>
                  </a:rPr>
                  <a:t>left over</a:t>
                </a:r>
                <a:r>
                  <a:rPr lang="en-US" dirty="0"/>
                  <a:t>”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; with B in the left over table, so we can access any columns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>
                    <a:solidFill>
                      <a:srgbClr val="C00000"/>
                    </a:solidFill>
                  </a:rPr>
                  <a:t>No attributes </a:t>
                </a:r>
                <a:r>
                  <a:rPr lang="en-US" dirty="0"/>
                  <a:t>in R are </a:t>
                </a:r>
                <a:r>
                  <a:rPr lang="en-US" dirty="0">
                    <a:solidFill>
                      <a:srgbClr val="C00000"/>
                    </a:solidFill>
                  </a:rPr>
                  <a:t>lost</a:t>
                </a:r>
                <a:r>
                  <a:rPr lang="en-US" dirty="0"/>
                  <a:t> in the decomposition.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0186"/>
                <a:ext cx="10515600" cy="5047072"/>
              </a:xfrm>
              <a:blipFill rotWithShape="0">
                <a:blip r:embed="rId2"/>
                <a:stretch>
                  <a:fillRect l="-1043"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36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696" y="698500"/>
            <a:ext cx="10357104" cy="5478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5 (Functional) Dependency Preservation </a:t>
            </a:r>
          </a:p>
          <a:p>
            <a:pPr lvl="1"/>
            <a:r>
              <a:rPr lang="en-US" dirty="0"/>
              <a:t>Means </a:t>
            </a:r>
            <a:r>
              <a:rPr lang="en-US" b="1" dirty="0">
                <a:solidFill>
                  <a:srgbClr val="00B050"/>
                </a:solidFill>
              </a:rPr>
              <a:t>all FDs </a:t>
            </a:r>
            <a:r>
              <a:rPr lang="en-US" dirty="0"/>
              <a:t>in F</a:t>
            </a:r>
            <a:r>
              <a:rPr lang="en-US" baseline="30000" dirty="0"/>
              <a:t>+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00B050"/>
                </a:solidFill>
              </a:rPr>
              <a:t>preserved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English, “lossless” and “preserved” are synonyms.</a:t>
            </a:r>
          </a:p>
          <a:p>
            <a:pPr lvl="1"/>
            <a:r>
              <a:rPr lang="en-US" dirty="0"/>
              <a:t>In DBMS,</a:t>
            </a:r>
          </a:p>
          <a:p>
            <a:pPr lvl="2"/>
            <a:r>
              <a:rPr lang="en-US" sz="2400" dirty="0">
                <a:solidFill>
                  <a:srgbClr val="00B050"/>
                </a:solidFill>
              </a:rPr>
              <a:t>Lossless</a:t>
            </a:r>
            <a:r>
              <a:rPr lang="en-US" sz="2400" dirty="0"/>
              <a:t> refers to </a:t>
            </a:r>
            <a:r>
              <a:rPr lang="en-US" sz="2400" dirty="0">
                <a:solidFill>
                  <a:srgbClr val="00B050"/>
                </a:solidFill>
              </a:rPr>
              <a:t>attributes</a:t>
            </a:r>
            <a:r>
              <a:rPr lang="en-US" sz="2400" dirty="0"/>
              <a:t>.</a:t>
            </a:r>
          </a:p>
          <a:p>
            <a:pPr lvl="2"/>
            <a:r>
              <a:rPr lang="en-US" sz="2400" dirty="0">
                <a:solidFill>
                  <a:srgbClr val="00B050"/>
                </a:solidFill>
              </a:rPr>
              <a:t>Preserved</a:t>
            </a:r>
            <a:r>
              <a:rPr lang="en-US" sz="2400" dirty="0"/>
              <a:t> refers to </a:t>
            </a:r>
            <a:r>
              <a:rPr lang="en-US" sz="2400" dirty="0">
                <a:solidFill>
                  <a:srgbClr val="00B050"/>
                </a:solidFill>
              </a:rPr>
              <a:t>FDs.</a:t>
            </a:r>
          </a:p>
        </p:txBody>
      </p:sp>
    </p:spTree>
    <p:extLst>
      <p:ext uri="{BB962C8B-B14F-4D97-AF65-F5344CB8AC3E}">
        <p14:creationId xmlns:p14="http://schemas.microsoft.com/office/powerpoint/2010/main" val="3025249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96696" y="698500"/>
                <a:ext cx="10357104" cy="54784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6 Example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𝐵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𝐶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𝐴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</a:rPr>
                      <m:t>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charset="-122"/>
                        <a:sym typeface="Monotype Sorts" pitchFamily="2" charset="2"/>
                      </a:rPr>
                      <m:t>}</m:t>
                    </m:r>
                  </m:oMath>
                </a14:m>
                <a:r>
                  <a:rPr lang="en-US" altLang="zh-CN" sz="2400" dirty="0">
                    <a:ea typeface="宋体" charset="-122"/>
                    <a:sym typeface="Monotype Sorts" pitchFamily="2" charset="2"/>
                  </a:rPr>
                  <a:t> </a:t>
                </a:r>
                <a:endParaRPr lang="en-US" dirty="0"/>
              </a:p>
              <a:p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decom: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{A, B},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{B, C};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{A→B},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{B→C} </a:t>
                </a:r>
              </a:p>
              <a:p>
                <a:pPr lvl="1"/>
                <a:r>
                  <a:rPr lang="en-US" dirty="0"/>
                  <a:t>Lossless-join decomposition: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{B}, is the super key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Dependency preserving: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FD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FD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= F, so the closure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sym typeface="Symbol" panose="05050102010706020507" pitchFamily="18" charset="2"/>
                          </a:rPr>
                          <m:t>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2</a:t>
                </a:r>
                <a:r>
                  <a:rPr lang="en-US" baseline="30000" dirty="0"/>
                  <a:t>nd</a:t>
                </a:r>
                <a:r>
                  <a:rPr lang="en-US" dirty="0"/>
                  <a:t> decom: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{A, B},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{A, C};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{A→B},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{A→C}</a:t>
                </a:r>
              </a:p>
              <a:p>
                <a:pPr lvl="1"/>
                <a:r>
                  <a:rPr lang="en-US" dirty="0"/>
                  <a:t>Lossless-join decomposition: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{A} is the super key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b="1" dirty="0">
                    <a:solidFill>
                      <a:srgbClr val="00B050"/>
                    </a:solidFill>
                  </a:rPr>
                  <a:t>Not dependency preserving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{A→B, A→C}</a:t>
                </a:r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(B→C) </a:t>
                </a:r>
                <a:r>
                  <a:rPr lang="en-US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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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, but </a:t>
                </a:r>
                <a:r>
                  <a:rPr lang="en-US" dirty="0">
                    <a:solidFill>
                      <a:schemeClr val="tx1"/>
                    </a:solidFill>
                  </a:rPr>
                  <a:t>(B→C) </a:t>
                </a:r>
                <a:r>
                  <a:rPr lang="en-US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lvl="2"/>
                <a:r>
                  <a:rPr lang="en-US" dirty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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At bottom line, 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R</a:t>
                </a:r>
                <a:r>
                  <a:rPr lang="en-US" altLang="zh-CN" i="1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1 </a:t>
                </a:r>
                <a:r>
                  <a:rPr lang="en-US" altLang="zh-CN" dirty="0"/>
                  <a:t>⨝ 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R</a:t>
                </a:r>
                <a:r>
                  <a:rPr lang="en-US" altLang="zh-CN" i="1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2</a:t>
                </a:r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denotes the natural join of 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R</a:t>
                </a:r>
                <a:r>
                  <a:rPr lang="en-US" altLang="zh-CN" i="1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1 </a:t>
                </a:r>
                <a:r>
                  <a:rPr lang="en-US" altLang="zh-CN" dirty="0"/>
                  <a:t> and 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R</a:t>
                </a:r>
                <a:r>
                  <a:rPr lang="en-US" altLang="zh-CN" i="1" baseline="-25000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2</a:t>
                </a:r>
                <a:r>
                  <a:rPr lang="en-US" altLang="zh-CN" i="1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 </a:t>
                </a:r>
                <a:endParaRPr lang="en-US" altLang="zh-CN" dirty="0">
                  <a:latin typeface="Arial" panose="020B0604020202020204" pitchFamily="34" charset="0"/>
                  <a:ea typeface="宋体" charset="-122"/>
                  <a:cs typeface="Arial" panose="020B0604020202020204" pitchFamily="34" charset="0"/>
                  <a:sym typeface="Monotype Sorts" pitchFamily="2" charset="2"/>
                </a:endParaRPr>
              </a:p>
              <a:p>
                <a:pPr lvl="2"/>
                <a:r>
                  <a:rPr lang="en-US" altLang="zh-CN" dirty="0">
                    <a:latin typeface="Arial" panose="020B0604020202020204" pitchFamily="34" charset="0"/>
                    <a:ea typeface="宋体" charset="-122"/>
                    <a:cs typeface="Arial" panose="020B0604020202020204" pitchFamily="34" charset="0"/>
                    <a:sym typeface="Monotype Sorts" pitchFamily="2" charset="2"/>
                  </a:rPr>
                  <a:t>Each time the DB is updated, we would need to do a natural join to check if </a:t>
                </a:r>
                <a:r>
                  <a:rPr lang="en-US" dirty="0"/>
                  <a:t>B→C is violated.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6696" y="698500"/>
                <a:ext cx="10357104" cy="5478463"/>
              </a:xfrm>
              <a:blipFill>
                <a:blip r:embed="rId2"/>
                <a:stretch>
                  <a:fillRect l="-1236" t="-1893" r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71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1017" y="596348"/>
                <a:ext cx="11176247" cy="56719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7 Boyce-</a:t>
                </a:r>
                <a:r>
                  <a:rPr lang="en-US" dirty="0" err="1"/>
                  <a:t>Codd</a:t>
                </a:r>
                <a:r>
                  <a:rPr lang="en-US" dirty="0"/>
                  <a:t> Normal Form</a:t>
                </a:r>
              </a:p>
              <a:p>
                <a:r>
                  <a:rPr lang="en-US" dirty="0"/>
                  <a:t>Definition of BCNF</a:t>
                </a:r>
              </a:p>
              <a:p>
                <a:pPr lvl="1"/>
                <a:r>
                  <a:rPr lang="en-US" dirty="0"/>
                  <a:t>If “</a:t>
                </a:r>
                <a:r>
                  <a:rPr lang="en-US" b="1" dirty="0">
                    <a:solidFill>
                      <a:srgbClr val="00B050"/>
                    </a:solidFill>
                  </a:rPr>
                  <a:t>for all</a:t>
                </a:r>
                <a:r>
                  <a:rPr lang="en-US" dirty="0"/>
                  <a:t> FDs … </a:t>
                </a:r>
                <a:r>
                  <a:rPr lang="en-US" dirty="0" err="1">
                    <a:latin typeface="Symbol" panose="05050102010706020507" pitchFamily="18" charset="2"/>
                  </a:rPr>
                  <a:t>a</a:t>
                </a:r>
                <a:r>
                  <a:rPr lang="en-US" dirty="0" err="1"/>
                  <a:t>→</a:t>
                </a:r>
                <a:r>
                  <a:rPr lang="en-US" dirty="0" err="1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…”  we have 1 or 2 is true, then the </a:t>
                </a:r>
                <a:r>
                  <a:rPr lang="en-US" dirty="0">
                    <a:solidFill>
                      <a:srgbClr val="FF0000"/>
                    </a:solidFill>
                  </a:rPr>
                  <a:t>schema </a:t>
                </a:r>
                <a:r>
                  <a:rPr lang="en-US" dirty="0"/>
                  <a:t>is </a:t>
                </a:r>
                <a:r>
                  <a:rPr lang="en-US" dirty="0">
                    <a:solidFill>
                      <a:srgbClr val="FF0000"/>
                    </a:solidFill>
                  </a:rPr>
                  <a:t>in BCNF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For a </a:t>
                </a:r>
                <a:r>
                  <a:rPr lang="en-US" b="1" dirty="0">
                    <a:solidFill>
                      <a:srgbClr val="00B050"/>
                    </a:solidFill>
                  </a:rPr>
                  <a:t>particular</a:t>
                </a:r>
                <a:r>
                  <a:rPr lang="en-US" dirty="0"/>
                  <a:t> </a:t>
                </a:r>
                <a:r>
                  <a:rPr lang="en-US" dirty="0" err="1">
                    <a:latin typeface="Symbol" panose="05050102010706020507" pitchFamily="18" charset="2"/>
                  </a:rPr>
                  <a:t>a</a:t>
                </a:r>
                <a:r>
                  <a:rPr lang="en-US" dirty="0" err="1"/>
                  <a:t>→</a:t>
                </a:r>
                <a:r>
                  <a:rPr lang="en-US" dirty="0" err="1">
                    <a:latin typeface="Symbol" panose="05050102010706020507" pitchFamily="18" charset="2"/>
                  </a:rPr>
                  <a:t>b</a:t>
                </a:r>
                <a:r>
                  <a:rPr lang="en-US" dirty="0"/>
                  <a:t> with 1 and 2 are </a:t>
                </a:r>
                <a:r>
                  <a:rPr lang="en-US" b="1" dirty="0">
                    <a:solidFill>
                      <a:srgbClr val="00B050"/>
                    </a:solidFill>
                  </a:rPr>
                  <a:t>not </a:t>
                </a:r>
                <a:r>
                  <a:rPr lang="en-US" dirty="0"/>
                  <a:t>true, we say the </a:t>
                </a:r>
                <a:r>
                  <a:rPr lang="en-US" dirty="0">
                    <a:solidFill>
                      <a:srgbClr val="FF0000"/>
                    </a:solidFill>
                  </a:rPr>
                  <a:t>FD violates BCNF</a:t>
                </a:r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We should decompose further to make </a:t>
                </a:r>
                <a:r>
                  <a:rPr lang="en-US" dirty="0" err="1">
                    <a:latin typeface="Symbol" panose="05050102010706020507" pitchFamily="18" charset="2"/>
                  </a:rPr>
                  <a:t>a</a:t>
                </a:r>
                <a:r>
                  <a:rPr lang="en-US" dirty="0" err="1"/>
                  <a:t>→</a:t>
                </a:r>
                <a:r>
                  <a:rPr lang="en-US" dirty="0" err="1">
                    <a:latin typeface="Symbol" panose="05050102010706020507" pitchFamily="18" charset="2"/>
                  </a:rPr>
                  <a:t>b</a:t>
                </a:r>
                <a:r>
                  <a:rPr lang="en-US" dirty="0">
                    <a:latin typeface="Symbol" panose="05050102010706020507" pitchFamily="18" charset="2"/>
                  </a:rPr>
                  <a:t> </a:t>
                </a:r>
                <a:r>
                  <a:rPr lang="en-US" dirty="0" err="1"/>
                  <a:t>complient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Example:		</a:t>
                </a:r>
                <a:r>
                  <a:rPr lang="en-US" dirty="0" err="1"/>
                  <a:t>c_number</a:t>
                </a:r>
                <a:r>
                  <a:rPr lang="en-US" dirty="0"/>
                  <a:t> → credit, domain, </a:t>
                </a:r>
                <a:r>
                  <a:rPr lang="en-US" dirty="0" err="1"/>
                  <a:t>c_name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violates BCNF</a:t>
                </a:r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The FD is (1) not trivial, and (2) not a super key in </a:t>
                </a:r>
                <a:r>
                  <a:rPr lang="en-US" dirty="0" err="1"/>
                  <a:t>course_info</a:t>
                </a:r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Need to decompose table </a:t>
                </a:r>
                <a:r>
                  <a:rPr lang="en-US" dirty="0" err="1"/>
                  <a:t>course_info</a:t>
                </a:r>
                <a:r>
                  <a:rPr lang="en-US" dirty="0"/>
                  <a:t> by using	</a:t>
                </a:r>
                <a:r>
                  <a:rPr lang="en-US" dirty="0" err="1"/>
                  <a:t>c_number</a:t>
                </a:r>
                <a:r>
                  <a:rPr lang="en-US" dirty="0"/>
                  <a:t> → credit, domain, </a:t>
                </a:r>
                <a:r>
                  <a:rPr lang="en-US" dirty="0" err="1"/>
                  <a:t>c_name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Slide 8 Example</a:t>
                </a:r>
              </a:p>
              <a:p>
                <a:pPr lvl="1"/>
                <a:r>
                  <a:rPr lang="en-US" dirty="0"/>
                  <a:t>R is not in BCNF; B→C violates BCNF because B is not a super key in R.</a:t>
                </a:r>
              </a:p>
              <a:p>
                <a:pPr lvl="1"/>
                <a:r>
                  <a:rPr lang="en-US" dirty="0"/>
                  <a:t>After the lossless (attributes) and dependency preserving decomposition, the schemas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in BCNF.</a:t>
                </a:r>
              </a:p>
              <a:p>
                <a:pPr lvl="2"/>
                <a:r>
                  <a:rPr lang="en-US" dirty="0"/>
                  <a:t>We verified this decomposition is lossless and dependency preserving in Slide 6.</a:t>
                </a:r>
              </a:p>
              <a:p>
                <a:pPr lvl="2"/>
                <a:r>
                  <a:rPr lang="en-US" dirty="0"/>
                  <a:t>We will show how to make this decomposition in Slide 11.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017" y="596348"/>
                <a:ext cx="11176247" cy="5671930"/>
              </a:xfrm>
              <a:blipFill rotWithShape="0">
                <a:blip r:embed="rId2"/>
                <a:stretch>
                  <a:fillRect l="-1146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040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0633"/>
            <a:ext cx="6645442" cy="514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BCNF Basic Idea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7C13ADA-2499-4DC8-A68E-1820D4E770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2902" y="2057396"/>
                <a:ext cx="8170551" cy="29168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 = {</a:t>
                </a:r>
                <a:r>
                  <a:rPr lang="en-US" sz="2400" u="sng" dirty="0">
                    <a:latin typeface="Symbol" panose="05050102010706020507" pitchFamily="18" charset="2"/>
                  </a:rPr>
                  <a:t>a</a:t>
                </a:r>
                <a:r>
                  <a:rPr lang="en-US" sz="2400" dirty="0">
                    <a:latin typeface="Symbol" panose="05050102010706020507" pitchFamily="18" charset="2"/>
                  </a:rPr>
                  <a:t>,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>
                    <a:latin typeface="Symbol" panose="05050102010706020507" pitchFamily="18" charset="2"/>
                    <a:sym typeface="Wingdings" panose="05000000000000000000" pitchFamily="2" charset="2"/>
                  </a:rPr>
                  <a:t>b</a:t>
                </a:r>
                <a:r>
                  <a:rPr lang="en-US" sz="2400" dirty="0">
                    <a:sym typeface="Wingdings" panose="05000000000000000000" pitchFamily="2" charset="2"/>
                  </a:rPr>
                  <a:t>},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= {</a:t>
                </a:r>
                <a:r>
                  <a:rPr lang="en-US" sz="2400" dirty="0">
                    <a:latin typeface="Symbol" panose="05050102010706020507" pitchFamily="18" charset="2"/>
                  </a:rPr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:r>
                  <a:rPr lang="en-US" sz="2400" dirty="0">
                    <a:latin typeface="Symbol" panose="05050102010706020507" pitchFamily="18" charset="2"/>
                    <a:sym typeface="Wingdings" panose="05000000000000000000" pitchFamily="2" charset="2"/>
                  </a:rPr>
                  <a:t>b</a:t>
                </a:r>
                <a:r>
                  <a:rPr lang="en-US" sz="2400" dirty="0">
                    <a:sym typeface="Wingdings" panose="05000000000000000000" pitchFamily="2" charset="2"/>
                  </a:rPr>
                  <a:t>},	</a:t>
                </a:r>
                <a:r>
                  <a:rPr lang="en-US" sz="2400" dirty="0">
                    <a:latin typeface="Symbol" panose="05050102010706020507" pitchFamily="18" charset="2"/>
                  </a:rPr>
                  <a:t>a </a:t>
                </a:r>
                <a:r>
                  <a:rPr lang="en-US" sz="2400" dirty="0"/>
                  <a:t>is now super key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/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 is the “nice” table.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 = {</a:t>
                </a:r>
                <a:r>
                  <a:rPr lang="en-US" sz="2400" dirty="0">
                    <a:latin typeface="Symbol" panose="05050102010706020507" pitchFamily="18" charset="2"/>
                  </a:rPr>
                  <a:t>a,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>
                    <a:latin typeface="Symbol" panose="05050102010706020507" pitchFamily="18" charset="2"/>
                    <a:sym typeface="Wingdings" panose="05000000000000000000" pitchFamily="2" charset="2"/>
                  </a:rPr>
                  <a:t>g</a:t>
                </a:r>
                <a:r>
                  <a:rPr lang="en-US" sz="2400" dirty="0">
                    <a:sym typeface="Wingdings" panose="05000000000000000000" pitchFamily="2" charset="2"/>
                  </a:rPr>
                  <a:t>},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= F without </a:t>
                </a:r>
                <a:r>
                  <a:rPr lang="en-US" sz="2400" dirty="0">
                    <a:latin typeface="Symbol" panose="05050102010706020507" pitchFamily="18" charset="2"/>
                  </a:rPr>
                  <a:t>a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:r>
                  <a:rPr lang="en-US" sz="2400" dirty="0">
                    <a:latin typeface="Symbol" panose="05050102010706020507" pitchFamily="18" charset="2"/>
                    <a:sym typeface="Wingdings" panose="05000000000000000000" pitchFamily="2" charset="2"/>
                  </a:rPr>
                  <a:t>b.</a:t>
                </a:r>
              </a:p>
              <a:p>
                <a:pPr marL="0" indent="0">
                  <a:buNone/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 contains the “leftovers”.</a:t>
                </a:r>
              </a:p>
              <a:p>
                <a:pPr marL="0" indent="0">
                  <a:buNone/>
                </a:pPr>
                <a:r>
                  <a:rPr lang="en-US" sz="2400" dirty="0">
                    <a:sym typeface="Wingdings" panose="05000000000000000000" pitchFamily="2" charset="2"/>
                  </a:rPr>
                  <a:t>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	Lossless join;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no attributes loss</a:t>
                </a:r>
                <a:r>
                  <a:rPr lang="en-US" sz="2400" dirty="0">
                    <a:sym typeface="Wingdings" panose="05000000000000000000" pitchFamily="2" charset="2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Minimal redundancy</a:t>
                </a:r>
                <a:r>
                  <a:rPr lang="en-US" sz="2400" dirty="0">
                    <a:sym typeface="Wingdings" panose="05000000000000000000" pitchFamily="2" charset="2"/>
                  </a:rPr>
                  <a:t>. Possible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some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FD </a:t>
                </a:r>
                <a:r>
                  <a:rPr lang="en-US" sz="2400" dirty="0">
                    <a:sym typeface="Wingdings" panose="05000000000000000000" pitchFamily="2" charset="2"/>
                  </a:rPr>
                  <a:t>may not preserved.  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7C13ADA-2499-4DC8-A68E-1820D4E77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902" y="2057396"/>
                <a:ext cx="8170551" cy="2916878"/>
              </a:xfrm>
              <a:prstGeom prst="rect">
                <a:avLst/>
              </a:prstGeom>
              <a:blipFill>
                <a:blip r:embed="rId2"/>
                <a:stretch>
                  <a:fillRect l="-1119" t="-3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0AC5CB-927C-41A2-8661-225BF15BF0C0}"/>
              </a:ext>
            </a:extLst>
          </p:cNvPr>
          <p:cNvGraphicFramePr>
            <a:graphicFrameLocks noGrp="1"/>
          </p:cNvGraphicFramePr>
          <p:nvPr/>
        </p:nvGraphicFramePr>
        <p:xfrm>
          <a:off x="1494621" y="1206795"/>
          <a:ext cx="1402317" cy="85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439">
                  <a:extLst>
                    <a:ext uri="{9D8B030D-6E8A-4147-A177-3AD203B41FA5}">
                      <a16:colId xmlns:a16="http://schemas.microsoft.com/office/drawing/2014/main" val="915884628"/>
                    </a:ext>
                  </a:extLst>
                </a:gridCol>
                <a:gridCol w="467439">
                  <a:extLst>
                    <a:ext uri="{9D8B030D-6E8A-4147-A177-3AD203B41FA5}">
                      <a16:colId xmlns:a16="http://schemas.microsoft.com/office/drawing/2014/main" val="1091189431"/>
                    </a:ext>
                  </a:extLst>
                </a:gridCol>
                <a:gridCol w="467439">
                  <a:extLst>
                    <a:ext uri="{9D8B030D-6E8A-4147-A177-3AD203B41FA5}">
                      <a16:colId xmlns:a16="http://schemas.microsoft.com/office/drawing/2014/main" val="1927285076"/>
                    </a:ext>
                  </a:extLst>
                </a:gridCol>
              </a:tblGrid>
              <a:tr h="4253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</a:rPr>
                        <a:t>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  <a:sym typeface="Wingdings" panose="05000000000000000000" pitchFamily="2" charset="2"/>
                        </a:rPr>
                        <a:t>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  <a:sym typeface="Wingdings" panose="05000000000000000000" pitchFamily="2" charset="2"/>
                        </a:rPr>
                        <a:t>g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664217"/>
                  </a:ext>
                </a:extLst>
              </a:tr>
              <a:tr h="425301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75471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1FA6A2-786C-4745-82AF-5D919A8B7AF3}"/>
              </a:ext>
            </a:extLst>
          </p:cNvPr>
          <p:cNvSpPr txBox="1">
            <a:spLocks/>
          </p:cNvSpPr>
          <p:nvPr/>
        </p:nvSpPr>
        <p:spPr>
          <a:xfrm>
            <a:off x="3788838" y="838273"/>
            <a:ext cx="6784950" cy="111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R = {</a:t>
            </a:r>
            <a:r>
              <a:rPr lang="en-US" sz="2400" dirty="0">
                <a:latin typeface="Symbol" panose="05050102010706020507" pitchFamily="18" charset="2"/>
              </a:rPr>
              <a:t>a,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Symbol" panose="05050102010706020507" pitchFamily="18" charset="2"/>
                <a:sym typeface="Wingdings" panose="05000000000000000000" pitchFamily="2" charset="2"/>
              </a:rPr>
              <a:t>b, g</a:t>
            </a:r>
            <a:r>
              <a:rPr lang="en-US" sz="2400" dirty="0">
                <a:sym typeface="Wingdings" panose="05000000000000000000" pitchFamily="2" charset="2"/>
              </a:rPr>
              <a:t>},	</a:t>
            </a:r>
            <a:r>
              <a:rPr lang="en-US" sz="2400" dirty="0"/>
              <a:t> F = {</a:t>
            </a:r>
            <a:r>
              <a:rPr lang="en-US" sz="2400" dirty="0">
                <a:latin typeface="Symbol" panose="05050102010706020507" pitchFamily="18" charset="2"/>
              </a:rPr>
              <a:t>a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Symbol" panose="05050102010706020507" pitchFamily="18" charset="2"/>
                <a:sym typeface="Wingdings" panose="05000000000000000000" pitchFamily="2" charset="2"/>
              </a:rPr>
              <a:t>b</a:t>
            </a:r>
            <a:r>
              <a:rPr lang="en-US" sz="2400" dirty="0">
                <a:sym typeface="Wingdings" panose="05000000000000000000" pitchFamily="2" charset="2"/>
              </a:rPr>
              <a:t>, …}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If </a:t>
            </a:r>
            <a:r>
              <a:rPr lang="en-US" sz="2400" dirty="0">
                <a:latin typeface="Symbol" panose="05050102010706020507" pitchFamily="18" charset="2"/>
              </a:rPr>
              <a:t>a</a:t>
            </a:r>
            <a:r>
              <a:rPr lang="en-US" sz="2400" dirty="0"/>
              <a:t> is not a super key in R, we decompose R and F.  </a:t>
            </a: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0808B8-2B86-4A3C-B0F9-F85C10FECE3C}"/>
              </a:ext>
            </a:extLst>
          </p:cNvPr>
          <p:cNvSpPr txBox="1">
            <a:spLocks/>
          </p:cNvSpPr>
          <p:nvPr/>
        </p:nvSpPr>
        <p:spPr>
          <a:xfrm>
            <a:off x="1859287" y="3416599"/>
            <a:ext cx="489097" cy="384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ym typeface="Symbol" panose="05050102010706020507" pitchFamily="18" charset="2"/>
              </a:rPr>
              <a:t> U</a:t>
            </a:r>
            <a:endParaRPr lang="en-US" sz="20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C4834A6-B51D-464F-BCB5-7641468D30CC}"/>
              </a:ext>
            </a:extLst>
          </p:cNvPr>
          <p:cNvSpPr/>
          <p:nvPr/>
        </p:nvSpPr>
        <p:spPr>
          <a:xfrm>
            <a:off x="1971208" y="2395876"/>
            <a:ext cx="382772" cy="531628"/>
          </a:xfrm>
          <a:prstGeom prst="downArrow">
            <a:avLst>
              <a:gd name="adj1" fmla="val 5555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5EDBCE-AAC3-4CAB-AA38-BCE8D17C537B}"/>
              </a:ext>
            </a:extLst>
          </p:cNvPr>
          <p:cNvGraphicFramePr>
            <a:graphicFrameLocks noGrp="1"/>
          </p:cNvGraphicFramePr>
          <p:nvPr/>
        </p:nvGraphicFramePr>
        <p:xfrm>
          <a:off x="820971" y="3216354"/>
          <a:ext cx="934878" cy="85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439">
                  <a:extLst>
                    <a:ext uri="{9D8B030D-6E8A-4147-A177-3AD203B41FA5}">
                      <a16:colId xmlns:a16="http://schemas.microsoft.com/office/drawing/2014/main" val="915884628"/>
                    </a:ext>
                  </a:extLst>
                </a:gridCol>
                <a:gridCol w="467439">
                  <a:extLst>
                    <a:ext uri="{9D8B030D-6E8A-4147-A177-3AD203B41FA5}">
                      <a16:colId xmlns:a16="http://schemas.microsoft.com/office/drawing/2014/main" val="1091189431"/>
                    </a:ext>
                  </a:extLst>
                </a:gridCol>
              </a:tblGrid>
              <a:tr h="425301">
                <a:tc>
                  <a:txBody>
                    <a:bodyPr/>
                    <a:lstStyle/>
                    <a:p>
                      <a:r>
                        <a:rPr lang="en-US" sz="2000" u="sng" dirty="0">
                          <a:latin typeface="Symbol" panose="05050102010706020507" pitchFamily="18" charset="2"/>
                        </a:rPr>
                        <a:t>a</a:t>
                      </a:r>
                      <a:endParaRPr lang="en-US" sz="20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  <a:sym typeface="Wingdings" panose="05000000000000000000" pitchFamily="2" charset="2"/>
                        </a:rPr>
                        <a:t>b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664217"/>
                  </a:ext>
                </a:extLst>
              </a:tr>
              <a:tr h="425301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75471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50CEB1-494B-402B-BC19-0A6DF03B9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637659"/>
              </p:ext>
            </p:extLst>
          </p:nvPr>
        </p:nvGraphicFramePr>
        <p:xfrm>
          <a:off x="2492884" y="3202179"/>
          <a:ext cx="934878" cy="85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439">
                  <a:extLst>
                    <a:ext uri="{9D8B030D-6E8A-4147-A177-3AD203B41FA5}">
                      <a16:colId xmlns:a16="http://schemas.microsoft.com/office/drawing/2014/main" val="915884628"/>
                    </a:ext>
                  </a:extLst>
                </a:gridCol>
                <a:gridCol w="467439">
                  <a:extLst>
                    <a:ext uri="{9D8B030D-6E8A-4147-A177-3AD203B41FA5}">
                      <a16:colId xmlns:a16="http://schemas.microsoft.com/office/drawing/2014/main" val="1927285076"/>
                    </a:ext>
                  </a:extLst>
                </a:gridCol>
              </a:tblGrid>
              <a:tr h="4253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</a:rPr>
                        <a:t>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ymbol" panose="05050102010706020507" pitchFamily="18" charset="2"/>
                          <a:sym typeface="Wingdings" panose="05000000000000000000" pitchFamily="2" charset="2"/>
                        </a:rPr>
                        <a:t>g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664217"/>
                  </a:ext>
                </a:extLst>
              </a:tr>
              <a:tr h="425301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7547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AE8EB57-C068-4A03-B24F-054140BAE3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3861" y="2842441"/>
                <a:ext cx="489097" cy="3845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AE8EB57-C068-4A03-B24F-054140BAE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61" y="2842441"/>
                <a:ext cx="489097" cy="3845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9DA9349-2274-45B5-AD12-A4A5D01F9B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15774" y="2853074"/>
                <a:ext cx="489097" cy="3845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9DA9349-2274-45B5-AD12-A4A5D01F9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774" y="2853074"/>
                <a:ext cx="489097" cy="3845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FEE1A1E-A215-4966-A75E-50CB94443B13}"/>
              </a:ext>
            </a:extLst>
          </p:cNvPr>
          <p:cNvSpPr txBox="1">
            <a:spLocks/>
          </p:cNvSpPr>
          <p:nvPr/>
        </p:nvSpPr>
        <p:spPr>
          <a:xfrm>
            <a:off x="1896789" y="859468"/>
            <a:ext cx="489097" cy="384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ym typeface="Symbol" panose="05050102010706020507" pitchFamily="18" charset="2"/>
              </a:rPr>
              <a:t> R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DA688284-5507-4F91-BAC6-8281A60B4B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3040" y="4974274"/>
                <a:ext cx="8994571" cy="14385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sym typeface="Wingdings" panose="05000000000000000000" pitchFamily="2" charset="2"/>
                  </a:rPr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 in BCFN?  If yes, done.  If not, decompose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.</a:t>
                </a:r>
              </a:p>
              <a:p>
                <a:r>
                  <a:rPr lang="en-US" sz="2400" dirty="0">
                    <a:sym typeface="Wingdings" panose="05000000000000000000" pitchFamily="2" charset="2"/>
                  </a:rPr>
                  <a:t>Iterate until done. </a:t>
                </a:r>
              </a:p>
            </p:txBody>
          </p:sp>
        </mc:Choice>
        <mc:Fallback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DA688284-5507-4F91-BAC6-8281A60B4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40" y="4974274"/>
                <a:ext cx="8994571" cy="1438558"/>
              </a:xfrm>
              <a:prstGeom prst="rect">
                <a:avLst/>
              </a:prstGeom>
              <a:blipFill>
                <a:blip r:embed="rId5"/>
                <a:stretch>
                  <a:fillRect l="-881" t="-5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057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4400" y="523784"/>
                <a:ext cx="10439400" cy="577048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Slide 9-10 BCNF Decomposition Algorithm</a:t>
                </a:r>
              </a:p>
              <a:p>
                <a:r>
                  <a:rPr lang="en-US" dirty="0"/>
                  <a:t>Line 4 – 11: if FD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l-GR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dirty="0"/>
                  <a:t> violates BCNF in </a:t>
                </a:r>
                <a:r>
                  <a:rPr lang="en-US" dirty="0" err="1"/>
                  <a:t>R</a:t>
                </a:r>
                <a:r>
                  <a:rPr lang="en-US" i="1" baseline="-25000" dirty="0" err="1"/>
                  <a:t>j</a:t>
                </a:r>
                <a:r>
                  <a:rPr lang="en-US" dirty="0"/>
                  <a:t>, decompose the attributes into a “nice”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(with only 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∪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𝛽</m:t>
                    </m:r>
                  </m:oMath>
                </a14:m>
                <a:r>
                  <a:rPr lang="en-US" altLang="zh-CN" dirty="0">
                    <a:ea typeface="宋体" charset="-122"/>
                    <a:sym typeface="Symbol" pitchFamily="18" charset="2"/>
                  </a:rPr>
                  <a:t>, line 5)  </a:t>
                </a:r>
                <a:r>
                  <a:rPr lang="en-US" dirty="0"/>
                  <a:t>and “left over”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dirty="0"/>
                  <a:t> (line 7).</a:t>
                </a:r>
              </a:p>
              <a:p>
                <a:pPr lvl="1"/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l-GR" altLang="zh-CN" i="1" dirty="0"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US" dirty="0"/>
                  <a:t> is the super key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  <a:sym typeface="Greek Symbols" pitchFamily="18" charset="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.</a:t>
                </a:r>
              </a:p>
              <a:p>
                <a:pPr lvl="1"/>
                <a:r>
                  <a:rPr lang="en-US" dirty="0"/>
                  <a:t>Book’s description is a little different than PPT’s, but they are equivalent.</a:t>
                </a:r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Slide 11-12 BCNF (Decomposition) Example</a:t>
                </a:r>
              </a:p>
              <a:p>
                <a:pPr marL="0" indent="0">
                  <a:buNone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 (Lecture 9, slide 13) ; initially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R</a:t>
                </a:r>
                <a:r>
                  <a:rPr lang="en-US" altLang="zh-CN" dirty="0">
                    <a:ea typeface="宋体" charset="-122"/>
                    <a:sym typeface="Monotype Sorts" pitchFamily="2" charset="2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Iteration 1:  </a:t>
                </a:r>
                <a:r>
                  <a:rPr lang="en-US" dirty="0" err="1"/>
                  <a:t>person_id</a:t>
                </a:r>
                <a:r>
                  <a:rPr lang="en-US" dirty="0"/>
                  <a:t> → </a:t>
                </a:r>
                <a:r>
                  <a:rPr lang="en-US" dirty="0" err="1"/>
                  <a:t>person_name</a:t>
                </a:r>
                <a:r>
                  <a:rPr lang="en-US" dirty="0"/>
                  <a:t> violates BCNF </a:t>
                </a:r>
              </a:p>
              <a:p>
                <a:pPr lvl="1"/>
                <a:r>
                  <a:rPr lang="en-US" dirty="0"/>
                  <a:t>Because </a:t>
                </a:r>
                <a:r>
                  <a:rPr lang="en-US" dirty="0" err="1"/>
                  <a:t>person_id</a:t>
                </a:r>
                <a:r>
                  <a:rPr lang="en-US" dirty="0"/>
                  <a:t> is not a super key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R.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So</a:t>
                </a:r>
                <a:r>
                  <a:rPr lang="en-US" dirty="0"/>
                  <a:t> decompose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(with j=0 in Slide 9 algorithm line 4)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= {</a:t>
                </a:r>
                <a:r>
                  <a:rPr lang="en-US" u="sng" dirty="0" err="1">
                    <a:latin typeface="Cambria Math" panose="02040503050406030204" pitchFamily="18" charset="0"/>
                  </a:rPr>
                  <a:t>person_id</a:t>
                </a:r>
                <a:r>
                  <a:rPr lang="en-US" dirty="0">
                    <a:latin typeface="Cambria Math" panose="02040503050406030204" pitchFamily="18" charset="0"/>
                  </a:rPr>
                  <a:t>, </a:t>
                </a:r>
                <a:r>
                  <a:rPr lang="en-US" dirty="0" err="1">
                    <a:latin typeface="Cambria Math" panose="02040503050406030204" pitchFamily="18" charset="0"/>
                  </a:rPr>
                  <a:t>person_name</a:t>
                </a:r>
                <a:r>
                  <a:rPr lang="en-US" dirty="0">
                    <a:latin typeface="Cambria Math" panose="02040503050406030204" pitchFamily="18" charset="0"/>
                  </a:rPr>
                  <a:t>} is for </a:t>
                </a:r>
                <a:r>
                  <a:rPr lang="en-US" dirty="0" err="1"/>
                  <a:t>person_id</a:t>
                </a:r>
                <a:r>
                  <a:rPr lang="en-US" dirty="0"/>
                  <a:t> → </a:t>
                </a:r>
                <a:r>
                  <a:rPr lang="en-US" dirty="0" err="1"/>
                  <a:t>person_name</a:t>
                </a:r>
                <a:r>
                  <a:rPr lang="en-US" dirty="0"/>
                  <a:t> (i.e. the nice table)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\ {</a:t>
                </a:r>
                <a:r>
                  <a:rPr lang="en-US" dirty="0" err="1"/>
                  <a:t>person_name</a:t>
                </a:r>
                <a:r>
                  <a:rPr lang="en-US" dirty="0"/>
                  <a:t>} = {</a:t>
                </a:r>
                <a:r>
                  <a:rPr lang="en-US" dirty="0" err="1"/>
                  <a:t>person_id</a:t>
                </a:r>
                <a:r>
                  <a:rPr lang="en-US" dirty="0"/>
                  <a:t>, ISBN, </a:t>
                </a:r>
                <a:r>
                  <a:rPr lang="en-US" dirty="0" err="1"/>
                  <a:t>book_title</a:t>
                </a:r>
                <a:r>
                  <a:rPr lang="en-US" dirty="0"/>
                  <a:t>, author}</a:t>
                </a:r>
              </a:p>
              <a:p>
                <a:pPr lvl="3"/>
                <a:r>
                  <a:rPr lang="en-US" dirty="0" err="1"/>
                  <a:t>person_name</a:t>
                </a:r>
                <a:r>
                  <a:rPr lang="en-US" dirty="0"/>
                  <a:t> is already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so we remove it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Decomposition result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with the corresponding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523784"/>
                <a:ext cx="10439400" cy="5770484"/>
              </a:xfrm>
              <a:blipFill rotWithShape="0">
                <a:blip r:embed="rId2"/>
                <a:stretch>
                  <a:fillRect l="-1051" t="-1584" r="-701" b="-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80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40664" y="523784"/>
                <a:ext cx="10777728" cy="577048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Slide 11-12 BCNF (Decomposition) Example (continue)</a:t>
                </a:r>
              </a:p>
              <a:p>
                <a:pPr marL="0" indent="0">
                  <a:buNone/>
                </a:pPr>
                <a:r>
                  <a:rPr lang="en-US" dirty="0"/>
                  <a:t>Iteration 2: 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 ISBN → </a:t>
                </a:r>
                <a:r>
                  <a:rPr lang="en-US" dirty="0" err="1"/>
                  <a:t>book_title</a:t>
                </a:r>
                <a:r>
                  <a:rPr lang="en-US" dirty="0"/>
                  <a:t>, author 	violates BCNF </a:t>
                </a:r>
              </a:p>
              <a:p>
                <a:pPr lvl="1"/>
                <a:r>
                  <a:rPr lang="en-US" dirty="0"/>
                  <a:t>Because ISBN by itself is not the key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So decompose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is for ISBN → </a:t>
                </a:r>
                <a:r>
                  <a:rPr lang="en-US" dirty="0" err="1"/>
                  <a:t>book_title</a:t>
                </a:r>
                <a:r>
                  <a:rPr lang="en-US" dirty="0"/>
                  <a:t>, author.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minus {</a:t>
                </a:r>
                <a:r>
                  <a:rPr lang="en-US" dirty="0" err="1"/>
                  <a:t>book_title</a:t>
                </a:r>
                <a:r>
                  <a:rPr lang="en-US" dirty="0"/>
                  <a:t>, author}.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Decomposition result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, with the corresponding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sz="900" dirty="0"/>
              </a:p>
              <a:p>
                <a:pPr marL="0" indent="0">
                  <a:buNone/>
                </a:pPr>
                <a:r>
                  <a:rPr lang="en-US" dirty="0"/>
                  <a:t>Slide 13 Pros and Cons of BCNF</a:t>
                </a:r>
              </a:p>
              <a:p>
                <a:r>
                  <a:rPr lang="en-US" dirty="0"/>
                  <a:t>BCNF decomposition </a:t>
                </a:r>
                <a:r>
                  <a:rPr lang="en-US" dirty="0">
                    <a:solidFill>
                      <a:srgbClr val="FF0000"/>
                    </a:solidFill>
                  </a:rPr>
                  <a:t>doesn’t always preserve dependency</a:t>
                </a:r>
              </a:p>
              <a:p>
                <a:r>
                  <a:rPr lang="en-US" dirty="0"/>
                  <a:t>In the example</a:t>
                </a:r>
              </a:p>
              <a:p>
                <a:pPr lvl="1"/>
                <a:r>
                  <a:rPr lang="en-US" dirty="0"/>
                  <a:t>R is not in BCNF because of L </a:t>
                </a:r>
                <a:r>
                  <a:rPr lang="en-US" dirty="0">
                    <a:sym typeface="Wingdings" panose="05000000000000000000" pitchFamily="2" charset="2"/>
                  </a:rPr>
                  <a:t> K and L is not a key of R.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We decompose R to account for L  K.</a:t>
                </a:r>
                <a:endParaRPr lang="en-US" dirty="0"/>
              </a:p>
              <a:p>
                <a:pPr lvl="1"/>
                <a:r>
                  <a:rPr lang="en-US" dirty="0"/>
                  <a:t> After decomposition,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={</a:t>
                </a:r>
                <a:r>
                  <a:rPr lang="en-US" u="sng" dirty="0"/>
                  <a:t>L</a:t>
                </a:r>
                <a:r>
                  <a:rPr lang="en-US" dirty="0"/>
                  <a:t>, K},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={</a:t>
                </a:r>
                <a:r>
                  <a:rPr lang="en-US" u="sng" dirty="0"/>
                  <a:t>J, L</a:t>
                </a:r>
                <a:r>
                  <a:rPr lang="en-US" dirty="0"/>
                  <a:t>},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{L </a:t>
                </a:r>
                <a:r>
                  <a:rPr lang="en-US" dirty="0">
                    <a:sym typeface="Wingdings" panose="05000000000000000000" pitchFamily="2" charset="2"/>
                  </a:rPr>
                  <a:t> K},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{</a:t>
                </a:r>
                <a:r>
                  <a:rPr lang="en-US" dirty="0">
                    <a:sym typeface="Wingdings" panose="05000000000000000000" pitchFamily="2" charset="2"/>
                  </a:rPr>
                  <a:t>}, 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The FD	JK  L is not preserved in the decomposition.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0664" y="523784"/>
                <a:ext cx="10777728" cy="5770484"/>
              </a:xfrm>
              <a:blipFill rotWithShape="0">
                <a:blip r:embed="rId2"/>
                <a:stretch>
                  <a:fillRect l="-1018" t="-2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41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664" y="523784"/>
            <a:ext cx="10777728" cy="5770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Questions about BCNF:</a:t>
            </a:r>
          </a:p>
          <a:p>
            <a:r>
              <a:rPr lang="en-US" dirty="0"/>
              <a:t>Does it matter which FD to </a:t>
            </a:r>
            <a:r>
              <a:rPr lang="en-US" dirty="0">
                <a:solidFill>
                  <a:srgbClr val="FF0000"/>
                </a:solidFill>
              </a:rPr>
              <a:t>start</a:t>
            </a:r>
            <a:r>
              <a:rPr lang="en-US" dirty="0"/>
              <a:t>?</a:t>
            </a:r>
          </a:p>
          <a:p>
            <a:r>
              <a:rPr lang="en-US" dirty="0">
                <a:solidFill>
                  <a:srgbClr val="FF0000"/>
                </a:solidFill>
              </a:rPr>
              <a:t>Yes</a:t>
            </a:r>
            <a:r>
              <a:rPr lang="en-US" dirty="0"/>
              <a:t>, consider R={A, B, C},	F={A→B, B→C, C→A}</a:t>
            </a:r>
          </a:p>
          <a:p>
            <a:pPr lvl="1"/>
            <a:r>
              <a:rPr lang="en-US" dirty="0"/>
              <a:t>Possible candidate keys (from F) are {A}, {B}, {C}.</a:t>
            </a:r>
          </a:p>
          <a:p>
            <a:pPr lvl="1"/>
            <a:r>
              <a:rPr lang="en-US" dirty="0"/>
              <a:t>So F</a:t>
            </a:r>
            <a:r>
              <a:rPr lang="en-US" baseline="30000" dirty="0"/>
              <a:t>+</a:t>
            </a:r>
            <a:r>
              <a:rPr lang="en-US" dirty="0"/>
              <a:t> = {A→BC, B→AC, C→AB}</a:t>
            </a:r>
            <a:endParaRPr lang="en-US" baseline="30000" dirty="0"/>
          </a:p>
          <a:p>
            <a:pPr lvl="1"/>
            <a:r>
              <a:rPr lang="en-US" dirty="0"/>
              <a:t>If we start with A→BC, R=R</a:t>
            </a:r>
            <a:r>
              <a:rPr lang="en-US" baseline="-25000" dirty="0"/>
              <a:t>1</a:t>
            </a:r>
            <a:r>
              <a:rPr lang="en-US" dirty="0"/>
              <a:t>={</a:t>
            </a:r>
            <a:r>
              <a:rPr lang="en-US" u="sng" dirty="0"/>
              <a:t>A</a:t>
            </a:r>
            <a:r>
              <a:rPr lang="en-US" dirty="0"/>
              <a:t>, B, C}, but </a:t>
            </a:r>
            <a:r>
              <a:rPr lang="en-US" dirty="0">
                <a:solidFill>
                  <a:srgbClr val="FF0000"/>
                </a:solidFill>
              </a:rPr>
              <a:t>B→AC </a:t>
            </a:r>
            <a:r>
              <a:rPr lang="en-US" dirty="0"/>
              <a:t>and C→AB are not preserved.</a:t>
            </a:r>
          </a:p>
          <a:p>
            <a:pPr lvl="1"/>
            <a:r>
              <a:rPr lang="en-US" dirty="0"/>
              <a:t>If we start with B→AC, R=R</a:t>
            </a:r>
            <a:r>
              <a:rPr lang="en-US" baseline="-25000" dirty="0"/>
              <a:t>1</a:t>
            </a:r>
            <a:r>
              <a:rPr lang="en-US" dirty="0"/>
              <a:t>={</a:t>
            </a:r>
            <a:r>
              <a:rPr lang="en-US" u="sng" dirty="0"/>
              <a:t>B</a:t>
            </a:r>
            <a:r>
              <a:rPr lang="en-US" dirty="0"/>
              <a:t>, A, C}, but </a:t>
            </a:r>
            <a:r>
              <a:rPr lang="en-US" dirty="0">
                <a:solidFill>
                  <a:srgbClr val="FF0000"/>
                </a:solidFill>
              </a:rPr>
              <a:t>A→BC </a:t>
            </a:r>
            <a:r>
              <a:rPr lang="en-US" dirty="0"/>
              <a:t>and C→AB are not preserved.</a:t>
            </a:r>
          </a:p>
          <a:p>
            <a:pPr lvl="1"/>
            <a:r>
              <a:rPr lang="en-US" dirty="0"/>
              <a:t>The final R is the same (no attributes are lost), but the </a:t>
            </a:r>
            <a:r>
              <a:rPr lang="en-US" dirty="0">
                <a:solidFill>
                  <a:srgbClr val="FF0000"/>
                </a:solidFill>
              </a:rPr>
              <a:t>final FDs</a:t>
            </a:r>
            <a:r>
              <a:rPr lang="en-US" dirty="0"/>
              <a:t> can be </a:t>
            </a:r>
            <a:r>
              <a:rPr lang="en-US" dirty="0">
                <a:solidFill>
                  <a:srgbClr val="FF0000"/>
                </a:solidFill>
              </a:rPr>
              <a:t>different</a:t>
            </a:r>
            <a:r>
              <a:rPr lang="en-US" dirty="0"/>
              <a:t> (different FDs are not preserved).</a:t>
            </a:r>
          </a:p>
          <a:p>
            <a:pPr lvl="1"/>
            <a:r>
              <a:rPr lang="en-US" dirty="0"/>
              <a:t>The union of the final R</a:t>
            </a:r>
            <a:r>
              <a:rPr lang="en-US" baseline="-25000" dirty="0"/>
              <a:t>i</a:t>
            </a:r>
            <a:r>
              <a:rPr lang="en-US" dirty="0"/>
              <a:t> is unique, but the union of the final </a:t>
            </a:r>
            <a:r>
              <a:rPr lang="en-US" dirty="0" err="1"/>
              <a:t>FD</a:t>
            </a:r>
            <a:r>
              <a:rPr lang="en-US" baseline="-25000" dirty="0" err="1"/>
              <a:t>i</a:t>
            </a:r>
            <a:r>
              <a:rPr lang="en-US" dirty="0"/>
              <a:t> is not unique.</a:t>
            </a:r>
          </a:p>
          <a:p>
            <a:r>
              <a:rPr lang="en-US" dirty="0"/>
              <a:t>We </a:t>
            </a:r>
            <a:r>
              <a:rPr lang="en-US" dirty="0">
                <a:solidFill>
                  <a:srgbClr val="FF0000"/>
                </a:solidFill>
              </a:rPr>
              <a:t>start</a:t>
            </a:r>
            <a:r>
              <a:rPr lang="en-US" dirty="0"/>
              <a:t> with a </a:t>
            </a:r>
            <a:r>
              <a:rPr lang="en-US" dirty="0">
                <a:solidFill>
                  <a:srgbClr val="FF0000"/>
                </a:solidFill>
              </a:rPr>
              <a:t>FD</a:t>
            </a:r>
            <a:r>
              <a:rPr lang="en-US" dirty="0"/>
              <a:t> that </a:t>
            </a:r>
            <a:r>
              <a:rPr lang="en-US" dirty="0">
                <a:solidFill>
                  <a:srgbClr val="FF0000"/>
                </a:solidFill>
              </a:rPr>
              <a:t>violates BCNF</a:t>
            </a:r>
            <a:r>
              <a:rPr lang="en-US" dirty="0"/>
              <a:t> because that R</a:t>
            </a:r>
            <a:r>
              <a:rPr lang="en-US" baseline="-25000" dirty="0"/>
              <a:t>i</a:t>
            </a:r>
            <a:r>
              <a:rPr lang="en-US" dirty="0"/>
              <a:t> must be decomposed.</a:t>
            </a:r>
          </a:p>
        </p:txBody>
      </p:sp>
    </p:spTree>
    <p:extLst>
      <p:ext uri="{BB962C8B-B14F-4D97-AF65-F5344CB8AC3E}">
        <p14:creationId xmlns:p14="http://schemas.microsoft.com/office/powerpoint/2010/main" val="58026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664" y="523784"/>
            <a:ext cx="10777728" cy="5770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Intro to Lab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3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3702</TotalTime>
  <Words>1564</Words>
  <Application>Microsoft Office PowerPoint</Application>
  <PresentationFormat>Widescreen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Greek Symbols</vt:lpstr>
      <vt:lpstr>Monotype Sorts</vt:lpstr>
      <vt:lpstr>等线</vt:lpstr>
      <vt:lpstr>宋体</vt:lpstr>
      <vt:lpstr>Arial</vt:lpstr>
      <vt:lpstr>Calibri</vt:lpstr>
      <vt:lpstr>Calibri Light</vt:lpstr>
      <vt:lpstr>Cambria Math</vt:lpstr>
      <vt:lpstr>Symbol</vt:lpstr>
      <vt:lpstr>Wingdings</vt:lpstr>
      <vt:lpstr>Office Theme</vt:lpstr>
      <vt:lpstr>Lecture 10 Relational Database Design BCNF</vt:lpstr>
      <vt:lpstr>Project</vt:lpstr>
      <vt:lpstr>Make-up Midterm</vt:lpstr>
      <vt:lpstr>PowerPoint Presentation</vt:lpstr>
      <vt:lpstr>Boyce-Codd Normal Form (BCNF)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Relational Database Design</dc:title>
  <dc:creator>TEST</dc:creator>
  <cp:lastModifiedBy>UIC</cp:lastModifiedBy>
  <cp:revision>309</cp:revision>
  <dcterms:created xsi:type="dcterms:W3CDTF">2021-11-23T02:45:17Z</dcterms:created>
  <dcterms:modified xsi:type="dcterms:W3CDTF">2025-11-27T03:01:52Z</dcterms:modified>
</cp:coreProperties>
</file>