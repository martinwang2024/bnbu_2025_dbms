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8"/>
  </p:notesMasterIdLst>
  <p:sldIdLst>
    <p:sldId id="256" r:id="rId3"/>
    <p:sldId id="556" r:id="rId4"/>
    <p:sldId id="560" r:id="rId5"/>
    <p:sldId id="555" r:id="rId6"/>
    <p:sldId id="549" r:id="rId7"/>
    <p:sldId id="392" r:id="rId8"/>
    <p:sldId id="551" r:id="rId9"/>
    <p:sldId id="559" r:id="rId10"/>
    <p:sldId id="550" r:id="rId11"/>
    <p:sldId id="561" r:id="rId12"/>
    <p:sldId id="552" r:id="rId13"/>
    <p:sldId id="553" r:id="rId14"/>
    <p:sldId id="554" r:id="rId15"/>
    <p:sldId id="563" r:id="rId16"/>
    <p:sldId id="38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9900"/>
    <a:srgbClr val="CC66FF"/>
    <a:srgbClr val="CC6600"/>
    <a:srgbClr val="FFCCCC"/>
    <a:srgbClr val="FFFFCC"/>
    <a:srgbClr val="CCFFCC"/>
    <a:srgbClr val="CCFFFF"/>
    <a:srgbClr val="AEA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068" autoAdjust="0"/>
    <p:restoredTop sz="91677" autoAdjust="0"/>
  </p:normalViewPr>
  <p:slideViewPr>
    <p:cSldViewPr snapToGrid="0">
      <p:cViewPr varScale="1">
        <p:scale>
          <a:sx n="60" d="100"/>
          <a:sy n="60" d="100"/>
        </p:scale>
        <p:origin x="67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53279-6AA3-493C-8FBA-220F2985EB2E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A7CB6F-1EC6-4E88-BB90-B62A7FA4EB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A7CB6F-1EC6-4E88-BB90-B62A7FA4EBA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07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486A001-FE84-4C5B-B3E9-3C29329806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CD1E335-4EC3-4A3A-9E8B-4384C429A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ADECD76-81D7-4D58-BCE9-33A182AB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413355F-4333-48BB-95A3-4EEDCC46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CD19DD9-A096-492C-A48C-C88315FD6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927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2C30F2-6F06-4771-AC5C-5DDD33D19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4F2D8F-C2AB-4793-9330-A160CE286D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497422D-3C7C-4423-8BDD-1D140DE97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463F68-B0AE-4D03-841E-375203E49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D0D4527-9D93-44C5-8AD0-E76E456F3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9172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D39D35-A2D8-404F-A5F1-D88CD145A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BD25F04-EC19-4ACA-977B-A719AAC9AF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9B345D-AB9F-4507-B822-0BA41D71C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BC4FC9A-9867-4767-A7D2-A3CC7AE9E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86E3F14-5BCC-4EBD-AD33-E2B19B04C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49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B5F4B32-4DB6-479A-B20F-A5AC0CDDA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8F6D3A2-A5C4-470D-8714-8FBE511B50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AFACC22-E511-4A38-A5FD-13552F64B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8FA871-0312-4F27-A57C-9E29718A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1454EBB-0D74-449A-A7C5-BA059BAA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7F09558-ABC1-4FEA-933D-CA1A456BE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EBEB7F-80C8-43A4-8E90-807D9C192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6F12095-C5A7-485A-8A19-F6626E844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A4D4BE0-2314-41FE-90AC-EC9C0CFC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DB201EE-61BF-4BBB-842C-92D59F3B11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C812400-28B5-4E91-B313-A20FFEF38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0F5992E-8866-4E02-8D24-2E45E9C2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5175B223-56E9-4E30-9723-F562FA8F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0A862E3-731F-41CF-BE1B-39A2A8CD8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896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D635E3-DE09-49A7-B086-B26C480C3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3383F54-DEB1-4A0C-87FF-CA00CE7DF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4AB68F9-1574-477F-8C95-C0D86FD5E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C65F340-694E-4B04-ACCE-4B4E8684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48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6834A5DF-AD09-493A-BDB6-6A3ECBCCA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45273B11-60BF-4722-9687-B40A4C5C9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4982CFE-7DCB-48BD-96BE-052456696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30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ABC3449-8D6B-4E3F-806C-04C7434F5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B731AC0-6164-4577-9446-06D61E38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05B7FC0-674F-43C6-81B7-C72264B10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E576B59-C96E-4620-BAB4-BF8AA9551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8E78085-5A70-4CBE-A4E4-AC1D2EC9F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ABCDA0F-BD4D-4296-B409-A11C3E14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02F956-24AA-4791-A21F-1CBE73F22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AC252DC7-DC1F-4C4A-9AB6-BF835622C3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07A006B-8C27-4B47-BA8D-4565E5403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9EAE1E30-9ED4-4CF1-A585-20FAF632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3559A66-D3C9-4497-BDDF-8E5A56126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067DCF1E-D835-4A58-8B96-9859ECE92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88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DCBB30-0797-434F-8E6E-A421CA392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72E0BF2-E02A-42B0-B9CB-173718401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5B8C753-9D3D-49BD-8D74-BC2F5B9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77724DE-87C0-413B-B67D-A837CCDC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F36D589-9155-4C2E-8942-AF615EE2A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573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D3673F19-A04E-4776-8619-511326C12E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3FFFCC09-AA24-4D7B-86F1-4A7F772CE2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1092B3E-BFA6-4837-BDA1-AE6795F74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B4BAF76-A8F7-40CC-A8D0-B7C898BCA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2C672E-E66A-47F7-8501-F45DF1FF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40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kumimoji="1" lang="zh-CN" altLang="en-US" sz="1800">
              <a:solidFill>
                <a:srgbClr val="FFFFFF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=""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474941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=""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=""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17286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33FA9A1-7B88-294E-B1D1-5AC0DD001314}"/>
              </a:ext>
            </a:extLst>
          </p:cNvPr>
          <p:cNvSpPr/>
          <p:nvPr/>
        </p:nvSpPr>
        <p:spPr>
          <a:xfrm>
            <a:off x="0" y="30480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="" xmlns:a16="http://schemas.microsoft.com/office/drawing/2014/main" id="{643DFE20-DAD3-A14C-8B77-1D0ACFFC1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32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="" xmlns:a16="http://schemas.microsoft.com/office/drawing/2014/main" id="{9B6537B7-9F77-B545-841A-0E1FA407E2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00201"/>
            <a:ext cx="10515600" cy="3138055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9262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C7D17EA-B5DC-A947-999F-3BA09F293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E6ACDC9E-5B3C-7649-98A2-66AFDFA02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50874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="" xmlns:a16="http://schemas.microsoft.com/office/drawing/2014/main" id="{CF0BD946-B5BA-504F-80A8-C6749F61BBD3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9BA5D889-EBC8-A74A-A52D-D35CC5DD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E1FE8AAB-A6DD-DE43-B7A5-6297E5B86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26067"/>
            <a:ext cx="5181600" cy="5050896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="" xmlns:a16="http://schemas.microsoft.com/office/drawing/2014/main" id="{9BF8700A-EE5B-AA44-845F-A932FCA8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4407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="" xmlns:a16="http://schemas.microsoft.com/office/drawing/2014/main" id="{0B626A19-E0EE-3344-BECF-578F6B3691A1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35EA3DDF-4F2F-1D45-B4D4-3AC2D1E55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="" xmlns:a16="http://schemas.microsoft.com/office/drawing/2014/main" id="{FAFA0345-A7B5-8143-B23D-3DAF7059E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 dirty="0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="" xmlns:a16="http://schemas.microsoft.com/office/drawing/2014/main" id="{C596A81A-F1A5-2046-B0A4-9C01DF3C24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="" xmlns:a16="http://schemas.microsoft.com/office/drawing/2014/main" id="{84CB281C-3506-614C-82B8-B117A79C15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 vert="horz" lIns="91440" tIns="45720" rIns="91440" bIns="45720" rtlCol="0">
            <a:normAutofit/>
          </a:bodyPr>
          <a:lstStyle>
            <a:lvl1pPr marL="273050" indent="-273050">
              <a:buFont typeface="Arial" panose="020B0604020202020204" pitchFamily="34" charset="0"/>
              <a:buChar char="•"/>
              <a:defRPr kumimoji="1" lang="zh-CN" altLang="en-US"/>
            </a:lvl1pPr>
          </a:lstStyle>
          <a:p>
            <a:pPr marL="273050" lvl="0" indent="-273050">
              <a:tabLst/>
            </a:pPr>
            <a:r>
              <a:rPr kumimoji="1" lang="zh-CN" altLang="en-US"/>
              <a:t>单击此处编辑母版文本样式</a:t>
            </a:r>
          </a:p>
        </p:txBody>
      </p:sp>
      <p:sp>
        <p:nvSpPr>
          <p:cNvPr id="9" name="标题 1">
            <a:extLst>
              <a:ext uri="{FF2B5EF4-FFF2-40B4-BE49-F238E27FC236}">
                <a16:creationId xmlns="" xmlns:a16="http://schemas.microsoft.com/office/drawing/2014/main" id="{7CDD2EEB-0526-8546-B03F-B7E03D76B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1741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=""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=""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211567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194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3138EEDE-8712-4841-878C-74D5D95B9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23A61616-E9E6-4D4E-ACF0-05C1DFD7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tabLst/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272F38AF-4BDF-CF47-9CD7-01E995084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317208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C3145CBF-7695-9841-9E88-FF0507BF0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="" xmlns:a16="http://schemas.microsoft.com/office/drawing/2014/main" id="{19EEF8B0-7BDE-1347-9537-8464E46310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="" xmlns:a16="http://schemas.microsoft.com/office/drawing/2014/main" id="{C7AD815E-FED2-7E46-854F-1D98CB4B1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8524181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754C3A94-BDDD-4E47-AB7A-34C36F28EF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93801"/>
            <a:ext cx="10515600" cy="4983163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="" xmlns:a16="http://schemas.microsoft.com/office/drawing/2014/main" id="{FD296C5C-EBD2-D143-AC4F-0DB23C2C055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6" name="标题 1">
            <a:extLst>
              <a:ext uri="{FF2B5EF4-FFF2-40B4-BE49-F238E27FC236}">
                <a16:creationId xmlns="" xmlns:a16="http://schemas.microsoft.com/office/drawing/2014/main" id="{1750240B-728E-0F48-8A04-0C32A05C9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2815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="" xmlns:a16="http://schemas.microsoft.com/office/drawing/2014/main" id="{C64BA236-12F6-FF40-9198-D45BCC57C2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="" xmlns:a16="http://schemas.microsoft.com/office/drawing/2014/main" id="{1C39872F-0807-7F4C-972A-F69648EDF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1pPr marL="273050" indent="-27305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3230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EC936C3-81A7-445F-82C5-91B3DD3A5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488614-3E35-49A0-BB95-C828ACF76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EFADCF5-07DC-42CF-875E-D457C868EB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EEF71-2F7E-4DA6-BFF1-3D733D1E8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DAD226-64F2-4BAA-A906-44AA737B3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F143C4-3B48-4E41-BA21-CFC407B6F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F9AF9-ADBC-4E76-AE1A-E514B28604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049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=""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=""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=""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Exercises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=""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=""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9744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996809-512B-409C-B505-A3D0626501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Database Lecture 7</a:t>
            </a:r>
            <a:br>
              <a:rPr lang="en-US" dirty="0"/>
            </a:br>
            <a:r>
              <a:rPr lang="en-US" dirty="0"/>
              <a:t>DB Design Exercises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249D31B0-1558-422C-B95B-13B1FAC75D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200"/>
              <a:t>Lecture Addendum</a:t>
            </a:r>
            <a:endParaRPr lang="en-US" sz="3200" dirty="0"/>
          </a:p>
          <a:p>
            <a:r>
              <a:rPr lang="en-US" sz="3200" dirty="0"/>
              <a:t>Dr. Jefferson Fong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61632A7C-EBF7-4E53-9EA9-2CC2DB727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7696" y="3397165"/>
            <a:ext cx="3194304" cy="240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42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215029"/>
            <a:ext cx="6061364" cy="897617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73" y="1112646"/>
            <a:ext cx="10194136" cy="990474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200" dirty="0" smtClean="0">
                <a:solidFill>
                  <a:srgbClr val="FF0000"/>
                </a:solidFill>
              </a:rPr>
              <a:t>Assignment 2 </a:t>
            </a:r>
            <a:r>
              <a:rPr lang="en-US" sz="3200" dirty="0" smtClean="0"/>
              <a:t>has been released in iSpace.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Due Sunday Nov 9, 11:59 pm</a:t>
            </a: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77603" y="2434590"/>
            <a:ext cx="934650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</a:rPr>
              <a:t>Project Groups</a:t>
            </a:r>
          </a:p>
          <a:p>
            <a:r>
              <a:rPr lang="en-US" dirty="0"/>
              <a:t>Is in iSpace under Section 1002 / 1005 </a:t>
            </a:r>
          </a:p>
          <a:p>
            <a:r>
              <a:rPr lang="en-US" dirty="0"/>
              <a:t>Every group should have at least 1 or 2 people taken System and Web Development workshop.</a:t>
            </a:r>
          </a:p>
          <a:p>
            <a:pPr lvl="1"/>
            <a:r>
              <a:rPr lang="en-US" dirty="0"/>
              <a:t>Let us know if that’s not so.</a:t>
            </a:r>
          </a:p>
          <a:p>
            <a:r>
              <a:rPr lang="en-US" dirty="0"/>
              <a:t>Project description due Sun Nov </a:t>
            </a:r>
            <a:r>
              <a:rPr lang="en-US" dirty="0" smtClean="0"/>
              <a:t>9.</a:t>
            </a:r>
          </a:p>
          <a:p>
            <a:r>
              <a:rPr lang="en-US" dirty="0" smtClean="0"/>
              <a:t>Project ER diagram due Sun Nov 23.</a:t>
            </a: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459391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873" y="215029"/>
            <a:ext cx="6061364" cy="897617"/>
          </a:xfrm>
        </p:spPr>
        <p:txBody>
          <a:bodyPr/>
          <a:lstStyle/>
          <a:p>
            <a:r>
              <a:rPr lang="en-US" dirty="0"/>
              <a:t>Announcements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97" y="1525906"/>
            <a:ext cx="4483163" cy="406286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5847426" y="1525906"/>
            <a:ext cx="5045363" cy="40805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Anyone who cannot attend at that time must apply for official excuse form in order to take the make-up test. </a:t>
            </a: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 smtClean="0"/>
              <a:t>Closed </a:t>
            </a:r>
            <a:r>
              <a:rPr lang="en-US" dirty="0"/>
              <a:t>book, no notes or any electronic devices allowed.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Bring a pen (or two) and </a:t>
            </a:r>
            <a:r>
              <a:rPr lang="en-US" dirty="0" smtClean="0"/>
              <a:t>your UIC or government issued photo ID card. </a:t>
            </a:r>
            <a:endParaRPr lang="en-US" dirty="0"/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09332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4376D10-B1CB-4D04-B72D-809595BC3AF4}"/>
              </a:ext>
            </a:extLst>
          </p:cNvPr>
          <p:cNvSpPr txBox="1">
            <a:spLocks/>
          </p:cNvSpPr>
          <p:nvPr/>
        </p:nvSpPr>
        <p:spPr>
          <a:xfrm>
            <a:off x="683963" y="862715"/>
            <a:ext cx="10781885" cy="2431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previous lectures, we spent lots of time giving you </a:t>
            </a:r>
            <a:r>
              <a:rPr lang="en-US" dirty="0">
                <a:solidFill>
                  <a:srgbClr val="FF0000"/>
                </a:solidFill>
              </a:rPr>
              <a:t>theory</a:t>
            </a:r>
            <a:r>
              <a:rPr lang="en-US" dirty="0"/>
              <a:t>.</a:t>
            </a:r>
          </a:p>
          <a:p>
            <a:r>
              <a:rPr lang="en-US" dirty="0"/>
              <a:t>In this lecture, we do </a:t>
            </a:r>
            <a:r>
              <a:rPr lang="en-US" dirty="0">
                <a:solidFill>
                  <a:srgbClr val="FF0000"/>
                </a:solidFill>
              </a:rPr>
              <a:t>exercises</a:t>
            </a:r>
            <a:r>
              <a:rPr lang="en-US" dirty="0"/>
              <a:t> for you to practice applying the theory.</a:t>
            </a:r>
          </a:p>
        </p:txBody>
      </p:sp>
    </p:spTree>
    <p:extLst>
      <p:ext uri="{BB962C8B-B14F-4D97-AF65-F5344CB8AC3E}">
        <p14:creationId xmlns:p14="http://schemas.microsoft.com/office/powerpoint/2010/main" val="219725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4DF12B-B820-AB8E-3C6E-ADB06A16F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8F09383-7EB6-DCC0-BE2F-819174599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207" y="1642731"/>
            <a:ext cx="7886700" cy="4601424"/>
          </a:xfrm>
        </p:spPr>
        <p:txBody>
          <a:bodyPr>
            <a:normAutofit/>
          </a:bodyPr>
          <a:lstStyle/>
          <a:p>
            <a:r>
              <a:rPr lang="en-US" dirty="0"/>
              <a:t>Construct an ER diagram for a car-insurance company. The model includes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customer</a:t>
            </a:r>
            <a:r>
              <a:rPr lang="en-US" dirty="0"/>
              <a:t> is described by a unique id, a name, and an address;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car</a:t>
            </a:r>
            <a:r>
              <a:rPr lang="en-US" dirty="0"/>
              <a:t> is described by a unique </a:t>
            </a:r>
            <a:r>
              <a:rPr lang="en-US" altLang="zh-CN" dirty="0"/>
              <a:t>vehicle identification number, the manufacturer, and the year of production;</a:t>
            </a:r>
          </a:p>
          <a:p>
            <a:pPr lvl="1"/>
            <a:r>
              <a:rPr lang="en-US" dirty="0"/>
              <a:t>each </a:t>
            </a:r>
            <a:r>
              <a:rPr lang="en-US" altLang="zh-CN" dirty="0">
                <a:solidFill>
                  <a:srgbClr val="FF0000"/>
                </a:solidFill>
              </a:rPr>
              <a:t>accident</a:t>
            </a:r>
            <a:r>
              <a:rPr lang="en-US" altLang="zh-CN" dirty="0"/>
              <a:t> is described by a unique report number, the date and the location when the accident happens; </a:t>
            </a:r>
            <a:endParaRPr lang="en-US" dirty="0"/>
          </a:p>
          <a:p>
            <a:pPr lvl="1"/>
            <a:r>
              <a:rPr lang="en-US" dirty="0"/>
              <a:t>each customer </a:t>
            </a:r>
            <a:r>
              <a:rPr lang="en-US" dirty="0">
                <a:solidFill>
                  <a:srgbClr val="00B050"/>
                </a:solidFill>
              </a:rPr>
              <a:t>owns</a:t>
            </a:r>
            <a:r>
              <a:rPr lang="en-US" dirty="0"/>
              <a:t> one or more cars;</a:t>
            </a:r>
          </a:p>
          <a:p>
            <a:pPr lvl="1"/>
            <a:r>
              <a:rPr lang="en-US" dirty="0"/>
              <a:t>every car is </a:t>
            </a:r>
            <a:r>
              <a:rPr lang="en-US" dirty="0">
                <a:solidFill>
                  <a:srgbClr val="00B050"/>
                </a:solidFill>
              </a:rPr>
              <a:t>owned</a:t>
            </a:r>
            <a:r>
              <a:rPr lang="en-US" dirty="0"/>
              <a:t> by at exactly one customer;</a:t>
            </a:r>
          </a:p>
          <a:p>
            <a:pPr lvl="1"/>
            <a:r>
              <a:rPr lang="en-US" dirty="0"/>
              <a:t>each accident is only </a:t>
            </a:r>
            <a:r>
              <a:rPr lang="en-US" altLang="zh-CN" dirty="0"/>
              <a:t>responsible to the owner of the car, no matter who drives;</a:t>
            </a:r>
          </a:p>
          <a:p>
            <a:pPr lvl="1"/>
            <a:r>
              <a:rPr lang="en-US" dirty="0"/>
              <a:t>it is possible that multiple cars </a:t>
            </a:r>
            <a:r>
              <a:rPr lang="en-US" dirty="0">
                <a:solidFill>
                  <a:srgbClr val="00B050"/>
                </a:solidFill>
              </a:rPr>
              <a:t>involve</a:t>
            </a:r>
            <a:r>
              <a:rPr lang="en-US" dirty="0"/>
              <a:t> in a same accident and the amount of </a:t>
            </a:r>
            <a:r>
              <a:rPr lang="en-US" altLang="zh-CN" dirty="0"/>
              <a:t>insurance claim for different cars are different.</a:t>
            </a:r>
            <a:endParaRPr lang="en-US" dirty="0"/>
          </a:p>
          <a:p>
            <a:r>
              <a:rPr lang="en-US" dirty="0"/>
              <a:t>List all assumptions that you make.</a:t>
            </a:r>
          </a:p>
          <a:p>
            <a:r>
              <a:rPr lang="en-US" dirty="0"/>
              <a:t>And convert your ER diagram to a logical design.</a:t>
            </a:r>
          </a:p>
        </p:txBody>
      </p:sp>
      <p:sp>
        <p:nvSpPr>
          <p:cNvPr id="4" name="矩形 12">
            <a:extLst>
              <a:ext uri="{FF2B5EF4-FFF2-40B4-BE49-F238E27FC236}">
                <a16:creationId xmlns="" xmlns:a16="http://schemas.microsoft.com/office/drawing/2014/main" id="{0F11CDB5-E9B7-3566-91F4-DD729DCDD910}"/>
              </a:ext>
            </a:extLst>
          </p:cNvPr>
          <p:cNvSpPr/>
          <p:nvPr/>
        </p:nvSpPr>
        <p:spPr>
          <a:xfrm>
            <a:off x="1524000" y="1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C4376D10-B1CB-4D04-B72D-809595BC3AF4}"/>
              </a:ext>
            </a:extLst>
          </p:cNvPr>
          <p:cNvSpPr txBox="1">
            <a:spLocks/>
          </p:cNvSpPr>
          <p:nvPr/>
        </p:nvSpPr>
        <p:spPr>
          <a:xfrm>
            <a:off x="8133907" y="1777063"/>
            <a:ext cx="3668233" cy="455181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Step1</a:t>
            </a:r>
          </a:p>
          <a:p>
            <a:r>
              <a:rPr lang="en-US" sz="20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(or circle) important nouns that might be entities.</a:t>
            </a:r>
          </a:p>
          <a:p>
            <a:r>
              <a:rPr lang="en-US" sz="2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Highlight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(or underline) verbs that might be relationships.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Sometimes we convert a noun into a verb, e.g. Instructor </a:t>
            </a:r>
            <a:r>
              <a:rPr lang="en-US" sz="18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Program.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obvious ones first; do the rest later.</a:t>
            </a:r>
          </a:p>
          <a:p>
            <a:r>
              <a:rPr lang="en-US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pencil and eraser, or do in scratch paper first.</a:t>
            </a:r>
          </a:p>
        </p:txBody>
      </p:sp>
    </p:spTree>
    <p:extLst>
      <p:ext uri="{BB962C8B-B14F-4D97-AF65-F5344CB8AC3E}">
        <p14:creationId xmlns:p14="http://schemas.microsoft.com/office/powerpoint/2010/main" val="3163107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6DE54D2-8BCC-4EF1-96BF-7E203A2B6356}"/>
              </a:ext>
            </a:extLst>
          </p:cNvPr>
          <p:cNvSpPr txBox="1"/>
          <p:nvPr/>
        </p:nvSpPr>
        <p:spPr>
          <a:xfrm>
            <a:off x="5437275" y="2290686"/>
            <a:ext cx="12065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customer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A1A85A93-8002-4F85-B833-AD08469F4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635" y="418416"/>
            <a:ext cx="9575800" cy="1771303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Exercise 1, </a:t>
            </a:r>
            <a:r>
              <a:rPr lang="en-US" sz="3200" b="1" dirty="0">
                <a:solidFill>
                  <a:srgbClr val="FF0000"/>
                </a:solidFill>
              </a:rPr>
              <a:t>Step 2</a:t>
            </a:r>
            <a:endParaRPr lang="en-US" sz="3200" dirty="0"/>
          </a:p>
          <a:p>
            <a:r>
              <a:rPr lang="en-US" dirty="0"/>
              <a:t>First draw the entities (nouns): </a:t>
            </a:r>
            <a:r>
              <a:rPr lang="en-US" b="1" dirty="0">
                <a:solidFill>
                  <a:srgbClr val="FF0000"/>
                </a:solidFill>
              </a:rPr>
              <a:t>customer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</a:rPr>
              <a:t>car</a:t>
            </a:r>
            <a:r>
              <a:rPr lang="en-US" b="1" dirty="0"/>
              <a:t>, </a:t>
            </a:r>
            <a:r>
              <a:rPr lang="en-US" b="1" dirty="0">
                <a:solidFill>
                  <a:srgbClr val="FF0000"/>
                </a:solidFill>
              </a:rPr>
              <a:t>accident</a:t>
            </a:r>
            <a:r>
              <a:rPr lang="en-US" dirty="0"/>
              <a:t>.</a:t>
            </a:r>
          </a:p>
          <a:p>
            <a:r>
              <a:rPr lang="en-US" dirty="0"/>
              <a:t>Then add in relationships (verbs): </a:t>
            </a:r>
            <a:r>
              <a:rPr lang="en-US" b="1" dirty="0">
                <a:solidFill>
                  <a:srgbClr val="00B050"/>
                </a:solidFill>
              </a:rPr>
              <a:t>own</a:t>
            </a:r>
            <a:r>
              <a:rPr lang="en-US" b="1" dirty="0"/>
              <a:t>, </a:t>
            </a:r>
            <a:r>
              <a:rPr lang="en-US" b="1" dirty="0">
                <a:solidFill>
                  <a:srgbClr val="00B050"/>
                </a:solidFill>
              </a:rPr>
              <a:t>involve</a:t>
            </a:r>
            <a:r>
              <a:rPr lang="en-US" b="1" dirty="0"/>
              <a:t> </a:t>
            </a:r>
            <a:r>
              <a:rPr lang="en-US" dirty="0"/>
              <a:t>(participate)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127E7E6-D4E7-4F9A-9FD1-4176D39C84E4}"/>
              </a:ext>
            </a:extLst>
          </p:cNvPr>
          <p:cNvSpPr txBox="1"/>
          <p:nvPr/>
        </p:nvSpPr>
        <p:spPr>
          <a:xfrm>
            <a:off x="9091345" y="2382667"/>
            <a:ext cx="5969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car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6F9D899-EFF3-4E7C-B7A0-51B86AE1FFA2}"/>
              </a:ext>
            </a:extLst>
          </p:cNvPr>
          <p:cNvSpPr txBox="1"/>
          <p:nvPr/>
        </p:nvSpPr>
        <p:spPr>
          <a:xfrm>
            <a:off x="8850048" y="5049155"/>
            <a:ext cx="12065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accident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76CF065-A52B-465D-AA68-6C5D03EE1B66}"/>
              </a:ext>
            </a:extLst>
          </p:cNvPr>
          <p:cNvGrpSpPr/>
          <p:nvPr/>
        </p:nvGrpSpPr>
        <p:grpSpPr>
          <a:xfrm>
            <a:off x="7365214" y="2219358"/>
            <a:ext cx="863600" cy="711200"/>
            <a:chOff x="3556000" y="2717800"/>
            <a:chExt cx="863600" cy="711200"/>
          </a:xfrm>
        </p:grpSpPr>
        <p:sp>
          <p:nvSpPr>
            <p:cNvPr id="8" name="Diamond 7">
              <a:extLst>
                <a:ext uri="{FF2B5EF4-FFF2-40B4-BE49-F238E27FC236}">
                  <a16:creationId xmlns="" xmlns:a16="http://schemas.microsoft.com/office/drawing/2014/main" id="{FC3FC779-96EC-4F1F-93BC-746591B7CE77}"/>
                </a:ext>
              </a:extLst>
            </p:cNvPr>
            <p:cNvSpPr/>
            <p:nvPr/>
          </p:nvSpPr>
          <p:spPr>
            <a:xfrm>
              <a:off x="3556000" y="2717800"/>
              <a:ext cx="863600" cy="711200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FE540929-D29D-4D42-9A1B-C3B547736539}"/>
                </a:ext>
              </a:extLst>
            </p:cNvPr>
            <p:cNvSpPr txBox="1"/>
            <p:nvPr/>
          </p:nvSpPr>
          <p:spPr>
            <a:xfrm>
              <a:off x="3683000" y="2888734"/>
              <a:ext cx="736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own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BAFCCE07-7A5C-4F8F-8792-C4B6D522B55F}"/>
              </a:ext>
            </a:extLst>
          </p:cNvPr>
          <p:cNvGrpSpPr/>
          <p:nvPr/>
        </p:nvGrpSpPr>
        <p:grpSpPr>
          <a:xfrm>
            <a:off x="8664225" y="3390713"/>
            <a:ext cx="1536700" cy="1063709"/>
            <a:chOff x="3556000" y="2717800"/>
            <a:chExt cx="863600" cy="711200"/>
          </a:xfrm>
        </p:grpSpPr>
        <p:sp>
          <p:nvSpPr>
            <p:cNvPr id="12" name="Diamond 11">
              <a:extLst>
                <a:ext uri="{FF2B5EF4-FFF2-40B4-BE49-F238E27FC236}">
                  <a16:creationId xmlns="" xmlns:a16="http://schemas.microsoft.com/office/drawing/2014/main" id="{012DDF0E-3707-4DA7-94CE-24CD9ADB6976}"/>
                </a:ext>
              </a:extLst>
            </p:cNvPr>
            <p:cNvSpPr/>
            <p:nvPr/>
          </p:nvSpPr>
          <p:spPr>
            <a:xfrm>
              <a:off x="3556000" y="2717800"/>
              <a:ext cx="863600" cy="711200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C33EABB7-E151-44F2-B3BB-42B16609F6C9}"/>
                </a:ext>
              </a:extLst>
            </p:cNvPr>
            <p:cNvSpPr txBox="1"/>
            <p:nvPr/>
          </p:nvSpPr>
          <p:spPr>
            <a:xfrm>
              <a:off x="3683000" y="2888734"/>
              <a:ext cx="736600" cy="246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participate</a:t>
              </a:r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D7065E78-F951-40FC-A724-B06B25CB28BA}"/>
              </a:ext>
            </a:extLst>
          </p:cNvPr>
          <p:cNvSpPr txBox="1">
            <a:spLocks/>
          </p:cNvSpPr>
          <p:nvPr/>
        </p:nvSpPr>
        <p:spPr>
          <a:xfrm>
            <a:off x="919292" y="3188368"/>
            <a:ext cx="7442655" cy="323138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Add in attributes.</a:t>
            </a:r>
          </a:p>
          <a:p>
            <a:pPr lvl="1"/>
            <a:r>
              <a:rPr lang="en-US" sz="2000" dirty="0"/>
              <a:t>Cross them out in the description after you added them in the diagram.</a:t>
            </a:r>
            <a:endParaRPr lang="en-US" dirty="0"/>
          </a:p>
          <a:p>
            <a:r>
              <a:rPr lang="en-US" sz="2400" dirty="0"/>
              <a:t>Add constraints</a:t>
            </a:r>
            <a:r>
              <a:rPr lang="en-US" sz="2400" dirty="0" smtClean="0"/>
              <a:t>.</a:t>
            </a:r>
          </a:p>
          <a:p>
            <a:pPr lvl="1"/>
            <a:r>
              <a:rPr lang="en-US" sz="2000" dirty="0" smtClean="0">
                <a:solidFill>
                  <a:srgbClr val="00B050"/>
                </a:solidFill>
              </a:rPr>
              <a:t>One</a:t>
            </a:r>
            <a:r>
              <a:rPr lang="en-US" sz="2000" dirty="0" smtClean="0"/>
              <a:t> customer owns </a:t>
            </a:r>
            <a:r>
              <a:rPr lang="en-US" sz="2000" dirty="0" smtClean="0">
                <a:solidFill>
                  <a:srgbClr val="00B050"/>
                </a:solidFill>
              </a:rPr>
              <a:t>many</a:t>
            </a:r>
            <a:r>
              <a:rPr lang="en-US" sz="2000" dirty="0" smtClean="0"/>
              <a:t> cars (1 to many).</a:t>
            </a:r>
          </a:p>
          <a:p>
            <a:pPr lvl="1"/>
            <a:r>
              <a:rPr lang="en-US" sz="2000" dirty="0" smtClean="0"/>
              <a:t>“Every car is owned by exactly 1 customer”; cars fully participating.</a:t>
            </a:r>
          </a:p>
          <a:p>
            <a:pPr lvl="1"/>
            <a:r>
              <a:rPr lang="en-US" sz="2000" dirty="0" smtClean="0"/>
              <a:t>“Each accident only responsible … owner”; don’t need to consider the driver in accident report.</a:t>
            </a:r>
          </a:p>
          <a:p>
            <a:pPr lvl="1"/>
            <a:r>
              <a:rPr lang="en-US" sz="2000" dirty="0" smtClean="0"/>
              <a:t> Assume accident report must involve at least one car; accident entity is total participation.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2268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88" y="265815"/>
            <a:ext cx="11039856" cy="44890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Step 3</a:t>
            </a:r>
            <a:r>
              <a:rPr lang="en-US" sz="3200" dirty="0"/>
              <a:t>: After finished ER diagram, do logical design (schema)</a:t>
            </a:r>
          </a:p>
          <a:p>
            <a:r>
              <a:rPr lang="en-US" dirty="0"/>
              <a:t>Schema for customer entity:	</a:t>
            </a:r>
            <a:r>
              <a:rPr lang="en-US" b="1" dirty="0">
                <a:solidFill>
                  <a:srgbClr val="FF0000"/>
                </a:solidFill>
              </a:rPr>
              <a:t>customer</a:t>
            </a:r>
            <a:r>
              <a:rPr lang="en-US" b="1" dirty="0"/>
              <a:t> = (</a:t>
            </a:r>
            <a:r>
              <a:rPr lang="en-US" b="1" u="sng" dirty="0" err="1"/>
              <a:t>cid</a:t>
            </a:r>
            <a:r>
              <a:rPr lang="en-US" b="1" dirty="0"/>
              <a:t>, name, address)</a:t>
            </a:r>
          </a:p>
          <a:p>
            <a:pPr lvl="1"/>
            <a:r>
              <a:rPr lang="en-US" dirty="0"/>
              <a:t>List the key </a:t>
            </a:r>
            <a:r>
              <a:rPr lang="en-US" dirty="0" err="1"/>
              <a:t>cid</a:t>
            </a:r>
            <a:r>
              <a:rPr lang="en-US" dirty="0"/>
              <a:t> first with underline.</a:t>
            </a:r>
          </a:p>
          <a:p>
            <a:r>
              <a:rPr lang="en-US" dirty="0"/>
              <a:t>“Customer own car” is a 1-to-many relationship.</a:t>
            </a:r>
          </a:p>
          <a:p>
            <a:pPr lvl="1"/>
            <a:r>
              <a:rPr lang="en-US" dirty="0"/>
              <a:t>Don’t need a table for the relationship own.</a:t>
            </a:r>
          </a:p>
          <a:p>
            <a:pPr lvl="1"/>
            <a:r>
              <a:rPr lang="en-US" dirty="0"/>
              <a:t>Put the </a:t>
            </a:r>
            <a:r>
              <a:rPr lang="en-US" dirty="0" err="1"/>
              <a:t>cid</a:t>
            </a:r>
            <a:r>
              <a:rPr lang="en-US" dirty="0"/>
              <a:t>, the key for customer (the “one”) into the car table as the foreign key.</a:t>
            </a:r>
          </a:p>
          <a:p>
            <a:pPr lvl="1"/>
            <a:r>
              <a:rPr lang="en-US" dirty="0"/>
              <a:t>Schema for car entity:	</a:t>
            </a:r>
            <a:r>
              <a:rPr lang="en-US" b="1" dirty="0">
                <a:solidFill>
                  <a:srgbClr val="FF0000"/>
                </a:solidFill>
              </a:rPr>
              <a:t>car </a:t>
            </a:r>
            <a:r>
              <a:rPr lang="en-US" b="1" dirty="0"/>
              <a:t>= (</a:t>
            </a:r>
            <a:r>
              <a:rPr lang="en-US" b="1" u="sng" dirty="0" smtClean="0"/>
              <a:t>vin</a:t>
            </a:r>
            <a:r>
              <a:rPr lang="en-US" b="1" dirty="0" smtClean="0"/>
              <a:t>, </a:t>
            </a:r>
            <a:r>
              <a:rPr lang="en-US" b="1" dirty="0"/>
              <a:t>model, year, </a:t>
            </a:r>
            <a:r>
              <a:rPr lang="en-US" b="1" dirty="0" err="1"/>
              <a:t>cid</a:t>
            </a:r>
            <a:r>
              <a:rPr lang="en-US" b="1" dirty="0"/>
              <a:t>).</a:t>
            </a:r>
          </a:p>
          <a:p>
            <a:pPr lvl="1"/>
            <a:r>
              <a:rPr lang="en-US" dirty="0"/>
              <a:t>The tables customer and car can be linked together using a join on </a:t>
            </a:r>
            <a:r>
              <a:rPr lang="en-US" dirty="0" err="1"/>
              <a:t>cid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Draw the tables with sample values to help you figure out the constraints.</a:t>
            </a:r>
          </a:p>
          <a:p>
            <a:pPr lvl="2"/>
            <a:r>
              <a:rPr lang="en-US" dirty="0"/>
              <a:t>Customer C1 has 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 cars.</a:t>
            </a:r>
          </a:p>
          <a:p>
            <a:endParaRPr lang="en-US" sz="800" dirty="0"/>
          </a:p>
          <a:p>
            <a:pPr marL="914400" lvl="2" indent="0">
              <a:buNone/>
            </a:pPr>
            <a:r>
              <a:rPr lang="en-US" dirty="0"/>
              <a:t>Customer (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)					Car (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291459"/>
              </p:ext>
            </p:extLst>
          </p:nvPr>
        </p:nvGraphicFramePr>
        <p:xfrm>
          <a:off x="1508761" y="4681730"/>
          <a:ext cx="2423160" cy="1663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8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854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3385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15786">
                <a:tc>
                  <a:txBody>
                    <a:bodyPr/>
                    <a:lstStyle/>
                    <a:p>
                      <a:r>
                        <a:rPr lang="en-US" u="sng" dirty="0" err="1">
                          <a:solidFill>
                            <a:srgbClr val="FFFF00"/>
                          </a:solidFill>
                        </a:rPr>
                        <a:t>cid</a:t>
                      </a:r>
                      <a:endParaRPr lang="en-US" u="sng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578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6600"/>
                          </a:solidFill>
                        </a:rPr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5786">
                <a:tc>
                  <a:txBody>
                    <a:bodyPr/>
                    <a:lstStyle/>
                    <a:p>
                      <a:r>
                        <a:rPr lang="en-US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5786">
                <a:tc>
                  <a:txBody>
                    <a:bodyPr/>
                    <a:lstStyle/>
                    <a:p>
                      <a:r>
                        <a:rPr lang="en-US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61320"/>
              </p:ext>
            </p:extLst>
          </p:nvPr>
        </p:nvGraphicFramePr>
        <p:xfrm>
          <a:off x="6172201" y="4672585"/>
          <a:ext cx="3962400" cy="16674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06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5211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5211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05211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20115">
                <a:tc>
                  <a:txBody>
                    <a:bodyPr/>
                    <a:lstStyle/>
                    <a:p>
                      <a:r>
                        <a:rPr lang="en-US" u="sng" dirty="0" smtClean="0"/>
                        <a:t>vin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solidFill>
                            <a:srgbClr val="FFFF00"/>
                          </a:solidFill>
                        </a:rPr>
                        <a:t>cid</a:t>
                      </a:r>
                      <a:endParaRPr lang="en-US" dirty="0">
                        <a:solidFill>
                          <a:srgbClr val="FFFF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5786">
                <a:tc>
                  <a:txBody>
                    <a:bodyPr/>
                    <a:lstStyle/>
                    <a:p>
                      <a:r>
                        <a:rPr lang="en-US" dirty="0"/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6600"/>
                          </a:solidFill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5786"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6600"/>
                          </a:solidFill>
                        </a:rPr>
                        <a:t>C1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5786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08761" y="6334666"/>
            <a:ext cx="1618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 for customer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81550" y="6344874"/>
            <a:ext cx="136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 for vehicle</a:t>
            </a:r>
          </a:p>
        </p:txBody>
      </p:sp>
    </p:spTree>
    <p:extLst>
      <p:ext uri="{BB962C8B-B14F-4D97-AF65-F5344CB8AC3E}">
        <p14:creationId xmlns:p14="http://schemas.microsoft.com/office/powerpoint/2010/main" val="3505535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41573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FF0000"/>
                </a:solidFill>
              </a:rPr>
              <a:t>Step 3</a:t>
            </a:r>
            <a:r>
              <a:rPr lang="en-US" sz="3200" dirty="0"/>
              <a:t> (continue)</a:t>
            </a:r>
          </a:p>
          <a:p>
            <a:pPr marL="0" indent="0">
              <a:buNone/>
            </a:pPr>
            <a:r>
              <a:rPr lang="en-US" dirty="0"/>
              <a:t>“Car participate accident” is a </a:t>
            </a:r>
            <a:r>
              <a:rPr lang="en-US" dirty="0">
                <a:solidFill>
                  <a:srgbClr val="FF0000"/>
                </a:solidFill>
              </a:rPr>
              <a:t>many-to-many</a:t>
            </a:r>
            <a:r>
              <a:rPr lang="en-US" dirty="0"/>
              <a:t> relationship.</a:t>
            </a:r>
          </a:p>
          <a:p>
            <a:pPr lvl="1"/>
            <a:r>
              <a:rPr lang="en-US" dirty="0"/>
              <a:t>Need a table for the relationship </a:t>
            </a:r>
            <a:r>
              <a:rPr lang="en-US" b="1" dirty="0">
                <a:solidFill>
                  <a:srgbClr val="00B050"/>
                </a:solidFill>
              </a:rPr>
              <a:t>participate</a:t>
            </a:r>
            <a:r>
              <a:rPr lang="en-US" dirty="0"/>
              <a:t> = (</a:t>
            </a:r>
            <a:r>
              <a:rPr lang="en-US" u="sng" dirty="0"/>
              <a:t>vin, </a:t>
            </a:r>
            <a:r>
              <a:rPr lang="en-US" u="sng" dirty="0" err="1"/>
              <a:t>rnumber</a:t>
            </a:r>
            <a:r>
              <a:rPr lang="en-US" dirty="0"/>
              <a:t>, amount)</a:t>
            </a:r>
          </a:p>
          <a:p>
            <a:pPr lvl="2"/>
            <a:r>
              <a:rPr lang="en-US" dirty="0"/>
              <a:t>Typo in the answer (given next week); diagram and table should have </a:t>
            </a:r>
            <a:r>
              <a:rPr lang="en-US" dirty="0" err="1"/>
              <a:t>rnumber</a:t>
            </a:r>
            <a:r>
              <a:rPr lang="en-US" dirty="0"/>
              <a:t> rather than </a:t>
            </a:r>
            <a:r>
              <a:rPr lang="en-US" dirty="0" err="1"/>
              <a:t>report_number</a:t>
            </a:r>
            <a:r>
              <a:rPr lang="en-US" dirty="0"/>
              <a:t> or </a:t>
            </a:r>
            <a:r>
              <a:rPr lang="en-US" dirty="0" err="1"/>
              <a:t>r_number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car can participate in 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 accidents (with different time or location).</a:t>
            </a:r>
          </a:p>
          <a:p>
            <a:pPr lvl="2"/>
            <a:r>
              <a:rPr lang="en-US" dirty="0"/>
              <a:t>Car </a:t>
            </a:r>
            <a:r>
              <a:rPr lang="en-US" dirty="0">
                <a:solidFill>
                  <a:srgbClr val="CC66FF"/>
                </a:solidFill>
              </a:rPr>
              <a:t>V1</a:t>
            </a:r>
            <a:r>
              <a:rPr lang="en-US" dirty="0"/>
              <a:t> participates in accident R1 and R2.</a:t>
            </a:r>
          </a:p>
          <a:p>
            <a:pPr lvl="1"/>
            <a:r>
              <a:rPr lang="en-US" dirty="0"/>
              <a:t>An accident can involve 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 cars.</a:t>
            </a:r>
          </a:p>
          <a:p>
            <a:pPr lvl="2"/>
            <a:r>
              <a:rPr lang="en-US" dirty="0"/>
              <a:t>Accident report </a:t>
            </a:r>
            <a:r>
              <a:rPr lang="en-US" dirty="0">
                <a:solidFill>
                  <a:srgbClr val="FF0066"/>
                </a:solidFill>
              </a:rPr>
              <a:t>R1</a:t>
            </a:r>
            <a:r>
              <a:rPr lang="en-US" dirty="0"/>
              <a:t> involves car V1 and V3.</a:t>
            </a:r>
          </a:p>
          <a:p>
            <a:endParaRPr lang="en-US" sz="900" dirty="0"/>
          </a:p>
          <a:p>
            <a:pPr lvl="1"/>
            <a:r>
              <a:rPr lang="en-US" dirty="0"/>
              <a:t>Car (many)		Participate (involve)		Accident (many)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465635"/>
              </p:ext>
            </p:extLst>
          </p:nvPr>
        </p:nvGraphicFramePr>
        <p:xfrm>
          <a:off x="987481" y="4614530"/>
          <a:ext cx="2691385" cy="1516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41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627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1550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1550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9121">
                <a:tc>
                  <a:txBody>
                    <a:bodyPr/>
                    <a:lstStyle/>
                    <a:p>
                      <a:r>
                        <a:rPr lang="en-US" u="sng" dirty="0" smtClean="0"/>
                        <a:t>vin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cid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66FF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/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937299"/>
              </p:ext>
            </p:extLst>
          </p:nvPr>
        </p:nvGraphicFramePr>
        <p:xfrm>
          <a:off x="7886700" y="4614530"/>
          <a:ext cx="2958298" cy="1516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5131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7254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9121">
                <a:tc>
                  <a:txBody>
                    <a:bodyPr/>
                    <a:lstStyle/>
                    <a:p>
                      <a:r>
                        <a:rPr lang="en-US" u="sng" dirty="0" err="1" smtClean="0"/>
                        <a:t>r_number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/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593353"/>
              </p:ext>
            </p:extLst>
          </p:nvPr>
        </p:nvGraphicFramePr>
        <p:xfrm>
          <a:off x="4480561" y="4614530"/>
          <a:ext cx="2763756" cy="1516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06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4950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54182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79121">
                <a:tc>
                  <a:txBody>
                    <a:bodyPr/>
                    <a:lstStyle/>
                    <a:p>
                      <a:r>
                        <a:rPr lang="en-US" u="sng" dirty="0" smtClean="0"/>
                        <a:t>vin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 err="1" smtClean="0"/>
                        <a:t>r_number</a:t>
                      </a:r>
                      <a:endParaRPr lang="en-US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66FF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C66FF"/>
                          </a:solidFill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9121">
                <a:tc>
                  <a:txBody>
                    <a:bodyPr/>
                    <a:lstStyle/>
                    <a:p>
                      <a:r>
                        <a:rPr lang="en-US" dirty="0"/>
                        <a:t>V3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6432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BDD07D-66DC-49B0-BECB-DFA6CDFB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606"/>
          </a:xfrm>
        </p:spPr>
        <p:txBody>
          <a:bodyPr/>
          <a:lstStyle/>
          <a:p>
            <a:r>
              <a:rPr lang="en-US" b="1" dirty="0"/>
              <a:t>Exercise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6DE54D2-8BCC-4EF1-96BF-7E203A2B6356}"/>
              </a:ext>
            </a:extLst>
          </p:cNvPr>
          <p:cNvSpPr txBox="1"/>
          <p:nvPr/>
        </p:nvSpPr>
        <p:spPr>
          <a:xfrm>
            <a:off x="2365130" y="2677247"/>
            <a:ext cx="12065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patient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A1A85A93-8002-4F85-B833-AD08469F4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00" y="1125733"/>
            <a:ext cx="10502900" cy="1094867"/>
          </a:xfrm>
        </p:spPr>
        <p:txBody>
          <a:bodyPr>
            <a:normAutofit/>
          </a:bodyPr>
          <a:lstStyle/>
          <a:p>
            <a:r>
              <a:rPr lang="en-US" sz="2400" dirty="0"/>
              <a:t>Highlight entity nouns: </a:t>
            </a:r>
            <a:r>
              <a:rPr lang="en-US" sz="2400" dirty="0">
                <a:solidFill>
                  <a:srgbClr val="FF0000"/>
                </a:solidFill>
              </a:rPr>
              <a:t>patient, doctor, test </a:t>
            </a:r>
          </a:p>
          <a:p>
            <a:r>
              <a:rPr lang="en-US" sz="2400" dirty="0"/>
              <a:t>Highlight relationship verbs: </a:t>
            </a:r>
            <a:r>
              <a:rPr lang="en-US" sz="2400" b="1" dirty="0">
                <a:solidFill>
                  <a:srgbClr val="00B050"/>
                </a:solidFill>
              </a:rPr>
              <a:t>perform</a:t>
            </a:r>
            <a:r>
              <a:rPr lang="en-US" sz="2400" b="1" dirty="0">
                <a:solidFill>
                  <a:srgbClr val="92D050"/>
                </a:solidFill>
              </a:rPr>
              <a:t>, </a:t>
            </a:r>
            <a:r>
              <a:rPr lang="en-US" sz="2400" b="1" dirty="0" err="1">
                <a:solidFill>
                  <a:srgbClr val="00B050"/>
                </a:solidFill>
              </a:rPr>
              <a:t>dr_patient</a:t>
            </a:r>
            <a:r>
              <a:rPr lang="en-US" sz="2400" b="1" dirty="0">
                <a:solidFill>
                  <a:srgbClr val="00B050"/>
                </a:solidFill>
              </a:rPr>
              <a:t> (care for</a:t>
            </a:r>
            <a:r>
              <a:rPr lang="en-US" sz="2400" b="1" dirty="0">
                <a:solidFill>
                  <a:srgbClr val="92D050"/>
                </a:solidFill>
              </a:rPr>
              <a:t>), </a:t>
            </a:r>
            <a:r>
              <a:rPr lang="en-US" sz="2400" b="1" dirty="0" smtClean="0">
                <a:solidFill>
                  <a:srgbClr val="00B050"/>
                </a:solidFill>
              </a:rPr>
              <a:t>patient-test</a:t>
            </a:r>
            <a:endParaRPr lang="en-US" sz="2400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3127E7E6-D4E7-4F9A-9FD1-4176D39C84E4}"/>
              </a:ext>
            </a:extLst>
          </p:cNvPr>
          <p:cNvSpPr txBox="1"/>
          <p:nvPr/>
        </p:nvSpPr>
        <p:spPr>
          <a:xfrm>
            <a:off x="6767795" y="2704978"/>
            <a:ext cx="1054100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doctor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B6F9D899-EFF3-4E7C-B7A0-51B86AE1FFA2}"/>
              </a:ext>
            </a:extLst>
          </p:cNvPr>
          <p:cNvSpPr txBox="1"/>
          <p:nvPr/>
        </p:nvSpPr>
        <p:spPr>
          <a:xfrm>
            <a:off x="4976171" y="3822815"/>
            <a:ext cx="602697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test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376CF065-A52B-465D-AA68-6C5D03EE1B66}"/>
              </a:ext>
            </a:extLst>
          </p:cNvPr>
          <p:cNvGrpSpPr/>
          <p:nvPr/>
        </p:nvGrpSpPr>
        <p:grpSpPr>
          <a:xfrm>
            <a:off x="4348757" y="2520793"/>
            <a:ext cx="1536699" cy="809431"/>
            <a:chOff x="3556000" y="2717800"/>
            <a:chExt cx="863600" cy="711200"/>
          </a:xfrm>
        </p:grpSpPr>
        <p:sp>
          <p:nvSpPr>
            <p:cNvPr id="8" name="Diamond 7">
              <a:extLst>
                <a:ext uri="{FF2B5EF4-FFF2-40B4-BE49-F238E27FC236}">
                  <a16:creationId xmlns="" xmlns:a16="http://schemas.microsoft.com/office/drawing/2014/main" id="{FC3FC779-96EC-4F1F-93BC-746591B7CE77}"/>
                </a:ext>
              </a:extLst>
            </p:cNvPr>
            <p:cNvSpPr/>
            <p:nvPr/>
          </p:nvSpPr>
          <p:spPr>
            <a:xfrm>
              <a:off x="3556000" y="2717800"/>
              <a:ext cx="863600" cy="711200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="" xmlns:a16="http://schemas.microsoft.com/office/drawing/2014/main" id="{FE540929-D29D-4D42-9A1B-C3B547736539}"/>
                </a:ext>
              </a:extLst>
            </p:cNvPr>
            <p:cNvSpPr txBox="1"/>
            <p:nvPr/>
          </p:nvSpPr>
          <p:spPr>
            <a:xfrm>
              <a:off x="3683000" y="2888734"/>
              <a:ext cx="736600" cy="32451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00B050"/>
                  </a:solidFill>
                </a:rPr>
                <a:t>dr_patient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="" xmlns:a16="http://schemas.microsoft.com/office/drawing/2014/main" id="{BAFCCE07-7A5C-4F8F-8792-C4B6D522B55F}"/>
              </a:ext>
            </a:extLst>
          </p:cNvPr>
          <p:cNvGrpSpPr/>
          <p:nvPr/>
        </p:nvGrpSpPr>
        <p:grpSpPr>
          <a:xfrm>
            <a:off x="6682922" y="3534004"/>
            <a:ext cx="1223845" cy="832031"/>
            <a:chOff x="3556000" y="2717800"/>
            <a:chExt cx="863600" cy="711200"/>
          </a:xfrm>
        </p:grpSpPr>
        <p:sp>
          <p:nvSpPr>
            <p:cNvPr id="12" name="Diamond 11">
              <a:extLst>
                <a:ext uri="{FF2B5EF4-FFF2-40B4-BE49-F238E27FC236}">
                  <a16:creationId xmlns="" xmlns:a16="http://schemas.microsoft.com/office/drawing/2014/main" id="{012DDF0E-3707-4DA7-94CE-24CD9ADB6976}"/>
                </a:ext>
              </a:extLst>
            </p:cNvPr>
            <p:cNvSpPr/>
            <p:nvPr/>
          </p:nvSpPr>
          <p:spPr>
            <a:xfrm>
              <a:off x="3556000" y="2717800"/>
              <a:ext cx="863600" cy="711200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="" xmlns:a16="http://schemas.microsoft.com/office/drawing/2014/main" id="{C33EABB7-E151-44F2-B3BB-42B16609F6C9}"/>
                </a:ext>
              </a:extLst>
            </p:cNvPr>
            <p:cNvSpPr txBox="1"/>
            <p:nvPr/>
          </p:nvSpPr>
          <p:spPr>
            <a:xfrm>
              <a:off x="3683000" y="2888734"/>
              <a:ext cx="736600" cy="3156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perform</a:t>
              </a:r>
            </a:p>
          </p:txBody>
        </p:sp>
      </p:grp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D7065E78-F951-40FC-A724-B06B25CB28BA}"/>
              </a:ext>
            </a:extLst>
          </p:cNvPr>
          <p:cNvSpPr txBox="1">
            <a:spLocks/>
          </p:cNvSpPr>
          <p:nvPr/>
        </p:nvSpPr>
        <p:spPr>
          <a:xfrm>
            <a:off x="1029131" y="4715516"/>
            <a:ext cx="9717638" cy="121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Add in attributes and adjust the locations of the elements in the diagram.</a:t>
            </a:r>
          </a:p>
          <a:p>
            <a:r>
              <a:rPr lang="en-US" sz="2400" dirty="0"/>
              <a:t>Add in more stuff from the description; cross out stuff used already. </a:t>
            </a:r>
          </a:p>
          <a:p>
            <a:pPr marL="0" indent="0">
              <a:buNone/>
            </a:pPr>
            <a:endParaRPr lang="en-US" sz="2400" dirty="0"/>
          </a:p>
        </p:txBody>
      </p:sp>
      <p:grpSp>
        <p:nvGrpSpPr>
          <p:cNvPr id="15" name="Group 14">
            <a:extLst>
              <a:ext uri="{FF2B5EF4-FFF2-40B4-BE49-F238E27FC236}">
                <a16:creationId xmlns="" xmlns:a16="http://schemas.microsoft.com/office/drawing/2014/main" id="{81912631-38E8-49D4-892C-03483E820AF4}"/>
              </a:ext>
            </a:extLst>
          </p:cNvPr>
          <p:cNvGrpSpPr/>
          <p:nvPr/>
        </p:nvGrpSpPr>
        <p:grpSpPr>
          <a:xfrm>
            <a:off x="2538670" y="3534004"/>
            <a:ext cx="1032968" cy="1079383"/>
            <a:chOff x="3556000" y="2717800"/>
            <a:chExt cx="863600" cy="711200"/>
          </a:xfrm>
        </p:grpSpPr>
        <p:sp>
          <p:nvSpPr>
            <p:cNvPr id="16" name="Diamond 15">
              <a:extLst>
                <a:ext uri="{FF2B5EF4-FFF2-40B4-BE49-F238E27FC236}">
                  <a16:creationId xmlns="" xmlns:a16="http://schemas.microsoft.com/office/drawing/2014/main" id="{A46D40EF-A1E5-4B28-8D96-34B4420D9A59}"/>
                </a:ext>
              </a:extLst>
            </p:cNvPr>
            <p:cNvSpPr/>
            <p:nvPr/>
          </p:nvSpPr>
          <p:spPr>
            <a:xfrm>
              <a:off x="3556000" y="2717800"/>
              <a:ext cx="863600" cy="711200"/>
            </a:xfrm>
            <a:prstGeom prst="diamon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="" xmlns:a16="http://schemas.microsoft.com/office/drawing/2014/main" id="{75A47D3D-B824-453B-8E7C-B665D46E24F8}"/>
                </a:ext>
              </a:extLst>
            </p:cNvPr>
            <p:cNvSpPr txBox="1"/>
            <p:nvPr/>
          </p:nvSpPr>
          <p:spPr>
            <a:xfrm>
              <a:off x="3656132" y="2898648"/>
              <a:ext cx="744812" cy="425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p</a:t>
              </a:r>
              <a:r>
                <a:rPr lang="en-US" dirty="0" smtClean="0">
                  <a:solidFill>
                    <a:srgbClr val="00B050"/>
                  </a:solidFill>
                </a:rPr>
                <a:t>atient-test</a:t>
              </a:r>
              <a:endParaRPr lang="en-US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9474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BDD07D-66DC-49B0-BECB-DFA6CDFB3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0606"/>
          </a:xfrm>
        </p:spPr>
        <p:txBody>
          <a:bodyPr/>
          <a:lstStyle/>
          <a:p>
            <a:r>
              <a:rPr lang="en-US" b="1" dirty="0"/>
              <a:t>Exercise 2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D7065E78-F951-40FC-A724-B06B25CB28BA}"/>
              </a:ext>
            </a:extLst>
          </p:cNvPr>
          <p:cNvSpPr txBox="1">
            <a:spLocks/>
          </p:cNvSpPr>
          <p:nvPr/>
        </p:nvSpPr>
        <p:spPr>
          <a:xfrm>
            <a:off x="1029131" y="1383632"/>
            <a:ext cx="9717638" cy="50404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Constraints</a:t>
            </a:r>
            <a:endParaRPr lang="en-US" dirty="0"/>
          </a:p>
          <a:p>
            <a:r>
              <a:rPr lang="en-US" dirty="0" smtClean="0"/>
              <a:t>“Every </a:t>
            </a:r>
            <a:r>
              <a:rPr lang="en-US" dirty="0"/>
              <a:t>patient is </a:t>
            </a:r>
            <a:r>
              <a:rPr lang="en-US" dirty="0">
                <a:solidFill>
                  <a:srgbClr val="00B050"/>
                </a:solidFill>
              </a:rPr>
              <a:t>cared</a:t>
            </a:r>
            <a:r>
              <a:rPr lang="en-US" b="1" dirty="0">
                <a:solidFill>
                  <a:srgbClr val="0070C0"/>
                </a:solidFill>
              </a:rPr>
              <a:t> </a:t>
            </a:r>
            <a:r>
              <a:rPr lang="en-US" dirty="0"/>
              <a:t>by one or multiple doctor</a:t>
            </a:r>
            <a:r>
              <a:rPr lang="en-US" dirty="0" smtClean="0"/>
              <a:t>”</a:t>
            </a:r>
          </a:p>
          <a:p>
            <a:pPr lvl="1"/>
            <a:r>
              <a:rPr lang="en-US" dirty="0" smtClean="0"/>
              <a:t>In relationship </a:t>
            </a:r>
            <a:r>
              <a:rPr lang="en-US" dirty="0" err="1" smtClean="0">
                <a:solidFill>
                  <a:srgbClr val="00B050"/>
                </a:solidFill>
              </a:rPr>
              <a:t>dr_patient</a:t>
            </a:r>
            <a:r>
              <a:rPr lang="en-US" dirty="0" smtClean="0"/>
              <a:t> </a:t>
            </a:r>
          </a:p>
          <a:p>
            <a:pPr lvl="2"/>
            <a:r>
              <a:rPr lang="en-US" dirty="0" smtClean="0"/>
              <a:t>Can change </a:t>
            </a:r>
            <a:r>
              <a:rPr lang="en-US" dirty="0" err="1" smtClean="0"/>
              <a:t>dr</a:t>
            </a:r>
            <a:r>
              <a:rPr lang="en-US" dirty="0" smtClean="0"/>
              <a:t>-patient </a:t>
            </a:r>
            <a:r>
              <a:rPr lang="en-US" dirty="0" smtClean="0"/>
              <a:t>to </a:t>
            </a:r>
            <a:r>
              <a:rPr lang="en-US" dirty="0" smtClean="0"/>
              <a:t>care; solution didn’t do that, so leave it in.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M</a:t>
            </a:r>
            <a:r>
              <a:rPr lang="en-US" dirty="0" smtClean="0">
                <a:solidFill>
                  <a:srgbClr val="FF0000"/>
                </a:solidFill>
              </a:rPr>
              <a:t>any</a:t>
            </a:r>
            <a:r>
              <a:rPr lang="en-US" dirty="0" smtClean="0"/>
              <a:t> </a:t>
            </a:r>
            <a:r>
              <a:rPr lang="en-US" dirty="0" smtClean="0"/>
              <a:t>doctor </a:t>
            </a:r>
            <a:r>
              <a:rPr lang="en-US" dirty="0" smtClean="0"/>
              <a:t>to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many</a:t>
            </a:r>
            <a:r>
              <a:rPr lang="en-US" dirty="0" smtClean="0"/>
              <a:t> </a:t>
            </a:r>
            <a:r>
              <a:rPr lang="en-US" dirty="0" smtClean="0"/>
              <a:t>patient.</a:t>
            </a:r>
            <a:endParaRPr lang="en-US" dirty="0" smtClean="0"/>
          </a:p>
          <a:p>
            <a:pPr lvl="1"/>
            <a:r>
              <a:rPr lang="en-US" dirty="0" smtClean="0"/>
              <a:t>Entity patient is </a:t>
            </a:r>
            <a:r>
              <a:rPr lang="en-US" dirty="0" smtClean="0">
                <a:solidFill>
                  <a:srgbClr val="FF0000"/>
                </a:solidFill>
              </a:rPr>
              <a:t>total </a:t>
            </a:r>
            <a:r>
              <a:rPr lang="en-US" dirty="0" smtClean="0">
                <a:solidFill>
                  <a:srgbClr val="FF0000"/>
                </a:solidFill>
              </a:rPr>
              <a:t>participating</a:t>
            </a:r>
            <a:r>
              <a:rPr lang="en-US" dirty="0" smtClean="0"/>
              <a:t>.</a:t>
            </a:r>
            <a:endParaRPr lang="en-US" dirty="0" smtClean="0"/>
          </a:p>
          <a:p>
            <a:r>
              <a:rPr lang="en-US" dirty="0" smtClean="0"/>
              <a:t>“Every test is </a:t>
            </a:r>
            <a:r>
              <a:rPr lang="en-US" dirty="0" smtClean="0">
                <a:solidFill>
                  <a:srgbClr val="00B050"/>
                </a:solidFill>
              </a:rPr>
              <a:t>performed</a:t>
            </a:r>
            <a:r>
              <a:rPr lang="en-US" dirty="0" smtClean="0"/>
              <a:t> by one or more doctor”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Many</a:t>
            </a:r>
            <a:r>
              <a:rPr lang="en-US" dirty="0" smtClean="0"/>
              <a:t> test </a:t>
            </a:r>
            <a:r>
              <a:rPr lang="en-US" dirty="0" smtClean="0"/>
              <a:t>to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many</a:t>
            </a:r>
            <a:r>
              <a:rPr lang="en-US" dirty="0" smtClean="0"/>
              <a:t> </a:t>
            </a:r>
            <a:r>
              <a:rPr lang="en-US" dirty="0" smtClean="0"/>
              <a:t>doctor</a:t>
            </a:r>
          </a:p>
          <a:p>
            <a:pPr lvl="1"/>
            <a:r>
              <a:rPr lang="en-US" dirty="0" smtClean="0"/>
              <a:t>Entity test is </a:t>
            </a:r>
            <a:r>
              <a:rPr lang="en-US" dirty="0" smtClean="0">
                <a:solidFill>
                  <a:srgbClr val="FF0000"/>
                </a:solidFill>
              </a:rPr>
              <a:t>total </a:t>
            </a:r>
            <a:r>
              <a:rPr lang="en-US" dirty="0" smtClean="0">
                <a:solidFill>
                  <a:srgbClr val="FF0000"/>
                </a:solidFill>
              </a:rPr>
              <a:t>participating</a:t>
            </a:r>
            <a:endParaRPr lang="en-US" dirty="0" smtClean="0">
              <a:solidFill>
                <a:srgbClr val="FF0000"/>
              </a:solidFill>
            </a:endParaRPr>
          </a:p>
          <a:p>
            <a:r>
              <a:rPr lang="en-US" dirty="0" smtClean="0"/>
              <a:t>“Every test is </a:t>
            </a:r>
            <a:r>
              <a:rPr lang="en-US" dirty="0" smtClean="0">
                <a:solidFill>
                  <a:srgbClr val="00B050"/>
                </a:solidFill>
              </a:rPr>
              <a:t>done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00B050"/>
                </a:solidFill>
              </a:rPr>
              <a:t>test_</a:t>
            </a:r>
            <a:r>
              <a:rPr lang="en-US" dirty="0" err="1" smtClean="0">
                <a:solidFill>
                  <a:srgbClr val="00B050"/>
                </a:solidFill>
              </a:rPr>
              <a:t>patient</a:t>
            </a:r>
            <a:r>
              <a:rPr lang="en-US" dirty="0" smtClean="0"/>
              <a:t>) </a:t>
            </a:r>
            <a:r>
              <a:rPr lang="en-US" dirty="0" smtClean="0"/>
              <a:t>for exactly one patient”</a:t>
            </a:r>
          </a:p>
          <a:p>
            <a:pPr lvl="1"/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 patient </a:t>
            </a:r>
            <a:r>
              <a:rPr lang="en-US" dirty="0" smtClean="0"/>
              <a:t>to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many</a:t>
            </a:r>
            <a:r>
              <a:rPr lang="en-US" dirty="0" smtClean="0"/>
              <a:t> test</a:t>
            </a:r>
          </a:p>
          <a:p>
            <a:pPr lvl="1"/>
            <a:r>
              <a:rPr lang="en-US" dirty="0" smtClean="0"/>
              <a:t>Entity test is </a:t>
            </a:r>
            <a:r>
              <a:rPr lang="en-US" dirty="0" smtClean="0">
                <a:solidFill>
                  <a:srgbClr val="FF0000"/>
                </a:solidFill>
              </a:rPr>
              <a:t>total </a:t>
            </a:r>
            <a:r>
              <a:rPr lang="en-US" dirty="0" smtClean="0">
                <a:solidFill>
                  <a:srgbClr val="FF0000"/>
                </a:solidFill>
              </a:rPr>
              <a:t>participating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934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8C2FD5-6908-4EBE-A418-FD3C2E80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9561"/>
          </a:xfrm>
        </p:spPr>
        <p:txBody>
          <a:bodyPr/>
          <a:lstStyle/>
          <a:p>
            <a:r>
              <a:rPr lang="en-US" dirty="0"/>
              <a:t>Schema Exercise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8857"/>
            <a:ext cx="10515600" cy="4798105"/>
          </a:xfrm>
        </p:spPr>
        <p:txBody>
          <a:bodyPr/>
          <a:lstStyle/>
          <a:p>
            <a:r>
              <a:rPr lang="en-US" dirty="0"/>
              <a:t>Schema for entities are straight forward, e.g.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FF0000"/>
                </a:solidFill>
              </a:rPr>
              <a:t>patient</a:t>
            </a:r>
            <a:r>
              <a:rPr lang="en-US" dirty="0"/>
              <a:t> = (</a:t>
            </a:r>
            <a:r>
              <a:rPr lang="en-US" u="sng" dirty="0" err="1"/>
              <a:t>pid</a:t>
            </a:r>
            <a:r>
              <a:rPr lang="en-US" dirty="0"/>
              <a:t>, </a:t>
            </a:r>
            <a:r>
              <a:rPr lang="en-US" dirty="0" err="1"/>
              <a:t>pname</a:t>
            </a:r>
            <a:r>
              <a:rPr lang="en-US" dirty="0"/>
              <a:t>, insurance),	</a:t>
            </a:r>
            <a:r>
              <a:rPr lang="en-US" dirty="0">
                <a:solidFill>
                  <a:srgbClr val="FF0000"/>
                </a:solidFill>
              </a:rPr>
              <a:t>doctor</a:t>
            </a:r>
            <a:r>
              <a:rPr lang="en-US" dirty="0"/>
              <a:t> = (</a:t>
            </a:r>
            <a:r>
              <a:rPr lang="en-US" u="sng" dirty="0"/>
              <a:t>did</a:t>
            </a:r>
            <a:r>
              <a:rPr lang="en-US" dirty="0"/>
              <a:t>, </a:t>
            </a:r>
            <a:r>
              <a:rPr lang="en-US" dirty="0" err="1"/>
              <a:t>dname</a:t>
            </a:r>
            <a:r>
              <a:rPr lang="en-US" dirty="0"/>
              <a:t>, specialization)</a:t>
            </a:r>
          </a:p>
          <a:p>
            <a:r>
              <a:rPr lang="en-US" dirty="0"/>
              <a:t>Patient – doctor is a many-to-many relationship</a:t>
            </a:r>
          </a:p>
          <a:p>
            <a:pPr lvl="1"/>
            <a:r>
              <a:rPr lang="en-US" dirty="0"/>
              <a:t>Need a table for the relationship </a:t>
            </a:r>
            <a:r>
              <a:rPr lang="en-US" b="1" dirty="0" err="1">
                <a:solidFill>
                  <a:srgbClr val="00B050"/>
                </a:solidFill>
              </a:rPr>
              <a:t>dr_patient</a:t>
            </a:r>
            <a:r>
              <a:rPr lang="en-US" b="1" dirty="0">
                <a:solidFill>
                  <a:srgbClr val="00B050"/>
                </a:solidFill>
              </a:rPr>
              <a:t> </a:t>
            </a:r>
            <a:r>
              <a:rPr lang="en-US" dirty="0"/>
              <a:t>= (</a:t>
            </a:r>
            <a:r>
              <a:rPr lang="en-US" u="sng" dirty="0" err="1"/>
              <a:t>pid</a:t>
            </a:r>
            <a:r>
              <a:rPr lang="en-US" dirty="0"/>
              <a:t>, </a:t>
            </a:r>
            <a:r>
              <a:rPr lang="en-US" u="sng" dirty="0"/>
              <a:t>did</a:t>
            </a:r>
            <a:r>
              <a:rPr lang="en-US" dirty="0"/>
              <a:t>).</a:t>
            </a:r>
          </a:p>
          <a:p>
            <a:r>
              <a:rPr lang="en-US" dirty="0"/>
              <a:t>“Doctor perform test” is a many-to-many relationship</a:t>
            </a:r>
          </a:p>
          <a:p>
            <a:pPr lvl="1"/>
            <a:r>
              <a:rPr lang="en-US" dirty="0"/>
              <a:t>Need a table for the relationship </a:t>
            </a:r>
            <a:r>
              <a:rPr lang="en-US" b="1" dirty="0">
                <a:solidFill>
                  <a:srgbClr val="00B050"/>
                </a:solidFill>
              </a:rPr>
              <a:t>perform</a:t>
            </a:r>
            <a:r>
              <a:rPr lang="en-US" dirty="0"/>
              <a:t> = (</a:t>
            </a:r>
            <a:r>
              <a:rPr lang="en-US" u="sng" dirty="0"/>
              <a:t>did</a:t>
            </a:r>
            <a:r>
              <a:rPr lang="en-US" dirty="0"/>
              <a:t>, </a:t>
            </a:r>
            <a:r>
              <a:rPr lang="en-US" u="sng" dirty="0" err="1"/>
              <a:t>tid</a:t>
            </a:r>
            <a:r>
              <a:rPr lang="en-US" dirty="0"/>
              <a:t>).</a:t>
            </a:r>
          </a:p>
          <a:p>
            <a:r>
              <a:rPr lang="en-US" dirty="0"/>
              <a:t>Patient – test is a 1-to-many relationship. </a:t>
            </a:r>
          </a:p>
          <a:p>
            <a:pPr lvl="1"/>
            <a:r>
              <a:rPr lang="en-US" dirty="0" smtClean="0"/>
              <a:t>Don’t </a:t>
            </a:r>
            <a:r>
              <a:rPr lang="en-US" dirty="0"/>
              <a:t>need a table for </a:t>
            </a:r>
            <a:r>
              <a:rPr lang="en-US" dirty="0" err="1" smtClean="0"/>
              <a:t>patient_test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Put </a:t>
            </a:r>
            <a:r>
              <a:rPr lang="en-US" dirty="0" err="1">
                <a:solidFill>
                  <a:srgbClr val="0070C0"/>
                </a:solidFill>
              </a:rPr>
              <a:t>pid</a:t>
            </a:r>
            <a:r>
              <a:rPr lang="en-US" dirty="0"/>
              <a:t>, the key for patient (the “one”) as a foreign key in the table test, so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FF0000"/>
                </a:solidFill>
              </a:rPr>
              <a:t>test</a:t>
            </a:r>
            <a:r>
              <a:rPr lang="en-US" dirty="0"/>
              <a:t> = (</a:t>
            </a:r>
            <a:r>
              <a:rPr lang="en-US" u="sng" dirty="0" err="1"/>
              <a:t>tid</a:t>
            </a:r>
            <a:r>
              <a:rPr lang="en-US" dirty="0"/>
              <a:t>, </a:t>
            </a:r>
            <a:r>
              <a:rPr lang="en-US" dirty="0" err="1"/>
              <a:t>tname</a:t>
            </a:r>
            <a:r>
              <a:rPr lang="en-US" dirty="0"/>
              <a:t>, date, time, result, </a:t>
            </a:r>
            <a:r>
              <a:rPr lang="en-US" dirty="0" err="1">
                <a:solidFill>
                  <a:srgbClr val="0070C0"/>
                </a:solidFill>
              </a:rPr>
              <a:t>pid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37182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F3A2990-5279-A440-FF77-91F98D8C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370748A-DF9A-B77A-A029-E847C0337D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600201"/>
            <a:ext cx="10881360" cy="4619531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r>
              <a:rPr lang="en-US" dirty="0"/>
              <a:t>Create an ER diagram for a recording company with the following requirements: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musician</a:t>
            </a:r>
            <a:r>
              <a:rPr lang="en-US" dirty="0"/>
              <a:t> has an unique SSN (key for musician table), a name, an address, and a phone number. 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instrument</a:t>
            </a:r>
            <a:r>
              <a:rPr lang="en-US" dirty="0"/>
              <a:t> has a name (e.g., guitar) and </a:t>
            </a:r>
            <a:r>
              <a:rPr lang="en-US" dirty="0" smtClean="0"/>
              <a:t>musical </a:t>
            </a:r>
            <a:r>
              <a:rPr lang="en-US" dirty="0"/>
              <a:t>key (e.g</a:t>
            </a:r>
            <a:r>
              <a:rPr lang="en-US" dirty="0" smtClean="0"/>
              <a:t>., in </a:t>
            </a:r>
            <a:r>
              <a:rPr lang="en-US" dirty="0"/>
              <a:t>C, </a:t>
            </a:r>
            <a:r>
              <a:rPr lang="en-US" dirty="0" smtClean="0"/>
              <a:t>to </a:t>
            </a:r>
            <a:r>
              <a:rPr lang="en-US" dirty="0"/>
              <a:t>confuse you).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album</a:t>
            </a:r>
            <a:r>
              <a:rPr lang="en-US" dirty="0"/>
              <a:t> that has a title, a copyright date, a format (e.g., CD), and an album identifier.</a:t>
            </a:r>
          </a:p>
          <a:p>
            <a:pPr lvl="1"/>
            <a:r>
              <a:rPr lang="en-US" dirty="0"/>
              <a:t>Each </a:t>
            </a:r>
            <a:r>
              <a:rPr lang="en-US" dirty="0">
                <a:solidFill>
                  <a:srgbClr val="FF0000"/>
                </a:solidFill>
              </a:rPr>
              <a:t>song</a:t>
            </a:r>
            <a:r>
              <a:rPr lang="en-US" dirty="0"/>
              <a:t> has a title and an author.</a:t>
            </a:r>
          </a:p>
          <a:p>
            <a:pPr lvl="1"/>
            <a:r>
              <a:rPr lang="en-US" dirty="0"/>
              <a:t>Musicians may </a:t>
            </a:r>
            <a:r>
              <a:rPr lang="en-US" dirty="0">
                <a:solidFill>
                  <a:srgbClr val="00B050"/>
                </a:solidFill>
              </a:rPr>
              <a:t>play</a:t>
            </a:r>
            <a:r>
              <a:rPr lang="en-US" dirty="0"/>
              <a:t> many instruments, and an instrument may be </a:t>
            </a:r>
            <a:r>
              <a:rPr lang="en-US" dirty="0">
                <a:solidFill>
                  <a:srgbClr val="00B050"/>
                </a:solidFill>
              </a:rPr>
              <a:t>played</a:t>
            </a:r>
            <a:r>
              <a:rPr lang="en-US" dirty="0"/>
              <a:t> by many musicians.</a:t>
            </a:r>
          </a:p>
          <a:p>
            <a:pPr lvl="1"/>
            <a:r>
              <a:rPr lang="en-US" dirty="0"/>
              <a:t>Each album </a:t>
            </a:r>
            <a:r>
              <a:rPr lang="en-US" dirty="0">
                <a:solidFill>
                  <a:srgbClr val="00B050"/>
                </a:solidFill>
              </a:rPr>
              <a:t>has</a:t>
            </a:r>
            <a:r>
              <a:rPr lang="en-US" dirty="0"/>
              <a:t> a number of songs on it, but no song may </a:t>
            </a:r>
            <a:r>
              <a:rPr lang="en-US" dirty="0">
                <a:solidFill>
                  <a:srgbClr val="00B050"/>
                </a:solidFill>
              </a:rPr>
              <a:t>appear</a:t>
            </a:r>
            <a:r>
              <a:rPr lang="en-US" dirty="0"/>
              <a:t> on more than one album.</a:t>
            </a:r>
          </a:p>
          <a:p>
            <a:pPr lvl="1"/>
            <a:r>
              <a:rPr lang="en-US" dirty="0"/>
              <a:t>Each song is </a:t>
            </a:r>
            <a:r>
              <a:rPr lang="en-US" dirty="0">
                <a:solidFill>
                  <a:srgbClr val="00B050"/>
                </a:solidFill>
              </a:rPr>
              <a:t>performed</a:t>
            </a:r>
            <a:r>
              <a:rPr lang="en-US" dirty="0"/>
              <a:t> by one or more musicians, and a musician may </a:t>
            </a:r>
            <a:r>
              <a:rPr lang="en-US" dirty="0">
                <a:solidFill>
                  <a:srgbClr val="00B050"/>
                </a:solidFill>
              </a:rPr>
              <a:t>perform</a:t>
            </a:r>
            <a:r>
              <a:rPr lang="en-US" dirty="0"/>
              <a:t> a number of songs.</a:t>
            </a:r>
          </a:p>
          <a:p>
            <a:pPr lvl="1"/>
            <a:r>
              <a:rPr lang="en-US" dirty="0"/>
              <a:t>Each album </a:t>
            </a:r>
            <a:r>
              <a:rPr lang="en-US" dirty="0">
                <a:solidFill>
                  <a:srgbClr val="00B050"/>
                </a:solidFill>
              </a:rPr>
              <a:t>has</a:t>
            </a:r>
            <a:r>
              <a:rPr lang="en-US" dirty="0"/>
              <a:t> exactly one musician who acts as its </a:t>
            </a:r>
            <a:r>
              <a:rPr lang="en-US" dirty="0">
                <a:solidFill>
                  <a:srgbClr val="00B050"/>
                </a:solidFill>
              </a:rPr>
              <a:t>producer</a:t>
            </a:r>
            <a:r>
              <a:rPr lang="en-US" dirty="0"/>
              <a:t>. A musician can of course </a:t>
            </a:r>
            <a:r>
              <a:rPr lang="en-US" dirty="0">
                <a:solidFill>
                  <a:srgbClr val="00B050"/>
                </a:solidFill>
              </a:rPr>
              <a:t>produce</a:t>
            </a:r>
            <a:r>
              <a:rPr lang="en-US" dirty="0"/>
              <a:t> several albums. </a:t>
            </a:r>
          </a:p>
          <a:p>
            <a:endParaRPr lang="en-US" dirty="0"/>
          </a:p>
        </p:txBody>
      </p:sp>
      <p:sp>
        <p:nvSpPr>
          <p:cNvPr id="4" name="矩形 12">
            <a:extLst>
              <a:ext uri="{FF2B5EF4-FFF2-40B4-BE49-F238E27FC236}">
                <a16:creationId xmlns="" xmlns:a16="http://schemas.microsoft.com/office/drawing/2014/main" id="{07F5AEA2-6271-B9A7-6306-7FD4BEA95A74}"/>
              </a:ext>
            </a:extLst>
          </p:cNvPr>
          <p:cNvSpPr/>
          <p:nvPr/>
        </p:nvSpPr>
        <p:spPr>
          <a:xfrm>
            <a:off x="1524000" y="1"/>
            <a:ext cx="91440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11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8C2FD5-6908-4EBE-A418-FD3C2E80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571" y="365125"/>
            <a:ext cx="7215130" cy="839561"/>
          </a:xfrm>
        </p:spPr>
        <p:txBody>
          <a:bodyPr/>
          <a:lstStyle/>
          <a:p>
            <a:r>
              <a:rPr lang="en-US" dirty="0"/>
              <a:t>Schema Exercise 3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472" y="1219550"/>
            <a:ext cx="6609526" cy="1353809"/>
          </a:xfrm>
        </p:spPr>
        <p:txBody>
          <a:bodyPr>
            <a:normAutofit/>
          </a:bodyPr>
          <a:lstStyle/>
          <a:p>
            <a:r>
              <a:rPr lang="en-US" dirty="0"/>
              <a:t>“Each album has exactly </a:t>
            </a:r>
            <a:r>
              <a:rPr lang="en-US" dirty="0">
                <a:solidFill>
                  <a:srgbClr val="FF0000"/>
                </a:solidFill>
              </a:rPr>
              <a:t>one musician </a:t>
            </a:r>
            <a:r>
              <a:rPr lang="en-US" dirty="0"/>
              <a:t>who acts as its producer. A musician can of course produce </a:t>
            </a:r>
            <a:r>
              <a:rPr lang="en-US" dirty="0">
                <a:solidFill>
                  <a:srgbClr val="FF0000"/>
                </a:solidFill>
              </a:rPr>
              <a:t>several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albums</a:t>
            </a:r>
            <a:r>
              <a:rPr lang="en-US" dirty="0"/>
              <a:t>.”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9663" y="1470097"/>
            <a:ext cx="4552623" cy="852714"/>
          </a:xfrm>
          <a:prstGeom prst="rect">
            <a:avLst/>
          </a:prstGeom>
        </p:spPr>
      </p:pic>
      <p:sp>
        <p:nvSpPr>
          <p:cNvPr id="25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 txBox="1">
            <a:spLocks/>
          </p:cNvSpPr>
          <p:nvPr/>
        </p:nvSpPr>
        <p:spPr>
          <a:xfrm>
            <a:off x="533534" y="2692400"/>
            <a:ext cx="11138252" cy="314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smtClean="0"/>
              <a:t>Similar to instructor PD program, with an instructor allowed to be PD in more than 1 programs. </a:t>
            </a:r>
            <a:r>
              <a:rPr lang="en-US" dirty="0" smtClean="0"/>
              <a:t>(This is </a:t>
            </a:r>
            <a:r>
              <a:rPr lang="en-US" dirty="0" smtClean="0"/>
              <a:t>true in BNBU.)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ase </a:t>
            </a:r>
            <a:r>
              <a:rPr lang="en-US" dirty="0"/>
              <a:t>7 in Lecture </a:t>
            </a:r>
            <a:r>
              <a:rPr lang="en-US" dirty="0" smtClean="0"/>
              <a:t>6; has a “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” and </a:t>
            </a:r>
            <a:r>
              <a:rPr lang="en-US" dirty="0" smtClean="0"/>
              <a:t>the “</a:t>
            </a:r>
            <a:r>
              <a:rPr lang="en-US" dirty="0" smtClean="0">
                <a:solidFill>
                  <a:srgbClr val="FF0000"/>
                </a:solidFill>
              </a:rPr>
              <a:t>many</a:t>
            </a:r>
            <a:r>
              <a:rPr lang="en-US" dirty="0" smtClean="0"/>
              <a:t>” entity album </a:t>
            </a:r>
            <a:r>
              <a:rPr lang="en-US" dirty="0" smtClean="0">
                <a:solidFill>
                  <a:srgbClr val="FF0000"/>
                </a:solidFill>
              </a:rPr>
              <a:t>totally </a:t>
            </a:r>
            <a:r>
              <a:rPr lang="en-US" dirty="0" smtClean="0"/>
              <a:t>participating.</a:t>
            </a:r>
            <a:endParaRPr lang="en-US" dirty="0" smtClean="0"/>
          </a:p>
          <a:p>
            <a:pPr lvl="1"/>
            <a:r>
              <a:rPr lang="en-US" dirty="0" smtClean="0"/>
              <a:t>No </a:t>
            </a:r>
            <a:r>
              <a:rPr lang="en-US" dirty="0"/>
              <a:t>schema is needed for relationship “produces”, with the </a:t>
            </a:r>
            <a:r>
              <a:rPr lang="en-US" dirty="0" err="1"/>
              <a:t>ssn</a:t>
            </a:r>
            <a:r>
              <a:rPr lang="en-US" dirty="0"/>
              <a:t> (key for musician) appearing in the table album. </a:t>
            </a:r>
            <a:endParaRPr lang="en-US" dirty="0" smtClean="0"/>
          </a:p>
          <a:p>
            <a:pPr lvl="1"/>
            <a:r>
              <a:rPr lang="en-US" dirty="0"/>
              <a:t>album = (</a:t>
            </a:r>
            <a:r>
              <a:rPr lang="en-US" u="sng" dirty="0"/>
              <a:t>aid</a:t>
            </a:r>
            <a:r>
              <a:rPr lang="en-US" dirty="0"/>
              <a:t>, </a:t>
            </a:r>
            <a:r>
              <a:rPr lang="en-US" dirty="0" err="1"/>
              <a:t>atitle</a:t>
            </a:r>
            <a:r>
              <a:rPr lang="en-US" dirty="0"/>
              <a:t>, </a:t>
            </a:r>
            <a:r>
              <a:rPr lang="en-US" dirty="0" err="1"/>
              <a:t>crdate</a:t>
            </a:r>
            <a:r>
              <a:rPr lang="en-US" dirty="0"/>
              <a:t>, format, </a:t>
            </a:r>
            <a:r>
              <a:rPr lang="en-US" dirty="0" err="1">
                <a:solidFill>
                  <a:srgbClr val="FF0000"/>
                </a:solidFill>
              </a:rPr>
              <a:t>ssn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74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801" y="413430"/>
            <a:ext cx="2502029" cy="20321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5B8C2FD5-6908-4EBE-A418-FD3C2E802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571" y="365125"/>
            <a:ext cx="7215130" cy="839561"/>
          </a:xfrm>
        </p:spPr>
        <p:txBody>
          <a:bodyPr/>
          <a:lstStyle/>
          <a:p>
            <a:r>
              <a:rPr lang="en-US" dirty="0"/>
              <a:t>Schema Exercise 3 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 txBox="1">
            <a:spLocks/>
          </p:cNvSpPr>
          <p:nvPr/>
        </p:nvSpPr>
        <p:spPr>
          <a:xfrm>
            <a:off x="262956" y="1396093"/>
            <a:ext cx="7382444" cy="1229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“Each (</a:t>
            </a:r>
            <a:r>
              <a:rPr lang="en-US" dirty="0">
                <a:solidFill>
                  <a:srgbClr val="FF0000"/>
                </a:solidFill>
              </a:rPr>
              <a:t>one</a:t>
            </a:r>
            <a:r>
              <a:rPr lang="en-US" dirty="0"/>
              <a:t>) album has 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number of (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) songs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on it, but no song may appear on more than one album</a:t>
            </a:r>
            <a:r>
              <a:rPr lang="en-US" dirty="0" smtClean="0"/>
              <a:t>.”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="" xmlns:a16="http://schemas.microsoft.com/office/drawing/2014/main" id="{70D953C8-6022-4AF8-BC95-2558F6F3F625}"/>
              </a:ext>
            </a:extLst>
          </p:cNvPr>
          <p:cNvSpPr txBox="1">
            <a:spLocks/>
          </p:cNvSpPr>
          <p:nvPr/>
        </p:nvSpPr>
        <p:spPr>
          <a:xfrm>
            <a:off x="288356" y="2661990"/>
            <a:ext cx="11116244" cy="34086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/>
              <a:t>C</a:t>
            </a:r>
            <a:r>
              <a:rPr lang="en-US" dirty="0" smtClean="0"/>
              <a:t>ase </a:t>
            </a:r>
            <a:r>
              <a:rPr lang="en-US" dirty="0"/>
              <a:t>6 in Lecture 6; </a:t>
            </a:r>
            <a:r>
              <a:rPr lang="en-US" dirty="0" smtClean="0"/>
              <a:t>has a “</a:t>
            </a:r>
            <a:r>
              <a:rPr lang="en-US" dirty="0" smtClean="0">
                <a:solidFill>
                  <a:srgbClr val="FF0000"/>
                </a:solidFill>
              </a:rPr>
              <a:t>one</a:t>
            </a:r>
            <a:r>
              <a:rPr lang="en-US" dirty="0" smtClean="0"/>
              <a:t>” and the </a:t>
            </a:r>
            <a:r>
              <a:rPr lang="en-US" dirty="0"/>
              <a:t>“</a:t>
            </a:r>
            <a:r>
              <a:rPr lang="en-US" dirty="0">
                <a:solidFill>
                  <a:srgbClr val="FF0000"/>
                </a:solidFill>
              </a:rPr>
              <a:t>many</a:t>
            </a:r>
            <a:r>
              <a:rPr lang="en-US" dirty="0"/>
              <a:t>” entity </a:t>
            </a:r>
            <a:r>
              <a:rPr lang="en-US" dirty="0" smtClean="0"/>
              <a:t>song </a:t>
            </a:r>
            <a:r>
              <a:rPr lang="en-US" dirty="0">
                <a:solidFill>
                  <a:srgbClr val="FF0000"/>
                </a:solidFill>
              </a:rPr>
              <a:t>partially</a:t>
            </a:r>
            <a:r>
              <a:rPr lang="en-US" dirty="0"/>
              <a:t> participating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Need a schema </a:t>
            </a:r>
            <a:r>
              <a:rPr lang="en-US" dirty="0" smtClean="0"/>
              <a:t>for </a:t>
            </a:r>
            <a:r>
              <a:rPr lang="en-US" dirty="0"/>
              <a:t>appears = (</a:t>
            </a:r>
            <a:r>
              <a:rPr lang="en-US" dirty="0" err="1"/>
              <a:t>sid</a:t>
            </a:r>
            <a:r>
              <a:rPr lang="en-US" dirty="0"/>
              <a:t>, aid)</a:t>
            </a:r>
          </a:p>
          <a:p>
            <a:pPr lvl="1"/>
            <a:r>
              <a:rPr lang="en-US" dirty="0"/>
              <a:t>If we try	song = (</a:t>
            </a:r>
            <a:r>
              <a:rPr lang="en-US" dirty="0" err="1"/>
              <a:t>sid</a:t>
            </a:r>
            <a:r>
              <a:rPr lang="en-US" dirty="0"/>
              <a:t>, </a:t>
            </a:r>
            <a:r>
              <a:rPr lang="en-US" dirty="0" err="1"/>
              <a:t>stitle</a:t>
            </a:r>
            <a:r>
              <a:rPr lang="en-US" dirty="0"/>
              <a:t>, author, aid)	as we did in case 7, some row </a:t>
            </a:r>
            <a:r>
              <a:rPr lang="en-US" dirty="0" smtClean="0"/>
              <a:t>may </a:t>
            </a:r>
            <a:r>
              <a:rPr lang="en-US" dirty="0"/>
              <a:t>have a null value for aid (foreign key) if that song is not in any album</a:t>
            </a:r>
            <a:r>
              <a:rPr lang="en-US" dirty="0" smtClean="0"/>
              <a:t>.</a:t>
            </a:r>
          </a:p>
          <a:p>
            <a:endParaRPr lang="en-US" sz="800" dirty="0"/>
          </a:p>
          <a:p>
            <a:r>
              <a:rPr lang="en-US" dirty="0" smtClean="0"/>
              <a:t>Piece together “musician produces album” with “song appears album”.</a:t>
            </a:r>
          </a:p>
          <a:p>
            <a:r>
              <a:rPr lang="en-US" dirty="0" smtClean="0"/>
              <a:t>Then add in “musician perform song”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93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5CF740F5-F720-490F-80FB-2FD6E2FC9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itchFamily="2" charset="-122"/>
              </a:rPr>
              <a:t>Summary of ER Diagram Design</a:t>
            </a:r>
            <a:endParaRPr lang="zh-CN" altLang="en-US" dirty="0"/>
          </a:p>
        </p:txBody>
      </p:sp>
      <p:sp>
        <p:nvSpPr>
          <p:cNvPr id="13" name="矩形 12">
            <a:hlinkClick r:id="" action="ppaction://noaction"/>
            <a:extLst>
              <a:ext uri="{FF2B5EF4-FFF2-40B4-BE49-F238E27FC236}">
                <a16:creationId xmlns="" xmlns:a16="http://schemas.microsoft.com/office/drawing/2014/main" id="{7AF88F3A-D700-427E-BAE4-7C8331FFB359}"/>
              </a:ext>
            </a:extLst>
          </p:cNvPr>
          <p:cNvSpPr/>
          <p:nvPr/>
        </p:nvSpPr>
        <p:spPr>
          <a:xfrm>
            <a:off x="15240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Modeling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矩形 13">
            <a:hlinkClick r:id="" action="ppaction://noaction"/>
            <a:extLst>
              <a:ext uri="{FF2B5EF4-FFF2-40B4-BE49-F238E27FC236}">
                <a16:creationId xmlns="" xmlns:a16="http://schemas.microsoft.com/office/drawing/2014/main" id="{F9E20F86-8C42-4B3B-ACDB-EA5FD16F71A3}"/>
              </a:ext>
            </a:extLst>
          </p:cNvPr>
          <p:cNvSpPr/>
          <p:nvPr/>
        </p:nvSpPr>
        <p:spPr>
          <a:xfrm>
            <a:off x="25336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矩形 14">
            <a:hlinkClick r:id="" action="ppaction://noaction"/>
            <a:extLst>
              <a:ext uri="{FF2B5EF4-FFF2-40B4-BE49-F238E27FC236}">
                <a16:creationId xmlns="" xmlns:a16="http://schemas.microsoft.com/office/drawing/2014/main" id="{F136C49E-85D2-45B7-BB18-D140A07D0A34}"/>
              </a:ext>
            </a:extLst>
          </p:cNvPr>
          <p:cNvSpPr/>
          <p:nvPr/>
        </p:nvSpPr>
        <p:spPr>
          <a:xfrm>
            <a:off x="354330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Model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15">
            <a:hlinkClick r:id="" action="ppaction://noaction"/>
            <a:extLst>
              <a:ext uri="{FF2B5EF4-FFF2-40B4-BE49-F238E27FC236}">
                <a16:creationId xmlns="" xmlns:a16="http://schemas.microsoft.com/office/drawing/2014/main" id="{68783B5D-D60F-4C53-ABC8-ED661E890E51}"/>
              </a:ext>
            </a:extLst>
          </p:cNvPr>
          <p:cNvSpPr/>
          <p:nvPr/>
        </p:nvSpPr>
        <p:spPr>
          <a:xfrm>
            <a:off x="4552950" y="-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16">
            <a:hlinkClick r:id="" action="ppaction://noaction"/>
            <a:extLst>
              <a:ext uri="{FF2B5EF4-FFF2-40B4-BE49-F238E27FC236}">
                <a16:creationId xmlns="" xmlns:a16="http://schemas.microsoft.com/office/drawing/2014/main" id="{A6F9743A-3816-4A03-B0E4-03A0E8757B07}"/>
              </a:ext>
            </a:extLst>
          </p:cNvPr>
          <p:cNvSpPr/>
          <p:nvPr/>
        </p:nvSpPr>
        <p:spPr>
          <a:xfrm>
            <a:off x="55626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Extended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>
            <a:hlinkClick r:id="" action="ppaction://noaction"/>
            <a:extLst>
              <a:ext uri="{FF2B5EF4-FFF2-40B4-BE49-F238E27FC236}">
                <a16:creationId xmlns="" xmlns:a16="http://schemas.microsoft.com/office/drawing/2014/main" id="{6592AE57-2C68-4265-971F-22D741F1ADDC}"/>
              </a:ext>
            </a:extLst>
          </p:cNvPr>
          <p:cNvSpPr/>
          <p:nvPr/>
        </p:nvSpPr>
        <p:spPr>
          <a:xfrm>
            <a:off x="65722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Issue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矩形 18">
            <a:hlinkClick r:id="" action="ppaction://noaction"/>
            <a:extLst>
              <a:ext uri="{FF2B5EF4-FFF2-40B4-BE49-F238E27FC236}">
                <a16:creationId xmlns="" xmlns:a16="http://schemas.microsoft.com/office/drawing/2014/main" id="{1B96678A-2BC9-4412-92CE-E06D003359C9}"/>
              </a:ext>
            </a:extLst>
          </p:cNvPr>
          <p:cNvSpPr/>
          <p:nvPr/>
        </p:nvSpPr>
        <p:spPr>
          <a:xfrm>
            <a:off x="7581900" y="2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Tech</a:t>
            </a:r>
            <a:endParaRPr lang="zh-CN" altLang="en-US" sz="10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矩形 19">
            <a:hlinkClick r:id="" action="ppaction://noaction"/>
            <a:extLst>
              <a:ext uri="{FF2B5EF4-FFF2-40B4-BE49-F238E27FC236}">
                <a16:creationId xmlns="" xmlns:a16="http://schemas.microsoft.com/office/drawing/2014/main" id="{6C3CC5FB-D3FC-4D93-A811-84F4D70AD59F}"/>
              </a:ext>
            </a:extLst>
          </p:cNvPr>
          <p:cNvSpPr/>
          <p:nvPr/>
        </p:nvSpPr>
        <p:spPr>
          <a:xfrm>
            <a:off x="8591550" y="1"/>
            <a:ext cx="100965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Practice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矩形 20">
            <a:hlinkClick r:id="" action="ppaction://noaction"/>
            <a:extLst>
              <a:ext uri="{FF2B5EF4-FFF2-40B4-BE49-F238E27FC236}">
                <a16:creationId xmlns="" xmlns:a16="http://schemas.microsoft.com/office/drawing/2014/main" id="{C5331E20-40E2-448C-94B6-A40A27BA0294}"/>
              </a:ext>
            </a:extLst>
          </p:cNvPr>
          <p:cNvSpPr/>
          <p:nvPr/>
        </p:nvSpPr>
        <p:spPr>
          <a:xfrm>
            <a:off x="9601200" y="-2"/>
            <a:ext cx="1066800" cy="314361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r>
              <a:rPr lang="en-US" altLang="zh-CN" sz="10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Schema</a:t>
            </a:r>
            <a:endParaRPr lang="zh-CN" altLang="en-US" sz="1000" dirty="0">
              <a:solidFill>
                <a:srgbClr val="FFFFFF">
                  <a:lumMod val="50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="" xmlns:a16="http://schemas.microsoft.com/office/drawing/2014/main" id="{93DA26BE-5D13-4CBD-BB27-CD213C46EF7F}"/>
              </a:ext>
            </a:extLst>
          </p:cNvPr>
          <p:cNvSpPr/>
          <p:nvPr/>
        </p:nvSpPr>
        <p:spPr>
          <a:xfrm>
            <a:off x="2619595" y="1588553"/>
            <a:ext cx="37434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="" xmlns:a16="http://schemas.microsoft.com/office/drawing/2014/main" id="{6D351283-F7CC-402F-A7BD-FA7AFD519189}"/>
              </a:ext>
            </a:extLst>
          </p:cNvPr>
          <p:cNvGrpSpPr/>
          <p:nvPr/>
        </p:nvGrpSpPr>
        <p:grpSpPr>
          <a:xfrm>
            <a:off x="5130424" y="1463892"/>
            <a:ext cx="550463" cy="550463"/>
            <a:chOff x="5578646" y="5157139"/>
            <a:chExt cx="1040454" cy="1040454"/>
          </a:xfrm>
        </p:grpSpPr>
        <p:sp>
          <p:nvSpPr>
            <p:cNvPr id="26" name="菱形 25">
              <a:extLst>
                <a:ext uri="{FF2B5EF4-FFF2-40B4-BE49-F238E27FC236}">
                  <a16:creationId xmlns="" xmlns:a16="http://schemas.microsoft.com/office/drawing/2014/main" id="{C0DC76B3-58D4-491A-BC14-C0A83F8EAFE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="" xmlns:a16="http://schemas.microsoft.com/office/drawing/2014/main" id="{8F21A4CA-B9C1-4D26-AD3B-30DC2B3DBA4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" name="文本框 35">
            <a:extLst>
              <a:ext uri="{FF2B5EF4-FFF2-40B4-BE49-F238E27FC236}">
                <a16:creationId xmlns="" xmlns:a16="http://schemas.microsoft.com/office/drawing/2014/main" id="{C917966D-0057-4D42-B1D5-75FFCFBB751D}"/>
              </a:ext>
            </a:extLst>
          </p:cNvPr>
          <p:cNvSpPr txBox="1"/>
          <p:nvPr/>
        </p:nvSpPr>
        <p:spPr>
          <a:xfrm>
            <a:off x="3614098" y="1588553"/>
            <a:ext cx="90120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="" xmlns:a16="http://schemas.microsoft.com/office/drawing/2014/main" id="{6DFD521B-09D2-4382-B8F6-5857EE963CB3}"/>
              </a:ext>
            </a:extLst>
          </p:cNvPr>
          <p:cNvSpPr/>
          <p:nvPr/>
        </p:nvSpPr>
        <p:spPr>
          <a:xfrm>
            <a:off x="7824030" y="1572067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="" xmlns:a16="http://schemas.microsoft.com/office/drawing/2014/main" id="{BC0C16E6-49E6-4A40-BBB7-4EBC7893807F}"/>
              </a:ext>
            </a:extLst>
          </p:cNvPr>
          <p:cNvSpPr txBox="1"/>
          <p:nvPr/>
        </p:nvSpPr>
        <p:spPr>
          <a:xfrm>
            <a:off x="5981810" y="1585234"/>
            <a:ext cx="1388522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277F3B9F-F74E-4AD3-9507-53E1C262AABF}"/>
              </a:ext>
            </a:extLst>
          </p:cNvPr>
          <p:cNvSpPr/>
          <p:nvPr/>
        </p:nvSpPr>
        <p:spPr>
          <a:xfrm>
            <a:off x="2612938" y="2280989"/>
            <a:ext cx="374343" cy="307777"/>
          </a:xfrm>
          <a:prstGeom prst="rect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="" xmlns:a16="http://schemas.microsoft.com/office/drawing/2014/main" id="{784A8C81-E56A-46AB-8A2C-EFFB8E45D4DA}"/>
              </a:ext>
            </a:extLst>
          </p:cNvPr>
          <p:cNvSpPr txBox="1"/>
          <p:nvPr/>
        </p:nvSpPr>
        <p:spPr>
          <a:xfrm>
            <a:off x="3607440" y="2280989"/>
            <a:ext cx="1369286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weak entity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="" xmlns:a16="http://schemas.microsoft.com/office/drawing/2014/main" id="{E3106681-CD66-45D5-B94D-46069BF0A0EF}"/>
              </a:ext>
            </a:extLst>
          </p:cNvPr>
          <p:cNvGrpSpPr/>
          <p:nvPr/>
        </p:nvGrpSpPr>
        <p:grpSpPr>
          <a:xfrm>
            <a:off x="5130424" y="2191284"/>
            <a:ext cx="550463" cy="550463"/>
            <a:chOff x="5578646" y="5157139"/>
            <a:chExt cx="1040454" cy="1040454"/>
          </a:xfrm>
        </p:grpSpPr>
        <p:sp>
          <p:nvSpPr>
            <p:cNvPr id="41" name="菱形 40">
              <a:extLst>
                <a:ext uri="{FF2B5EF4-FFF2-40B4-BE49-F238E27FC236}">
                  <a16:creationId xmlns="" xmlns:a16="http://schemas.microsoft.com/office/drawing/2014/main" id="{BC780BFB-CF05-4A86-AE58-13F643CEC56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 w="34925" cmpd="dbl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="" xmlns:a16="http://schemas.microsoft.com/office/drawing/2014/main" id="{CE05839E-4DDC-462A-A40C-B9F0D3AEEA26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="" xmlns:a16="http://schemas.microsoft.com/office/drawing/2014/main" id="{EBE1C928-94BC-4AF3-BDEF-BD837C05B612}"/>
              </a:ext>
            </a:extLst>
          </p:cNvPr>
          <p:cNvSpPr txBox="1"/>
          <p:nvPr/>
        </p:nvSpPr>
        <p:spPr>
          <a:xfrm>
            <a:off x="5981810" y="2204904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identifying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 set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="" xmlns:a16="http://schemas.microsoft.com/office/drawing/2014/main" id="{4BD2FEE4-3A1E-4385-91B2-16839A93BB23}"/>
              </a:ext>
            </a:extLst>
          </p:cNvPr>
          <p:cNvSpPr txBox="1"/>
          <p:nvPr/>
        </p:nvSpPr>
        <p:spPr>
          <a:xfrm>
            <a:off x="8627256" y="1588553"/>
            <a:ext cx="83067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椭圆 44">
            <a:extLst>
              <a:ext uri="{FF2B5EF4-FFF2-40B4-BE49-F238E27FC236}">
                <a16:creationId xmlns="" xmlns:a16="http://schemas.microsoft.com/office/drawing/2014/main" id="{82B5BF29-9DD7-4BB4-BFD5-7EDC2E21E2E8}"/>
              </a:ext>
            </a:extLst>
          </p:cNvPr>
          <p:cNvSpPr/>
          <p:nvPr/>
        </p:nvSpPr>
        <p:spPr>
          <a:xfrm>
            <a:off x="7824030" y="2282519"/>
            <a:ext cx="374343" cy="354072"/>
          </a:xfrm>
          <a:prstGeom prst="ellipse">
            <a:avLst/>
          </a:prstGeom>
          <a:noFill/>
          <a:ln w="34925" cmpd="dbl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="" xmlns:a16="http://schemas.microsoft.com/office/drawing/2014/main" id="{0163EE33-288C-4A6A-9BFC-0C605C0D873B}"/>
              </a:ext>
            </a:extLst>
          </p:cNvPr>
          <p:cNvSpPr txBox="1"/>
          <p:nvPr/>
        </p:nvSpPr>
        <p:spPr>
          <a:xfrm>
            <a:off x="8627256" y="2191283"/>
            <a:ext cx="109036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multivalued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="" xmlns:a16="http://schemas.microsoft.com/office/drawing/2014/main" id="{1618D895-47BD-4611-9984-45029BDE7E13}"/>
              </a:ext>
            </a:extLst>
          </p:cNvPr>
          <p:cNvSpPr/>
          <p:nvPr/>
        </p:nvSpPr>
        <p:spPr>
          <a:xfrm>
            <a:off x="7824030" y="3070883"/>
            <a:ext cx="374343" cy="354072"/>
          </a:xfrm>
          <a:prstGeom prst="ellipse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="" xmlns:a16="http://schemas.microsoft.com/office/drawing/2014/main" id="{5B1D5A68-950D-4DEF-835D-7B6FFC9490FC}"/>
              </a:ext>
            </a:extLst>
          </p:cNvPr>
          <p:cNvSpPr txBox="1"/>
          <p:nvPr/>
        </p:nvSpPr>
        <p:spPr>
          <a:xfrm>
            <a:off x="8627256" y="2979647"/>
            <a:ext cx="8306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derived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椭圆 48">
            <a:extLst>
              <a:ext uri="{FF2B5EF4-FFF2-40B4-BE49-F238E27FC236}">
                <a16:creationId xmlns="" xmlns:a16="http://schemas.microsoft.com/office/drawing/2014/main" id="{01D9302B-F524-4DE1-A4B9-5057EBABB21D}"/>
              </a:ext>
            </a:extLst>
          </p:cNvPr>
          <p:cNvSpPr/>
          <p:nvPr/>
        </p:nvSpPr>
        <p:spPr>
          <a:xfrm>
            <a:off x="7824030" y="3859247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zh-CN" altLang="en-US" sz="1400" i="1" u="s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="" xmlns:a16="http://schemas.microsoft.com/office/drawing/2014/main" id="{C74F44A6-59D6-4747-B872-AF0C2D34131A}"/>
              </a:ext>
            </a:extLst>
          </p:cNvPr>
          <p:cNvSpPr txBox="1"/>
          <p:nvPr/>
        </p:nvSpPr>
        <p:spPr>
          <a:xfrm>
            <a:off x="8627256" y="3875733"/>
            <a:ext cx="1109599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primary key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椭圆 50">
            <a:extLst>
              <a:ext uri="{FF2B5EF4-FFF2-40B4-BE49-F238E27FC236}">
                <a16:creationId xmlns="" xmlns:a16="http://schemas.microsoft.com/office/drawing/2014/main" id="{C3901E6C-82EC-4D10-992A-B038E46E6BFB}"/>
              </a:ext>
            </a:extLst>
          </p:cNvPr>
          <p:cNvSpPr/>
          <p:nvPr/>
        </p:nvSpPr>
        <p:spPr>
          <a:xfrm>
            <a:off x="7824030" y="4539690"/>
            <a:ext cx="374343" cy="354072"/>
          </a:xfrm>
          <a:prstGeom prst="ellipse">
            <a:avLst/>
          </a:prstGeom>
          <a:noFill/>
          <a:ln w="3175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8000" rIns="0" bIns="18000" rtlCol="0" anchor="ctr">
            <a:spAutoFit/>
          </a:bodyPr>
          <a:lstStyle/>
          <a:p>
            <a:pPr algn="ctr" defTabSz="457200"/>
            <a:r>
              <a:rPr lang="en-US" altLang="zh-CN" sz="1400" i="1" u="dashLo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endParaRPr lang="zh-CN" altLang="en-US" sz="1400" i="1" u="dashLong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="" xmlns:a16="http://schemas.microsoft.com/office/drawing/2014/main" id="{12F1E923-CE3C-47C5-94F7-6406C90666BE}"/>
              </a:ext>
            </a:extLst>
          </p:cNvPr>
          <p:cNvSpPr txBox="1"/>
          <p:nvPr/>
        </p:nvSpPr>
        <p:spPr>
          <a:xfrm>
            <a:off x="8627256" y="4556176"/>
            <a:ext cx="1199367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discriminator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3" name="组合 52">
            <a:extLst>
              <a:ext uri="{FF2B5EF4-FFF2-40B4-BE49-F238E27FC236}">
                <a16:creationId xmlns="" xmlns:a16="http://schemas.microsoft.com/office/drawing/2014/main" id="{8B03DC5F-76FF-4D5C-848F-1083E22D4E62}"/>
              </a:ext>
            </a:extLst>
          </p:cNvPr>
          <p:cNvGrpSpPr/>
          <p:nvPr/>
        </p:nvGrpSpPr>
        <p:grpSpPr>
          <a:xfrm>
            <a:off x="5130424" y="2968530"/>
            <a:ext cx="550463" cy="550463"/>
            <a:chOff x="5578646" y="5157139"/>
            <a:chExt cx="1040454" cy="1040454"/>
          </a:xfrm>
        </p:grpSpPr>
        <p:sp>
          <p:nvSpPr>
            <p:cNvPr id="54" name="菱形 53">
              <a:extLst>
                <a:ext uri="{FF2B5EF4-FFF2-40B4-BE49-F238E27FC236}">
                  <a16:creationId xmlns="" xmlns:a16="http://schemas.microsoft.com/office/drawing/2014/main" id="{60240726-CE61-4A2B-A07E-7D4AE3FCE26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文本框 54">
              <a:extLst>
                <a:ext uri="{FF2B5EF4-FFF2-40B4-BE49-F238E27FC236}">
                  <a16:creationId xmlns="" xmlns:a16="http://schemas.microsoft.com/office/drawing/2014/main" id="{0F8A008E-0D61-450F-8F8B-A720F28A4927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="" xmlns:a16="http://schemas.microsoft.com/office/drawing/2014/main" id="{1190F6B9-630D-46C5-A967-4B75C93CEF2C}"/>
              </a:ext>
            </a:extLst>
          </p:cNvPr>
          <p:cNvCxnSpPr>
            <a:stCxn id="54" idx="1"/>
          </p:cNvCxnSpPr>
          <p:nvPr/>
        </p:nvCxnSpPr>
        <p:spPr>
          <a:xfrm flipH="1" flipV="1">
            <a:off x="4910239" y="3241257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="" xmlns:a16="http://schemas.microsoft.com/office/drawing/2014/main" id="{0F85651A-D720-4143-AF04-2163E0EF33C8}"/>
              </a:ext>
            </a:extLst>
          </p:cNvPr>
          <p:cNvCxnSpPr/>
          <p:nvPr/>
        </p:nvCxnSpPr>
        <p:spPr>
          <a:xfrm flipH="1" flipV="1">
            <a:off x="5680887" y="3245415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="" xmlns:a16="http://schemas.microsoft.com/office/drawing/2014/main" id="{E5AD3D0F-02D8-4675-9A35-23F5D5F1C56B}"/>
              </a:ext>
            </a:extLst>
          </p:cNvPr>
          <p:cNvSpPr txBox="1"/>
          <p:nvPr/>
        </p:nvSpPr>
        <p:spPr>
          <a:xfrm>
            <a:off x="5981810" y="2963418"/>
            <a:ext cx="1388522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many-to-many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8" name="组合 57">
            <a:extLst>
              <a:ext uri="{FF2B5EF4-FFF2-40B4-BE49-F238E27FC236}">
                <a16:creationId xmlns="" xmlns:a16="http://schemas.microsoft.com/office/drawing/2014/main" id="{ED71C711-B3EE-456D-834B-2238101B2FB4}"/>
              </a:ext>
            </a:extLst>
          </p:cNvPr>
          <p:cNvGrpSpPr/>
          <p:nvPr/>
        </p:nvGrpSpPr>
        <p:grpSpPr>
          <a:xfrm>
            <a:off x="5130424" y="3721933"/>
            <a:ext cx="550463" cy="550463"/>
            <a:chOff x="5578646" y="5157139"/>
            <a:chExt cx="1040454" cy="1040454"/>
          </a:xfrm>
        </p:grpSpPr>
        <p:sp>
          <p:nvSpPr>
            <p:cNvPr id="59" name="菱形 58">
              <a:extLst>
                <a:ext uri="{FF2B5EF4-FFF2-40B4-BE49-F238E27FC236}">
                  <a16:creationId xmlns="" xmlns:a16="http://schemas.microsoft.com/office/drawing/2014/main" id="{68E12798-C6FD-4A3E-AFE5-0A20AD212BA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="" xmlns:a16="http://schemas.microsoft.com/office/drawing/2014/main" id="{174A9C71-FD4C-4257-B64E-3B4F647DDB74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1" name="直接连接符 60">
            <a:extLst>
              <a:ext uri="{FF2B5EF4-FFF2-40B4-BE49-F238E27FC236}">
                <a16:creationId xmlns="" xmlns:a16="http://schemas.microsoft.com/office/drawing/2014/main" id="{3B0452D8-F5F9-4A83-A719-9A23AE54CCCC}"/>
              </a:ext>
            </a:extLst>
          </p:cNvPr>
          <p:cNvCxnSpPr>
            <a:stCxn id="59" idx="1"/>
          </p:cNvCxnSpPr>
          <p:nvPr/>
        </p:nvCxnSpPr>
        <p:spPr>
          <a:xfrm flipH="1" flipV="1">
            <a:off x="4910239" y="3994660"/>
            <a:ext cx="220185" cy="25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="" xmlns:a16="http://schemas.microsoft.com/office/drawing/2014/main" id="{5617342A-E310-4F3A-97AF-B61763083D1D}"/>
              </a:ext>
            </a:extLst>
          </p:cNvPr>
          <p:cNvCxnSpPr/>
          <p:nvPr/>
        </p:nvCxnSpPr>
        <p:spPr>
          <a:xfrm flipH="1" flipV="1">
            <a:off x="5680887" y="3998818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="" xmlns:a16="http://schemas.microsoft.com/office/drawing/2014/main" id="{FD55059F-4A23-4E38-B608-8D66D3E2CD51}"/>
              </a:ext>
            </a:extLst>
          </p:cNvPr>
          <p:cNvSpPr txBox="1"/>
          <p:nvPr/>
        </p:nvSpPr>
        <p:spPr>
          <a:xfrm>
            <a:off x="5981811" y="3716821"/>
            <a:ext cx="1237839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4" name="组合 63">
            <a:extLst>
              <a:ext uri="{FF2B5EF4-FFF2-40B4-BE49-F238E27FC236}">
                <a16:creationId xmlns="" xmlns:a16="http://schemas.microsoft.com/office/drawing/2014/main" id="{A3AFB0AC-0781-44C5-B204-856BFD5B72A9}"/>
              </a:ext>
            </a:extLst>
          </p:cNvPr>
          <p:cNvGrpSpPr/>
          <p:nvPr/>
        </p:nvGrpSpPr>
        <p:grpSpPr>
          <a:xfrm>
            <a:off x="5130424" y="4425470"/>
            <a:ext cx="550463" cy="550463"/>
            <a:chOff x="5578646" y="5157139"/>
            <a:chExt cx="1040454" cy="1040454"/>
          </a:xfrm>
        </p:grpSpPr>
        <p:sp>
          <p:nvSpPr>
            <p:cNvPr id="65" name="菱形 64">
              <a:extLst>
                <a:ext uri="{FF2B5EF4-FFF2-40B4-BE49-F238E27FC236}">
                  <a16:creationId xmlns="" xmlns:a16="http://schemas.microsoft.com/office/drawing/2014/main" id="{CC48A84E-E51D-4659-A946-97B400611C3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78646" y="5157139"/>
              <a:ext cx="1040454" cy="1040454"/>
            </a:xfrm>
            <a:prstGeom prst="diamond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noAutofit/>
            </a:bodyPr>
            <a:lstStyle/>
            <a:p>
              <a:pPr algn="ctr" defTabSz="457200">
                <a:lnSpc>
                  <a:spcPct val="50000"/>
                </a:lnSpc>
              </a:pP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文本框 65">
              <a:extLst>
                <a:ext uri="{FF2B5EF4-FFF2-40B4-BE49-F238E27FC236}">
                  <a16:creationId xmlns="" xmlns:a16="http://schemas.microsoft.com/office/drawing/2014/main" id="{9FC0C16E-0FB8-43F6-B02E-243BAE8737D2}"/>
                </a:ext>
              </a:extLst>
            </p:cNvPr>
            <p:cNvSpPr txBox="1"/>
            <p:nvPr/>
          </p:nvSpPr>
          <p:spPr>
            <a:xfrm>
              <a:off x="5820008" y="5406593"/>
              <a:ext cx="594469" cy="581743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</a:t>
              </a:r>
              <a:endParaRPr kumimoji="1"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67" name="直接连接符 66">
            <a:extLst>
              <a:ext uri="{FF2B5EF4-FFF2-40B4-BE49-F238E27FC236}">
                <a16:creationId xmlns="" xmlns:a16="http://schemas.microsoft.com/office/drawing/2014/main" id="{05F7BD41-4153-46AC-AA3B-93BE08286DA0}"/>
              </a:ext>
            </a:extLst>
          </p:cNvPr>
          <p:cNvCxnSpPr>
            <a:stCxn id="65" idx="1"/>
          </p:cNvCxnSpPr>
          <p:nvPr/>
        </p:nvCxnSpPr>
        <p:spPr>
          <a:xfrm flipH="1" flipV="1">
            <a:off x="4910239" y="4698197"/>
            <a:ext cx="220185" cy="2504"/>
          </a:xfrm>
          <a:prstGeom prst="line">
            <a:avLst/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="" xmlns:a16="http://schemas.microsoft.com/office/drawing/2014/main" id="{BC7885A4-8AE5-48D4-9DC1-EEF8F6BB9FA7}"/>
              </a:ext>
            </a:extLst>
          </p:cNvPr>
          <p:cNvCxnSpPr/>
          <p:nvPr/>
        </p:nvCxnSpPr>
        <p:spPr>
          <a:xfrm flipH="1" flipV="1">
            <a:off x="5680887" y="4702355"/>
            <a:ext cx="220185" cy="2504"/>
          </a:xfrm>
          <a:prstGeom prst="line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="" xmlns:a16="http://schemas.microsoft.com/office/drawing/2014/main" id="{8FC57332-0080-463E-96A4-EBA76E3E2450}"/>
              </a:ext>
            </a:extLst>
          </p:cNvPr>
          <p:cNvSpPr txBox="1"/>
          <p:nvPr/>
        </p:nvSpPr>
        <p:spPr>
          <a:xfrm>
            <a:off x="5981811" y="4420358"/>
            <a:ext cx="1099981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one-to-one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="" xmlns:a16="http://schemas.microsoft.com/office/drawing/2014/main" id="{3772424F-3156-47CC-BD55-DB846C8D5842}"/>
              </a:ext>
            </a:extLst>
          </p:cNvPr>
          <p:cNvGrpSpPr/>
          <p:nvPr/>
        </p:nvGrpSpPr>
        <p:grpSpPr>
          <a:xfrm>
            <a:off x="1994520" y="2936176"/>
            <a:ext cx="1504017" cy="550463"/>
            <a:chOff x="470519" y="2936175"/>
            <a:chExt cx="1504017" cy="550463"/>
          </a:xfrm>
        </p:grpSpPr>
        <p:grpSp>
          <p:nvGrpSpPr>
            <p:cNvPr id="70" name="组合 69">
              <a:extLst>
                <a:ext uri="{FF2B5EF4-FFF2-40B4-BE49-F238E27FC236}">
                  <a16:creationId xmlns="" xmlns:a16="http://schemas.microsoft.com/office/drawing/2014/main" id="{B545A23B-E9FD-487A-B920-D4D184B7B21E}"/>
                </a:ext>
              </a:extLst>
            </p:cNvPr>
            <p:cNvGrpSpPr/>
            <p:nvPr/>
          </p:nvGrpSpPr>
          <p:grpSpPr>
            <a:xfrm>
              <a:off x="470519" y="2936175"/>
              <a:ext cx="550463" cy="550463"/>
              <a:chOff x="5578646" y="5157139"/>
              <a:chExt cx="1040454" cy="1040454"/>
            </a:xfrm>
          </p:grpSpPr>
          <p:sp>
            <p:nvSpPr>
              <p:cNvPr id="71" name="菱形 70">
                <a:extLst>
                  <a:ext uri="{FF2B5EF4-FFF2-40B4-BE49-F238E27FC236}">
                    <a16:creationId xmlns="" xmlns:a16="http://schemas.microsoft.com/office/drawing/2014/main" id="{829C6498-0410-4028-BEC6-539C6371A2E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="" xmlns:a16="http://schemas.microsoft.com/office/drawing/2014/main" id="{C2776C50-FBBA-43A1-B2D4-F2F82A65C064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74" name="直接连接符 73">
              <a:extLst>
                <a:ext uri="{FF2B5EF4-FFF2-40B4-BE49-F238E27FC236}">
                  <a16:creationId xmlns="" xmlns:a16="http://schemas.microsoft.com/office/drawing/2014/main" id="{C9FE82DB-B258-4703-A236-E73A96A84F51}"/>
                </a:ext>
              </a:extLst>
            </p:cNvPr>
            <p:cNvCxnSpPr>
              <a:cxnSpLocks/>
              <a:stCxn id="75" idx="1"/>
              <a:endCxn id="71" idx="3"/>
            </p:cNvCxnSpPr>
            <p:nvPr/>
          </p:nvCxnSpPr>
          <p:spPr>
            <a:xfrm flipH="1">
              <a:off x="1020982" y="3211406"/>
              <a:ext cx="579211" cy="1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矩形 74">
              <a:extLst>
                <a:ext uri="{FF2B5EF4-FFF2-40B4-BE49-F238E27FC236}">
                  <a16:creationId xmlns="" xmlns:a16="http://schemas.microsoft.com/office/drawing/2014/main" id="{256B4B5E-D11F-416D-AA6C-5051CEA11D15}"/>
                </a:ext>
              </a:extLst>
            </p:cNvPr>
            <p:cNvSpPr/>
            <p:nvPr/>
          </p:nvSpPr>
          <p:spPr>
            <a:xfrm>
              <a:off x="1600193" y="3057517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79" name="文本框 78">
            <a:extLst>
              <a:ext uri="{FF2B5EF4-FFF2-40B4-BE49-F238E27FC236}">
                <a16:creationId xmlns="" xmlns:a16="http://schemas.microsoft.com/office/drawing/2014/main" id="{DE4230CE-3A25-4EEC-B4C5-BEA3D07AB368}"/>
              </a:ext>
            </a:extLst>
          </p:cNvPr>
          <p:cNvSpPr txBox="1"/>
          <p:nvPr/>
        </p:nvSpPr>
        <p:spPr>
          <a:xfrm>
            <a:off x="3610323" y="2963162"/>
            <a:ext cx="1149674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participation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="" xmlns:a16="http://schemas.microsoft.com/office/drawing/2014/main" id="{0EA7E2B6-ABE0-4A1A-B0BD-50E9EDA07CCE}"/>
              </a:ext>
            </a:extLst>
          </p:cNvPr>
          <p:cNvSpPr txBox="1"/>
          <p:nvPr/>
        </p:nvSpPr>
        <p:spPr>
          <a:xfrm>
            <a:off x="3609654" y="3743808"/>
            <a:ext cx="990977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cardinality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limits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="" xmlns:a16="http://schemas.microsoft.com/office/drawing/2014/main" id="{C9820585-E054-4676-ABDE-DDAAADD974DA}"/>
              </a:ext>
            </a:extLst>
          </p:cNvPr>
          <p:cNvSpPr txBox="1"/>
          <p:nvPr/>
        </p:nvSpPr>
        <p:spPr>
          <a:xfrm>
            <a:off x="3613979" y="4443096"/>
            <a:ext cx="86113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</a:t>
            </a:r>
            <a:endParaRPr kumimoji="1" lang="zh-CN" altLang="en-US" sz="1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="" xmlns:a16="http://schemas.microsoft.com/office/drawing/2014/main" id="{3AB51E85-4F13-45D0-9ECD-846FAE1CBFC1}"/>
              </a:ext>
            </a:extLst>
          </p:cNvPr>
          <p:cNvGrpSpPr/>
          <p:nvPr/>
        </p:nvGrpSpPr>
        <p:grpSpPr>
          <a:xfrm>
            <a:off x="1993850" y="3716822"/>
            <a:ext cx="1504017" cy="550463"/>
            <a:chOff x="469849" y="3716821"/>
            <a:chExt cx="1504017" cy="550463"/>
          </a:xfrm>
        </p:grpSpPr>
        <p:grpSp>
          <p:nvGrpSpPr>
            <p:cNvPr id="81" name="组合 80">
              <a:extLst>
                <a:ext uri="{FF2B5EF4-FFF2-40B4-BE49-F238E27FC236}">
                  <a16:creationId xmlns="" xmlns:a16="http://schemas.microsoft.com/office/drawing/2014/main" id="{AC7FDC5A-3F65-4A2D-BC28-004AAC96D2EB}"/>
                </a:ext>
              </a:extLst>
            </p:cNvPr>
            <p:cNvGrpSpPr/>
            <p:nvPr/>
          </p:nvGrpSpPr>
          <p:grpSpPr>
            <a:xfrm>
              <a:off x="469849" y="3716821"/>
              <a:ext cx="550463" cy="550463"/>
              <a:chOff x="5578646" y="5157139"/>
              <a:chExt cx="1040454" cy="1040454"/>
            </a:xfrm>
          </p:grpSpPr>
          <p:sp>
            <p:nvSpPr>
              <p:cNvPr id="84" name="菱形 83">
                <a:extLst>
                  <a:ext uri="{FF2B5EF4-FFF2-40B4-BE49-F238E27FC236}">
                    <a16:creationId xmlns="" xmlns:a16="http://schemas.microsoft.com/office/drawing/2014/main" id="{252AD122-0FB9-4192-A9F2-050DE2DD9B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文本框 84">
                <a:extLst>
                  <a:ext uri="{FF2B5EF4-FFF2-40B4-BE49-F238E27FC236}">
                    <a16:creationId xmlns="" xmlns:a16="http://schemas.microsoft.com/office/drawing/2014/main" id="{A3CE1C1C-E682-407C-86CD-186F7DBEF81C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2" name="直接连接符 81">
              <a:extLst>
                <a:ext uri="{FF2B5EF4-FFF2-40B4-BE49-F238E27FC236}">
                  <a16:creationId xmlns="" xmlns:a16="http://schemas.microsoft.com/office/drawing/2014/main" id="{13C0AD70-2235-43D5-BD20-380BDCA01C92}"/>
                </a:ext>
              </a:extLst>
            </p:cNvPr>
            <p:cNvCxnSpPr>
              <a:cxnSpLocks/>
              <a:stCxn id="83" idx="1"/>
              <a:endCxn id="84" idx="3"/>
            </p:cNvCxnSpPr>
            <p:nvPr/>
          </p:nvCxnSpPr>
          <p:spPr>
            <a:xfrm flipH="1">
              <a:off x="1020312" y="3992052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矩形 82">
              <a:extLst>
                <a:ext uri="{FF2B5EF4-FFF2-40B4-BE49-F238E27FC236}">
                  <a16:creationId xmlns="" xmlns:a16="http://schemas.microsoft.com/office/drawing/2014/main" id="{DC8CC880-3589-4054-937F-9F22733505FB}"/>
                </a:ext>
              </a:extLst>
            </p:cNvPr>
            <p:cNvSpPr/>
            <p:nvPr/>
          </p:nvSpPr>
          <p:spPr>
            <a:xfrm>
              <a:off x="1599523" y="3838163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文本框 93">
              <a:extLst>
                <a:ext uri="{FF2B5EF4-FFF2-40B4-BE49-F238E27FC236}">
                  <a16:creationId xmlns="" xmlns:a16="http://schemas.microsoft.com/office/drawing/2014/main" id="{54E89B1A-765C-48F8-8585-8AE89CDD20AE}"/>
                </a:ext>
              </a:extLst>
            </p:cNvPr>
            <p:cNvSpPr txBox="1"/>
            <p:nvPr/>
          </p:nvSpPr>
          <p:spPr>
            <a:xfrm>
              <a:off x="1027718" y="3721843"/>
              <a:ext cx="482824" cy="307777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1..h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组合 97">
            <a:extLst>
              <a:ext uri="{FF2B5EF4-FFF2-40B4-BE49-F238E27FC236}">
                <a16:creationId xmlns="" xmlns:a16="http://schemas.microsoft.com/office/drawing/2014/main" id="{6F468FCB-4963-4B81-A788-40DEA991E837}"/>
              </a:ext>
            </a:extLst>
          </p:cNvPr>
          <p:cNvGrpSpPr/>
          <p:nvPr/>
        </p:nvGrpSpPr>
        <p:grpSpPr>
          <a:xfrm>
            <a:off x="1998175" y="4416050"/>
            <a:ext cx="1504017" cy="550523"/>
            <a:chOff x="474174" y="4416049"/>
            <a:chExt cx="1504017" cy="550523"/>
          </a:xfrm>
        </p:grpSpPr>
        <p:grpSp>
          <p:nvGrpSpPr>
            <p:cNvPr id="88" name="组合 87">
              <a:extLst>
                <a:ext uri="{FF2B5EF4-FFF2-40B4-BE49-F238E27FC236}">
                  <a16:creationId xmlns="" xmlns:a16="http://schemas.microsoft.com/office/drawing/2014/main" id="{1353819A-FB42-4952-88B5-5FE07FF2DFD3}"/>
                </a:ext>
              </a:extLst>
            </p:cNvPr>
            <p:cNvGrpSpPr/>
            <p:nvPr/>
          </p:nvGrpSpPr>
          <p:grpSpPr>
            <a:xfrm>
              <a:off x="474174" y="4416109"/>
              <a:ext cx="550463" cy="550463"/>
              <a:chOff x="5578646" y="5157139"/>
              <a:chExt cx="1040454" cy="1040454"/>
            </a:xfrm>
          </p:grpSpPr>
          <p:sp>
            <p:nvSpPr>
              <p:cNvPr id="91" name="菱形 90">
                <a:extLst>
                  <a:ext uri="{FF2B5EF4-FFF2-40B4-BE49-F238E27FC236}">
                    <a16:creationId xmlns="" xmlns:a16="http://schemas.microsoft.com/office/drawing/2014/main" id="{A9D89F97-FE6B-415D-BB16-51572E9E59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578646" y="5157139"/>
                <a:ext cx="1040454" cy="1040454"/>
              </a:xfrm>
              <a:prstGeom prst="diamond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noAutofit/>
              </a:bodyPr>
              <a:lstStyle/>
              <a:p>
                <a:pPr algn="ctr" defTabSz="457200">
                  <a:lnSpc>
                    <a:spcPct val="50000"/>
                  </a:lnSpc>
                </a:pPr>
                <a:endParaRPr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2" name="文本框 91">
                <a:extLst>
                  <a:ext uri="{FF2B5EF4-FFF2-40B4-BE49-F238E27FC236}">
                    <a16:creationId xmlns="" xmlns:a16="http://schemas.microsoft.com/office/drawing/2014/main" id="{B97EC29E-E5ED-4CD0-8216-30883A4F1675}"/>
                  </a:ext>
                </a:extLst>
              </p:cNvPr>
              <p:cNvSpPr txBox="1"/>
              <p:nvPr/>
            </p:nvSpPr>
            <p:spPr>
              <a:xfrm>
                <a:off x="5820008" y="5406593"/>
                <a:ext cx="594469" cy="581743"/>
              </a:xfrm>
              <a:prstGeom prst="rect">
                <a:avLst/>
              </a:prstGeom>
              <a:ln>
                <a:noFill/>
              </a:ln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i="1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</a:t>
                </a:r>
                <a:endParaRPr kumimoji="1" lang="zh-CN" altLang="en-US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89" name="直接连接符 88">
              <a:extLst>
                <a:ext uri="{FF2B5EF4-FFF2-40B4-BE49-F238E27FC236}">
                  <a16:creationId xmlns="" xmlns:a16="http://schemas.microsoft.com/office/drawing/2014/main" id="{DDBC077D-A282-4B2A-A0CA-193880130457}"/>
                </a:ext>
              </a:extLst>
            </p:cNvPr>
            <p:cNvCxnSpPr>
              <a:cxnSpLocks/>
              <a:stCxn id="90" idx="1"/>
              <a:endCxn id="91" idx="3"/>
            </p:cNvCxnSpPr>
            <p:nvPr/>
          </p:nvCxnSpPr>
          <p:spPr>
            <a:xfrm flipH="1">
              <a:off x="1024637" y="4691340"/>
              <a:ext cx="579211" cy="1"/>
            </a:xfrm>
            <a:prstGeom prst="line">
              <a:avLst/>
            </a:prstGeom>
            <a:ln w="6350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矩形 89">
              <a:extLst>
                <a:ext uri="{FF2B5EF4-FFF2-40B4-BE49-F238E27FC236}">
                  <a16:creationId xmlns="" xmlns:a16="http://schemas.microsoft.com/office/drawing/2014/main" id="{F768F09F-F1F8-4A05-9C61-6809B3927E14}"/>
                </a:ext>
              </a:extLst>
            </p:cNvPr>
            <p:cNvSpPr/>
            <p:nvPr/>
          </p:nvSpPr>
          <p:spPr>
            <a:xfrm>
              <a:off x="1603848" y="4537451"/>
              <a:ext cx="374343" cy="30777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pAutoFit/>
            </a:bodyPr>
            <a:lstStyle/>
            <a:p>
              <a:pPr algn="ctr" defTabSz="457200"/>
              <a:r>
                <a:rPr lang="en-US" altLang="zh-CN" sz="1400" i="1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</a:t>
              </a:r>
              <a:endParaRPr lang="zh-CN" altLang="en-US" sz="1400" i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文本框 94">
              <a:extLst>
                <a:ext uri="{FF2B5EF4-FFF2-40B4-BE49-F238E27FC236}">
                  <a16:creationId xmlns="" xmlns:a16="http://schemas.microsoft.com/office/drawing/2014/main" id="{27FCB26B-90F6-4407-BC2A-0B884E94CDCF}"/>
                </a:ext>
              </a:extLst>
            </p:cNvPr>
            <p:cNvSpPr txBox="1"/>
            <p:nvPr/>
          </p:nvSpPr>
          <p:spPr>
            <a:xfrm>
              <a:off x="1010464" y="4416049"/>
              <a:ext cx="631904" cy="523220"/>
            </a:xfrm>
            <a:prstGeom prst="rect">
              <a:avLst/>
            </a:prstGeom>
            <a:ln>
              <a:noFill/>
            </a:ln>
          </p:spPr>
          <p:txBody>
            <a:bodyPr vert="horz" wrap="none" lIns="91440" tIns="45720" rIns="91440" bIns="45720" rtlCol="0" anchor="ctr">
              <a:spAutoFit/>
            </a:bodyPr>
            <a:lstStyle/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role </a:t>
              </a:r>
            </a:p>
            <a:p>
              <a:pPr defTabSz="457200"/>
              <a:r>
                <a:rPr kumimoji="1" lang="en-US" altLang="zh-CN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name</a:t>
              </a:r>
              <a:endParaRPr kumimoji="1" lang="zh-CN" altLang="en-US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="" xmlns:a16="http://schemas.microsoft.com/office/drawing/2014/main" id="{4F8413C2-F62D-49B7-A244-26326F13A5C4}"/>
              </a:ext>
            </a:extLst>
          </p:cNvPr>
          <p:cNvGrpSpPr/>
          <p:nvPr/>
        </p:nvGrpSpPr>
        <p:grpSpPr>
          <a:xfrm>
            <a:off x="2469637" y="5186393"/>
            <a:ext cx="667081" cy="1047774"/>
            <a:chOff x="945636" y="5186393"/>
            <a:chExt cx="667081" cy="1047774"/>
          </a:xfrm>
        </p:grpSpPr>
        <p:grpSp>
          <p:nvGrpSpPr>
            <p:cNvPr id="99" name="组合 98">
              <a:extLst>
                <a:ext uri="{FF2B5EF4-FFF2-40B4-BE49-F238E27FC236}">
                  <a16:creationId xmlns="" xmlns:a16="http://schemas.microsoft.com/office/drawing/2014/main" id="{CC72B9CB-62F7-4356-AF67-4C083DAB592A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00" name="等腰三角形 99">
                <a:extLst>
                  <a:ext uri="{FF2B5EF4-FFF2-40B4-BE49-F238E27FC236}">
                    <a16:creationId xmlns="" xmlns:a16="http://schemas.microsoft.com/office/drawing/2014/main" id="{D7324F69-4DE0-4754-BE0E-E037438D93A8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01" name="文本框 100">
                <a:extLst>
                  <a:ext uri="{FF2B5EF4-FFF2-40B4-BE49-F238E27FC236}">
                    <a16:creationId xmlns="" xmlns:a16="http://schemas.microsoft.com/office/drawing/2014/main" id="{A6497611-B308-4EC2-B129-024559660C94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03" name="直接连接符 102">
              <a:extLst>
                <a:ext uri="{FF2B5EF4-FFF2-40B4-BE49-F238E27FC236}">
                  <a16:creationId xmlns="" xmlns:a16="http://schemas.microsoft.com/office/drawing/2014/main" id="{F162D8EB-7B4F-4C81-A446-C80DFFE60630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>
              <a:extLst>
                <a:ext uri="{FF2B5EF4-FFF2-40B4-BE49-F238E27FC236}">
                  <a16:creationId xmlns="" xmlns:a16="http://schemas.microsoft.com/office/drawing/2014/main" id="{76BC99FB-2CF4-4104-9B90-E7ADC8C06F2F}"/>
                </a:ext>
              </a:extLst>
            </p:cNvPr>
            <p:cNvCxnSpPr>
              <a:cxnSpLocks/>
              <a:endCxn id="100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1" name="文本框 110">
            <a:extLst>
              <a:ext uri="{FF2B5EF4-FFF2-40B4-BE49-F238E27FC236}">
                <a16:creationId xmlns="" xmlns:a16="http://schemas.microsoft.com/office/drawing/2014/main" id="{E6A5210B-DADD-4D8C-A0A0-4A63BE15FB4A}"/>
              </a:ext>
            </a:extLst>
          </p:cNvPr>
          <p:cNvSpPr txBox="1"/>
          <p:nvPr/>
        </p:nvSpPr>
        <p:spPr>
          <a:xfrm>
            <a:off x="3613978" y="5434636"/>
            <a:ext cx="474810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ISA</a:t>
            </a:r>
          </a:p>
        </p:txBody>
      </p:sp>
      <p:grpSp>
        <p:nvGrpSpPr>
          <p:cNvPr id="113" name="组合 112">
            <a:extLst>
              <a:ext uri="{FF2B5EF4-FFF2-40B4-BE49-F238E27FC236}">
                <a16:creationId xmlns="" xmlns:a16="http://schemas.microsoft.com/office/drawing/2014/main" id="{93BB2242-5BC9-4044-99AC-85ED9CD9C658}"/>
              </a:ext>
            </a:extLst>
          </p:cNvPr>
          <p:cNvGrpSpPr/>
          <p:nvPr/>
        </p:nvGrpSpPr>
        <p:grpSpPr>
          <a:xfrm>
            <a:off x="5090973" y="5184663"/>
            <a:ext cx="667081" cy="1047774"/>
            <a:chOff x="945636" y="5186393"/>
            <a:chExt cx="667081" cy="1047774"/>
          </a:xfrm>
        </p:grpSpPr>
        <p:grpSp>
          <p:nvGrpSpPr>
            <p:cNvPr id="114" name="组合 113">
              <a:extLst>
                <a:ext uri="{FF2B5EF4-FFF2-40B4-BE49-F238E27FC236}">
                  <a16:creationId xmlns="" xmlns:a16="http://schemas.microsoft.com/office/drawing/2014/main" id="{C2BE8B48-3CBF-4804-92A7-B3AA37F48D3E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17" name="等腰三角形 116">
                <a:extLst>
                  <a:ext uri="{FF2B5EF4-FFF2-40B4-BE49-F238E27FC236}">
                    <a16:creationId xmlns="" xmlns:a16="http://schemas.microsoft.com/office/drawing/2014/main" id="{72B9A6C3-F2D9-4F3F-9527-E75DF4B28BA4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18" name="文本框 117">
                <a:extLst>
                  <a:ext uri="{FF2B5EF4-FFF2-40B4-BE49-F238E27FC236}">
                    <a16:creationId xmlns="" xmlns:a16="http://schemas.microsoft.com/office/drawing/2014/main" id="{EFC754B4-7081-464A-AB11-0DF76196929C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15" name="直接连接符 114">
              <a:extLst>
                <a:ext uri="{FF2B5EF4-FFF2-40B4-BE49-F238E27FC236}">
                  <a16:creationId xmlns="" xmlns:a16="http://schemas.microsoft.com/office/drawing/2014/main" id="{D0ADB96B-5A80-4B18-B28A-FF47A76BB781}"/>
                </a:ext>
              </a:extLst>
            </p:cNvPr>
            <p:cNvCxnSpPr>
              <a:cxnSpLocks/>
              <a:stCxn id="117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34925" cmpd="dbl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="" xmlns:a16="http://schemas.microsoft.com/office/drawing/2014/main" id="{F3415765-35E3-4F2C-8EDA-3AD8B218F994}"/>
                </a:ext>
              </a:extLst>
            </p:cNvPr>
            <p:cNvCxnSpPr>
              <a:cxnSpLocks/>
              <a:endCxn id="117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文本框 118">
            <a:extLst>
              <a:ext uri="{FF2B5EF4-FFF2-40B4-BE49-F238E27FC236}">
                <a16:creationId xmlns="" xmlns:a16="http://schemas.microsoft.com/office/drawing/2014/main" id="{BE4CCC2B-7E99-4F0B-B60B-2DC020B0AFE0}"/>
              </a:ext>
            </a:extLst>
          </p:cNvPr>
          <p:cNvSpPr txBox="1"/>
          <p:nvPr/>
        </p:nvSpPr>
        <p:spPr>
          <a:xfrm>
            <a:off x="6096001" y="5332651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grpSp>
        <p:nvGrpSpPr>
          <p:cNvPr id="120" name="组合 119">
            <a:extLst>
              <a:ext uri="{FF2B5EF4-FFF2-40B4-BE49-F238E27FC236}">
                <a16:creationId xmlns="" xmlns:a16="http://schemas.microsoft.com/office/drawing/2014/main" id="{C0086FC3-28C4-4E51-8E5F-1D87530419DE}"/>
              </a:ext>
            </a:extLst>
          </p:cNvPr>
          <p:cNvGrpSpPr/>
          <p:nvPr/>
        </p:nvGrpSpPr>
        <p:grpSpPr>
          <a:xfrm>
            <a:off x="7708721" y="5180380"/>
            <a:ext cx="667081" cy="1047774"/>
            <a:chOff x="945636" y="5186393"/>
            <a:chExt cx="667081" cy="1047774"/>
          </a:xfrm>
        </p:grpSpPr>
        <p:grpSp>
          <p:nvGrpSpPr>
            <p:cNvPr id="121" name="组合 120">
              <a:extLst>
                <a:ext uri="{FF2B5EF4-FFF2-40B4-BE49-F238E27FC236}">
                  <a16:creationId xmlns="" xmlns:a16="http://schemas.microsoft.com/office/drawing/2014/main" id="{5781F809-5AC4-4756-96D5-45C99005401D}"/>
                </a:ext>
              </a:extLst>
            </p:cNvPr>
            <p:cNvGrpSpPr/>
            <p:nvPr/>
          </p:nvGrpSpPr>
          <p:grpSpPr>
            <a:xfrm>
              <a:off x="945636" y="5415586"/>
              <a:ext cx="667081" cy="575070"/>
              <a:chOff x="6193357" y="3368102"/>
              <a:chExt cx="667081" cy="575070"/>
            </a:xfrm>
          </p:grpSpPr>
          <p:sp>
            <p:nvSpPr>
              <p:cNvPr id="124" name="等腰三角形 123">
                <a:extLst>
                  <a:ext uri="{FF2B5EF4-FFF2-40B4-BE49-F238E27FC236}">
                    <a16:creationId xmlns="" xmlns:a16="http://schemas.microsoft.com/office/drawing/2014/main" id="{44BB9C81-9E16-40B4-838A-3BDD8AE62CE9}"/>
                  </a:ext>
                </a:extLst>
              </p:cNvPr>
              <p:cNvSpPr/>
              <p:nvPr/>
            </p:nvSpPr>
            <p:spPr>
              <a:xfrm flipV="1">
                <a:off x="6193357" y="3368102"/>
                <a:ext cx="667081" cy="575070"/>
              </a:xfrm>
              <a:prstGeom prst="triangl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457200"/>
                <a:endParaRPr lang="zh-CN" altLang="en-US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25" name="文本框 124">
                <a:extLst>
                  <a:ext uri="{FF2B5EF4-FFF2-40B4-BE49-F238E27FC236}">
                    <a16:creationId xmlns="" xmlns:a16="http://schemas.microsoft.com/office/drawing/2014/main" id="{DC4CBF89-F46C-4753-A113-B63C06E92C3A}"/>
                  </a:ext>
                </a:extLst>
              </p:cNvPr>
              <p:cNvSpPr txBox="1"/>
              <p:nvPr/>
            </p:nvSpPr>
            <p:spPr>
              <a:xfrm>
                <a:off x="6294643" y="3387152"/>
                <a:ext cx="474810" cy="307777"/>
              </a:xfrm>
              <a:prstGeom prst="rect">
                <a:avLst/>
              </a:prstGeom>
            </p:spPr>
            <p:txBody>
              <a:bodyPr vert="horz" wrap="none" lIns="91440" tIns="45720" rIns="91440" bIns="45720" rtlCol="0" anchor="ctr">
                <a:spAutoFit/>
              </a:bodyPr>
              <a:lstStyle/>
              <a:p>
                <a:pPr defTabSz="457200"/>
                <a:r>
                  <a:rPr kumimoji="1" lang="en-US" altLang="zh-CN" sz="1400" dirty="0">
                    <a:solidFill>
                      <a:srgbClr val="0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ISA</a:t>
                </a:r>
                <a:endParaRPr kumimoji="1" lang="zh-CN" altLang="en-US" sz="1400" dirty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22" name="直接连接符 121">
              <a:extLst>
                <a:ext uri="{FF2B5EF4-FFF2-40B4-BE49-F238E27FC236}">
                  <a16:creationId xmlns="" xmlns:a16="http://schemas.microsoft.com/office/drawing/2014/main" id="{D1B52413-C371-4E5E-ACD8-B0547F856D8B}"/>
                </a:ext>
              </a:extLst>
            </p:cNvPr>
            <p:cNvCxnSpPr>
              <a:cxnSpLocks/>
              <a:stCxn id="124" idx="3"/>
            </p:cNvCxnSpPr>
            <p:nvPr/>
          </p:nvCxnSpPr>
          <p:spPr>
            <a:xfrm flipV="1">
              <a:off x="1279177" y="5186393"/>
              <a:ext cx="0" cy="229193"/>
            </a:xfrm>
            <a:prstGeom prst="line">
              <a:avLst/>
            </a:prstGeom>
            <a:ln w="9525" cmpd="sng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>
              <a:extLst>
                <a:ext uri="{FF2B5EF4-FFF2-40B4-BE49-F238E27FC236}">
                  <a16:creationId xmlns="" xmlns:a16="http://schemas.microsoft.com/office/drawing/2014/main" id="{48809180-C992-43B5-BCE2-3BAC7351B221}"/>
                </a:ext>
              </a:extLst>
            </p:cNvPr>
            <p:cNvCxnSpPr>
              <a:cxnSpLocks/>
              <a:endCxn id="124" idx="0"/>
            </p:cNvCxnSpPr>
            <p:nvPr/>
          </p:nvCxnSpPr>
          <p:spPr>
            <a:xfrm flipH="1" flipV="1">
              <a:off x="1279177" y="5990656"/>
              <a:ext cx="3588" cy="2435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文本框 125">
            <a:extLst>
              <a:ext uri="{FF2B5EF4-FFF2-40B4-BE49-F238E27FC236}">
                <a16:creationId xmlns="" xmlns:a16="http://schemas.microsoft.com/office/drawing/2014/main" id="{7773FDEF-FF95-43F3-8C52-9537FE125BA5}"/>
              </a:ext>
            </a:extLst>
          </p:cNvPr>
          <p:cNvSpPr txBox="1"/>
          <p:nvPr/>
        </p:nvSpPr>
        <p:spPr>
          <a:xfrm>
            <a:off x="8629979" y="5328368"/>
            <a:ext cx="1298753" cy="523220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 </a:t>
            </a:r>
          </a:p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generalization</a:t>
            </a:r>
          </a:p>
        </p:txBody>
      </p:sp>
      <p:sp>
        <p:nvSpPr>
          <p:cNvPr id="127" name="文本框 126">
            <a:extLst>
              <a:ext uri="{FF2B5EF4-FFF2-40B4-BE49-F238E27FC236}">
                <a16:creationId xmlns="" xmlns:a16="http://schemas.microsoft.com/office/drawing/2014/main" id="{A69A0EDB-6C51-4756-8B10-769FB49FB72F}"/>
              </a:ext>
            </a:extLst>
          </p:cNvPr>
          <p:cNvSpPr txBox="1"/>
          <p:nvPr/>
        </p:nvSpPr>
        <p:spPr>
          <a:xfrm>
            <a:off x="8011201" y="5928191"/>
            <a:ext cx="742511" cy="307777"/>
          </a:xfrm>
          <a:prstGeom prst="rect">
            <a:avLst/>
          </a:prstGeom>
          <a:ln>
            <a:noFill/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defTabSz="457200"/>
            <a:r>
              <a:rPr kumimoji="1" lang="en-US" altLang="zh-CN" sz="1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disjoint</a:t>
            </a:r>
          </a:p>
        </p:txBody>
      </p:sp>
    </p:spTree>
    <p:extLst>
      <p:ext uri="{BB962C8B-B14F-4D97-AF65-F5344CB8AC3E}">
        <p14:creationId xmlns:p14="http://schemas.microsoft.com/office/powerpoint/2010/main" val="3127380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eamer_like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/>
          </a:solidFill>
          <a:extLst>
            <a:ext uri="{C807C97D-BFC1-408E-A445-0C87EB9F89A2}">
              <ask:lineSketchStyleProps xmlns:ask="http://schemas.microsoft.com/office/drawing/2018/sketchyshapes" xmlns="" sd="1219033472">
                <a:custGeom>
                  <a:avLst/>
                  <a:gdLst>
                    <a:gd name="connsiteX0" fmla="*/ 0 w 3251200"/>
                    <a:gd name="connsiteY0" fmla="*/ 276159 h 276159"/>
                    <a:gd name="connsiteX1" fmla="*/ 1778000 w 3251200"/>
                    <a:gd name="connsiteY1" fmla="*/ 388 h 276159"/>
                    <a:gd name="connsiteX2" fmla="*/ 3251200 w 3251200"/>
                    <a:gd name="connsiteY2" fmla="*/ 210845 h 276159"/>
                    <a:gd name="connsiteX3" fmla="*/ 3251200 w 3251200"/>
                    <a:gd name="connsiteY3" fmla="*/ 210845 h 2761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251200" h="276159" extrusionOk="0">
                      <a:moveTo>
                        <a:pt x="0" y="276159"/>
                      </a:moveTo>
                      <a:cubicBezTo>
                        <a:pt x="525781" y="86793"/>
                        <a:pt x="1222218" y="16496"/>
                        <a:pt x="1778000" y="388"/>
                      </a:cubicBezTo>
                      <a:cubicBezTo>
                        <a:pt x="2319868" y="-10498"/>
                        <a:pt x="3251199" y="210845"/>
                        <a:pt x="3251200" y="210845"/>
                      </a:cubicBezTo>
                      <a:lnTo>
                        <a:pt x="3251200" y="210845"/>
                      </a:lnTo>
                    </a:path>
                  </a:pathLst>
                </a:custGeom>
                <ask:type>
                  <ask:lineSketchNone/>
                </ask:type>
              </ask:lineSketchStyleProps>
            </a:ext>
          </a:extLst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beamer_like" id="{20F149E5-FEF3-4710-82AE-E763CD58F1C4}" vid="{D2B214A1-1DDD-42F1-A099-CF5F828192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8779</TotalTime>
  <Words>1228</Words>
  <Application>Microsoft Office PowerPoint</Application>
  <PresentationFormat>Widescreen</PresentationFormat>
  <Paragraphs>236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Adobe Heiti Std R</vt:lpstr>
      <vt:lpstr>等线</vt:lpstr>
      <vt:lpstr>等线 Light</vt:lpstr>
      <vt:lpstr>Hiragino Sans GB W3</vt:lpstr>
      <vt:lpstr>Microsoft YaHei</vt:lpstr>
      <vt:lpstr>宋体</vt:lpstr>
      <vt:lpstr>Arial</vt:lpstr>
      <vt:lpstr>Calibri</vt:lpstr>
      <vt:lpstr>Calibri Light</vt:lpstr>
      <vt:lpstr>Office Theme</vt:lpstr>
      <vt:lpstr>beamer_like</vt:lpstr>
      <vt:lpstr>Database Lecture 7 DB Design Exercises</vt:lpstr>
      <vt:lpstr>Announcements</vt:lpstr>
      <vt:lpstr>Announcements</vt:lpstr>
      <vt:lpstr>PowerPoint Presentation</vt:lpstr>
      <vt:lpstr>Exercise 1</vt:lpstr>
      <vt:lpstr>PowerPoint Presentation</vt:lpstr>
      <vt:lpstr>PowerPoint Presentation</vt:lpstr>
      <vt:lpstr>PowerPoint Presentation</vt:lpstr>
      <vt:lpstr>Exercise 2</vt:lpstr>
      <vt:lpstr>Exercise 2</vt:lpstr>
      <vt:lpstr>Schema Exercise 2 </vt:lpstr>
      <vt:lpstr>Exercise 3</vt:lpstr>
      <vt:lpstr>Schema Exercise 3 </vt:lpstr>
      <vt:lpstr>Schema Exercise 3 </vt:lpstr>
      <vt:lpstr>Summary of ER Diagram Design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Addendum Chapter 1</dc:title>
  <dc:creator>j f</dc:creator>
  <cp:lastModifiedBy>Microsoft account</cp:lastModifiedBy>
  <cp:revision>904</cp:revision>
  <dcterms:created xsi:type="dcterms:W3CDTF">2021-08-02T03:54:37Z</dcterms:created>
  <dcterms:modified xsi:type="dcterms:W3CDTF">2025-10-27T12:57:09Z</dcterms:modified>
</cp:coreProperties>
</file>