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97" r:id="rId2"/>
    <p:sldId id="393" r:id="rId3"/>
    <p:sldId id="402" r:id="rId4"/>
    <p:sldId id="273" r:id="rId5"/>
    <p:sldId id="298" r:id="rId6"/>
    <p:sldId id="277" r:id="rId7"/>
    <p:sldId id="299" r:id="rId8"/>
    <p:sldId id="271" r:id="rId9"/>
    <p:sldId id="396" r:id="rId10"/>
    <p:sldId id="400" r:id="rId11"/>
    <p:sldId id="283" r:id="rId12"/>
    <p:sldId id="280" r:id="rId13"/>
    <p:sldId id="292" r:id="rId14"/>
    <p:sldId id="291" r:id="rId15"/>
    <p:sldId id="401" r:id="rId16"/>
    <p:sldId id="3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9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575BF-6987-4786-AD3A-DA832F697ED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AF054-1712-4639-B42C-CC5916667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5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4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20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6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0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5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6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9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6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1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00F8E-535C-4AD9-A6D4-9E1905C319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0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11</a:t>
            </a:r>
            <a:br>
              <a:rPr lang="en-US" dirty="0"/>
            </a:br>
            <a:r>
              <a:rPr lang="en-US" dirty="0"/>
              <a:t>Relational Database Design</a:t>
            </a:r>
            <a:br>
              <a:rPr lang="en-US" dirty="0"/>
            </a:br>
            <a:r>
              <a:rPr lang="en-US" dirty="0"/>
              <a:t>Third Normal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/>
              <a:t>Addendum</a:t>
            </a:r>
          </a:p>
          <a:p>
            <a:r>
              <a:rPr lang="en-US" sz="3600" dirty="0"/>
              <a:t>Dr. Jefferson Fong</a:t>
            </a:r>
          </a:p>
          <a:p>
            <a:r>
              <a:rPr lang="en-US" sz="3600" dirty="0"/>
              <a:t>Reference: 7.3, 7.5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845" y="2935730"/>
            <a:ext cx="2320290" cy="274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0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568"/>
          </a:xfrm>
        </p:spPr>
        <p:txBody>
          <a:bodyPr/>
          <a:lstStyle/>
          <a:p>
            <a:r>
              <a:rPr lang="en-US" dirty="0"/>
              <a:t>Presentation Sign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2"/>
            <a:ext cx="10515600" cy="135902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Presentations</a:t>
            </a:r>
            <a:r>
              <a:rPr lang="en-US" dirty="0"/>
              <a:t> will be held on </a:t>
            </a:r>
            <a:r>
              <a:rPr lang="en-US" dirty="0">
                <a:solidFill>
                  <a:srgbClr val="FF0000"/>
                </a:solidFill>
              </a:rPr>
              <a:t>Wed Dec 17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Thu Dec 18</a:t>
            </a:r>
          </a:p>
          <a:p>
            <a:pPr lvl="1"/>
            <a:r>
              <a:rPr lang="en-US" dirty="0"/>
              <a:t>Talk with your team on your preferred time slot.</a:t>
            </a:r>
          </a:p>
          <a:p>
            <a:pPr lvl="1"/>
            <a:r>
              <a:rPr lang="en-US" dirty="0"/>
              <a:t>Team leader sign up for time slots on next Wed.  (15 teams)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FB8170-6725-4C2E-A83A-53DD934A4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65384"/>
              </p:ext>
            </p:extLst>
          </p:nvPr>
        </p:nvGraphicFramePr>
        <p:xfrm>
          <a:off x="1489787" y="3090256"/>
          <a:ext cx="8327064" cy="322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302">
                <a:tc>
                  <a:txBody>
                    <a:bodyPr/>
                    <a:lstStyle/>
                    <a:p>
                      <a:r>
                        <a:rPr lang="en-US" sz="2400" dirty="0"/>
                        <a:t>Data and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051">
                <a:tc>
                  <a:txBody>
                    <a:bodyPr/>
                    <a:lstStyle/>
                    <a:p>
                      <a:r>
                        <a:rPr lang="en-US" sz="2400" dirty="0"/>
                        <a:t>Wed 17 Dec,</a:t>
                      </a:r>
                      <a:r>
                        <a:rPr lang="en-US" sz="2400" baseline="0" dirty="0"/>
                        <a:t> 10-11</a:t>
                      </a:r>
                      <a:r>
                        <a:rPr lang="en-US" sz="2400" dirty="0"/>
                        <a:t> (4 teams)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41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Wed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17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Dec, 11-noon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(4 teams)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725">
                <a:tc>
                  <a:txBody>
                    <a:bodyPr/>
                    <a:lstStyle/>
                    <a:p>
                      <a:r>
                        <a:rPr lang="en-US" sz="2400" baseline="0" dirty="0">
                          <a:solidFill>
                            <a:srgbClr val="FF0000"/>
                          </a:solidFill>
                        </a:rPr>
                        <a:t>Wed 17 Dec, noon-12:20 (2 teams)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71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Thu 18 Dec, 4:20-5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</a:rPr>
                        <a:t> (3 teams)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99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Thu 18 Dec, 5-6 (4 teams)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71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Thu 18 Dec, 6-6:15 (1 team)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53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82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476F-62E2-43E8-B84E-61DFDAD2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D244-06FF-47B4-A0BB-C25EECA0B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be released in iSpace soon (tomorrow?)</a:t>
            </a:r>
          </a:p>
        </p:txBody>
      </p:sp>
    </p:spTree>
    <p:extLst>
      <p:ext uri="{BB962C8B-B14F-4D97-AF65-F5344CB8AC3E}">
        <p14:creationId xmlns:p14="http://schemas.microsoft.com/office/powerpoint/2010/main" val="331101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0633"/>
            <a:ext cx="2266507" cy="514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3 BCNF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7C13ADA-2499-4DC8-A68E-1820D4E770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77337" y="2842440"/>
                <a:ext cx="7184559" cy="23037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 = {</a:t>
                </a:r>
                <a:r>
                  <a:rPr lang="en-US" sz="2400" u="sng" dirty="0">
                    <a:latin typeface="Symbol" panose="05050102010706020507" pitchFamily="18" charset="2"/>
                  </a:rPr>
                  <a:t>a</a:t>
                </a:r>
                <a:r>
                  <a:rPr lang="en-US" sz="2400" dirty="0">
                    <a:latin typeface="Symbol" panose="05050102010706020507" pitchFamily="18" charset="2"/>
                  </a:rPr>
                  <a:t>,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>
                    <a:latin typeface="Symbol" panose="05050102010706020507" pitchFamily="18" charset="2"/>
                    <a:sym typeface="Wingdings" panose="05000000000000000000" pitchFamily="2" charset="2"/>
                  </a:rPr>
                  <a:t>b</a:t>
                </a:r>
                <a:r>
                  <a:rPr lang="en-US" sz="2400" dirty="0">
                    <a:sym typeface="Wingdings" panose="05000000000000000000" pitchFamily="2" charset="2"/>
                  </a:rPr>
                  <a:t>},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= {</a:t>
                </a:r>
                <a:r>
                  <a:rPr lang="en-US" sz="2400" dirty="0">
                    <a:latin typeface="Symbol" panose="05050102010706020507" pitchFamily="18" charset="2"/>
                  </a:rPr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:r>
                  <a:rPr lang="en-US" sz="2400" dirty="0">
                    <a:latin typeface="Symbol" panose="05050102010706020507" pitchFamily="18" charset="2"/>
                    <a:sym typeface="Wingdings" panose="05000000000000000000" pitchFamily="2" charset="2"/>
                  </a:rPr>
                  <a:t>b</a:t>
                </a:r>
                <a:r>
                  <a:rPr lang="en-US" sz="2400" dirty="0">
                    <a:sym typeface="Wingdings" panose="05000000000000000000" pitchFamily="2" charset="2"/>
                  </a:rPr>
                  <a:t>},	</a:t>
                </a:r>
                <a:r>
                  <a:rPr lang="en-US" sz="2400" dirty="0">
                    <a:latin typeface="Symbol" panose="05050102010706020507" pitchFamily="18" charset="2"/>
                  </a:rPr>
                  <a:t>a </a:t>
                </a:r>
                <a:r>
                  <a:rPr lang="en-US" sz="2400" dirty="0"/>
                  <a:t>is now super key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  <a:endParaRPr lang="en-US" sz="2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 = {</a:t>
                </a:r>
                <a:r>
                  <a:rPr lang="en-US" sz="2400" dirty="0">
                    <a:latin typeface="Symbol" panose="05050102010706020507" pitchFamily="18" charset="2"/>
                  </a:rPr>
                  <a:t>a,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>
                    <a:latin typeface="Symbol" panose="05050102010706020507" pitchFamily="18" charset="2"/>
                    <a:sym typeface="Wingdings" panose="05000000000000000000" pitchFamily="2" charset="2"/>
                  </a:rPr>
                  <a:t>g</a:t>
                </a:r>
                <a:r>
                  <a:rPr lang="en-US" sz="2400" dirty="0">
                    <a:sym typeface="Wingdings" panose="05000000000000000000" pitchFamily="2" charset="2"/>
                  </a:rPr>
                  <a:t>},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= { … }, without </a:t>
                </a:r>
                <a:r>
                  <a:rPr lang="en-US" sz="2400" dirty="0">
                    <a:latin typeface="Symbol" panose="05050102010706020507" pitchFamily="18" charset="2"/>
                  </a:rPr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:r>
                  <a:rPr lang="en-US" sz="2400" dirty="0">
                    <a:latin typeface="Symbol" panose="05050102010706020507" pitchFamily="18" charset="2"/>
                    <a:sym typeface="Wingdings" panose="05000000000000000000" pitchFamily="2" charset="2"/>
                  </a:rPr>
                  <a:t>b.</a:t>
                </a:r>
                <a:endParaRPr lang="en-US" sz="2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ym typeface="Wingdings" panose="05000000000000000000" pitchFamily="2" charset="2"/>
                  </a:rPr>
                  <a:t>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	Lossless join;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no attributes loss</a:t>
                </a:r>
                <a:r>
                  <a:rPr lang="en-US" sz="2400" dirty="0">
                    <a:sym typeface="Wingdings" panose="05000000000000000000" pitchFamily="2" charset="2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ym typeface="Wingdings" panose="05000000000000000000" pitchFamily="2" charset="2"/>
                  </a:rPr>
                  <a:t>		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Minimal redundancy</a:t>
                </a:r>
                <a:r>
                  <a:rPr lang="en-US" sz="2400" dirty="0">
                    <a:sym typeface="Wingdings" panose="05000000000000000000" pitchFamily="2" charset="2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ym typeface="Wingdings" panose="05000000000000000000" pitchFamily="2" charset="2"/>
                  </a:rPr>
                  <a:t>		Possible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some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FD </a:t>
                </a:r>
                <a:r>
                  <a:rPr lang="en-US" sz="2400" dirty="0">
                    <a:sym typeface="Wingdings" panose="05000000000000000000" pitchFamily="2" charset="2"/>
                  </a:rPr>
                  <a:t>may be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lost</a:t>
                </a:r>
                <a:r>
                  <a:rPr lang="en-US" sz="2400" dirty="0">
                    <a:sym typeface="Wingdings" panose="05000000000000000000" pitchFamily="2" charset="2"/>
                  </a:rPr>
                  <a:t>.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7C13ADA-2499-4DC8-A68E-1820D4E77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337" y="2842440"/>
                <a:ext cx="7184559" cy="2303717"/>
              </a:xfrm>
              <a:prstGeom prst="rect">
                <a:avLst/>
              </a:prstGeom>
              <a:blipFill>
                <a:blip r:embed="rId2"/>
                <a:stretch>
                  <a:fillRect l="-1358" t="-4233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0AC5CB-927C-41A2-8661-225BF15BF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354484"/>
              </p:ext>
            </p:extLst>
          </p:nvPr>
        </p:nvGraphicFramePr>
        <p:xfrm>
          <a:off x="1494621" y="1206795"/>
          <a:ext cx="1402317" cy="85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439">
                  <a:extLst>
                    <a:ext uri="{9D8B030D-6E8A-4147-A177-3AD203B41FA5}">
                      <a16:colId xmlns:a16="http://schemas.microsoft.com/office/drawing/2014/main" val="915884628"/>
                    </a:ext>
                  </a:extLst>
                </a:gridCol>
                <a:gridCol w="467439">
                  <a:extLst>
                    <a:ext uri="{9D8B030D-6E8A-4147-A177-3AD203B41FA5}">
                      <a16:colId xmlns:a16="http://schemas.microsoft.com/office/drawing/2014/main" val="1091189431"/>
                    </a:ext>
                  </a:extLst>
                </a:gridCol>
                <a:gridCol w="467439">
                  <a:extLst>
                    <a:ext uri="{9D8B030D-6E8A-4147-A177-3AD203B41FA5}">
                      <a16:colId xmlns:a16="http://schemas.microsoft.com/office/drawing/2014/main" val="1927285076"/>
                    </a:ext>
                  </a:extLst>
                </a:gridCol>
              </a:tblGrid>
              <a:tr h="4253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</a:rPr>
                        <a:t>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  <a:sym typeface="Wingdings" panose="05000000000000000000" pitchFamily="2" charset="2"/>
                        </a:rPr>
                        <a:t>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  <a:sym typeface="Wingdings" panose="05000000000000000000" pitchFamily="2" charset="2"/>
                        </a:rPr>
                        <a:t>g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664217"/>
                  </a:ext>
                </a:extLst>
              </a:tr>
              <a:tr h="425301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75471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1FA6A2-786C-4745-82AF-5D919A8B7AF3}"/>
              </a:ext>
            </a:extLst>
          </p:cNvPr>
          <p:cNvSpPr txBox="1">
            <a:spLocks/>
          </p:cNvSpPr>
          <p:nvPr/>
        </p:nvSpPr>
        <p:spPr>
          <a:xfrm>
            <a:off x="4277337" y="1219202"/>
            <a:ext cx="6784950" cy="903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R = {</a:t>
            </a:r>
            <a:r>
              <a:rPr lang="en-US" sz="2400" dirty="0">
                <a:latin typeface="Symbol" panose="05050102010706020507" pitchFamily="18" charset="2"/>
              </a:rPr>
              <a:t>a,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Symbol" panose="05050102010706020507" pitchFamily="18" charset="2"/>
                <a:sym typeface="Wingdings" panose="05000000000000000000" pitchFamily="2" charset="2"/>
              </a:rPr>
              <a:t>b, g</a:t>
            </a:r>
            <a:r>
              <a:rPr lang="en-US" sz="2400" dirty="0">
                <a:sym typeface="Wingdings" panose="05000000000000000000" pitchFamily="2" charset="2"/>
              </a:rPr>
              <a:t>},	</a:t>
            </a:r>
            <a:r>
              <a:rPr lang="en-US" sz="2400" dirty="0"/>
              <a:t> F = {</a:t>
            </a:r>
            <a:r>
              <a:rPr lang="en-US" sz="2400" dirty="0">
                <a:latin typeface="Symbol" panose="05050102010706020507" pitchFamily="18" charset="2"/>
              </a:rPr>
              <a:t>a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Symbol" panose="05050102010706020507" pitchFamily="18" charset="2"/>
                <a:sym typeface="Wingdings" panose="05000000000000000000" pitchFamily="2" charset="2"/>
              </a:rPr>
              <a:t>b</a:t>
            </a:r>
            <a:r>
              <a:rPr lang="en-US" sz="2400" dirty="0">
                <a:sym typeface="Wingdings" panose="05000000000000000000" pitchFamily="2" charset="2"/>
              </a:rPr>
              <a:t>, …}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If </a:t>
            </a:r>
            <a:r>
              <a:rPr lang="en-US" sz="2400" dirty="0">
                <a:latin typeface="Symbol" panose="05050102010706020507" pitchFamily="18" charset="2"/>
              </a:rPr>
              <a:t>a</a:t>
            </a:r>
            <a:r>
              <a:rPr lang="en-US" sz="2400" dirty="0"/>
              <a:t> is not a super key in R, we decompose R and F.  </a:t>
            </a: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0808B8-2B86-4A3C-B0F9-F85C10FECE3C}"/>
              </a:ext>
            </a:extLst>
          </p:cNvPr>
          <p:cNvSpPr txBox="1">
            <a:spLocks/>
          </p:cNvSpPr>
          <p:nvPr/>
        </p:nvSpPr>
        <p:spPr>
          <a:xfrm>
            <a:off x="1907415" y="3416599"/>
            <a:ext cx="489097" cy="384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ym typeface="Symbol" panose="05050102010706020507" pitchFamily="18" charset="2"/>
              </a:rPr>
              <a:t> U</a:t>
            </a:r>
            <a:endParaRPr lang="en-US" sz="20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C4834A6-B51D-464F-BCB5-7641468D30CC}"/>
              </a:ext>
            </a:extLst>
          </p:cNvPr>
          <p:cNvSpPr/>
          <p:nvPr/>
        </p:nvSpPr>
        <p:spPr>
          <a:xfrm>
            <a:off x="1971208" y="2395876"/>
            <a:ext cx="382772" cy="531628"/>
          </a:xfrm>
          <a:prstGeom prst="downArrow">
            <a:avLst>
              <a:gd name="adj1" fmla="val 555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5EDBCE-AAC3-4CAB-AA38-BCE8D17C5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689406"/>
              </p:ext>
            </p:extLst>
          </p:nvPr>
        </p:nvGraphicFramePr>
        <p:xfrm>
          <a:off x="820971" y="3216354"/>
          <a:ext cx="934878" cy="85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439">
                  <a:extLst>
                    <a:ext uri="{9D8B030D-6E8A-4147-A177-3AD203B41FA5}">
                      <a16:colId xmlns:a16="http://schemas.microsoft.com/office/drawing/2014/main" val="915884628"/>
                    </a:ext>
                  </a:extLst>
                </a:gridCol>
                <a:gridCol w="467439">
                  <a:extLst>
                    <a:ext uri="{9D8B030D-6E8A-4147-A177-3AD203B41FA5}">
                      <a16:colId xmlns:a16="http://schemas.microsoft.com/office/drawing/2014/main" val="1091189431"/>
                    </a:ext>
                  </a:extLst>
                </a:gridCol>
              </a:tblGrid>
              <a:tr h="425301">
                <a:tc>
                  <a:txBody>
                    <a:bodyPr/>
                    <a:lstStyle/>
                    <a:p>
                      <a:r>
                        <a:rPr lang="en-US" sz="2000" u="sng" dirty="0">
                          <a:latin typeface="Symbol" panose="05050102010706020507" pitchFamily="18" charset="2"/>
                        </a:rPr>
                        <a:t>a</a:t>
                      </a:r>
                      <a:endParaRPr lang="en-US" sz="20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  <a:sym typeface="Wingdings" panose="05000000000000000000" pitchFamily="2" charset="2"/>
                        </a:rPr>
                        <a:t>b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664217"/>
                  </a:ext>
                </a:extLst>
              </a:tr>
              <a:tr h="425301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75471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50CEB1-494B-402B-BC19-0A6DF03B9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181108"/>
              </p:ext>
            </p:extLst>
          </p:nvPr>
        </p:nvGraphicFramePr>
        <p:xfrm>
          <a:off x="2637268" y="3202179"/>
          <a:ext cx="934878" cy="85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439">
                  <a:extLst>
                    <a:ext uri="{9D8B030D-6E8A-4147-A177-3AD203B41FA5}">
                      <a16:colId xmlns:a16="http://schemas.microsoft.com/office/drawing/2014/main" val="915884628"/>
                    </a:ext>
                  </a:extLst>
                </a:gridCol>
                <a:gridCol w="467439">
                  <a:extLst>
                    <a:ext uri="{9D8B030D-6E8A-4147-A177-3AD203B41FA5}">
                      <a16:colId xmlns:a16="http://schemas.microsoft.com/office/drawing/2014/main" val="1927285076"/>
                    </a:ext>
                  </a:extLst>
                </a:gridCol>
              </a:tblGrid>
              <a:tr h="4253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</a:rPr>
                        <a:t>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  <a:sym typeface="Wingdings" panose="05000000000000000000" pitchFamily="2" charset="2"/>
                        </a:rPr>
                        <a:t>g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664217"/>
                  </a:ext>
                </a:extLst>
              </a:tr>
              <a:tr h="425301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7547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AE8EB57-C068-4A03-B24F-054140BAE3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3861" y="2842441"/>
                <a:ext cx="489097" cy="3845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AE8EB57-C068-4A03-B24F-054140BAE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61" y="2842441"/>
                <a:ext cx="489097" cy="3845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9DA9349-2274-45B5-AD12-A4A5D01F9B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0158" y="2853074"/>
                <a:ext cx="489097" cy="3845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9DA9349-2274-45B5-AD12-A4A5D01F9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158" y="2853074"/>
                <a:ext cx="489097" cy="3845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FEE1A1E-A215-4966-A75E-50CB94443B13}"/>
              </a:ext>
            </a:extLst>
          </p:cNvPr>
          <p:cNvSpPr txBox="1">
            <a:spLocks/>
          </p:cNvSpPr>
          <p:nvPr/>
        </p:nvSpPr>
        <p:spPr>
          <a:xfrm>
            <a:off x="1896789" y="859468"/>
            <a:ext cx="489097" cy="384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ym typeface="Symbol" panose="05050102010706020507" pitchFamily="18" charset="2"/>
              </a:rPr>
              <a:t> R</a:t>
            </a:r>
            <a:endParaRPr lang="en-US" sz="20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B53726C-5065-45D4-9577-FE8A2B5232AF}"/>
              </a:ext>
            </a:extLst>
          </p:cNvPr>
          <p:cNvSpPr txBox="1">
            <a:spLocks/>
          </p:cNvSpPr>
          <p:nvPr/>
        </p:nvSpPr>
        <p:spPr>
          <a:xfrm>
            <a:off x="838200" y="5613988"/>
            <a:ext cx="7761767" cy="503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Alternative to BCNF: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Third Normal Form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57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3190"/>
          </a:xfrm>
        </p:spPr>
        <p:txBody>
          <a:bodyPr>
            <a:normAutofit/>
          </a:bodyPr>
          <a:lstStyle/>
          <a:p>
            <a:r>
              <a:rPr lang="en-US" dirty="0"/>
              <a:t>Third Normal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324"/>
            <a:ext cx="10515600" cy="52195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First Normal Form – Domain of all attributes are atomic (Lecture 8).</a:t>
            </a:r>
          </a:p>
          <a:p>
            <a:pPr lvl="1"/>
            <a:r>
              <a:rPr lang="en-US" dirty="0"/>
              <a:t>Cannot reduce any further.</a:t>
            </a:r>
          </a:p>
          <a:p>
            <a:r>
              <a:rPr lang="en-US" dirty="0"/>
              <a:t>Second Normal Form – Not used in practice (see book 7.3).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4</a:t>
            </a:r>
          </a:p>
          <a:p>
            <a:r>
              <a:rPr lang="en-US" dirty="0"/>
              <a:t>For BCNF, </a:t>
            </a:r>
            <a:r>
              <a:rPr lang="en-US" dirty="0">
                <a:sym typeface="Symbol" panose="05050102010706020507" pitchFamily="18" charset="2"/>
              </a:rPr>
              <a:t> </a:t>
            </a:r>
            <a:r>
              <a:rPr lang="en-US" dirty="0" err="1">
                <a:latin typeface="Symbol" panose="05050102010706020507" pitchFamily="18" charset="2"/>
              </a:rPr>
              <a:t>a</a:t>
            </a:r>
            <a:r>
              <a:rPr lang="en-US" dirty="0" err="1"/>
              <a:t>→</a:t>
            </a:r>
            <a:r>
              <a:rPr lang="en-US" dirty="0" err="1">
                <a:latin typeface="Symbol" panose="05050102010706020507" pitchFamily="18" charset="2"/>
              </a:rPr>
              <a:t>b</a:t>
            </a:r>
            <a:r>
              <a:rPr lang="en-US" dirty="0">
                <a:latin typeface="Symbol" panose="05050102010706020507" pitchFamily="18" charset="2"/>
              </a:rPr>
              <a:t> </a:t>
            </a:r>
            <a:r>
              <a:rPr lang="en-US" dirty="0"/>
              <a:t>in F</a:t>
            </a:r>
            <a:r>
              <a:rPr lang="en-US" baseline="30000" dirty="0"/>
              <a:t>+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/>
              <a:t>at least one of conditions 1 and 2 is true.</a:t>
            </a:r>
          </a:p>
          <a:p>
            <a:r>
              <a:rPr lang="en-US" dirty="0"/>
              <a:t>For 3NF, </a:t>
            </a:r>
            <a:r>
              <a:rPr lang="en-US" dirty="0">
                <a:sym typeface="Symbol" panose="05050102010706020507" pitchFamily="18" charset="2"/>
              </a:rPr>
              <a:t> </a:t>
            </a:r>
            <a:r>
              <a:rPr lang="en-US" dirty="0" err="1">
                <a:latin typeface="Symbol" panose="05050102010706020507" pitchFamily="18" charset="2"/>
              </a:rPr>
              <a:t>a</a:t>
            </a:r>
            <a:r>
              <a:rPr lang="en-US" dirty="0" err="1"/>
              <a:t>→</a:t>
            </a:r>
            <a:r>
              <a:rPr lang="en-US" dirty="0" err="1">
                <a:latin typeface="Symbol" panose="05050102010706020507" pitchFamily="18" charset="2"/>
              </a:rPr>
              <a:t>b</a:t>
            </a:r>
            <a:r>
              <a:rPr lang="en-US" dirty="0"/>
              <a:t> in F</a:t>
            </a:r>
            <a:r>
              <a:rPr lang="en-US" baseline="30000" dirty="0"/>
              <a:t>+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/>
              <a:t>at least one of conditions 1, 2 and 3 is true.</a:t>
            </a:r>
          </a:p>
          <a:p>
            <a:pPr lvl="1"/>
            <a:r>
              <a:rPr lang="en-US" dirty="0"/>
              <a:t>Give the FD one more </a:t>
            </a:r>
            <a:r>
              <a:rPr lang="en-US"/>
              <a:t>chance to pass.</a:t>
            </a:r>
            <a:endParaRPr lang="en-US" dirty="0"/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5</a:t>
            </a:r>
          </a:p>
          <a:p>
            <a:pPr lvl="1"/>
            <a:r>
              <a:rPr lang="en-US" dirty="0"/>
              <a:t>E.g. from the end of Lecture 10, Pros and Cons of BCNF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In BCNF, we don’t preserve JK → L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Don’t need to decompose R because it’s in 3NF.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3</a:t>
            </a:r>
            <a:r>
              <a:rPr lang="en-US" baseline="30000" dirty="0">
                <a:sym typeface="Wingdings" panose="05000000000000000000" pitchFamily="2" charset="2"/>
              </a:rPr>
              <a:t>rd</a:t>
            </a:r>
            <a:r>
              <a:rPr lang="en-US" dirty="0">
                <a:sym typeface="Wingdings" panose="05000000000000000000" pitchFamily="2" charset="2"/>
              </a:rPr>
              <a:t> condition: don’t need to decompose </a:t>
            </a:r>
            <a:r>
              <a:rPr lang="en-US" dirty="0" err="1">
                <a:latin typeface="Symbol" panose="05050102010706020507" pitchFamily="18" charset="2"/>
              </a:rPr>
              <a:t>a</a:t>
            </a:r>
            <a:r>
              <a:rPr lang="en-US" dirty="0" err="1"/>
              <a:t>→</a:t>
            </a:r>
            <a:r>
              <a:rPr lang="en-US" dirty="0" err="1">
                <a:latin typeface="Symbol" panose="05050102010706020507" pitchFamily="18" charset="2"/>
              </a:rPr>
              <a:t>b</a:t>
            </a:r>
            <a:r>
              <a:rPr lang="en-US" dirty="0">
                <a:latin typeface="Symbol" panose="05050102010706020507" pitchFamily="18" charset="2"/>
              </a:rPr>
              <a:t> </a:t>
            </a:r>
            <a:r>
              <a:rPr lang="en-US" dirty="0"/>
              <a:t>if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dirty="0"/>
              <a:t> is already determined by some candidate key.</a:t>
            </a:r>
          </a:p>
        </p:txBody>
      </p:sp>
    </p:spTree>
    <p:extLst>
      <p:ext uri="{BB962C8B-B14F-4D97-AF65-F5344CB8AC3E}">
        <p14:creationId xmlns:p14="http://schemas.microsoft.com/office/powerpoint/2010/main" val="1734239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729" y="698500"/>
            <a:ext cx="11176247" cy="5478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Slide 6</a:t>
            </a:r>
          </a:p>
          <a:p>
            <a:r>
              <a:rPr lang="en-US" dirty="0">
                <a:solidFill>
                  <a:prstClr val="black"/>
                </a:solidFill>
              </a:rPr>
              <a:t>No contradictions of the FD’s in the table.</a:t>
            </a:r>
          </a:p>
          <a:p>
            <a:r>
              <a:rPr lang="en-US" dirty="0">
                <a:solidFill>
                  <a:prstClr val="black"/>
                </a:solidFill>
              </a:rPr>
              <a:t>We allow some redundancies in 3NF. (Marked in green in the table.)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That’s the price we pay for preserving FD’s.</a:t>
            </a:r>
          </a:p>
          <a:p>
            <a:pPr lvl="1"/>
            <a:endParaRPr lang="en-US" sz="8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Slide 7</a:t>
            </a:r>
          </a:p>
          <a:p>
            <a:r>
              <a:rPr lang="en-US" dirty="0">
                <a:solidFill>
                  <a:prstClr val="black"/>
                </a:solidFill>
              </a:rPr>
              <a:t>We get a </a:t>
            </a:r>
            <a:r>
              <a:rPr lang="en-US" b="1" dirty="0">
                <a:solidFill>
                  <a:srgbClr val="00B050"/>
                </a:solidFill>
              </a:rPr>
              <a:t>canonical cover </a:t>
            </a:r>
            <a:r>
              <a:rPr lang="en-US" dirty="0">
                <a:solidFill>
                  <a:prstClr val="black"/>
                </a:solidFill>
              </a:rPr>
              <a:t>for F</a:t>
            </a:r>
            <a:r>
              <a:rPr lang="en-US" baseline="30000" dirty="0">
                <a:solidFill>
                  <a:prstClr val="black"/>
                </a:solidFill>
              </a:rPr>
              <a:t>+</a:t>
            </a:r>
            <a:r>
              <a:rPr lang="en-US" dirty="0">
                <a:solidFill>
                  <a:prstClr val="black"/>
                </a:solidFill>
              </a:rPr>
              <a:t> by removing all </a:t>
            </a:r>
            <a:r>
              <a:rPr lang="en-US" b="1" dirty="0">
                <a:solidFill>
                  <a:srgbClr val="00B050"/>
                </a:solidFill>
              </a:rPr>
              <a:t>extraneous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(unneeded) </a:t>
            </a:r>
            <a:r>
              <a:rPr lang="en-US" b="1" dirty="0">
                <a:solidFill>
                  <a:srgbClr val="00B050"/>
                </a:solidFill>
              </a:rPr>
              <a:t>attributes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from each FD.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After removing the extraneous attributes from the FDs, the </a:t>
            </a:r>
            <a:r>
              <a:rPr lang="en-US" dirty="0">
                <a:solidFill>
                  <a:srgbClr val="00B050"/>
                </a:solidFill>
              </a:rPr>
              <a:t>closure</a:t>
            </a:r>
            <a:r>
              <a:rPr lang="en-US" dirty="0">
                <a:solidFill>
                  <a:prstClr val="black"/>
                </a:solidFill>
              </a:rPr>
              <a:t> of the </a:t>
            </a:r>
            <a:r>
              <a:rPr lang="en-US" dirty="0">
                <a:solidFill>
                  <a:srgbClr val="00B050"/>
                </a:solidFill>
              </a:rPr>
              <a:t>new set </a:t>
            </a:r>
            <a:r>
              <a:rPr lang="en-US" dirty="0">
                <a:solidFill>
                  <a:prstClr val="black"/>
                </a:solidFill>
              </a:rPr>
              <a:t>is </a:t>
            </a:r>
            <a:r>
              <a:rPr lang="en-US" dirty="0">
                <a:solidFill>
                  <a:srgbClr val="00B050"/>
                </a:solidFill>
              </a:rPr>
              <a:t>same</a:t>
            </a:r>
            <a:r>
              <a:rPr lang="en-US" dirty="0">
                <a:solidFill>
                  <a:prstClr val="black"/>
                </a:solidFill>
              </a:rPr>
              <a:t> as the </a:t>
            </a:r>
            <a:r>
              <a:rPr lang="en-US" dirty="0">
                <a:solidFill>
                  <a:srgbClr val="00B050"/>
                </a:solidFill>
              </a:rPr>
              <a:t>closure</a:t>
            </a:r>
            <a:r>
              <a:rPr lang="en-US" dirty="0">
                <a:solidFill>
                  <a:prstClr val="black"/>
                </a:solidFill>
              </a:rPr>
              <a:t> of the </a:t>
            </a:r>
            <a:r>
              <a:rPr lang="en-US" dirty="0">
                <a:solidFill>
                  <a:srgbClr val="00B050"/>
                </a:solidFill>
              </a:rPr>
              <a:t>original set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Hopefully your team doesn’t have any </a:t>
            </a:r>
            <a:r>
              <a:rPr lang="en-US" dirty="0">
                <a:solidFill>
                  <a:srgbClr val="00B050"/>
                </a:solidFill>
              </a:rPr>
              <a:t>extraneous</a:t>
            </a:r>
            <a:r>
              <a:rPr lang="en-US" dirty="0">
                <a:solidFill>
                  <a:prstClr val="black"/>
                </a:solidFill>
              </a:rPr>
              <a:t> members. </a:t>
            </a:r>
          </a:p>
          <a:p>
            <a:r>
              <a:rPr lang="en-US" dirty="0">
                <a:solidFill>
                  <a:prstClr val="black"/>
                </a:solidFill>
              </a:rPr>
              <a:t>More in Slide 10 ff.</a:t>
            </a:r>
          </a:p>
          <a:p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40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2729" y="466344"/>
                <a:ext cx="11176247" cy="60899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8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8  	For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latin typeface="Symbol" panose="05050102010706020507" pitchFamily="18" charset="2"/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dirty="0">
                    <a:latin typeface="Symbol" panose="05050102010706020507" pitchFamily="18" charset="2"/>
                  </a:rPr>
                  <a:t>b,</a:t>
                </a:r>
                <a:endParaRPr lang="en-US" dirty="0"/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“Attribute A </a:t>
                </a:r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latin typeface="Symbol" panose="05050102010706020507" pitchFamily="18" charset="2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is </a:t>
                </a:r>
                <a:r>
                  <a:rPr lang="en-US" b="1" dirty="0"/>
                  <a:t>extraneous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if A …”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𝐹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∖{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means </a:t>
                </a:r>
                <a:r>
                  <a:rPr lang="en-US" dirty="0"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d</a:t>
                </a:r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on’t touch FD’s </a:t>
                </a:r>
                <a:r>
                  <a:rPr lang="en-US" dirty="0">
                    <a:solidFill>
                      <a:prstClr val="black"/>
                    </a:solidFill>
                  </a:rPr>
                  <a:t>not involved with </a:t>
                </a:r>
                <a:r>
                  <a:rPr lang="en-US" dirty="0"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latin typeface="Symbol" panose="05050102010706020507" pitchFamily="18" charset="2"/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dirty="0">
                    <a:latin typeface="Symbol" panose="05050102010706020507" pitchFamily="18" charset="2"/>
                  </a:rPr>
                  <a:t>b</a:t>
                </a:r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	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(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zh-CN" altLang="zh-CN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})→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means we can remove A from </a:t>
                </a:r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, with F</a:t>
                </a:r>
                <a:r>
                  <a:rPr lang="en-US" baseline="30000" dirty="0">
                    <a:solidFill>
                      <a:prstClr val="black"/>
                    </a:solidFill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+</a:t>
                </a:r>
                <a:r>
                  <a:rPr lang="en-US" dirty="0">
                    <a:solidFill>
                      <a:prstClr val="black"/>
                    </a:solidFill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 not changed. 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“Attribute A </a:t>
                </a:r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b="1" i="1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is </a:t>
                </a:r>
                <a:r>
                  <a:rPr lang="en-US" b="1" dirty="0"/>
                  <a:t>extraneous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if A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…”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Greek Symbols" pitchFamily="18" charset="2"/>
                      </a:rPr>
                      <m:t>(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\</m:t>
                    </m:r>
                    <m:r>
                      <m:rPr>
                        <m:lit/>
                      </m:rP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Symbol" pitchFamily="18" charset="2"/>
                          </a:rPr>
                          <m:t>𝐴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means we can remove A from </a:t>
                </a:r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with F</a:t>
                </a:r>
                <a:r>
                  <a:rPr lang="en-US" baseline="30000" dirty="0">
                    <a:solidFill>
                      <a:prstClr val="black"/>
                    </a:solidFill>
                  </a:rPr>
                  <a:t>+</a:t>
                </a:r>
                <a:r>
                  <a:rPr lang="en-US" dirty="0">
                    <a:solidFill>
                      <a:prstClr val="black"/>
                    </a:solidFill>
                  </a:rPr>
                  <a:t> not changed.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In first example: B </a:t>
                </a:r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>
                    <a:latin typeface="Symbol" panose="05050102010706020507" pitchFamily="18" charset="2"/>
                  </a:rPr>
                  <a:t> </a:t>
                </a:r>
                <a:r>
                  <a:rPr lang="en-US" dirty="0"/>
                  <a:t>is extraneous for A</a:t>
                </a:r>
                <a:r>
                  <a:rPr lang="en-US" dirty="0">
                    <a:solidFill>
                      <a:srgbClr val="00B050"/>
                    </a:solidFill>
                  </a:rPr>
                  <a:t>B</a:t>
                </a:r>
                <a:r>
                  <a:rPr lang="en-US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C</a:t>
                </a:r>
                <a:r>
                  <a:rPr lang="en-US" dirty="0"/>
                  <a:t> ; can drop B.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Canonical cover is {A</a:t>
                </a:r>
                <a:r>
                  <a:rPr lang="en-US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C}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In second example: C </a:t>
                </a:r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b="1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b</a:t>
                </a:r>
                <a:r>
                  <a:rPr lang="en-US" dirty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dirty="0"/>
                  <a:t>is extraneous for AB</a:t>
                </a:r>
                <a:r>
                  <a:rPr lang="en-US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C</a:t>
                </a:r>
                <a:r>
                  <a:rPr lang="en-US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D</a:t>
                </a:r>
                <a:r>
                  <a:rPr lang="en-US" dirty="0"/>
                  <a:t>; can drop C.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Canonical cover is {A</a:t>
                </a:r>
                <a:r>
                  <a:rPr lang="en-US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C, ABD}</a:t>
                </a:r>
              </a:p>
              <a:p>
                <a:pPr lvl="1"/>
                <a:endParaRPr lang="en-US" sz="8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9 </a:t>
                </a:r>
                <a:r>
                  <a:rPr lang="en-US" b="1" dirty="0">
                    <a:solidFill>
                      <a:srgbClr val="00B050"/>
                    </a:solidFill>
                  </a:rPr>
                  <a:t>Test</a:t>
                </a:r>
                <a:r>
                  <a:rPr lang="en-US" dirty="0">
                    <a:solidFill>
                      <a:prstClr val="black"/>
                    </a:solidFill>
                  </a:rPr>
                  <a:t> if an attribute is </a:t>
                </a:r>
                <a:r>
                  <a:rPr lang="en-US" dirty="0"/>
                  <a:t>extraneous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Remove the attribute; see if F</a:t>
                </a:r>
                <a:r>
                  <a:rPr lang="en-US" baseline="30000" dirty="0">
                    <a:solidFill>
                      <a:prstClr val="black"/>
                    </a:solidFill>
                  </a:rPr>
                  <a:t>+</a:t>
                </a:r>
                <a:r>
                  <a:rPr lang="en-US" dirty="0">
                    <a:solidFill>
                      <a:prstClr val="black"/>
                    </a:solidFill>
                  </a:rPr>
                  <a:t> remains the same.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729" y="466344"/>
                <a:ext cx="11176247" cy="6089904"/>
              </a:xfrm>
              <a:blipFill>
                <a:blip r:embed="rId2"/>
                <a:stretch>
                  <a:fillRect l="-1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71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0352" y="698500"/>
                <a:ext cx="10997184" cy="56039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10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Canonical cover </a:t>
                </a:r>
                <a:r>
                  <a:rPr lang="en-US" dirty="0"/>
                  <a:t>F</a:t>
                </a:r>
                <a:r>
                  <a:rPr lang="en-US" baseline="-25000" dirty="0"/>
                  <a:t>C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has no redundant FD’s or extraneous attributes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F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C</a:t>
                </a:r>
                <a:r>
                  <a:rPr lang="en-US" baseline="30000" dirty="0">
                    <a:solidFill>
                      <a:prstClr val="black"/>
                    </a:solidFill>
                  </a:rPr>
                  <a:t>+</a:t>
                </a:r>
                <a:r>
                  <a:rPr lang="en-US" dirty="0">
                    <a:solidFill>
                      <a:prstClr val="black"/>
                    </a:solidFill>
                  </a:rPr>
                  <a:t>  = F</a:t>
                </a:r>
                <a:r>
                  <a:rPr lang="en-US" baseline="30000" dirty="0">
                    <a:solidFill>
                      <a:prstClr val="black"/>
                    </a:solidFill>
                  </a:rPr>
                  <a:t>+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“Logically implies” means consider the closure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Example at bottom, remove extraneous attributes or FDs to get F</a:t>
                </a:r>
                <a:r>
                  <a:rPr lang="en-US" baseline="-25000" dirty="0">
                    <a:solidFill>
                      <a:prstClr val="black"/>
                    </a:solidFill>
                  </a:rPr>
                  <a:t>C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Extraneous attributes and FDs are marked in </a:t>
                </a:r>
                <a:r>
                  <a:rPr lang="en-US" b="1" dirty="0">
                    <a:solidFill>
                      <a:srgbClr val="FF0000"/>
                    </a:solidFill>
                  </a:rPr>
                  <a:t>red</a:t>
                </a:r>
                <a:r>
                  <a:rPr lang="en-US" dirty="0">
                    <a:solidFill>
                      <a:prstClr val="black"/>
                    </a:solidFill>
                  </a:rPr>
                  <a:t> in the lecture PPT.</a:t>
                </a:r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A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C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is extraneous, 		</a:t>
                </a:r>
                <a:r>
                  <a:rPr lang="en-US" dirty="0"/>
                  <a:t>F</a:t>
                </a:r>
                <a:r>
                  <a:rPr lang="en-US" baseline="-25000" dirty="0"/>
                  <a:t>C </a:t>
                </a:r>
                <a:r>
                  <a:rPr lang="en-US" dirty="0">
                    <a:sym typeface="Wingdings" panose="05000000000000000000" pitchFamily="2" charset="2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}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C is extraneous in </a:t>
                </a:r>
                <a:r>
                  <a:rPr lang="en-US" dirty="0">
                    <a:sym typeface="Wingdings" panose="05000000000000000000" pitchFamily="2" charset="2"/>
                  </a:rPr>
                  <a:t>A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C</a:t>
                </a:r>
                <a:r>
                  <a:rPr lang="en-US" dirty="0">
                    <a:sym typeface="Wingdings" panose="05000000000000000000" pitchFamily="2" charset="2"/>
                  </a:rPr>
                  <a:t>D,	</a:t>
                </a:r>
                <a:r>
                  <a:rPr lang="en-US" dirty="0"/>
                  <a:t>F</a:t>
                </a:r>
                <a:r>
                  <a:rPr lang="en-US" baseline="-25000" dirty="0"/>
                  <a:t>C </a:t>
                </a:r>
                <a:r>
                  <a:rPr lang="en-US" dirty="0">
                    <a:sym typeface="Wingdings" panose="05000000000000000000" pitchFamily="2" charset="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𝐶𝐷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C is extraneous in A</a:t>
                </a:r>
                <a:r>
                  <a:rPr lang="en-US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C</a:t>
                </a:r>
                <a:r>
                  <a:rPr lang="en-US" dirty="0">
                    <a:sym typeface="Wingdings" panose="05000000000000000000" pitchFamily="2" charset="2"/>
                  </a:rPr>
                  <a:t>D	</a:t>
                </a:r>
                <a:r>
                  <a:rPr lang="en-US" dirty="0"/>
                  <a:t>F</a:t>
                </a:r>
                <a:r>
                  <a:rPr lang="en-US" baseline="-25000" dirty="0"/>
                  <a:t>C </a:t>
                </a:r>
                <a:r>
                  <a:rPr lang="en-US" dirty="0">
                    <a:sym typeface="Wingdings" panose="05000000000000000000" pitchFamily="2" charset="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𝐷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marL="457200" lvl="1" indent="0">
                  <a:buNone/>
                </a:pPr>
                <a:endParaRPr lang="en-US" sz="8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11 Algorithm to compute canonical cover </a:t>
                </a:r>
                <a:r>
                  <a:rPr lang="en-US" dirty="0"/>
                  <a:t>F</a:t>
                </a:r>
                <a:r>
                  <a:rPr lang="en-US" baseline="-25000" dirty="0"/>
                  <a:t>C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Use </a:t>
                </a:r>
                <a:r>
                  <a:rPr lang="en-US" b="1" dirty="0">
                    <a:solidFill>
                      <a:srgbClr val="00B050"/>
                    </a:solidFill>
                  </a:rPr>
                  <a:t>union rule </a:t>
                </a:r>
                <a:r>
                  <a:rPr lang="en-US" dirty="0">
                    <a:solidFill>
                      <a:prstClr val="black"/>
                    </a:solidFill>
                  </a:rPr>
                  <a:t>to simplify (Lecture 9, slide 14)</a:t>
                </a:r>
              </a:p>
              <a:p>
                <a:pPr lvl="1"/>
                <a:r>
                  <a:rPr lang="en-US" b="1" dirty="0">
                    <a:solidFill>
                      <a:srgbClr val="00B050"/>
                    </a:solidFill>
                  </a:rPr>
                  <a:t>Remove extraneous attributes</a:t>
                </a:r>
                <a:r>
                  <a:rPr lang="en-US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352" y="698500"/>
                <a:ext cx="10997184" cy="5603977"/>
              </a:xfrm>
              <a:blipFill rotWithShape="0">
                <a:blip r:embed="rId2"/>
                <a:stretch>
                  <a:fillRect l="-1109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50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698500"/>
            <a:ext cx="10997184" cy="5603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Slide 12 Simple example for algorithm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Book has more explanations. </a:t>
            </a:r>
          </a:p>
          <a:p>
            <a:endParaRPr lang="en-US" sz="8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Slide 13-17 More Examples, step by step</a:t>
            </a:r>
          </a:p>
          <a:p>
            <a:r>
              <a:rPr lang="en-US" dirty="0">
                <a:solidFill>
                  <a:prstClr val="black"/>
                </a:solidFill>
              </a:rPr>
              <a:t>Note: 1</a:t>
            </a:r>
            <a:r>
              <a:rPr lang="en-US" baseline="30000" dirty="0">
                <a:solidFill>
                  <a:prstClr val="black"/>
                </a:solidFill>
              </a:rPr>
              <a:t>st</a:t>
            </a:r>
            <a:r>
              <a:rPr lang="en-US" dirty="0">
                <a:solidFill>
                  <a:prstClr val="black"/>
                </a:solidFill>
              </a:rPr>
              <a:t> line has </a:t>
            </a:r>
            <a:r>
              <a:rPr lang="en-US" dirty="0">
                <a:solidFill>
                  <a:srgbClr val="00B050"/>
                </a:solidFill>
              </a:rPr>
              <a:t>attribute F</a:t>
            </a:r>
            <a:r>
              <a:rPr lang="en-US" dirty="0">
                <a:solidFill>
                  <a:prstClr val="black"/>
                </a:solidFill>
              </a:rPr>
              <a:t> in set R; 2</a:t>
            </a:r>
            <a:r>
              <a:rPr lang="en-US" baseline="30000" dirty="0">
                <a:solidFill>
                  <a:prstClr val="black"/>
                </a:solidFill>
              </a:rPr>
              <a:t>nd</a:t>
            </a:r>
            <a:r>
              <a:rPr lang="en-US" dirty="0">
                <a:solidFill>
                  <a:prstClr val="black"/>
                </a:solidFill>
              </a:rPr>
              <a:t> line has </a:t>
            </a:r>
            <a:r>
              <a:rPr lang="en-US" b="1" dirty="0">
                <a:solidFill>
                  <a:srgbClr val="00B050"/>
                </a:solidFill>
              </a:rPr>
              <a:t>F</a:t>
            </a:r>
            <a:r>
              <a:rPr lang="en-US" dirty="0">
                <a:solidFill>
                  <a:prstClr val="black"/>
                </a:solidFill>
              </a:rPr>
              <a:t> as the FD set.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These two F’s are different.</a:t>
            </a:r>
          </a:p>
          <a:p>
            <a:r>
              <a:rPr lang="en-US" dirty="0">
                <a:solidFill>
                  <a:prstClr val="black"/>
                </a:solidFill>
              </a:rPr>
              <a:t>First iteration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First few FDs don’t look extraneous; new attributes are used at each new FDs; until we get to AC</a:t>
            </a:r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  B.</a:t>
            </a:r>
          </a:p>
          <a:p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Second iteration</a:t>
            </a:r>
          </a:p>
          <a:p>
            <a:pPr lvl="1"/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Union AC  G with AC  B to get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AC  BG</a:t>
            </a:r>
          </a:p>
          <a:p>
            <a:endParaRPr lang="en-US" sz="8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(This is long.)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358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0352" y="698500"/>
                <a:ext cx="10997184" cy="560397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4</a:t>
                </a:r>
                <a:r>
                  <a:rPr lang="en-US" baseline="30000" dirty="0">
                    <a:solidFill>
                      <a:prstClr val="black"/>
                    </a:solidFill>
                  </a:rPr>
                  <a:t>th</a:t>
                </a:r>
                <a:r>
                  <a:rPr lang="en-US" dirty="0">
                    <a:solidFill>
                      <a:prstClr val="black"/>
                    </a:solidFill>
                  </a:rPr>
                  <a:t> iteration: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𝐴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.  What happens if we get rid of </a:t>
                </a:r>
                <a:r>
                  <a:rPr lang="en-US" dirty="0">
                    <a:solidFill>
                      <a:srgbClr val="FF0000"/>
                    </a:solidFill>
                  </a:rPr>
                  <a:t>G</a:t>
                </a:r>
                <a:r>
                  <a:rPr lang="en-US" dirty="0">
                    <a:solidFill>
                      <a:prstClr val="black"/>
                    </a:solidFill>
                  </a:rPr>
                  <a:t>?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Start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.  Can we get G?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We got A.  How do we get B?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𝐴𝐶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.  … Finally,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𝐷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sym typeface="Symbol" pitchFamily="18" charset="2"/>
                      </a:rPr>
                      <m:t>𝐸𝐺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; we got </a:t>
                </a:r>
                <a:r>
                  <a:rPr lang="en-US" dirty="0">
                    <a:solidFill>
                      <a:srgbClr val="FF0000"/>
                    </a:solidFill>
                  </a:rPr>
                  <a:t>G</a:t>
                </a:r>
                <a:r>
                  <a:rPr lang="en-US" dirty="0">
                    <a:solidFill>
                      <a:prstClr val="black"/>
                    </a:solidFill>
                  </a:rPr>
                  <a:t>!!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352" y="698500"/>
                <a:ext cx="10997184" cy="5603977"/>
              </a:xfrm>
              <a:blipFill>
                <a:blip r:embed="rId2"/>
                <a:stretch>
                  <a:fillRect l="-998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032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565" y="563327"/>
                <a:ext cx="10966995" cy="59508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18 Un-uniqueness of canonical cover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For A </a:t>
                </a:r>
                <a:r>
                  <a:rPr lang="en-US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 BC, we c</a:t>
                </a:r>
                <a:r>
                  <a:rPr lang="en-US" dirty="0">
                    <a:solidFill>
                      <a:prstClr val="black"/>
                    </a:solidFill>
                  </a:rPr>
                  <a:t>an removing B or C, but not both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Removing B or C would give different results for </a:t>
                </a:r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F</a:t>
                </a:r>
                <a:r>
                  <a:rPr lang="en-US" altLang="zh-CN" baseline="-25000" dirty="0">
                    <a:ea typeface="宋体" charset="-122"/>
                    <a:cs typeface="Arial" panose="020B0604020202020204" pitchFamily="34" charset="0"/>
                    <a:sym typeface="Greek Symbols" pitchFamily="18" charset="2"/>
                  </a:rPr>
                  <a:t>c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Book has more explanations.</a:t>
                </a:r>
              </a:p>
              <a:p>
                <a:pPr marL="0" indent="0">
                  <a:buNone/>
                </a:pPr>
                <a:endParaRPr lang="en-US" sz="8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19 3NF Decomposition Algorithm</a:t>
                </a:r>
                <a:endParaRPr lang="en-US" sz="800" dirty="0">
                  <a:solidFill>
                    <a:prstClr val="black"/>
                  </a:solidFill>
                </a:endParaRP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Compare 3NF decomposition algorithm with BCNF decomposition algorithm (Lecture 10, slide 9)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3NF algorithm lines 3-8 corresponds to BCNF algorithm lines 3-8.</a:t>
                </a:r>
              </a:p>
              <a:p>
                <a:pPr lvl="2"/>
                <a:r>
                  <a:rPr lang="en-US" sz="2400" dirty="0">
                    <a:solidFill>
                      <a:prstClr val="black"/>
                    </a:solidFill>
                    <a:latin typeface="Symbol" panose="05050102010706020507" pitchFamily="18" charset="2"/>
                  </a:rPr>
                  <a:t>a </a:t>
                </a:r>
                <a:r>
                  <a:rPr lang="en-US" sz="2400" dirty="0">
                    <a:solidFill>
                      <a:prstClr val="black"/>
                    </a:solidFill>
                  </a:rPr>
                  <a:t>is the super key; condition 2 in definition of BCNF and 3NF (Slide 4).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In 3NF algorithm, lines 9-12 corresponds to condition 3 of the 3NF definition (Slide 4).</a:t>
                </a:r>
              </a:p>
              <a:p>
                <a:pPr lvl="2"/>
                <a:r>
                  <a:rPr lang="en-US" sz="2400" dirty="0">
                    <a:solidFill>
                      <a:prstClr val="black"/>
                    </a:solidFill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contains candidate keys for R.</a:t>
                </a:r>
              </a:p>
              <a:p>
                <a:pPr lvl="2"/>
                <a:endParaRPr lang="en-US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565" y="563327"/>
                <a:ext cx="10966995" cy="5950887"/>
              </a:xfrm>
              <a:blipFill rotWithShape="0">
                <a:blip r:embed="rId2"/>
                <a:stretch>
                  <a:fillRect l="-1167" t="-1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48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6344" y="438150"/>
                <a:ext cx="11237976" cy="58712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20-21 3NF Decomposition Example</a:t>
                </a:r>
              </a:p>
              <a:p>
                <a:r>
                  <a:rPr lang="en-US" b="1" dirty="0"/>
                  <a:t>Second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step: From 3NF Decom algorithm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From lines 3-8 Slide 19,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.</a:t>
                </a:r>
              </a:p>
              <a:p>
                <a:pPr lvl="2"/>
                <a:r>
                  <a:rPr lang="en-US" dirty="0">
                    <a:solidFill>
                      <a:prstClr val="black"/>
                    </a:solidFill>
                  </a:rPr>
                  <a:t>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from type → </a:t>
                </a:r>
                <a:r>
                  <a:rPr lang="en-US" dirty="0" err="1">
                    <a:solidFill>
                      <a:prstClr val="black"/>
                    </a:solidFill>
                  </a:rPr>
                  <a:t>customer_id</a:t>
                </a:r>
                <a:r>
                  <a:rPr lang="en-US" dirty="0">
                    <a:solidFill>
                      <a:prstClr val="black"/>
                    </a:solidFill>
                  </a:rPr>
                  <a:t>, </a:t>
                </a:r>
              </a:p>
              <a:p>
                <a:pPr lvl="2"/>
                <a:r>
                  <a:rPr lang="en-US" dirty="0">
                    <a:solidFill>
                      <a:prstClr val="black"/>
                    </a:solidFill>
                  </a:rPr>
                  <a:t>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from </a:t>
                </a:r>
                <a:r>
                  <a:rPr lang="en-US" dirty="0" err="1">
                    <a:solidFill>
                      <a:prstClr val="black"/>
                    </a:solidFill>
                  </a:rPr>
                  <a:t>customer_id</a:t>
                </a:r>
                <a:r>
                  <a:rPr lang="en-US" dirty="0">
                    <a:solidFill>
                      <a:prstClr val="black"/>
                    </a:solidFill>
                  </a:rPr>
                  <a:t>, </a:t>
                </a:r>
                <a:r>
                  <a:rPr lang="en-US" dirty="0" err="1">
                    <a:solidFill>
                      <a:prstClr val="black"/>
                    </a:solidFill>
                  </a:rPr>
                  <a:t>employer_id</a:t>
                </a:r>
                <a:r>
                  <a:rPr lang="en-US" dirty="0">
                    <a:solidFill>
                      <a:prstClr val="black"/>
                    </a:solidFill>
                  </a:rPr>
                  <a:t> → type	(</a:t>
                </a:r>
                <a:r>
                  <a:rPr lang="en-US" dirty="0" err="1">
                    <a:solidFill>
                      <a:prstClr val="black"/>
                    </a:solidFill>
                  </a:rPr>
                  <a:t>branch_name</a:t>
                </a:r>
                <a:r>
                  <a:rPr lang="en-US" dirty="0">
                    <a:solidFill>
                      <a:prstClr val="black"/>
                    </a:solidFill>
                  </a:rPr>
                  <a:t> is extraneous)</a:t>
                </a:r>
              </a:p>
              <a:p>
                <a:pPr lvl="2"/>
                <a:r>
                  <a:rPr lang="en-US" dirty="0">
                    <a:solidFill>
                      <a:prstClr val="black"/>
                    </a:solidFill>
                  </a:rPr>
                  <a:t>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from </a:t>
                </a:r>
                <a:r>
                  <a:rPr lang="en-US" dirty="0" err="1">
                    <a:solidFill>
                      <a:prstClr val="black"/>
                    </a:solidFill>
                  </a:rPr>
                  <a:t>employer_id</a:t>
                </a:r>
                <a:r>
                  <a:rPr lang="en-US" dirty="0">
                    <a:solidFill>
                      <a:prstClr val="black"/>
                    </a:solidFill>
                  </a:rPr>
                  <a:t> → </a:t>
                </a:r>
                <a:r>
                  <a:rPr lang="en-US" dirty="0" err="1">
                    <a:solidFill>
                      <a:prstClr val="black"/>
                    </a:solidFill>
                  </a:rPr>
                  <a:t>branch_name</a:t>
                </a:r>
                <a:r>
                  <a:rPr lang="en-US" dirty="0">
                    <a:solidFill>
                      <a:prstClr val="black"/>
                    </a:solidFill>
                  </a:rPr>
                  <a:t>,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From lines 9-12 slide </a:t>
                </a:r>
                <a:r>
                  <a:rPr lang="en-US" dirty="0"/>
                  <a:t>19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contains candidate key {</a:t>
                </a:r>
                <a:r>
                  <a:rPr lang="en-US" dirty="0" err="1">
                    <a:solidFill>
                      <a:schemeClr val="tx1"/>
                    </a:solidFill>
                  </a:rPr>
                  <a:t>customer_id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</a:rPr>
                  <a:t>employee_id</a:t>
                </a:r>
                <a:r>
                  <a:rPr lang="en-US" dirty="0">
                    <a:solidFill>
                      <a:schemeClr val="tx1"/>
                    </a:solidFill>
                  </a:rPr>
                  <a:t>}</a:t>
                </a:r>
              </a:p>
              <a:p>
                <a:pPr lvl="2"/>
                <a:r>
                  <a:rPr lang="en-US" dirty="0"/>
                  <a:t>N</a:t>
                </a:r>
                <a:r>
                  <a:rPr lang="en-US" dirty="0">
                    <a:solidFill>
                      <a:schemeClr val="tx1"/>
                    </a:solidFill>
                  </a:rPr>
                  <a:t>o further decomposition is needed.</a:t>
                </a:r>
              </a:p>
              <a:p>
                <a:pPr lvl="1"/>
                <a:r>
                  <a:rPr lang="en-US" dirty="0"/>
                  <a:t>3NF decom = </a:t>
                </a:r>
                <a:r>
                  <a:rPr lang="en-US" altLang="zh-CN" dirty="0">
                    <a:solidFill>
                      <a:prstClr val="black"/>
                    </a:solidFill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R</a:t>
                </a:r>
                <a:r>
                  <a:rPr lang="en-US" altLang="zh-CN" baseline="-25000" dirty="0">
                    <a:solidFill>
                      <a:prstClr val="black"/>
                    </a:solidFill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1</a:t>
                </a:r>
                <a:r>
                  <a:rPr lang="en-US" dirty="0">
                    <a:solidFill>
                      <a:prstClr val="black"/>
                    </a:solidFill>
                    <a:sym typeface="Wingdings" pitchFamily="2" charset="2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</a:t>
                </a:r>
                <a:r>
                  <a:rPr lang="en-US" dirty="0"/>
                  <a:t> </a:t>
                </a:r>
                <a:r>
                  <a:rPr lang="en-US" altLang="zh-CN" dirty="0">
                    <a:solidFill>
                      <a:prstClr val="black"/>
                    </a:solidFill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R</a:t>
                </a:r>
                <a:r>
                  <a:rPr lang="en-US" altLang="zh-CN" baseline="-25000" dirty="0">
                    <a:solidFill>
                      <a:prstClr val="black"/>
                    </a:solidFill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2</a:t>
                </a:r>
                <a:r>
                  <a:rPr lang="en-US" dirty="0">
                    <a:solidFill>
                      <a:prstClr val="black"/>
                    </a:solidFill>
                    <a:sym typeface="Wingdings" pitchFamily="2" charset="2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  <a:sym typeface="Symbol" panose="05050102010706020507" pitchFamily="18" charset="2"/>
                  </a:rPr>
                  <a:t> </a:t>
                </a:r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R</a:t>
                </a:r>
                <a:r>
                  <a:rPr lang="en-US" altLang="zh-CN" baseline="-25000" dirty="0"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3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In fact, this decomposition is also in BCNF.</a:t>
                </a:r>
              </a:p>
              <a:p>
                <a:pPr lvl="1"/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This could be an example for the BCNF algorithm.</a:t>
                </a:r>
              </a:p>
              <a:p>
                <a:pPr lvl="1"/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Wingdings" pitchFamily="2" charset="2"/>
                  </a:rPr>
                  <a:t>A decom in BCNF (satisfying conditions 1 or 2 of definition) also are in 3NF (satisfying conditions 1, 2 or 3 of definition).</a:t>
                </a:r>
              </a:p>
              <a:p>
                <a:pPr marL="914400" lvl="2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6344" y="438150"/>
                <a:ext cx="11237976" cy="5871210"/>
              </a:xfrm>
              <a:blipFill rotWithShape="0">
                <a:blip r:embed="rId2"/>
                <a:stretch>
                  <a:fillRect l="-1139" t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375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438150"/>
            <a:ext cx="11237976" cy="5871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Slide 22 </a:t>
            </a:r>
          </a:p>
          <a:p>
            <a:r>
              <a:rPr lang="en-US" dirty="0">
                <a:solidFill>
                  <a:prstClr val="black"/>
                </a:solidFill>
              </a:rPr>
              <a:t>Suppose in Step 2, we first do FD2	</a:t>
            </a:r>
            <a:r>
              <a:rPr lang="en-US" altLang="zh-CN" i="1" dirty="0" err="1">
                <a:ea typeface="宋体" charset="-122"/>
                <a:cs typeface="Arial" panose="020B0604020202020204" pitchFamily="34" charset="0"/>
              </a:rPr>
              <a:t>customer_id</a:t>
            </a:r>
            <a:r>
              <a:rPr lang="en-US" altLang="zh-CN" i="1" dirty="0">
                <a:ea typeface="宋体" charset="-122"/>
                <a:cs typeface="Arial" panose="020B0604020202020204" pitchFamily="34" charset="0"/>
              </a:rPr>
              <a:t>, </a:t>
            </a:r>
            <a:r>
              <a:rPr lang="en-US" altLang="zh-CN" i="1" dirty="0" err="1">
                <a:ea typeface="宋体" charset="-122"/>
                <a:cs typeface="Arial" panose="020B0604020202020204" pitchFamily="34" charset="0"/>
              </a:rPr>
              <a:t>employee_id</a:t>
            </a:r>
            <a:r>
              <a:rPr lang="en-US" altLang="zh-CN" i="1" dirty="0">
                <a:ea typeface="宋体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Symbol" pitchFamily="18" charset="2"/>
              </a:rPr>
              <a:t>→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 </a:t>
            </a:r>
            <a:r>
              <a:rPr lang="en-US" altLang="zh-CN" i="1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type.</a:t>
            </a:r>
          </a:p>
          <a:p>
            <a:pPr lvl="1"/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Get 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R′</a:t>
            </a:r>
            <a:r>
              <a:rPr lang="en-US" altLang="zh-CN" baseline="-25000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1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 = {</a:t>
            </a:r>
            <a:r>
              <a:rPr lang="en-US" altLang="zh-CN" u="sng" dirty="0" err="1">
                <a:ea typeface="宋体" charset="-122"/>
                <a:cs typeface="Arial" panose="020B0604020202020204" pitchFamily="34" charset="0"/>
                <a:sym typeface="Wingdings" pitchFamily="2" charset="2"/>
              </a:rPr>
              <a:t>c</a:t>
            </a:r>
            <a:r>
              <a:rPr lang="en-US" altLang="zh-CN" u="sng" dirty="0" err="1">
                <a:ea typeface="宋体" charset="-122"/>
                <a:cs typeface="Arial" panose="020B0604020202020204" pitchFamily="34" charset="0"/>
              </a:rPr>
              <a:t>ustomer_id</a:t>
            </a:r>
            <a:r>
              <a:rPr lang="en-US" altLang="zh-CN" u="sng" dirty="0">
                <a:ea typeface="宋体" charset="-122"/>
                <a:cs typeface="Arial" panose="020B0604020202020204" pitchFamily="34" charset="0"/>
              </a:rPr>
              <a:t>, </a:t>
            </a:r>
            <a:r>
              <a:rPr lang="en-US" altLang="zh-CN" u="sng" dirty="0" err="1">
                <a:ea typeface="宋体" charset="-122"/>
                <a:cs typeface="Arial" panose="020B0604020202020204" pitchFamily="34" charset="0"/>
              </a:rPr>
              <a:t>employee_id</a:t>
            </a:r>
            <a:r>
              <a:rPr lang="en-US" altLang="zh-CN" dirty="0">
                <a:ea typeface="宋体" charset="-122"/>
                <a:cs typeface="Arial" panose="020B0604020202020204" pitchFamily="34" charset="0"/>
              </a:rPr>
              <a:t>,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 type}</a:t>
            </a:r>
          </a:p>
          <a:p>
            <a:r>
              <a:rPr lang="en-US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Then we do FD1	</a:t>
            </a:r>
            <a:r>
              <a:rPr lang="en-US" altLang="zh-CN" dirty="0">
                <a:ea typeface="宋体" charset="-122"/>
                <a:cs typeface="Arial" panose="020B0604020202020204" pitchFamily="34" charset="0"/>
              </a:rPr>
              <a:t>type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 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Symbol" pitchFamily="18" charset="2"/>
              </a:rPr>
              <a:t>→ </a:t>
            </a:r>
            <a:r>
              <a:rPr lang="en-US" altLang="zh-CN" dirty="0" err="1">
                <a:ea typeface="宋体" charset="-122"/>
                <a:cs typeface="Arial" panose="020B0604020202020204" pitchFamily="34" charset="0"/>
                <a:sym typeface="Symbol" pitchFamily="18" charset="2"/>
              </a:rPr>
              <a:t>customer_id</a:t>
            </a:r>
            <a:endParaRPr lang="en-US" altLang="zh-CN" dirty="0">
              <a:ea typeface="宋体" charset="-122"/>
              <a:cs typeface="Arial" panose="020B0604020202020204" pitchFamily="34" charset="0"/>
              <a:sym typeface="Monotype Sorts" pitchFamily="2" charset="2"/>
            </a:endParaRPr>
          </a:p>
          <a:p>
            <a:pPr lvl="1"/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{</a:t>
            </a:r>
            <a:r>
              <a:rPr lang="en-US" altLang="zh-CN" dirty="0" err="1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customer_id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} \ {type} = {</a:t>
            </a:r>
            <a:r>
              <a:rPr lang="en-US" altLang="zh-CN" dirty="0" err="1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customer_id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} is in the candidate key for R; see 3</a:t>
            </a:r>
            <a:r>
              <a:rPr lang="en-US" altLang="zh-CN" baseline="30000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rd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 condition in the 3NF definition, Slide 4. </a:t>
            </a:r>
          </a:p>
          <a:p>
            <a:pPr lvl="1"/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So don’t need to decompose for this FD.</a:t>
            </a:r>
          </a:p>
          <a:p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Then do FD3	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employer_id</a:t>
            </a:r>
            <a:r>
              <a:rPr lang="en-US" dirty="0">
                <a:solidFill>
                  <a:prstClr val="black"/>
                </a:solidFill>
              </a:rPr>
              <a:t> → </a:t>
            </a:r>
            <a:r>
              <a:rPr lang="en-US" dirty="0" err="1">
                <a:solidFill>
                  <a:prstClr val="black"/>
                </a:solidFill>
              </a:rPr>
              <a:t>branch_name</a:t>
            </a:r>
            <a:r>
              <a:rPr lang="en-US" dirty="0">
                <a:solidFill>
                  <a:prstClr val="black"/>
                </a:solidFill>
              </a:rPr>
              <a:t>.</a:t>
            </a:r>
            <a:endParaRPr lang="en-US" altLang="zh-CN" dirty="0">
              <a:ea typeface="宋体" charset="-122"/>
              <a:cs typeface="Arial" panose="020B0604020202020204" pitchFamily="34" charset="0"/>
              <a:sym typeface="Monotype Sorts" pitchFamily="2" charset="2"/>
            </a:endParaRPr>
          </a:p>
          <a:p>
            <a:pPr lvl="1"/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Get 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R′</a:t>
            </a:r>
            <a:r>
              <a:rPr lang="en-US" altLang="zh-CN" baseline="-25000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2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 = {</a:t>
            </a:r>
            <a:r>
              <a:rPr lang="en-US" altLang="zh-CN" u="sng" dirty="0" err="1">
                <a:ea typeface="宋体" charset="-122"/>
                <a:cs typeface="Arial" panose="020B0604020202020204" pitchFamily="34" charset="0"/>
                <a:sym typeface="Wingdings" pitchFamily="2" charset="2"/>
              </a:rPr>
              <a:t>employee_id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altLang="zh-CN" dirty="0" err="1">
                <a:ea typeface="宋体" charset="-122"/>
                <a:cs typeface="Arial" panose="020B0604020202020204" pitchFamily="34" charset="0"/>
                <a:sym typeface="Wingdings" pitchFamily="2" charset="2"/>
              </a:rPr>
              <a:t>branch_name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Monotype Sorts" pitchFamily="2" charset="2"/>
              </a:rPr>
              <a:t>}</a:t>
            </a:r>
          </a:p>
          <a:p>
            <a:r>
              <a:rPr lang="en-US" dirty="0">
                <a:solidFill>
                  <a:prstClr val="black"/>
                </a:solidFill>
                <a:sym typeface="Wingdings" pitchFamily="2" charset="2"/>
              </a:rPr>
              <a:t>3NF decom = </a:t>
            </a:r>
            <a:r>
              <a:rPr lang="en-US" altLang="zh-CN" dirty="0">
                <a:solidFill>
                  <a:prstClr val="black"/>
                </a:solidFill>
                <a:ea typeface="宋体" charset="-122"/>
                <a:cs typeface="Arial" panose="020B0604020202020204" pitchFamily="34" charset="0"/>
                <a:sym typeface="Wingdings" pitchFamily="2" charset="2"/>
              </a:rPr>
              <a:t>R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′</a:t>
            </a:r>
            <a:r>
              <a:rPr lang="en-US" altLang="zh-CN" baseline="-25000" dirty="0">
                <a:solidFill>
                  <a:prstClr val="black"/>
                </a:solidFill>
                <a:ea typeface="宋体" charset="-122"/>
                <a:cs typeface="Arial" panose="020B0604020202020204" pitchFamily="34" charset="0"/>
                <a:sym typeface="Wingdings" pitchFamily="2" charset="2"/>
              </a:rPr>
              <a:t>1</a:t>
            </a:r>
            <a:r>
              <a:rPr lang="en-US" dirty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>
                <a:solidFill>
                  <a:prstClr val="black"/>
                </a:solidFill>
                <a:sym typeface="Symbol" panose="05050102010706020507" pitchFamily="18" charset="2"/>
              </a:rPr>
              <a:t> </a:t>
            </a:r>
            <a:r>
              <a:rPr lang="en-US" altLang="zh-CN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R′</a:t>
            </a:r>
            <a:r>
              <a:rPr lang="en-US" altLang="zh-CN" baseline="-25000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2</a:t>
            </a:r>
          </a:p>
          <a:p>
            <a:r>
              <a:rPr lang="en-US" altLang="zh-CN" dirty="0">
                <a:ea typeface="宋体" charset="-122"/>
                <a:cs typeface="Arial" panose="020B0604020202020204" pitchFamily="34" charset="0"/>
                <a:sym typeface="Wingdings" pitchFamily="2" charset="2"/>
              </a:rPr>
              <a:t>This 3NF is different than last slide, and is not in BCNF.</a:t>
            </a: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30112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6344" y="438149"/>
                <a:ext cx="11237976" cy="60205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23 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Book’s figure contains an optional part to remove redundant relations at the last step of the algorithm.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If we apply this in Slides 21,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Wingdings" pitchFamily="2" charset="2"/>
                      </a:rPr>
                      <m:t>={</m:t>
                    </m:r>
                    <m:bar>
                      <m:bar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bar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cs typeface="Arial" panose="020B0604020202020204" pitchFamily="34" charset="0"/>
                          </a:rPr>
                          <m:t>𝑡𝑦𝑝𝑒</m:t>
                        </m:r>
                      </m:e>
                    </m:ba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,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𝑐𝑢𝑠𝑡𝑜𝑚𝑒𝑟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𝑖𝑑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  <a:sym typeface="Symbol" pitchFamily="18" charset="2"/>
                      </a:rPr>
                      <m:t>}</m:t>
                    </m:r>
                  </m:oMath>
                </a14:m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 </a:t>
                </a:r>
                <a:r>
                  <a:rPr lang="en-US" altLang="zh-CN" dirty="0">
                    <a:ea typeface="宋体" charset="-122"/>
                    <a:cs typeface="Arial" panose="020B0604020202020204" pitchFamily="34" charset="0"/>
                    <a:sym typeface="Symbol" pitchFamily="18" charset="2"/>
                  </a:rPr>
                  <a:t>would be removed; then the 3NF for Slide 21 and Slide 22 would be the same.</a:t>
                </a:r>
              </a:p>
              <a:p>
                <a:endParaRPr lang="en-US" sz="8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Slide 24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Difference between BCNF and 3NF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BCNF decompositions 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Attributes lossless</a:t>
                </a:r>
                <a:r>
                  <a:rPr lang="en-US" dirty="0">
                    <a:solidFill>
                      <a:prstClr val="black"/>
                    </a:solidFill>
                  </a:rPr>
                  <a:t>, </a:t>
                </a:r>
                <a:r>
                  <a:rPr lang="en-US" dirty="0">
                    <a:solidFill>
                      <a:srgbClr val="FF0000"/>
                    </a:solidFill>
                  </a:rPr>
                  <a:t>no redundancies </a:t>
                </a:r>
                <a:r>
                  <a:rPr lang="en-US" dirty="0">
                    <a:solidFill>
                      <a:prstClr val="black"/>
                    </a:solidFill>
                  </a:rPr>
                  <a:t>in tables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Some FDs </a:t>
                </a:r>
                <a:r>
                  <a:rPr lang="en-US" dirty="0">
                    <a:solidFill>
                      <a:prstClr val="black"/>
                    </a:solidFill>
                  </a:rPr>
                  <a:t>might </a:t>
                </a:r>
                <a:r>
                  <a:rPr lang="en-US" dirty="0">
                    <a:solidFill>
                      <a:srgbClr val="FF0000"/>
                    </a:solidFill>
                  </a:rPr>
                  <a:t>not</a:t>
                </a:r>
                <a:r>
                  <a:rPr lang="en-US" dirty="0">
                    <a:solidFill>
                      <a:prstClr val="black"/>
                    </a:solidFill>
                  </a:rPr>
                  <a:t> be </a:t>
                </a:r>
                <a:r>
                  <a:rPr lang="en-US" dirty="0">
                    <a:solidFill>
                      <a:srgbClr val="FF0000"/>
                    </a:solidFill>
                  </a:rPr>
                  <a:t>preserved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prstClr val="black"/>
                    </a:solidFill>
                  </a:rPr>
                  <a:t>If a table is not in BCNF, break it into a “nice table” for a FD and a “left over table” for the remaining FD’s.</a:t>
                </a:r>
              </a:p>
              <a:p>
                <a:pPr lvl="2"/>
                <a:r>
                  <a:rPr lang="en-US" dirty="0">
                    <a:solidFill>
                      <a:prstClr val="black"/>
                    </a:solidFill>
                  </a:rPr>
                  <a:t>Remaining FD’s can only involve attributes in the left over table; some FD’s may be lost.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6344" y="438149"/>
                <a:ext cx="11237976" cy="6020523"/>
              </a:xfrm>
              <a:blipFill>
                <a:blip r:embed="rId2"/>
                <a:stretch>
                  <a:fillRect l="-1139" t="-1722" r="-2713" b="-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88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438150"/>
            <a:ext cx="11237976" cy="5871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Slide 24</a:t>
            </a:r>
          </a:p>
          <a:p>
            <a:r>
              <a:rPr lang="en-US" dirty="0">
                <a:solidFill>
                  <a:prstClr val="black"/>
                </a:solidFill>
              </a:rPr>
              <a:t>3NF decompositions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Attributes</a:t>
            </a:r>
            <a:r>
              <a:rPr lang="en-US" dirty="0">
                <a:solidFill>
                  <a:prstClr val="black"/>
                </a:solidFill>
              </a:rPr>
              <a:t> are </a:t>
            </a:r>
            <a:r>
              <a:rPr lang="en-US" dirty="0">
                <a:solidFill>
                  <a:srgbClr val="FF0000"/>
                </a:solidFill>
              </a:rPr>
              <a:t>lossless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>
                <a:solidFill>
                  <a:srgbClr val="FF0000"/>
                </a:solidFill>
              </a:rPr>
              <a:t>FDs preserved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Might have some </a:t>
            </a:r>
            <a:r>
              <a:rPr lang="en-US" dirty="0">
                <a:solidFill>
                  <a:srgbClr val="FF0000"/>
                </a:solidFill>
              </a:rPr>
              <a:t>redundancies</a:t>
            </a:r>
            <a:r>
              <a:rPr lang="en-US" dirty="0">
                <a:solidFill>
                  <a:prstClr val="black"/>
                </a:solidFill>
              </a:rPr>
              <a:t> in </a:t>
            </a:r>
            <a:r>
              <a:rPr lang="en-US" dirty="0">
                <a:solidFill>
                  <a:srgbClr val="FF0000"/>
                </a:solidFill>
              </a:rPr>
              <a:t>tables</a:t>
            </a:r>
          </a:p>
          <a:p>
            <a:pPr lvl="1"/>
            <a:r>
              <a:rPr lang="en-US" dirty="0"/>
              <a:t>In a canonical cover (F</a:t>
            </a:r>
            <a:r>
              <a:rPr lang="en-US" baseline="30000" dirty="0"/>
              <a:t>+ </a:t>
            </a:r>
            <a:r>
              <a:rPr lang="en-US" dirty="0"/>
              <a:t>with all extraneous FD’s removed), check </a:t>
            </a:r>
            <a:r>
              <a:rPr lang="en-US" dirty="0">
                <a:solidFill>
                  <a:srgbClr val="FF0000"/>
                </a:solidFill>
              </a:rPr>
              <a:t>every FD </a:t>
            </a:r>
            <a:r>
              <a:rPr lang="en-US" dirty="0"/>
              <a:t>to see if it satisfied 3NF.</a:t>
            </a:r>
          </a:p>
          <a:p>
            <a:pPr lvl="2"/>
            <a:r>
              <a:rPr lang="en-US" dirty="0"/>
              <a:t>If not, decompose the table for that FD to make it satisfy 3NF.</a:t>
            </a:r>
          </a:p>
          <a:p>
            <a:pPr lvl="2"/>
            <a:r>
              <a:rPr lang="en-US" dirty="0"/>
              <a:t>We must </a:t>
            </a:r>
            <a:r>
              <a:rPr lang="en-US" dirty="0">
                <a:solidFill>
                  <a:srgbClr val="FF0000"/>
                </a:solidFill>
              </a:rPr>
              <a:t>keep every FD </a:t>
            </a:r>
            <a:r>
              <a:rPr lang="en-US" dirty="0"/>
              <a:t>from the </a:t>
            </a:r>
            <a:r>
              <a:rPr lang="en-US" dirty="0">
                <a:solidFill>
                  <a:srgbClr val="FF0000"/>
                </a:solidFill>
              </a:rPr>
              <a:t>canonical cover</a:t>
            </a:r>
            <a:r>
              <a:rPr lang="en-US" dirty="0"/>
              <a:t>.</a:t>
            </a:r>
          </a:p>
          <a:p>
            <a:pPr lvl="2"/>
            <a:endParaRPr lang="en-US" dirty="0"/>
          </a:p>
          <a:p>
            <a:r>
              <a:rPr lang="en-US" dirty="0"/>
              <a:t>Next week, we will do more examples for BCNF.</a:t>
            </a:r>
          </a:p>
          <a:p>
            <a:endParaRPr lang="en-US" dirty="0"/>
          </a:p>
          <a:p>
            <a:r>
              <a:rPr lang="en-US" strike="sngStrike" dirty="0"/>
              <a:t>Do 3NF for simple case? 	F={A→B, B→C, C →A}</a:t>
            </a:r>
          </a:p>
        </p:txBody>
      </p:sp>
    </p:spTree>
    <p:extLst>
      <p:ext uri="{BB962C8B-B14F-4D97-AF65-F5344CB8AC3E}">
        <p14:creationId xmlns:p14="http://schemas.microsoft.com/office/powerpoint/2010/main" val="4191700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438150"/>
            <a:ext cx="11237976" cy="58712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Do intro to lab.</a:t>
            </a:r>
          </a:p>
          <a:p>
            <a:endParaRPr lang="en-US" dirty="0">
              <a:solidFill>
                <a:prstClr val="black"/>
              </a:solidFill>
            </a:endParaRPr>
          </a:p>
          <a:p>
            <a:r>
              <a:rPr lang="en-US" dirty="0">
                <a:solidFill>
                  <a:prstClr val="black"/>
                </a:solidFill>
              </a:rPr>
              <a:t>Remember: discuss with your team on the time slot you want to present.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Sign up on Wed 3 Dec </a:t>
            </a:r>
            <a:r>
              <a:rPr lang="en-US">
                <a:solidFill>
                  <a:prstClr val="black"/>
                </a:solidFill>
              </a:rPr>
              <a:t>in class.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84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4152</TotalTime>
  <Words>1591</Words>
  <Application>Microsoft Office PowerPoint</Application>
  <PresentationFormat>Widescreen</PresentationFormat>
  <Paragraphs>166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Greek Symbols</vt:lpstr>
      <vt:lpstr>Monotype Sorts</vt:lpstr>
      <vt:lpstr>等线</vt:lpstr>
      <vt:lpstr>宋体</vt:lpstr>
      <vt:lpstr>Arial</vt:lpstr>
      <vt:lpstr>Calibri</vt:lpstr>
      <vt:lpstr>Calibri Light</vt:lpstr>
      <vt:lpstr>Cambria Math</vt:lpstr>
      <vt:lpstr>Symbol</vt:lpstr>
      <vt:lpstr>Wingdings</vt:lpstr>
      <vt:lpstr>Office Theme</vt:lpstr>
      <vt:lpstr>Lecture 11 Relational Database Design Third Normal Form</vt:lpstr>
      <vt:lpstr>Presentation Sign up</vt:lpstr>
      <vt:lpstr>Assignment 3</vt:lpstr>
      <vt:lpstr>PowerPoint Presentation</vt:lpstr>
      <vt:lpstr>Third Normal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Relational Database Design</dc:title>
  <dc:creator>TEST</dc:creator>
  <cp:lastModifiedBy>UIC</cp:lastModifiedBy>
  <cp:revision>379</cp:revision>
  <dcterms:created xsi:type="dcterms:W3CDTF">2021-11-23T02:45:17Z</dcterms:created>
  <dcterms:modified xsi:type="dcterms:W3CDTF">2025-12-03T01:36:20Z</dcterms:modified>
</cp:coreProperties>
</file>