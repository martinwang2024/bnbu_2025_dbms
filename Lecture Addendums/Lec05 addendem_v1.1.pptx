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376" r:id="rId4"/>
    <p:sldId id="379" r:id="rId5"/>
    <p:sldId id="361" r:id="rId6"/>
    <p:sldId id="380" r:id="rId7"/>
    <p:sldId id="381" r:id="rId8"/>
    <p:sldId id="378" r:id="rId9"/>
    <p:sldId id="3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58" autoAdjust="0"/>
    <p:restoredTop sz="91677" autoAdjust="0"/>
  </p:normalViewPr>
  <p:slideViewPr>
    <p:cSldViewPr snapToGrid="0">
      <p:cViewPr varScale="1">
        <p:scale>
          <a:sx n="52" d="100"/>
          <a:sy n="52" d="100"/>
        </p:scale>
        <p:origin x="7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A7CB6F-1EC6-4E88-BB90-B62A7FA4EB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57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50139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03502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13499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030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764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48540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7048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49645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57704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93801"/>
            <a:ext cx="105156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1415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4945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kumimoji="1" lang="en-US" altLang="zh-CN" sz="1200" dirty="0">
                <a:solidFill>
                  <a:srgbClr val="FFFFFF"/>
                </a:solidFill>
              </a:rPr>
              <a:t>COMP3013</a:t>
            </a:r>
            <a:endParaRPr kumimoji="1"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kumimoji="1" lang="en-US" altLang="zh-CN" sz="1200" dirty="0">
                <a:solidFill>
                  <a:srgbClr val="FFFFFF"/>
                </a:solidFill>
              </a:rPr>
              <a:t>ER Model</a:t>
            </a:r>
            <a:endParaRPr kumimoji="1"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200" dirty="0">
              <a:solidFill>
                <a:srgbClr val="000000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rgbClr val="FFFFFF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rgbClr val="FFFFFF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316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848" y="378084"/>
            <a:ext cx="9144000" cy="1939814"/>
          </a:xfrm>
        </p:spPr>
        <p:txBody>
          <a:bodyPr>
            <a:normAutofit/>
          </a:bodyPr>
          <a:lstStyle/>
          <a:p>
            <a:r>
              <a:rPr lang="en-US" sz="4400" dirty="0"/>
              <a:t>Database Lecture 5</a:t>
            </a:r>
            <a:br>
              <a:rPr lang="en-US" sz="4400" dirty="0"/>
            </a:br>
            <a:r>
              <a:rPr lang="en-US" sz="4400" dirty="0"/>
              <a:t>Conceptual Design -</a:t>
            </a:r>
            <a:br>
              <a:rPr lang="en-US" sz="4400" dirty="0"/>
            </a:br>
            <a:r>
              <a:rPr lang="en-US" sz="4400" dirty="0"/>
              <a:t>Design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623339"/>
            <a:ext cx="9144000" cy="1655762"/>
          </a:xfrm>
        </p:spPr>
        <p:txBody>
          <a:bodyPr/>
          <a:lstStyle/>
          <a:p>
            <a:pPr lvl="1"/>
            <a:r>
              <a:rPr lang="en-US" sz="2800" dirty="0"/>
              <a:t>Addendum</a:t>
            </a:r>
          </a:p>
          <a:p>
            <a:pPr lvl="1"/>
            <a:r>
              <a:rPr lang="en-US" sz="2800" dirty="0"/>
              <a:t>Dr. Jefferson Fong</a:t>
            </a:r>
          </a:p>
          <a:p>
            <a:pPr lvl="1"/>
            <a:r>
              <a:rPr lang="en-US" sz="2800" dirty="0"/>
              <a:t>Reference 6.9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761"/>
          </a:xfrm>
        </p:spPr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2743"/>
            <a:ext cx="10515600" cy="20035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Midterm Test</a:t>
            </a:r>
          </a:p>
          <a:p>
            <a:r>
              <a:rPr lang="en-US" dirty="0"/>
              <a:t>From the survey, Midterm Test will be held on Sat Nov 15, 9:30-11:30.</a:t>
            </a:r>
          </a:p>
          <a:p>
            <a:r>
              <a:rPr lang="en-US" dirty="0"/>
              <a:t>If you have a legitimate excuse not to take the test at that time, you can apply for an official absentee form from UIC.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396C0E-4CDF-4319-A993-4171065D6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56" y="3266285"/>
            <a:ext cx="3268539" cy="258106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933B3B-A44E-4AA3-B086-1E9704C60CCC}"/>
              </a:ext>
            </a:extLst>
          </p:cNvPr>
          <p:cNvSpPr txBox="1">
            <a:spLocks/>
          </p:cNvSpPr>
          <p:nvPr/>
        </p:nvSpPr>
        <p:spPr>
          <a:xfrm>
            <a:off x="838200" y="3296078"/>
            <a:ext cx="7271084" cy="3314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Project Groups</a:t>
            </a:r>
          </a:p>
          <a:p>
            <a:r>
              <a:rPr lang="en-US" dirty="0"/>
              <a:t>Is in iSpace under Section 1002 / 1005 </a:t>
            </a:r>
          </a:p>
          <a:p>
            <a:r>
              <a:rPr lang="en-US" dirty="0"/>
              <a:t>Every group should have at least 1 or 2 people taken System and Web Development workshop.</a:t>
            </a:r>
          </a:p>
          <a:p>
            <a:pPr lvl="1"/>
            <a:r>
              <a:rPr lang="en-US" dirty="0"/>
              <a:t>Let us know if that’s not so.</a:t>
            </a:r>
          </a:p>
          <a:p>
            <a:r>
              <a:rPr lang="en-US" dirty="0"/>
              <a:t>Project description </a:t>
            </a:r>
            <a:r>
              <a:rPr lang="en-US"/>
              <a:t>due Sun Nov 9.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24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332509"/>
            <a:ext cx="10483849" cy="6139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Reference: [6.9]</a:t>
            </a:r>
            <a:endParaRPr lang="en-US" dirty="0"/>
          </a:p>
          <a:p>
            <a:r>
              <a:rPr lang="en-US" dirty="0"/>
              <a:t>In previous lectures, we’ve learned the various tools and mechanisms in ER model.</a:t>
            </a:r>
          </a:p>
          <a:p>
            <a:r>
              <a:rPr lang="en-US" dirty="0">
                <a:sym typeface="Symbol" panose="05050102010706020507" pitchFamily="18" charset="2"/>
              </a:rPr>
              <a:t>Now let’s consider the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Design Issues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How to effectively use these ER tools and mechanisms.</a:t>
            </a:r>
          </a:p>
          <a:p>
            <a:endParaRPr lang="en-US" sz="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3 Basic design techniques</a:t>
            </a:r>
          </a:p>
          <a:p>
            <a:pPr marL="457200" lvl="1" indent="0">
              <a:buNone/>
            </a:pPr>
            <a:r>
              <a:rPr lang="en-US" dirty="0">
                <a:sym typeface="Symbol" panose="05050102010706020507" pitchFamily="18" charset="2"/>
              </a:rPr>
              <a:t>2. “Application domain” – if designing DBMS for a bank, don’t change the terminology and class structure for the bank.</a:t>
            </a:r>
          </a:p>
          <a:p>
            <a:pPr marL="0" indent="0">
              <a:buNone/>
            </a:pPr>
            <a:endParaRPr lang="en-US" sz="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4 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Attribute vs Entity (slides 5-7)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Entity vs Relationship sets (slides 8-10)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Strong vs weak entity (slide 11)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Redundancy (slide 12-13)</a:t>
            </a:r>
          </a:p>
        </p:txBody>
      </p:sp>
    </p:spTree>
    <p:extLst>
      <p:ext uri="{BB962C8B-B14F-4D97-AF65-F5344CB8AC3E}">
        <p14:creationId xmlns:p14="http://schemas.microsoft.com/office/powerpoint/2010/main" val="43261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595423"/>
            <a:ext cx="10483849" cy="5876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8</a:t>
            </a:r>
          </a:p>
          <a:p>
            <a:r>
              <a:rPr lang="en-US" dirty="0"/>
              <a:t>Recall ISA from Lecture 4</a:t>
            </a:r>
          </a:p>
          <a:p>
            <a:pPr lvl="1"/>
            <a:r>
              <a:rPr lang="en-US" dirty="0"/>
              <a:t>The superset (person) is usually at the top.</a:t>
            </a:r>
          </a:p>
          <a:p>
            <a:pPr lvl="1"/>
            <a:r>
              <a:rPr lang="en-US" dirty="0"/>
              <a:t>Recall Java class; notice in class diagram for inheritance, the arrow points at the opposite direction of the ISA triangle.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Slide 9</a:t>
            </a:r>
          </a:p>
          <a:p>
            <a:r>
              <a:rPr lang="en-US" dirty="0"/>
              <a:t>Recall Lecture 4, we’ve discuss the ambiguity in ternary relationship.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dirty="0"/>
              <a:t>Slide 11</a:t>
            </a:r>
          </a:p>
          <a:p>
            <a:r>
              <a:rPr lang="en-US" dirty="0"/>
              <a:t>Recall Lecture 4, weak entity does not have a key.</a:t>
            </a:r>
          </a:p>
        </p:txBody>
      </p:sp>
    </p:spTree>
    <p:extLst>
      <p:ext uri="{BB962C8B-B14F-4D97-AF65-F5344CB8AC3E}">
        <p14:creationId xmlns:p14="http://schemas.microsoft.com/office/powerpoint/2010/main" val="32733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165100" y="734013"/>
            <a:ext cx="3747691" cy="42697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Slide 14 – 15</a:t>
            </a:r>
          </a:p>
          <a:p>
            <a:r>
              <a:rPr lang="en-US" sz="2400" dirty="0"/>
              <a:t>Slide 15 contains the solution to the Lecture 4 exercise.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Transcript’s</a:t>
            </a:r>
            <a:r>
              <a:rPr lang="en-US" sz="2400" dirty="0"/>
              <a:t> Gained units refers to credits completed by a student.</a:t>
            </a:r>
          </a:p>
          <a:p>
            <a:pPr lvl="1"/>
            <a:r>
              <a:rPr lang="en-US" sz="2000" dirty="0"/>
              <a:t>Gained units is redundant, can be calculated from …</a:t>
            </a:r>
          </a:p>
          <a:p>
            <a:pPr lvl="1"/>
            <a:r>
              <a:rPr lang="en-US" sz="2000" dirty="0"/>
              <a:t>Then </a:t>
            </a:r>
            <a:r>
              <a:rPr lang="en-US" sz="2000" dirty="0" err="1"/>
              <a:t>transcript_id</a:t>
            </a:r>
            <a:r>
              <a:rPr lang="en-US" sz="2000" dirty="0"/>
              <a:t> useless.</a:t>
            </a:r>
          </a:p>
          <a:p>
            <a:pPr lvl="1"/>
            <a:r>
              <a:rPr lang="en-US" sz="2000" dirty="0"/>
              <a:t>Can eliminate transcript.</a:t>
            </a:r>
          </a:p>
          <a:p>
            <a:pPr lvl="1"/>
            <a:r>
              <a:rPr lang="en-US" sz="2000" dirty="0"/>
              <a:t>Show solution from Lec05 Exercise.docx, pg. 14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040382" y="428102"/>
            <a:ext cx="7884918" cy="4389181"/>
            <a:chOff x="4040382" y="428102"/>
            <a:chExt cx="7884918" cy="438918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2616343-3563-A927-5810-E5E41653F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40382" y="428102"/>
              <a:ext cx="7884918" cy="4389180"/>
            </a:xfrm>
            <a:prstGeom prst="rect">
              <a:avLst/>
            </a:prstGeom>
          </p:spPr>
        </p:pic>
        <p:cxnSp>
          <p:nvCxnSpPr>
            <p:cNvPr id="4" name="Straight Arrow Connector 3"/>
            <p:cNvCxnSpPr/>
            <p:nvPr/>
          </p:nvCxnSpPr>
          <p:spPr>
            <a:xfrm>
              <a:off x="5135526" y="1552354"/>
              <a:ext cx="1148316" cy="4572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5858540" y="4178595"/>
              <a:ext cx="659218" cy="6386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359080" y="5058377"/>
            <a:ext cx="11197919" cy="1587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Ternary </a:t>
            </a:r>
            <a:r>
              <a:rPr lang="en-US" sz="2400" dirty="0">
                <a:solidFill>
                  <a:srgbClr val="0070C0"/>
                </a:solidFill>
              </a:rPr>
              <a:t>enroll</a:t>
            </a:r>
            <a:r>
              <a:rPr lang="en-US" sz="2400" dirty="0"/>
              <a:t> relationship, with student/section/instructor can’t handle situation if student takes the class multiple times.</a:t>
            </a:r>
          </a:p>
          <a:p>
            <a:r>
              <a:rPr lang="en-US" sz="2400" dirty="0"/>
              <a:t>Should change to binary relationships: student enroll section, and instructor teach section. 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0E7AA5-B263-4AEF-BE00-CBC2A9DBAEB7}"/>
              </a:ext>
            </a:extLst>
          </p:cNvPr>
          <p:cNvCxnSpPr>
            <a:cxnSpLocks/>
          </p:cNvCxnSpPr>
          <p:nvPr/>
        </p:nvCxnSpPr>
        <p:spPr>
          <a:xfrm flipV="1">
            <a:off x="7691474" y="4292600"/>
            <a:ext cx="0" cy="52468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098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97543" y="1986162"/>
            <a:ext cx="5020486" cy="17373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16</a:t>
            </a:r>
          </a:p>
          <a:p>
            <a:r>
              <a:rPr lang="en-US" dirty="0"/>
              <a:t>Create entities first, then figure out the relationships between the entities and constraints.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9" t="14461" r="15333" b="51777"/>
          <a:stretch/>
        </p:blipFill>
        <p:spPr>
          <a:xfrm>
            <a:off x="6379535" y="1871861"/>
            <a:ext cx="4937760" cy="173736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97543" y="818707"/>
            <a:ext cx="10521771" cy="893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Note: Entities are nouns, and relationships are usually verbs.</a:t>
            </a:r>
          </a:p>
          <a:p>
            <a:pPr lvl="1"/>
            <a:r>
              <a:rPr lang="en-US" dirty="0"/>
              <a:t>Verify this in the last diagram.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D67FA0-84CD-4078-B8A4-1154A6250CD3}"/>
              </a:ext>
            </a:extLst>
          </p:cNvPr>
          <p:cNvSpPr txBox="1">
            <a:spLocks/>
          </p:cNvSpPr>
          <p:nvPr/>
        </p:nvSpPr>
        <p:spPr>
          <a:xfrm>
            <a:off x="997543" y="3614646"/>
            <a:ext cx="9500396" cy="30274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the Lec05 </a:t>
            </a:r>
            <a:r>
              <a:rPr lang="en-US" dirty="0" err="1"/>
              <a:t>Exercises.docs</a:t>
            </a:r>
            <a:r>
              <a:rPr lang="en-US" dirty="0"/>
              <a:t>, should change relationship “exam location” to “meet at”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dirty="0"/>
              <a:t>Slide 17</a:t>
            </a:r>
          </a:p>
          <a:p>
            <a:r>
              <a:rPr lang="en-US" dirty="0"/>
              <a:t>ER diagram on Slide 13 cannot satisfy all requirements listed.</a:t>
            </a:r>
          </a:p>
          <a:p>
            <a:r>
              <a:rPr lang="en-US" dirty="0"/>
              <a:t>So add entity </a:t>
            </a:r>
            <a:r>
              <a:rPr lang="en-US" dirty="0">
                <a:solidFill>
                  <a:srgbClr val="FF0000"/>
                </a:solidFill>
              </a:rPr>
              <a:t>Group</a:t>
            </a:r>
            <a:r>
              <a:rPr lang="en-US" dirty="0"/>
              <a:t> to the diagram.</a:t>
            </a:r>
          </a:p>
          <a:p>
            <a:pPr lvl="1"/>
            <a:r>
              <a:rPr lang="en-US" dirty="0"/>
              <a:t>Student join </a:t>
            </a:r>
            <a:r>
              <a:rPr lang="en-US" dirty="0">
                <a:solidFill>
                  <a:srgbClr val="FF0000"/>
                </a:solidFill>
              </a:rPr>
              <a:t>Group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Group</a:t>
            </a:r>
            <a:r>
              <a:rPr lang="en-US" dirty="0"/>
              <a:t> work on Project.</a:t>
            </a:r>
          </a:p>
        </p:txBody>
      </p:sp>
    </p:spTree>
    <p:extLst>
      <p:ext uri="{BB962C8B-B14F-4D97-AF65-F5344CB8AC3E}">
        <p14:creationId xmlns:p14="http://schemas.microsoft.com/office/powerpoint/2010/main" val="156043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740F5-F720-490F-80FB-2FD6E2FC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Summary of ER Diagram Design</a:t>
            </a:r>
            <a:endParaRPr lang="zh-CN" altLang="en-US" dirty="0"/>
          </a:p>
        </p:txBody>
      </p:sp>
      <p:sp>
        <p:nvSpPr>
          <p:cNvPr id="13" name="矩形 12">
            <a:hlinkClick r:id="" action="ppaction://noaction"/>
            <a:extLst>
              <a:ext uri="{FF2B5EF4-FFF2-40B4-BE49-F238E27FC236}">
                <a16:creationId xmlns:a16="http://schemas.microsoft.com/office/drawing/2014/main" id="{7AF88F3A-D700-427E-BAE4-7C8331FFB359}"/>
              </a:ext>
            </a:extLst>
          </p:cNvPr>
          <p:cNvSpPr/>
          <p:nvPr/>
        </p:nvSpPr>
        <p:spPr>
          <a:xfrm>
            <a:off x="152400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hlinkClick r:id="" action="ppaction://noaction"/>
            <a:extLst>
              <a:ext uri="{FF2B5EF4-FFF2-40B4-BE49-F238E27FC236}">
                <a16:creationId xmlns:a16="http://schemas.microsoft.com/office/drawing/2014/main" id="{F9E20F86-8C42-4B3B-ACDB-EA5FD16F71A3}"/>
              </a:ext>
            </a:extLst>
          </p:cNvPr>
          <p:cNvSpPr/>
          <p:nvPr/>
        </p:nvSpPr>
        <p:spPr>
          <a:xfrm>
            <a:off x="2533650" y="-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hlinkClick r:id="" action="ppaction://noaction"/>
            <a:extLst>
              <a:ext uri="{FF2B5EF4-FFF2-40B4-BE49-F238E27FC236}">
                <a16:creationId xmlns:a16="http://schemas.microsoft.com/office/drawing/2014/main" id="{F136C49E-85D2-45B7-BB18-D140A07D0A34}"/>
              </a:ext>
            </a:extLst>
          </p:cNvPr>
          <p:cNvSpPr/>
          <p:nvPr/>
        </p:nvSpPr>
        <p:spPr>
          <a:xfrm>
            <a:off x="354330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hlinkClick r:id="" action="ppaction://noaction"/>
            <a:extLst>
              <a:ext uri="{FF2B5EF4-FFF2-40B4-BE49-F238E27FC236}">
                <a16:creationId xmlns:a16="http://schemas.microsoft.com/office/drawing/2014/main" id="{68783B5D-D60F-4C53-ABC8-ED661E890E51}"/>
              </a:ext>
            </a:extLst>
          </p:cNvPr>
          <p:cNvSpPr/>
          <p:nvPr/>
        </p:nvSpPr>
        <p:spPr>
          <a:xfrm>
            <a:off x="4552950" y="-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hlinkClick r:id="" action="ppaction://noaction"/>
            <a:extLst>
              <a:ext uri="{FF2B5EF4-FFF2-40B4-BE49-F238E27FC236}">
                <a16:creationId xmlns:a16="http://schemas.microsoft.com/office/drawing/2014/main" id="{A6F9743A-3816-4A03-B0E4-03A0E8757B07}"/>
              </a:ext>
            </a:extLst>
          </p:cNvPr>
          <p:cNvSpPr/>
          <p:nvPr/>
        </p:nvSpPr>
        <p:spPr>
          <a:xfrm>
            <a:off x="5562600" y="2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hlinkClick r:id="" action="ppaction://noaction"/>
            <a:extLst>
              <a:ext uri="{FF2B5EF4-FFF2-40B4-BE49-F238E27FC236}">
                <a16:creationId xmlns:a16="http://schemas.microsoft.com/office/drawing/2014/main" id="{6592AE57-2C68-4265-971F-22D741F1ADDC}"/>
              </a:ext>
            </a:extLst>
          </p:cNvPr>
          <p:cNvSpPr/>
          <p:nvPr/>
        </p:nvSpPr>
        <p:spPr>
          <a:xfrm>
            <a:off x="657225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Issue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hlinkClick r:id="" action="ppaction://noaction"/>
            <a:extLst>
              <a:ext uri="{FF2B5EF4-FFF2-40B4-BE49-F238E27FC236}">
                <a16:creationId xmlns:a16="http://schemas.microsoft.com/office/drawing/2014/main" id="{1B96678A-2BC9-4412-92CE-E06D003359C9}"/>
              </a:ext>
            </a:extLst>
          </p:cNvPr>
          <p:cNvSpPr/>
          <p:nvPr/>
        </p:nvSpPr>
        <p:spPr>
          <a:xfrm>
            <a:off x="7581900" y="2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Tech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hlinkClick r:id="" action="ppaction://noaction"/>
            <a:extLst>
              <a:ext uri="{FF2B5EF4-FFF2-40B4-BE49-F238E27FC236}">
                <a16:creationId xmlns:a16="http://schemas.microsoft.com/office/drawing/2014/main" id="{6C3CC5FB-D3FC-4D93-A811-84F4D70AD59F}"/>
              </a:ext>
            </a:extLst>
          </p:cNvPr>
          <p:cNvSpPr/>
          <p:nvPr/>
        </p:nvSpPr>
        <p:spPr>
          <a:xfrm>
            <a:off x="859155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hlinkClick r:id="" action="ppaction://noaction"/>
            <a:extLst>
              <a:ext uri="{FF2B5EF4-FFF2-40B4-BE49-F238E27FC236}">
                <a16:creationId xmlns:a16="http://schemas.microsoft.com/office/drawing/2014/main" id="{C5331E20-40E2-448C-94B6-A40A27BA0294}"/>
              </a:ext>
            </a:extLst>
          </p:cNvPr>
          <p:cNvSpPr/>
          <p:nvPr/>
        </p:nvSpPr>
        <p:spPr>
          <a:xfrm>
            <a:off x="9601200" y="-2"/>
            <a:ext cx="10668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Schema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DA26BE-5D13-4CBD-BB27-CD213C46EF7F}"/>
              </a:ext>
            </a:extLst>
          </p:cNvPr>
          <p:cNvSpPr/>
          <p:nvPr/>
        </p:nvSpPr>
        <p:spPr>
          <a:xfrm>
            <a:off x="2619595" y="1588553"/>
            <a:ext cx="37434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D351283-F7CC-402F-A7BD-FA7AFD519189}"/>
              </a:ext>
            </a:extLst>
          </p:cNvPr>
          <p:cNvGrpSpPr/>
          <p:nvPr/>
        </p:nvGrpSpPr>
        <p:grpSpPr>
          <a:xfrm>
            <a:off x="5130424" y="1463892"/>
            <a:ext cx="550463" cy="550463"/>
            <a:chOff x="5578646" y="5157139"/>
            <a:chExt cx="1040454" cy="1040454"/>
          </a:xfrm>
        </p:grpSpPr>
        <p:sp>
          <p:nvSpPr>
            <p:cNvPr id="26" name="菱形 25">
              <a:extLst>
                <a:ext uri="{FF2B5EF4-FFF2-40B4-BE49-F238E27FC236}">
                  <a16:creationId xmlns:a16="http://schemas.microsoft.com/office/drawing/2014/main" id="{C0DC76B3-58D4-491A-BC14-C0A83F8EAF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F21A4CA-B9C1-4D26-AD3B-30DC2B3DBA42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C917966D-0057-4D42-B1D5-75FFCFBB751D}"/>
              </a:ext>
            </a:extLst>
          </p:cNvPr>
          <p:cNvSpPr txBox="1"/>
          <p:nvPr/>
        </p:nvSpPr>
        <p:spPr>
          <a:xfrm>
            <a:off x="3614098" y="1588553"/>
            <a:ext cx="901209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6DFD521B-09D2-4382-B8F6-5857EE963CB3}"/>
              </a:ext>
            </a:extLst>
          </p:cNvPr>
          <p:cNvSpPr/>
          <p:nvPr/>
        </p:nvSpPr>
        <p:spPr>
          <a:xfrm>
            <a:off x="7824030" y="1572067"/>
            <a:ext cx="374343" cy="354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C0C16E6-49E6-4A40-BBB7-4EBC7893807F}"/>
              </a:ext>
            </a:extLst>
          </p:cNvPr>
          <p:cNvSpPr txBox="1"/>
          <p:nvPr/>
        </p:nvSpPr>
        <p:spPr>
          <a:xfrm>
            <a:off x="5981810" y="1585234"/>
            <a:ext cx="1388522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77F3B9F-F74E-4AD3-9507-53E1C262AABF}"/>
              </a:ext>
            </a:extLst>
          </p:cNvPr>
          <p:cNvSpPr/>
          <p:nvPr/>
        </p:nvSpPr>
        <p:spPr>
          <a:xfrm>
            <a:off x="2612938" y="2280989"/>
            <a:ext cx="374343" cy="307777"/>
          </a:xfrm>
          <a:prstGeom prst="rect">
            <a:avLst/>
          </a:prstGeom>
          <a:noFill/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84A8C81-E56A-46AB-8A2C-EFFB8E45D4DA}"/>
              </a:ext>
            </a:extLst>
          </p:cNvPr>
          <p:cNvSpPr txBox="1"/>
          <p:nvPr/>
        </p:nvSpPr>
        <p:spPr>
          <a:xfrm>
            <a:off x="3607440" y="2280989"/>
            <a:ext cx="1369286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3106681-CD66-45D5-B94D-46069BF0A0EF}"/>
              </a:ext>
            </a:extLst>
          </p:cNvPr>
          <p:cNvGrpSpPr/>
          <p:nvPr/>
        </p:nvGrpSpPr>
        <p:grpSpPr>
          <a:xfrm>
            <a:off x="5130424" y="2191284"/>
            <a:ext cx="550463" cy="550463"/>
            <a:chOff x="5578646" y="5157139"/>
            <a:chExt cx="1040454" cy="1040454"/>
          </a:xfrm>
        </p:grpSpPr>
        <p:sp>
          <p:nvSpPr>
            <p:cNvPr id="41" name="菱形 40">
              <a:extLst>
                <a:ext uri="{FF2B5EF4-FFF2-40B4-BE49-F238E27FC236}">
                  <a16:creationId xmlns:a16="http://schemas.microsoft.com/office/drawing/2014/main" id="{BC780BFB-CF05-4A86-AE58-13F643CEC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E05839E-4DDC-462A-A40C-B9F0D3AEEA26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EBE1C928-94BC-4AF3-BDEF-BD837C05B612}"/>
              </a:ext>
            </a:extLst>
          </p:cNvPr>
          <p:cNvSpPr txBox="1"/>
          <p:nvPr/>
        </p:nvSpPr>
        <p:spPr>
          <a:xfrm>
            <a:off x="5981810" y="2204904"/>
            <a:ext cx="1388522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BD2FEE4-3A1E-4385-91B2-16839A93BB23}"/>
              </a:ext>
            </a:extLst>
          </p:cNvPr>
          <p:cNvSpPr txBox="1"/>
          <p:nvPr/>
        </p:nvSpPr>
        <p:spPr>
          <a:xfrm>
            <a:off x="8627256" y="1588553"/>
            <a:ext cx="830677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82B5BF29-9DD7-4BB4-BFD5-7EDC2E21E2E8}"/>
              </a:ext>
            </a:extLst>
          </p:cNvPr>
          <p:cNvSpPr/>
          <p:nvPr/>
        </p:nvSpPr>
        <p:spPr>
          <a:xfrm>
            <a:off x="7824030" y="2282519"/>
            <a:ext cx="374343" cy="354072"/>
          </a:xfrm>
          <a:prstGeom prst="ellipse">
            <a:avLst/>
          </a:prstGeom>
          <a:noFill/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163EE33-288C-4A6A-9BFC-0C605C0D873B}"/>
              </a:ext>
            </a:extLst>
          </p:cNvPr>
          <p:cNvSpPr txBox="1"/>
          <p:nvPr/>
        </p:nvSpPr>
        <p:spPr>
          <a:xfrm>
            <a:off x="8627256" y="2191283"/>
            <a:ext cx="109036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multivalued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1618D895-47BD-4611-9984-45029BDE7E13}"/>
              </a:ext>
            </a:extLst>
          </p:cNvPr>
          <p:cNvSpPr/>
          <p:nvPr/>
        </p:nvSpPr>
        <p:spPr>
          <a:xfrm>
            <a:off x="7824030" y="3070883"/>
            <a:ext cx="374343" cy="35407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B1D5A68-950D-4DEF-835D-7B6FFC9490FC}"/>
              </a:ext>
            </a:extLst>
          </p:cNvPr>
          <p:cNvSpPr txBox="1"/>
          <p:nvPr/>
        </p:nvSpPr>
        <p:spPr>
          <a:xfrm>
            <a:off x="8627256" y="2979647"/>
            <a:ext cx="830677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derived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01D9302B-F524-4DE1-A4B9-5057EBABB21D}"/>
              </a:ext>
            </a:extLst>
          </p:cNvPr>
          <p:cNvSpPr/>
          <p:nvPr/>
        </p:nvSpPr>
        <p:spPr>
          <a:xfrm>
            <a:off x="7824030" y="3859247"/>
            <a:ext cx="374343" cy="354072"/>
          </a:xfrm>
          <a:prstGeom prst="ellipse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u="s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74F44A6-59D6-4747-B872-AF0C2D34131A}"/>
              </a:ext>
            </a:extLst>
          </p:cNvPr>
          <p:cNvSpPr txBox="1"/>
          <p:nvPr/>
        </p:nvSpPr>
        <p:spPr>
          <a:xfrm>
            <a:off x="8627256" y="3875733"/>
            <a:ext cx="1109599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C3901E6C-82EC-4D10-992A-B038E46E6BFB}"/>
              </a:ext>
            </a:extLst>
          </p:cNvPr>
          <p:cNvSpPr/>
          <p:nvPr/>
        </p:nvSpPr>
        <p:spPr>
          <a:xfrm>
            <a:off x="7824030" y="4539690"/>
            <a:ext cx="374343" cy="354072"/>
          </a:xfrm>
          <a:prstGeom prst="ellipse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u="dashLo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endParaRPr lang="zh-CN" altLang="en-US" sz="1400" i="1" u="dashLo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2F1E923-CE3C-47C5-94F7-6406C90666BE}"/>
              </a:ext>
            </a:extLst>
          </p:cNvPr>
          <p:cNvSpPr txBox="1"/>
          <p:nvPr/>
        </p:nvSpPr>
        <p:spPr>
          <a:xfrm>
            <a:off x="8627256" y="4556176"/>
            <a:ext cx="1199367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discriminator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8B03DC5F-76FF-4D5C-848F-1083E22D4E62}"/>
              </a:ext>
            </a:extLst>
          </p:cNvPr>
          <p:cNvGrpSpPr/>
          <p:nvPr/>
        </p:nvGrpSpPr>
        <p:grpSpPr>
          <a:xfrm>
            <a:off x="5130424" y="2968530"/>
            <a:ext cx="550463" cy="550463"/>
            <a:chOff x="5578646" y="5157139"/>
            <a:chExt cx="1040454" cy="1040454"/>
          </a:xfrm>
        </p:grpSpPr>
        <p:sp>
          <p:nvSpPr>
            <p:cNvPr id="54" name="菱形 53">
              <a:extLst>
                <a:ext uri="{FF2B5EF4-FFF2-40B4-BE49-F238E27FC236}">
                  <a16:creationId xmlns:a16="http://schemas.microsoft.com/office/drawing/2014/main" id="{60240726-CE61-4A2B-A07E-7D4AE3FCE2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0F8A008E-0D61-450F-8F8B-A720F28A4927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190F6B9-630D-46C5-A967-4B75C93CEF2C}"/>
              </a:ext>
            </a:extLst>
          </p:cNvPr>
          <p:cNvCxnSpPr>
            <a:stCxn id="54" idx="1"/>
          </p:cNvCxnSpPr>
          <p:nvPr/>
        </p:nvCxnSpPr>
        <p:spPr>
          <a:xfrm flipH="1" flipV="1">
            <a:off x="4910239" y="3241257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0F85651A-D720-4143-AF04-2163E0EF33C8}"/>
              </a:ext>
            </a:extLst>
          </p:cNvPr>
          <p:cNvCxnSpPr/>
          <p:nvPr/>
        </p:nvCxnSpPr>
        <p:spPr>
          <a:xfrm flipH="1" flipV="1">
            <a:off x="5680887" y="3245415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E5AD3D0F-02D8-4675-9A35-23F5D5F1C56B}"/>
              </a:ext>
            </a:extLst>
          </p:cNvPr>
          <p:cNvSpPr txBox="1"/>
          <p:nvPr/>
        </p:nvSpPr>
        <p:spPr>
          <a:xfrm>
            <a:off x="5981810" y="2963418"/>
            <a:ext cx="1388522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many-to-many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ED71C711-B3EE-456D-834B-2238101B2FB4}"/>
              </a:ext>
            </a:extLst>
          </p:cNvPr>
          <p:cNvGrpSpPr/>
          <p:nvPr/>
        </p:nvGrpSpPr>
        <p:grpSpPr>
          <a:xfrm>
            <a:off x="5130424" y="3721933"/>
            <a:ext cx="550463" cy="550463"/>
            <a:chOff x="5578646" y="5157139"/>
            <a:chExt cx="1040454" cy="1040454"/>
          </a:xfrm>
        </p:grpSpPr>
        <p:sp>
          <p:nvSpPr>
            <p:cNvPr id="59" name="菱形 58">
              <a:extLst>
                <a:ext uri="{FF2B5EF4-FFF2-40B4-BE49-F238E27FC236}">
                  <a16:creationId xmlns:a16="http://schemas.microsoft.com/office/drawing/2014/main" id="{68E12798-C6FD-4A3E-AFE5-0A20AD212B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74A9C71-FD4C-4257-B64E-3B4F647DDB74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3B0452D8-F5F9-4A83-A719-9A23AE54CCCC}"/>
              </a:ext>
            </a:extLst>
          </p:cNvPr>
          <p:cNvCxnSpPr>
            <a:stCxn id="59" idx="1"/>
          </p:cNvCxnSpPr>
          <p:nvPr/>
        </p:nvCxnSpPr>
        <p:spPr>
          <a:xfrm flipH="1" flipV="1">
            <a:off x="4910239" y="3994660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5617342A-E310-4F3A-97AF-B61763083D1D}"/>
              </a:ext>
            </a:extLst>
          </p:cNvPr>
          <p:cNvCxnSpPr/>
          <p:nvPr/>
        </p:nvCxnSpPr>
        <p:spPr>
          <a:xfrm flipH="1" flipV="1">
            <a:off x="5680887" y="3998818"/>
            <a:ext cx="220185" cy="2504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FD55059F-4A23-4E38-B608-8D66D3E2CD51}"/>
              </a:ext>
            </a:extLst>
          </p:cNvPr>
          <p:cNvSpPr txBox="1"/>
          <p:nvPr/>
        </p:nvSpPr>
        <p:spPr>
          <a:xfrm>
            <a:off x="5981811" y="3716821"/>
            <a:ext cx="1237839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many-to-one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A3AFB0AC-0781-44C5-B204-856BFD5B72A9}"/>
              </a:ext>
            </a:extLst>
          </p:cNvPr>
          <p:cNvGrpSpPr/>
          <p:nvPr/>
        </p:nvGrpSpPr>
        <p:grpSpPr>
          <a:xfrm>
            <a:off x="5130424" y="4425470"/>
            <a:ext cx="550463" cy="550463"/>
            <a:chOff x="5578646" y="5157139"/>
            <a:chExt cx="1040454" cy="1040454"/>
          </a:xfrm>
        </p:grpSpPr>
        <p:sp>
          <p:nvSpPr>
            <p:cNvPr id="65" name="菱形 64">
              <a:extLst>
                <a:ext uri="{FF2B5EF4-FFF2-40B4-BE49-F238E27FC236}">
                  <a16:creationId xmlns:a16="http://schemas.microsoft.com/office/drawing/2014/main" id="{CC48A84E-E51D-4659-A946-97B400611C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FC0C16E-0FB8-43F6-B02E-243BAE8737D2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5F7BD41-4153-46AC-AA3B-93BE08286DA0}"/>
              </a:ext>
            </a:extLst>
          </p:cNvPr>
          <p:cNvCxnSpPr>
            <a:stCxn id="65" idx="1"/>
          </p:cNvCxnSpPr>
          <p:nvPr/>
        </p:nvCxnSpPr>
        <p:spPr>
          <a:xfrm flipH="1" flipV="1">
            <a:off x="4910239" y="4698197"/>
            <a:ext cx="220185" cy="250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BC7885A4-8AE5-48D4-9DC1-EEF8F6BB9FA7}"/>
              </a:ext>
            </a:extLst>
          </p:cNvPr>
          <p:cNvCxnSpPr/>
          <p:nvPr/>
        </p:nvCxnSpPr>
        <p:spPr>
          <a:xfrm flipH="1" flipV="1">
            <a:off x="5680887" y="4702355"/>
            <a:ext cx="220185" cy="2504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FC57332-0080-463E-96A4-EBA76E3E2450}"/>
              </a:ext>
            </a:extLst>
          </p:cNvPr>
          <p:cNvSpPr txBox="1"/>
          <p:nvPr/>
        </p:nvSpPr>
        <p:spPr>
          <a:xfrm>
            <a:off x="5981811" y="4420358"/>
            <a:ext cx="1099981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one-to-one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772424F-3156-47CC-BD55-DB846C8D5842}"/>
              </a:ext>
            </a:extLst>
          </p:cNvPr>
          <p:cNvGrpSpPr/>
          <p:nvPr/>
        </p:nvGrpSpPr>
        <p:grpSpPr>
          <a:xfrm>
            <a:off x="1994520" y="2936176"/>
            <a:ext cx="1504017" cy="550463"/>
            <a:chOff x="470519" y="2936175"/>
            <a:chExt cx="1504017" cy="550463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B545A23B-E9FD-487A-B920-D4D184B7B21E}"/>
                </a:ext>
              </a:extLst>
            </p:cNvPr>
            <p:cNvGrpSpPr/>
            <p:nvPr/>
          </p:nvGrpSpPr>
          <p:grpSpPr>
            <a:xfrm>
              <a:off x="470519" y="2936175"/>
              <a:ext cx="550463" cy="550463"/>
              <a:chOff x="5578646" y="5157139"/>
              <a:chExt cx="1040454" cy="1040454"/>
            </a:xfrm>
          </p:grpSpPr>
          <p:sp>
            <p:nvSpPr>
              <p:cNvPr id="71" name="菱形 70">
                <a:extLst>
                  <a:ext uri="{FF2B5EF4-FFF2-40B4-BE49-F238E27FC236}">
                    <a16:creationId xmlns:a16="http://schemas.microsoft.com/office/drawing/2014/main" id="{829C6498-0410-4028-BEC6-539C6371A2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2776C50-FBBA-43A1-B2D4-F2F82A65C064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9FE82DB-B258-4703-A236-E73A96A84F51}"/>
                </a:ext>
              </a:extLst>
            </p:cNvPr>
            <p:cNvCxnSpPr>
              <a:cxnSpLocks/>
              <a:stCxn id="75" idx="1"/>
              <a:endCxn id="71" idx="3"/>
            </p:cNvCxnSpPr>
            <p:nvPr/>
          </p:nvCxnSpPr>
          <p:spPr>
            <a:xfrm flipH="1">
              <a:off x="1020982" y="3211406"/>
              <a:ext cx="579211" cy="1"/>
            </a:xfrm>
            <a:prstGeom prst="line">
              <a:avLst/>
            </a:prstGeom>
            <a:ln w="34925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56B4B5E-D11F-416D-AA6C-5051CEA11D15}"/>
                </a:ext>
              </a:extLst>
            </p:cNvPr>
            <p:cNvSpPr/>
            <p:nvPr/>
          </p:nvSpPr>
          <p:spPr>
            <a:xfrm>
              <a:off x="1600193" y="3057517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DE4230CE-3A25-4EEC-B4C5-BEA3D07AB368}"/>
              </a:ext>
            </a:extLst>
          </p:cNvPr>
          <p:cNvSpPr txBox="1"/>
          <p:nvPr/>
        </p:nvSpPr>
        <p:spPr>
          <a:xfrm>
            <a:off x="3610323" y="2963162"/>
            <a:ext cx="1149674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EA7E2B6-ABE0-4A1A-B0BD-50E9EDA07CCE}"/>
              </a:ext>
            </a:extLst>
          </p:cNvPr>
          <p:cNvSpPr txBox="1"/>
          <p:nvPr/>
        </p:nvSpPr>
        <p:spPr>
          <a:xfrm>
            <a:off x="3609654" y="3743808"/>
            <a:ext cx="990977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9820585-E054-4676-ABDE-DDAAADD974DA}"/>
              </a:ext>
            </a:extLst>
          </p:cNvPr>
          <p:cNvSpPr txBox="1"/>
          <p:nvPr/>
        </p:nvSpPr>
        <p:spPr>
          <a:xfrm>
            <a:off x="3613979" y="4443096"/>
            <a:ext cx="86113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indicator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3AB51E85-4F13-45D0-9ECD-846FAE1CBFC1}"/>
              </a:ext>
            </a:extLst>
          </p:cNvPr>
          <p:cNvGrpSpPr/>
          <p:nvPr/>
        </p:nvGrpSpPr>
        <p:grpSpPr>
          <a:xfrm>
            <a:off x="1993850" y="3716822"/>
            <a:ext cx="1504017" cy="550463"/>
            <a:chOff x="469849" y="3716821"/>
            <a:chExt cx="1504017" cy="550463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AC7FDC5A-3F65-4A2D-BC28-004AAC96D2EB}"/>
                </a:ext>
              </a:extLst>
            </p:cNvPr>
            <p:cNvGrpSpPr/>
            <p:nvPr/>
          </p:nvGrpSpPr>
          <p:grpSpPr>
            <a:xfrm>
              <a:off x="469849" y="3716821"/>
              <a:ext cx="550463" cy="550463"/>
              <a:chOff x="5578646" y="5157139"/>
              <a:chExt cx="1040454" cy="1040454"/>
            </a:xfrm>
          </p:grpSpPr>
          <p:sp>
            <p:nvSpPr>
              <p:cNvPr id="84" name="菱形 83">
                <a:extLst>
                  <a:ext uri="{FF2B5EF4-FFF2-40B4-BE49-F238E27FC236}">
                    <a16:creationId xmlns:a16="http://schemas.microsoft.com/office/drawing/2014/main" id="{252AD122-0FB9-4192-A9F2-050DE2DD9B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A3CE1C1C-E682-407C-86CD-186F7DBEF81C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13C0AD70-2235-43D5-BD20-380BDCA01C92}"/>
                </a:ext>
              </a:extLst>
            </p:cNvPr>
            <p:cNvCxnSpPr>
              <a:cxnSpLocks/>
              <a:stCxn id="83" idx="1"/>
              <a:endCxn id="84" idx="3"/>
            </p:cNvCxnSpPr>
            <p:nvPr/>
          </p:nvCxnSpPr>
          <p:spPr>
            <a:xfrm flipH="1">
              <a:off x="1020312" y="3992052"/>
              <a:ext cx="579211" cy="1"/>
            </a:xfrm>
            <a:prstGeom prst="line">
              <a:avLst/>
            </a:prstGeom>
            <a:ln w="635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DC8CC880-3589-4054-937F-9F22733505FB}"/>
                </a:ext>
              </a:extLst>
            </p:cNvPr>
            <p:cNvSpPr/>
            <p:nvPr/>
          </p:nvSpPr>
          <p:spPr>
            <a:xfrm>
              <a:off x="1599523" y="3838163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54E89B1A-765C-48F8-8585-8AE89CDD20AE}"/>
                </a:ext>
              </a:extLst>
            </p:cNvPr>
            <p:cNvSpPr txBox="1"/>
            <p:nvPr/>
          </p:nvSpPr>
          <p:spPr>
            <a:xfrm>
              <a:off x="1027718" y="3721843"/>
              <a:ext cx="482824" cy="307777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1..h</a:t>
              </a:r>
              <a:endParaRPr kumimoji="1" lang="zh-CN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6F468FCB-4963-4B81-A788-40DEA991E837}"/>
              </a:ext>
            </a:extLst>
          </p:cNvPr>
          <p:cNvGrpSpPr/>
          <p:nvPr/>
        </p:nvGrpSpPr>
        <p:grpSpPr>
          <a:xfrm>
            <a:off x="1998175" y="4416050"/>
            <a:ext cx="1504017" cy="550523"/>
            <a:chOff x="474174" y="4416049"/>
            <a:chExt cx="1504017" cy="550523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1353819A-FB42-4952-88B5-5FE07FF2DFD3}"/>
                </a:ext>
              </a:extLst>
            </p:cNvPr>
            <p:cNvGrpSpPr/>
            <p:nvPr/>
          </p:nvGrpSpPr>
          <p:grpSpPr>
            <a:xfrm>
              <a:off x="474174" y="4416109"/>
              <a:ext cx="550463" cy="550463"/>
              <a:chOff x="5578646" y="5157139"/>
              <a:chExt cx="1040454" cy="1040454"/>
            </a:xfrm>
          </p:grpSpPr>
          <p:sp>
            <p:nvSpPr>
              <p:cNvPr id="91" name="菱形 90">
                <a:extLst>
                  <a:ext uri="{FF2B5EF4-FFF2-40B4-BE49-F238E27FC236}">
                    <a16:creationId xmlns:a16="http://schemas.microsoft.com/office/drawing/2014/main" id="{A9D89F97-FE6B-415D-BB16-51572E9E5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B97EC29E-E5ED-4CD0-8216-30883A4F1675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DDBC077D-A282-4B2A-A0CA-193880130457}"/>
                </a:ext>
              </a:extLst>
            </p:cNvPr>
            <p:cNvCxnSpPr>
              <a:cxnSpLocks/>
              <a:stCxn id="90" idx="1"/>
              <a:endCxn id="91" idx="3"/>
            </p:cNvCxnSpPr>
            <p:nvPr/>
          </p:nvCxnSpPr>
          <p:spPr>
            <a:xfrm flipH="1">
              <a:off x="1024637" y="4691340"/>
              <a:ext cx="579211" cy="1"/>
            </a:xfrm>
            <a:prstGeom prst="line">
              <a:avLst/>
            </a:prstGeom>
            <a:ln w="635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768F09F-F1F8-4A05-9C61-6809B3927E14}"/>
                </a:ext>
              </a:extLst>
            </p:cNvPr>
            <p:cNvSpPr/>
            <p:nvPr/>
          </p:nvSpPr>
          <p:spPr>
            <a:xfrm>
              <a:off x="1603848" y="4537451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27FCB26B-90F6-4407-BC2A-0B884E94CDCF}"/>
                </a:ext>
              </a:extLst>
            </p:cNvPr>
            <p:cNvSpPr txBox="1"/>
            <p:nvPr/>
          </p:nvSpPr>
          <p:spPr>
            <a:xfrm>
              <a:off x="1010464" y="4416049"/>
              <a:ext cx="631904" cy="523220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role </a:t>
              </a:r>
            </a:p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kumimoji="1" lang="zh-CN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4F8413C2-F62D-49B7-A244-26326F13A5C4}"/>
              </a:ext>
            </a:extLst>
          </p:cNvPr>
          <p:cNvGrpSpPr/>
          <p:nvPr/>
        </p:nvGrpSpPr>
        <p:grpSpPr>
          <a:xfrm>
            <a:off x="2469637" y="5186393"/>
            <a:ext cx="667081" cy="1047774"/>
            <a:chOff x="945636" y="5186393"/>
            <a:chExt cx="667081" cy="1047774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CC72B9CB-62F7-4356-AF67-4C083DAB592A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00" name="等腰三角形 99">
                <a:extLst>
                  <a:ext uri="{FF2B5EF4-FFF2-40B4-BE49-F238E27FC236}">
                    <a16:creationId xmlns:a16="http://schemas.microsoft.com/office/drawing/2014/main" id="{D7324F69-4DE0-4754-BE0E-E037438D93A8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A6497611-B308-4EC2-B129-024559660C94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F162D8EB-7B4F-4C81-A446-C80DFFE60630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76BC99FB-2CF4-4104-9B90-E7ADC8C06F2F}"/>
                </a:ext>
              </a:extLst>
            </p:cNvPr>
            <p:cNvCxnSpPr>
              <a:cxnSpLocks/>
              <a:endCxn id="100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6A5210B-DADD-4D8C-A0A0-4A63BE15FB4A}"/>
              </a:ext>
            </a:extLst>
          </p:cNvPr>
          <p:cNvSpPr txBox="1"/>
          <p:nvPr/>
        </p:nvSpPr>
        <p:spPr>
          <a:xfrm>
            <a:off x="3613978" y="5434636"/>
            <a:ext cx="474810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</a:t>
            </a: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93BB2242-5BC9-4044-99AC-85ED9CD9C658}"/>
              </a:ext>
            </a:extLst>
          </p:cNvPr>
          <p:cNvGrpSpPr/>
          <p:nvPr/>
        </p:nvGrpSpPr>
        <p:grpSpPr>
          <a:xfrm>
            <a:off x="5090973" y="5184663"/>
            <a:ext cx="667081" cy="1047774"/>
            <a:chOff x="945636" y="5186393"/>
            <a:chExt cx="667081" cy="1047774"/>
          </a:xfrm>
        </p:grpSpPr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C2BE8B48-3CBF-4804-92A7-B3AA37F48D3E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17" name="等腰三角形 116">
                <a:extLst>
                  <a:ext uri="{FF2B5EF4-FFF2-40B4-BE49-F238E27FC236}">
                    <a16:creationId xmlns:a16="http://schemas.microsoft.com/office/drawing/2014/main" id="{72B9A6C3-F2D9-4F3F-9527-E75DF4B28BA4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EFC754B4-7081-464A-AB11-0DF76196929C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D0ADB96B-5A80-4B18-B28A-FF47A76BB781}"/>
                </a:ext>
              </a:extLst>
            </p:cNvPr>
            <p:cNvCxnSpPr>
              <a:cxnSpLocks/>
              <a:stCxn id="117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  <a:ln w="34925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F3415765-35E3-4F2C-8EDA-3AD8B218F994}"/>
                </a:ext>
              </a:extLst>
            </p:cNvPr>
            <p:cNvCxnSpPr>
              <a:cxnSpLocks/>
              <a:endCxn id="117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BE4CCC2B-7E99-4F0B-B60B-2DC020B0AFE0}"/>
              </a:ext>
            </a:extLst>
          </p:cNvPr>
          <p:cNvSpPr txBox="1"/>
          <p:nvPr/>
        </p:nvSpPr>
        <p:spPr>
          <a:xfrm>
            <a:off x="6096001" y="5332651"/>
            <a:ext cx="129875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C0086FC3-28C4-4E51-8E5F-1D87530419DE}"/>
              </a:ext>
            </a:extLst>
          </p:cNvPr>
          <p:cNvGrpSpPr/>
          <p:nvPr/>
        </p:nvGrpSpPr>
        <p:grpSpPr>
          <a:xfrm>
            <a:off x="7708721" y="5180380"/>
            <a:ext cx="667081" cy="1047774"/>
            <a:chOff x="945636" y="5186393"/>
            <a:chExt cx="667081" cy="1047774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5781F809-5AC4-4756-96D5-45C99005401D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24" name="等腰三角形 123">
                <a:extLst>
                  <a:ext uri="{FF2B5EF4-FFF2-40B4-BE49-F238E27FC236}">
                    <a16:creationId xmlns:a16="http://schemas.microsoft.com/office/drawing/2014/main" id="{44BB9C81-9E16-40B4-838A-3BDD8AE62CE9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DC4CBF89-F46C-4753-A113-B63C06E92C3A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D1B52413-C371-4E5E-ACD8-B0547F856D8B}"/>
                </a:ext>
              </a:extLst>
            </p:cNvPr>
            <p:cNvCxnSpPr>
              <a:cxnSpLocks/>
              <a:stCxn id="124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  <a:ln w="95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8809180-C992-43B5-BCE2-3BAC7351B221}"/>
                </a:ext>
              </a:extLst>
            </p:cNvPr>
            <p:cNvCxnSpPr>
              <a:cxnSpLocks/>
              <a:endCxn id="124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7773FDEF-FF95-43F3-8C52-9537FE125BA5}"/>
              </a:ext>
            </a:extLst>
          </p:cNvPr>
          <p:cNvSpPr txBox="1"/>
          <p:nvPr/>
        </p:nvSpPr>
        <p:spPr>
          <a:xfrm>
            <a:off x="8629979" y="5328368"/>
            <a:ext cx="129875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disjoint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69A0EDB-6C51-4756-8B10-769FB49FB72F}"/>
              </a:ext>
            </a:extLst>
          </p:cNvPr>
          <p:cNvSpPr txBox="1"/>
          <p:nvPr/>
        </p:nvSpPr>
        <p:spPr>
          <a:xfrm>
            <a:off x="8011201" y="5928191"/>
            <a:ext cx="742511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disjoint</a:t>
            </a:r>
          </a:p>
        </p:txBody>
      </p:sp>
    </p:spTree>
    <p:extLst>
      <p:ext uri="{BB962C8B-B14F-4D97-AF65-F5344CB8AC3E}">
        <p14:creationId xmlns:p14="http://schemas.microsoft.com/office/powerpoint/2010/main" val="414672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2110"/>
            <a:ext cx="10515600" cy="5234854"/>
          </a:xfrm>
        </p:spPr>
        <p:txBody>
          <a:bodyPr/>
          <a:lstStyle/>
          <a:p>
            <a:r>
              <a:rPr lang="en-US"/>
              <a:t>Lecture </a:t>
            </a:r>
            <a:r>
              <a:rPr lang="en-US" dirty="0"/>
              <a:t>this week’s lab</a:t>
            </a:r>
          </a:p>
          <a:p>
            <a:pPr lvl="1"/>
            <a:r>
              <a:rPr lang="en-US" dirty="0"/>
              <a:t>Go through Lab06 up to slide 11 (foreign keys) and addendum.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100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7793</TotalTime>
  <Words>549</Words>
  <Application>Microsoft Office PowerPoint</Application>
  <PresentationFormat>Widescreen</PresentationFormat>
  <Paragraphs>122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Adobe Heiti Std R</vt:lpstr>
      <vt:lpstr>Hiragino Sans GB W3</vt:lpstr>
      <vt:lpstr>等线</vt:lpstr>
      <vt:lpstr>宋体</vt:lpstr>
      <vt:lpstr>Microsoft YaHei</vt:lpstr>
      <vt:lpstr>Arial</vt:lpstr>
      <vt:lpstr>Calibri</vt:lpstr>
      <vt:lpstr>Calibri Light</vt:lpstr>
      <vt:lpstr>Symbol</vt:lpstr>
      <vt:lpstr>Office Theme</vt:lpstr>
      <vt:lpstr>beamer_like</vt:lpstr>
      <vt:lpstr>Database Lecture 5 Conceptual Design - Design Issues</vt:lpstr>
      <vt:lpstr>Announcements</vt:lpstr>
      <vt:lpstr>PowerPoint Presentation</vt:lpstr>
      <vt:lpstr>PowerPoint Presentation</vt:lpstr>
      <vt:lpstr>PowerPoint Presentation</vt:lpstr>
      <vt:lpstr>PowerPoint Presentation</vt:lpstr>
      <vt:lpstr>Summary of ER Diagram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UIC</cp:lastModifiedBy>
  <cp:revision>766</cp:revision>
  <dcterms:created xsi:type="dcterms:W3CDTF">2021-08-02T03:54:37Z</dcterms:created>
  <dcterms:modified xsi:type="dcterms:W3CDTF">2025-10-22T00:40:50Z</dcterms:modified>
</cp:coreProperties>
</file>