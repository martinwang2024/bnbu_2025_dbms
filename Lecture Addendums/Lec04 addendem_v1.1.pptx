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8"/>
  </p:notesMasterIdLst>
  <p:sldIdLst>
    <p:sldId id="256" r:id="rId3"/>
    <p:sldId id="411" r:id="rId4"/>
    <p:sldId id="423" r:id="rId5"/>
    <p:sldId id="409" r:id="rId6"/>
    <p:sldId id="416" r:id="rId7"/>
    <p:sldId id="413" r:id="rId8"/>
    <p:sldId id="412" r:id="rId9"/>
    <p:sldId id="414" r:id="rId10"/>
    <p:sldId id="415" r:id="rId11"/>
    <p:sldId id="421" r:id="rId12"/>
    <p:sldId id="418" r:id="rId13"/>
    <p:sldId id="378" r:id="rId14"/>
    <p:sldId id="422" r:id="rId15"/>
    <p:sldId id="419" r:id="rId16"/>
    <p:sldId id="42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EAF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777" autoAdjust="0"/>
    <p:restoredTop sz="93120" autoAdjust="0"/>
  </p:normalViewPr>
  <p:slideViewPr>
    <p:cSldViewPr snapToGrid="0">
      <p:cViewPr varScale="1">
        <p:scale>
          <a:sx n="62" d="100"/>
          <a:sy n="62" d="100"/>
        </p:scale>
        <p:origin x="1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453279-6AA3-493C-8FBA-220F2985EB2E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A7CB6F-1EC6-4E88-BB90-B62A7FA4E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964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486A001-FE84-4C5B-B3E9-3C29329806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3CD1E335-4EC3-4A3A-9E8B-4384C429A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ADECD76-81D7-4D58-BCE9-33A182AB3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413355F-4333-48BB-95A3-4EEDCC465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CD19DD9-A096-492C-A48C-C88315FD6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927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02C30F2-6F06-4771-AC5C-5DDD33D19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B4F2D8F-C2AB-4793-9330-A160CE286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497422D-3C7C-4423-8BDD-1D140DE97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0463F68-B0AE-4D03-841E-375203E49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D0D4527-9D93-44C5-8AD0-E76E456F3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917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2D39D35-A2D8-404F-A5F1-D88CD145A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D25F04-EC19-4ACA-977B-A719AAC9A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59B345D-AB9F-4507-B822-0BA41D71C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BC4FC9A-9867-4767-A7D2-A3CC7AE9E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86E3F14-5BCC-4EBD-AD33-E2B19B04C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049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B5F4B32-4DB6-479A-B20F-A5AC0CDDA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8F6D3A2-A5C4-470D-8714-8FBE511B50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BAFACC22-E511-4A38-A5FD-13552F64B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C48FA871-0312-4F27-A57C-9E29718A0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91454EBB-0D74-449A-A7C5-BA059BAA0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C7F09558-ABC1-4FEA-933D-CA1A456BE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07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CEBEB7F-80C8-43A4-8E90-807D9C192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6F12095-C5A7-485A-8A19-F6626E844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9A4D4BE0-2314-41FE-90AC-EC9C0CFC4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4DB201EE-61BF-4BBB-842C-92D59F3B11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BC812400-28B5-4E91-B313-A20FFEF385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30F5992E-8866-4E02-8D24-2E45E9C2B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5175B223-56E9-4E30-9723-F562FA8F8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20A862E3-731F-41CF-BE1B-39A2A8CD8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896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2D635E3-DE09-49A7-B086-B26C480C3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3383F54-DEB1-4A0C-87FF-CA00CE7DF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94AB68F9-1574-477F-8C95-C0D86FD5E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6C65F340-694E-4B04-ACCE-4B4E86847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048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6834A5DF-AD09-493A-BDB6-6A3ECBCCA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45273B11-60BF-4722-9687-B40A4C5C9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34982CFE-7DCB-48BD-96BE-052456696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330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ABC3449-8D6B-4E3F-806C-04C7434F5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B731AC0-6164-4577-9446-06D61E38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D05B7FC0-674F-43C6-81B7-C72264B101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0E576B59-C96E-4620-BAB4-BF8AA9551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E8E78085-5A70-4CBE-A4E4-AC1D2EC9F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FABCDA0F-BD4D-4296-B409-A11C3E140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1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702F956-24AA-4791-A21F-1CBE73F22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AC252DC7-DC1F-4C4A-9AB6-BF835622C3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607A006B-8C27-4B47-BA8D-4565E54037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9EAE1E30-9ED4-4CF1-A585-20FAF6326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23559A66-D3C9-4497-BDDF-8E5A56126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067DCF1E-D835-4A58-8B96-9859ECE92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488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0DCBB30-0797-434F-8E6E-A421CA392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472E0BF2-E02A-42B0-B9CB-173718401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5B8C753-9D3D-49BD-8D74-BC2F5B9D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77724DE-87C0-413B-B67D-A837CCDC9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F36D589-9155-4C2E-8942-AF615EE2A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573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D3673F19-A04E-4776-8619-511326C12E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3FFFCC09-AA24-4D7B-86F1-4A7F772CE2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1092B3E-BFA6-4837-BDA1-AE6795F74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B4BAF76-A8F7-40CC-A8D0-B7C898BCA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E2C672E-E66A-47F7-8501-F45DF1FF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9407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="" xmlns:a16="http://schemas.microsoft.com/office/drawing/2014/main" id="{F9612BDE-E61E-8D40-84CC-20E6FC2B20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85899" y="2983971"/>
            <a:ext cx="9144000" cy="111389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z="1800" dirty="0">
                <a:latin typeface="Adobe Heiti Std R" panose="020B0400000000000000" pitchFamily="34" charset="-128"/>
                <a:ea typeface="Adobe Heiti Std R" panose="020B0400000000000000" pitchFamily="34" charset="-128"/>
              </a:rPr>
              <a:t>单击此处编辑母版作者信息样式</a:t>
            </a:r>
            <a:endParaRPr lang="en-US" altLang="zh-CN" sz="1800" dirty="0"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  <a:p>
            <a:endParaRPr lang="zh-CN" altLang="en-US" sz="1800" dirty="0">
              <a:effectLst/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="" xmlns:a16="http://schemas.microsoft.com/office/drawing/2014/main" id="{C18AEC02-5D85-474A-AEAD-FDF12F6D499A}"/>
              </a:ext>
            </a:extLst>
          </p:cNvPr>
          <p:cNvSpPr/>
          <p:nvPr/>
        </p:nvSpPr>
        <p:spPr>
          <a:xfrm>
            <a:off x="812797" y="1402663"/>
            <a:ext cx="10521244" cy="1058334"/>
          </a:xfrm>
          <a:prstGeom prst="roundRect">
            <a:avLst/>
          </a:prstGeom>
          <a:solidFill>
            <a:srgbClr val="3138AC"/>
          </a:solidFill>
          <a:effectLst>
            <a:outerShdw blurRad="50800" dist="38100" dir="6540000" sx="101000" sy="101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sz="1800">
              <a:solidFill>
                <a:srgbClr val="FFFFFF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="" xmlns:a16="http://schemas.microsoft.com/office/drawing/2014/main" id="{6255DDCC-95E7-C241-8F16-FF95178C85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79813"/>
            <a:ext cx="9144000" cy="848376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7501395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="" xmlns:a16="http://schemas.microsoft.com/office/drawing/2014/main" id="{033FA9A1-7B88-294E-B1D1-5AC0DD001314}"/>
              </a:ext>
            </a:extLst>
          </p:cNvPr>
          <p:cNvSpPr/>
          <p:nvPr/>
        </p:nvSpPr>
        <p:spPr>
          <a:xfrm>
            <a:off x="0" y="304801"/>
            <a:ext cx="12192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sz="1800">
              <a:solidFill>
                <a:srgbClr val="FFFFFF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="" xmlns:a16="http://schemas.microsoft.com/office/drawing/2014/main" id="{643DFE20-DAD3-A14C-8B77-1D0ACFFC1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3291"/>
            <a:ext cx="105156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="" xmlns:a16="http://schemas.microsoft.com/office/drawing/2014/main" id="{9B6537B7-9F77-B545-841A-0E1FA407E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1"/>
            <a:ext cx="10515600" cy="3138055"/>
          </a:xfrm>
        </p:spPr>
        <p:txBody>
          <a:bodyPr/>
          <a:lstStyle>
            <a:lvl1pPr marL="273050" indent="-273050">
              <a:buFont typeface="Arial" panose="020B0604020202020204" pitchFamily="34" charset="0"/>
              <a:buChar char="•"/>
              <a:tabLst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2035024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7C7D17EA-B5DC-A947-999F-3BA09F293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E6ACDC9E-5B3C-7649-98A2-66AFDFA02F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0134992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="" xmlns:a16="http://schemas.microsoft.com/office/drawing/2014/main" id="{CF0BD946-B5BA-504F-80A8-C6749F61BBD3}"/>
              </a:ext>
            </a:extLst>
          </p:cNvPr>
          <p:cNvSpPr/>
          <p:nvPr/>
        </p:nvSpPr>
        <p:spPr>
          <a:xfrm>
            <a:off x="0" y="1"/>
            <a:ext cx="12192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sz="1800">
              <a:solidFill>
                <a:srgbClr val="FFFFFF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9BA5D889-EBC8-A74A-A52D-D35CC5DDDA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26067"/>
            <a:ext cx="5181600" cy="5050896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B0604020202020204" pitchFamily="34" charset="0"/>
              <a:buChar char="•"/>
              <a:defRPr kumimoji="1" lang="zh-CN" altLang="en-US"/>
            </a:lvl1pPr>
          </a:lstStyle>
          <a:p>
            <a:pPr marL="273050" lvl="0" indent="-273050">
              <a:tabLst/>
            </a:pPr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="" xmlns:a16="http://schemas.microsoft.com/office/drawing/2014/main" id="{E1FE8AAB-A6DD-DE43-B7A5-6297E5B861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26067"/>
            <a:ext cx="5181600" cy="5050896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B0604020202020204" pitchFamily="34" charset="0"/>
              <a:buChar char="•"/>
              <a:defRPr kumimoji="1" lang="zh-CN" altLang="en-US"/>
            </a:lvl1pPr>
          </a:lstStyle>
          <a:p>
            <a:pPr marL="273050" lvl="0" indent="-273050">
              <a:tabLst/>
            </a:pPr>
            <a:r>
              <a:rPr kumimoji="1" lang="zh-CN" altLang="en-US"/>
              <a:t>单击此处编辑母版文本样式</a:t>
            </a:r>
          </a:p>
        </p:txBody>
      </p:sp>
      <p:sp>
        <p:nvSpPr>
          <p:cNvPr id="10" name="标题 1">
            <a:extLst>
              <a:ext uri="{FF2B5EF4-FFF2-40B4-BE49-F238E27FC236}">
                <a16:creationId xmlns="" xmlns:a16="http://schemas.microsoft.com/office/drawing/2014/main" id="{9BF8700A-EE5B-AA44-845F-A932FCA80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491"/>
            <a:ext cx="105156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780305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="" xmlns:a16="http://schemas.microsoft.com/office/drawing/2014/main" id="{0B626A19-E0EE-3344-BECF-578F6B3691A1}"/>
              </a:ext>
            </a:extLst>
          </p:cNvPr>
          <p:cNvSpPr/>
          <p:nvPr/>
        </p:nvSpPr>
        <p:spPr>
          <a:xfrm>
            <a:off x="0" y="1"/>
            <a:ext cx="12192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sz="1800">
              <a:solidFill>
                <a:srgbClr val="FFFFFF"/>
              </a:solidFill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35EA3DDF-4F2F-1D45-B4D4-3AC2D1E559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="" xmlns:a16="http://schemas.microsoft.com/office/drawing/2014/main" id="{FAFA0345-A7B5-8143-B23D-3DAF7059EE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B0604020202020204" pitchFamily="34" charset="0"/>
              <a:buChar char="•"/>
              <a:defRPr kumimoji="1" lang="zh-CN" altLang="en-US" dirty="0"/>
            </a:lvl1pPr>
          </a:lstStyle>
          <a:p>
            <a:pPr marL="273050" lvl="0" indent="-273050">
              <a:tabLst/>
            </a:pPr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="" xmlns:a16="http://schemas.microsoft.com/office/drawing/2014/main" id="{C596A81A-F1A5-2046-B0A4-9C01DF3C24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="" xmlns:a16="http://schemas.microsoft.com/office/drawing/2014/main" id="{84CB281C-3506-614C-82B8-B117A79C15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B0604020202020204" pitchFamily="34" charset="0"/>
              <a:buChar char="•"/>
              <a:defRPr kumimoji="1" lang="zh-CN" altLang="en-US"/>
            </a:lvl1pPr>
          </a:lstStyle>
          <a:p>
            <a:pPr marL="273050" lvl="0" indent="-273050">
              <a:tabLst/>
            </a:pPr>
            <a:r>
              <a:rPr kumimoji="1" lang="zh-CN" altLang="en-US"/>
              <a:t>单击此处编辑母版文本样式</a:t>
            </a:r>
          </a:p>
        </p:txBody>
      </p:sp>
      <p:sp>
        <p:nvSpPr>
          <p:cNvPr id="9" name="标题 1">
            <a:extLst>
              <a:ext uri="{FF2B5EF4-FFF2-40B4-BE49-F238E27FC236}">
                <a16:creationId xmlns="" xmlns:a16="http://schemas.microsoft.com/office/drawing/2014/main" id="{7CDD2EEB-0526-8546-B03F-B7E03D76B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491"/>
            <a:ext cx="105156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27645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="" xmlns:a16="http://schemas.microsoft.com/office/drawing/2014/main" id="{4EFF11A6-A4E9-FC40-BA49-5AB35E591369}"/>
              </a:ext>
            </a:extLst>
          </p:cNvPr>
          <p:cNvSpPr/>
          <p:nvPr/>
        </p:nvSpPr>
        <p:spPr>
          <a:xfrm>
            <a:off x="0" y="1"/>
            <a:ext cx="12192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sz="1800">
              <a:solidFill>
                <a:srgbClr val="FFFFFF"/>
              </a:solidFill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="" xmlns:a16="http://schemas.microsoft.com/office/drawing/2014/main" id="{D4E12615-0D3B-D24B-BE3C-E10640151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491"/>
            <a:ext cx="105156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748540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47048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3138EEDE-8712-4841-878C-74D5D95B9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23A61616-E9E6-4D4E-ACF0-05C1DFD72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tabLst/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="" xmlns:a16="http://schemas.microsoft.com/office/drawing/2014/main" id="{272F38AF-4BDF-CF47-9CD7-01E9950840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5496453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C3145CBF-7695-9841-9E88-FF0507BF0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="" xmlns:a16="http://schemas.microsoft.com/office/drawing/2014/main" id="{19EEF8B0-7BDE-1347-9537-8464E46310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kumimoji="1"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="" xmlns:a16="http://schemas.microsoft.com/office/drawing/2014/main" id="{C7AD815E-FED2-7E46-854F-1D98CB4B12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1857704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>
            <a:extLst>
              <a:ext uri="{FF2B5EF4-FFF2-40B4-BE49-F238E27FC236}">
                <a16:creationId xmlns="" xmlns:a16="http://schemas.microsoft.com/office/drawing/2014/main" id="{754C3A94-BDDD-4E47-AB7A-34C36F28EF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193801"/>
            <a:ext cx="10515600" cy="4983163"/>
          </a:xfrm>
        </p:spPr>
        <p:txBody>
          <a:bodyPr vert="eaVert"/>
          <a:lstStyle>
            <a:lvl1pPr marL="273050" indent="-27305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FD296C5C-EBD2-D143-AC4F-0DB23C2C0559}"/>
              </a:ext>
            </a:extLst>
          </p:cNvPr>
          <p:cNvSpPr/>
          <p:nvPr/>
        </p:nvSpPr>
        <p:spPr>
          <a:xfrm>
            <a:off x="0" y="1"/>
            <a:ext cx="12192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sz="1800">
              <a:solidFill>
                <a:srgbClr val="FFFFFF"/>
              </a:solidFill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="" xmlns:a16="http://schemas.microsoft.com/office/drawing/2014/main" id="{1750240B-728E-0F48-8A04-0C32A05C9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491"/>
            <a:ext cx="105156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514154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="" xmlns:a16="http://schemas.microsoft.com/office/drawing/2014/main" id="{C64BA236-12F6-FF40-9198-D45BCC57C2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="" xmlns:a16="http://schemas.microsoft.com/office/drawing/2014/main" id="{1C39872F-0807-7F4C-972A-F69648EDFF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>
            <a:lvl1pPr marL="273050" indent="-27305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849451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EEC936C3-81A7-445F-82C5-91B3DD3A5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F3488614-3E35-49A0-BB95-C828ACF76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EFADCF5-07DC-42CF-875E-D457C868EB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0EEF71-2F7E-4DA6-BFF1-3D733D1E8A1F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ADAD226-64F2-4BAA-A906-44AA737B33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CF143C4-3B48-4E41-BA21-CFC407B6F0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049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="" xmlns:a16="http://schemas.microsoft.com/office/drawing/2014/main" id="{195F5D26-44A1-CA4B-894C-E92F940BE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55C3252C-A6BE-3D4F-B214-1E438BBDB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CN" altLang="en-US" dirty="0"/>
              <a:t>编辑母版文本样式
第二级
第三级
第四级
第五级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="" xmlns:a16="http://schemas.microsoft.com/office/drawing/2014/main" id="{DFE4E0D4-0A9E-B44F-8E15-1D2F726BFCC2}"/>
              </a:ext>
            </a:extLst>
          </p:cNvPr>
          <p:cNvSpPr/>
          <p:nvPr/>
        </p:nvSpPr>
        <p:spPr>
          <a:xfrm>
            <a:off x="0" y="6637866"/>
            <a:ext cx="4080000" cy="220134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kumimoji="1" lang="en-US" altLang="zh-CN" sz="1200" dirty="0">
                <a:solidFill>
                  <a:srgbClr val="FFFFFF"/>
                </a:solidFill>
              </a:rPr>
              <a:t>COMP3013</a:t>
            </a:r>
            <a:endParaRPr kumimoji="1"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="" xmlns:a16="http://schemas.microsoft.com/office/drawing/2014/main" id="{00880C11-3EB2-7C44-915C-0A735C8415A3}"/>
              </a:ext>
            </a:extLst>
          </p:cNvPr>
          <p:cNvSpPr/>
          <p:nvPr/>
        </p:nvSpPr>
        <p:spPr>
          <a:xfrm>
            <a:off x="4044000" y="6637868"/>
            <a:ext cx="4080000" cy="220133"/>
          </a:xfrm>
          <a:prstGeom prst="rect">
            <a:avLst/>
          </a:prstGeom>
          <a:solidFill>
            <a:srgbClr val="2125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kumimoji="1" lang="en-US" altLang="zh-CN" sz="1200" dirty="0">
                <a:solidFill>
                  <a:srgbClr val="FFFFFF"/>
                </a:solidFill>
              </a:rPr>
              <a:t>ER Model</a:t>
            </a:r>
            <a:endParaRPr kumimoji="1"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="" xmlns:a16="http://schemas.microsoft.com/office/drawing/2014/main" id="{00F64495-06B2-9846-A8DD-066D25B765BE}"/>
              </a:ext>
            </a:extLst>
          </p:cNvPr>
          <p:cNvSpPr/>
          <p:nvPr/>
        </p:nvSpPr>
        <p:spPr>
          <a:xfrm>
            <a:off x="8112000" y="6637866"/>
            <a:ext cx="4080000" cy="220134"/>
          </a:xfrm>
          <a:prstGeom prst="rect">
            <a:avLst/>
          </a:prstGeom>
          <a:solidFill>
            <a:srgbClr val="2B32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sz="1200" dirty="0">
              <a:solidFill>
                <a:srgbClr val="000000"/>
              </a:solidFill>
            </a:endParaRPr>
          </a:p>
        </p:txBody>
      </p:sp>
      <p:sp>
        <p:nvSpPr>
          <p:cNvPr id="16" name="日期占位符 3">
            <a:extLst>
              <a:ext uri="{FF2B5EF4-FFF2-40B4-BE49-F238E27FC236}">
                <a16:creationId xmlns="" xmlns:a16="http://schemas.microsoft.com/office/drawing/2014/main" id="{57D2C8FA-DD5C-BF4B-BBB3-42D100B8A34B}"/>
              </a:ext>
            </a:extLst>
          </p:cNvPr>
          <p:cNvSpPr txBox="1">
            <a:spLocks/>
          </p:cNvSpPr>
          <p:nvPr/>
        </p:nvSpPr>
        <p:spPr>
          <a:xfrm>
            <a:off x="11353800" y="6637866"/>
            <a:ext cx="728507" cy="220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42B4B9-4F4F-DC40-8BF5-0036F3636617}" type="slidenum">
              <a:rPr lang="en-US" sz="1000" smtClean="0">
                <a:solidFill>
                  <a:srgbClr val="FFFFFF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pPr/>
              <a:t>‹#›</a:t>
            </a:fld>
            <a:endParaRPr lang="en-US" sz="1000" dirty="0">
              <a:solidFill>
                <a:srgbClr val="FFFFFF"/>
              </a:solidFill>
              <a:latin typeface="Hiragino Sans GB W3" panose="020B0300000000000000" pitchFamily="34" charset="-128"/>
              <a:ea typeface="Hiragino Sans GB W3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63169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273050" indent="-27305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Font typeface="Arial" panose="020B0604020202020204" pitchFamily="34" charset="0"/>
        <a:buChar char="•"/>
        <a:tabLst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0996809-512B-409C-B505-A3D0626501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Database Lecture 4</a:t>
            </a:r>
            <a:br>
              <a:rPr lang="en-US" dirty="0"/>
            </a:br>
            <a:r>
              <a:rPr lang="en-US" dirty="0"/>
              <a:t>Entity-Relationship  Model, </a:t>
            </a:r>
            <a:br>
              <a:rPr lang="en-US" dirty="0"/>
            </a:br>
            <a:r>
              <a:rPr lang="en-US" dirty="0"/>
              <a:t>Extended Features</a:t>
            </a:r>
            <a:br>
              <a:rPr lang="en-US" dirty="0"/>
            </a:br>
            <a:r>
              <a:rPr lang="en-US" dirty="0"/>
              <a:t>Addendum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249D31B0-1558-422C-B95B-13B1FAC75D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Dr. Jefferson Fong</a:t>
            </a:r>
          </a:p>
          <a:p>
            <a:endParaRPr lang="en-US" dirty="0"/>
          </a:p>
          <a:p>
            <a:pPr algn="l"/>
            <a:r>
              <a:rPr lang="en-US" sz="2800" dirty="0"/>
              <a:t>Reference: 6.5.3, 6.8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61632A7C-EBF7-4E53-9EA9-2CC2DB727A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7696" y="3397165"/>
            <a:ext cx="3194304" cy="2401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042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">
            <a:extLst>
              <a:ext uri="{FF2B5EF4-FFF2-40B4-BE49-F238E27FC236}">
                <a16:creationId xmlns="" xmlns:a16="http://schemas.microsoft.com/office/drawing/2014/main" id="{7185031B-8265-4F1B-A92F-819216077F64}"/>
              </a:ext>
            </a:extLst>
          </p:cNvPr>
          <p:cNvSpPr txBox="1">
            <a:spLocks/>
          </p:cNvSpPr>
          <p:nvPr/>
        </p:nvSpPr>
        <p:spPr>
          <a:xfrm>
            <a:off x="806449" y="1415440"/>
            <a:ext cx="5493779" cy="33154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/>
              <a:t>Survey for Midterm date</a:t>
            </a:r>
            <a:endParaRPr lang="en-US" sz="3200" dirty="0" smtClean="0">
              <a:sym typeface="Symbol" panose="05050102010706020507" pitchFamily="18" charset="2"/>
            </a:endParaRPr>
          </a:p>
          <a:p>
            <a:r>
              <a:rPr lang="en-US" dirty="0" smtClean="0">
                <a:sym typeface="Symbol" panose="05050102010706020507" pitchFamily="18" charset="2"/>
              </a:rPr>
              <a:t>Please take the survey in iSpace for possible time for Midterm.</a:t>
            </a:r>
          </a:p>
          <a:p>
            <a:pPr lvl="1"/>
            <a:r>
              <a:rPr lang="en-US" dirty="0" smtClean="0">
                <a:sym typeface="Symbol" panose="05050102010706020507" pitchFamily="18" charset="2"/>
              </a:rPr>
              <a:t>Survey closes on Fri Oct 17 right before midnight.</a:t>
            </a:r>
          </a:p>
          <a:p>
            <a:pPr lvl="1"/>
            <a:r>
              <a:rPr lang="en-US" dirty="0" smtClean="0">
                <a:sym typeface="Symbol" panose="05050102010706020507" pitchFamily="18" charset="2"/>
              </a:rPr>
              <a:t>If you don’t take the survey, you will forfeit your say on when the midterm should take place.</a:t>
            </a:r>
            <a:endParaRPr lang="en-US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US" sz="800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449" y="565541"/>
            <a:ext cx="10515600" cy="849899"/>
          </a:xfrm>
        </p:spPr>
        <p:txBody>
          <a:bodyPr>
            <a:normAutofit/>
          </a:bodyPr>
          <a:lstStyle/>
          <a:p>
            <a:r>
              <a:rPr lang="en-US" sz="3600" dirty="0" smtClean="0"/>
              <a:t>Announcements</a:t>
            </a:r>
            <a:endParaRPr lang="en-US" sz="36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5755" y="990490"/>
            <a:ext cx="4629796" cy="295316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7185031B-8265-4F1B-A92F-819216077F64}"/>
              </a:ext>
            </a:extLst>
          </p:cNvPr>
          <p:cNvSpPr txBox="1">
            <a:spLocks/>
          </p:cNvSpPr>
          <p:nvPr/>
        </p:nvSpPr>
        <p:spPr>
          <a:xfrm>
            <a:off x="934498" y="4743291"/>
            <a:ext cx="9136258" cy="1630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 smtClean="0"/>
              <a:t>Project </a:t>
            </a:r>
            <a:endParaRPr lang="en-US" sz="3200" dirty="0" smtClean="0">
              <a:sym typeface="Symbol" panose="05050102010706020507" pitchFamily="18" charset="2"/>
            </a:endParaRPr>
          </a:p>
          <a:p>
            <a:r>
              <a:rPr lang="en-US" dirty="0" smtClean="0">
                <a:sym typeface="Symbol" panose="05050102010706020507" pitchFamily="18" charset="2"/>
              </a:rPr>
              <a:t>Info will be released soon in iSpace.</a:t>
            </a:r>
          </a:p>
          <a:p>
            <a:pPr lvl="1"/>
            <a:r>
              <a:rPr lang="en-US" dirty="0" smtClean="0">
                <a:sym typeface="Symbol" panose="05050102010706020507" pitchFamily="18" charset="2"/>
              </a:rPr>
              <a:t>6 people in a team (?)</a:t>
            </a:r>
          </a:p>
        </p:txBody>
      </p:sp>
    </p:spTree>
    <p:extLst>
      <p:ext uri="{BB962C8B-B14F-4D97-AF65-F5344CB8AC3E}">
        <p14:creationId xmlns:p14="http://schemas.microsoft.com/office/powerpoint/2010/main" val="3729483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5109"/>
          </a:xfrm>
        </p:spPr>
        <p:txBody>
          <a:bodyPr/>
          <a:lstStyle/>
          <a:p>
            <a:r>
              <a:rPr lang="en-US" smtClean="0"/>
              <a:t>Note on Aggregation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64023"/>
            <a:ext cx="10515600" cy="1933103"/>
          </a:xfrm>
        </p:spPr>
        <p:txBody>
          <a:bodyPr>
            <a:normAutofit/>
          </a:bodyPr>
          <a:lstStyle/>
          <a:p>
            <a:r>
              <a:rPr lang="en-US" dirty="0" smtClean="0"/>
              <a:t>Lecture 4 and Lab 5 both cover </a:t>
            </a:r>
            <a:r>
              <a:rPr lang="en-US" dirty="0" smtClean="0">
                <a:solidFill>
                  <a:srgbClr val="FF0000"/>
                </a:solidFill>
              </a:rPr>
              <a:t>aggregation</a:t>
            </a:r>
            <a:r>
              <a:rPr lang="en-US" dirty="0" smtClean="0"/>
              <a:t>, but </a:t>
            </a:r>
            <a:r>
              <a:rPr lang="en-US" dirty="0" smtClean="0"/>
              <a:t>the</a:t>
            </a:r>
            <a:r>
              <a:rPr lang="en-US" dirty="0" smtClean="0"/>
              <a:t> meanings</a:t>
            </a:r>
            <a:r>
              <a:rPr lang="en-US" dirty="0"/>
              <a:t> </a:t>
            </a:r>
            <a:r>
              <a:rPr lang="en-US" dirty="0" smtClean="0"/>
              <a:t>are different in the lecture and lab.</a:t>
            </a:r>
            <a:endParaRPr lang="en-US" dirty="0" smtClean="0"/>
          </a:p>
          <a:p>
            <a:pPr lvl="1"/>
            <a:r>
              <a:rPr lang="en-US" dirty="0" smtClean="0"/>
              <a:t>In English, aggregation means “</a:t>
            </a:r>
            <a:r>
              <a:rPr lang="en-US" dirty="0" smtClean="0">
                <a:solidFill>
                  <a:srgbClr val="FF0000"/>
                </a:solidFill>
              </a:rPr>
              <a:t>combine things together </a:t>
            </a:r>
            <a:r>
              <a:rPr lang="en-US" dirty="0" smtClean="0"/>
              <a:t>into a cluster”.</a:t>
            </a:r>
          </a:p>
          <a:p>
            <a:r>
              <a:rPr lang="en-US" dirty="0"/>
              <a:t>In Lecture 4, we </a:t>
            </a:r>
            <a:r>
              <a:rPr lang="en-US" dirty="0">
                <a:solidFill>
                  <a:srgbClr val="FF0000"/>
                </a:solidFill>
              </a:rPr>
              <a:t>combine entities-relationships </a:t>
            </a:r>
            <a:r>
              <a:rPr lang="en-US" dirty="0"/>
              <a:t>together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57629" y="3052481"/>
            <a:ext cx="4080441" cy="8621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 smtClean="0"/>
              <a:t>We </a:t>
            </a:r>
            <a:r>
              <a:rPr lang="en-US" dirty="0"/>
              <a:t>treat the combination as an </a:t>
            </a:r>
            <a:r>
              <a:rPr lang="en-US" dirty="0" smtClean="0"/>
              <a:t>abstract entity</a:t>
            </a:r>
            <a:r>
              <a:rPr lang="en-US" dirty="0"/>
              <a:t>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B68C3B90-36B5-41E1-982A-4A04C683D11C}"/>
              </a:ext>
            </a:extLst>
          </p:cNvPr>
          <p:cNvGrpSpPr/>
          <p:nvPr/>
        </p:nvGrpSpPr>
        <p:grpSpPr>
          <a:xfrm>
            <a:off x="4863128" y="3197126"/>
            <a:ext cx="6979249" cy="1445982"/>
            <a:chOff x="2141820" y="4999048"/>
            <a:chExt cx="6979249" cy="144598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xmlns="" id="{29753F08-8B21-4D46-A424-5A04498F42E9}"/>
                </a:ext>
              </a:extLst>
            </p:cNvPr>
            <p:cNvSpPr txBox="1"/>
            <p:nvPr/>
          </p:nvSpPr>
          <p:spPr>
            <a:xfrm>
              <a:off x="6666551" y="5068076"/>
              <a:ext cx="2454518" cy="369332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pPr algn="l"/>
              <a:r>
                <a:rPr kumimoji="1"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abstract entity set</a:t>
              </a:r>
            </a:p>
          </p:txBody>
        </p:sp>
        <p:sp>
          <p:nvSpPr>
            <p:cNvPr id="7" name="Freeform: Shape 56">
              <a:extLst>
                <a:ext uri="{FF2B5EF4-FFF2-40B4-BE49-F238E27FC236}">
                  <a16:creationId xmlns:a16="http://schemas.microsoft.com/office/drawing/2014/main" xmlns="" id="{322F4D2F-7475-4526-820A-4D625C00901E}"/>
                </a:ext>
              </a:extLst>
            </p:cNvPr>
            <p:cNvSpPr/>
            <p:nvPr/>
          </p:nvSpPr>
          <p:spPr>
            <a:xfrm flipH="1">
              <a:off x="6678421" y="5498245"/>
              <a:ext cx="1221935" cy="218303"/>
            </a:xfrm>
            <a:custGeom>
              <a:avLst/>
              <a:gdLst>
                <a:gd name="connsiteX0" fmla="*/ 31099 w 1379839"/>
                <a:gd name="connsiteY0" fmla="*/ 0 h 218303"/>
                <a:gd name="connsiteX1" fmla="*/ 175879 w 1379839"/>
                <a:gd name="connsiteY1" fmla="*/ 190500 h 218303"/>
                <a:gd name="connsiteX2" fmla="*/ 1379839 w 1379839"/>
                <a:gd name="connsiteY2" fmla="*/ 213360 h 218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79839" h="218303">
                  <a:moveTo>
                    <a:pt x="31099" y="0"/>
                  </a:moveTo>
                  <a:cubicBezTo>
                    <a:pt x="-8906" y="77470"/>
                    <a:pt x="-48911" y="154940"/>
                    <a:pt x="175879" y="190500"/>
                  </a:cubicBezTo>
                  <a:cubicBezTo>
                    <a:pt x="400669" y="226060"/>
                    <a:pt x="890254" y="219710"/>
                    <a:pt x="1379839" y="213360"/>
                  </a:cubicBezTo>
                </a:path>
              </a:pathLst>
            </a:custGeom>
            <a:noFill/>
            <a:ln>
              <a:solidFill>
                <a:srgbClr val="FF0000"/>
              </a:solidFill>
              <a:tailEnd type="stealth" w="lg" len="lg"/>
              <a:extLst>
                <a:ext uri="{C807C97D-BFC1-408E-A445-0C87EB9F89A2}">
                  <ask:lineSketchStyleProps xmlns:ask="http://schemas.microsoft.com/office/drawing/2018/sketchyshapes" xmlns="" sd="1219033472">
                    <a:custGeom>
                      <a:avLst/>
                      <a:gdLst>
                        <a:gd name="connsiteX0" fmla="*/ 0 w 3251200"/>
                        <a:gd name="connsiteY0" fmla="*/ 276159 h 276159"/>
                        <a:gd name="connsiteX1" fmla="*/ 1778000 w 3251200"/>
                        <a:gd name="connsiteY1" fmla="*/ 388 h 276159"/>
                        <a:gd name="connsiteX2" fmla="*/ 3251200 w 3251200"/>
                        <a:gd name="connsiteY2" fmla="*/ 210845 h 276159"/>
                        <a:gd name="connsiteX3" fmla="*/ 3251200 w 3251200"/>
                        <a:gd name="connsiteY3" fmla="*/ 210845 h 2761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3251200" h="276159" extrusionOk="0">
                          <a:moveTo>
                            <a:pt x="0" y="276159"/>
                          </a:moveTo>
                          <a:cubicBezTo>
                            <a:pt x="525781" y="86793"/>
                            <a:pt x="1222218" y="16496"/>
                            <a:pt x="1778000" y="388"/>
                          </a:cubicBezTo>
                          <a:cubicBezTo>
                            <a:pt x="2319868" y="-10498"/>
                            <a:pt x="3251199" y="210845"/>
                            <a:pt x="3251200" y="210845"/>
                          </a:cubicBezTo>
                          <a:lnTo>
                            <a:pt x="3251200" y="210845"/>
                          </a:ln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xmlns="" id="{48B92CC5-BE15-4057-B5F7-E6C95C05315D}"/>
                </a:ext>
              </a:extLst>
            </p:cNvPr>
            <p:cNvGrpSpPr/>
            <p:nvPr/>
          </p:nvGrpSpPr>
          <p:grpSpPr>
            <a:xfrm>
              <a:off x="2141820" y="4999048"/>
              <a:ext cx="4398213" cy="1445982"/>
              <a:chOff x="3453825" y="4979901"/>
              <a:chExt cx="4398213" cy="1445982"/>
            </a:xfrm>
          </p:grpSpPr>
          <p:sp>
            <p:nvSpPr>
              <p:cNvPr id="9" name="矩形 3">
                <a:extLst>
                  <a:ext uri="{FF2B5EF4-FFF2-40B4-BE49-F238E27FC236}">
                    <a16:creationId xmlns:a16="http://schemas.microsoft.com/office/drawing/2014/main" xmlns="" id="{1E90DD08-07E4-4B5D-A6F7-4B81993BF71C}"/>
                  </a:ext>
                </a:extLst>
              </p:cNvPr>
              <p:cNvSpPr/>
              <p:nvPr/>
            </p:nvSpPr>
            <p:spPr>
              <a:xfrm>
                <a:off x="3453825" y="5549378"/>
                <a:ext cx="1005725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sz="14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student</a:t>
                </a: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矩形 3">
                <a:extLst>
                  <a:ext uri="{FF2B5EF4-FFF2-40B4-BE49-F238E27FC236}">
                    <a16:creationId xmlns:a16="http://schemas.microsoft.com/office/drawing/2014/main" xmlns="" id="{871D54EC-40AD-4FDE-B3CE-588B4C99790D}"/>
                  </a:ext>
                </a:extLst>
              </p:cNvPr>
              <p:cNvSpPr/>
              <p:nvPr/>
            </p:nvSpPr>
            <p:spPr>
              <a:xfrm>
                <a:off x="6766521" y="5071401"/>
                <a:ext cx="930783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pAutoFit/>
              </a:bodyPr>
              <a:lstStyle/>
              <a:p>
                <a:pPr algn="ctr"/>
                <a:r>
                  <a:rPr lang="en-US" altLang="zh-CN" sz="14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course</a:t>
                </a: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1" name="组合 6">
                <a:extLst>
                  <a:ext uri="{FF2B5EF4-FFF2-40B4-BE49-F238E27FC236}">
                    <a16:creationId xmlns:a16="http://schemas.microsoft.com/office/drawing/2014/main" xmlns="" id="{F39753EB-2F59-4EED-B46F-0B9DE29E2469}"/>
                  </a:ext>
                </a:extLst>
              </p:cNvPr>
              <p:cNvGrpSpPr/>
              <p:nvPr/>
            </p:nvGrpSpPr>
            <p:grpSpPr>
              <a:xfrm>
                <a:off x="5933161" y="5318594"/>
                <a:ext cx="768596" cy="768596"/>
                <a:chOff x="3920969" y="4874243"/>
                <a:chExt cx="824886" cy="824886"/>
              </a:xfrm>
            </p:grpSpPr>
            <p:sp>
              <p:nvSpPr>
                <p:cNvPr id="21" name="菱形 4">
                  <a:extLst>
                    <a:ext uri="{FF2B5EF4-FFF2-40B4-BE49-F238E27FC236}">
                      <a16:creationId xmlns:a16="http://schemas.microsoft.com/office/drawing/2014/main" xmlns="" id="{89BDBC94-4634-44EB-8EBC-B68F3E68AF2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920969" y="4874243"/>
                  <a:ext cx="824886" cy="824886"/>
                </a:xfrm>
                <a:prstGeom prst="diamond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noAutofit/>
                </a:bodyPr>
                <a:lstStyle/>
                <a:p>
                  <a:pPr algn="ctr">
                    <a:lnSpc>
                      <a:spcPct val="50000"/>
                    </a:lnSpc>
                  </a:pPr>
                  <a:endParaRPr lang="zh-CN" altLang="en-US" sz="14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" name="文本框 5">
                  <a:extLst>
                    <a:ext uri="{FF2B5EF4-FFF2-40B4-BE49-F238E27FC236}">
                      <a16:creationId xmlns:a16="http://schemas.microsoft.com/office/drawing/2014/main" xmlns="" id="{DD2234D9-1A96-4195-A0EF-612C6B31EB3D}"/>
                    </a:ext>
                  </a:extLst>
                </p:cNvPr>
                <p:cNvSpPr txBox="1"/>
                <p:nvPr/>
              </p:nvSpPr>
              <p:spPr>
                <a:xfrm>
                  <a:off x="3998421" y="5115634"/>
                  <a:ext cx="667861" cy="330318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vert="horz" wrap="none" lIns="91440" tIns="45720" rIns="91440" bIns="45720" rtlCol="0" anchor="ctr">
                  <a:spAutoFit/>
                </a:bodyPr>
                <a:lstStyle/>
                <a:p>
                  <a:pPr algn="l"/>
                  <a:r>
                    <a:rPr kumimoji="1" lang="en-US" altLang="zh-CN" sz="1400" i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teach</a:t>
                  </a:r>
                  <a:endParaRPr kumimoji="1" lang="zh-CN" altLang="en-US" sz="1400" i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2" name="矩形 3">
                <a:extLst>
                  <a:ext uri="{FF2B5EF4-FFF2-40B4-BE49-F238E27FC236}">
                    <a16:creationId xmlns:a16="http://schemas.microsoft.com/office/drawing/2014/main" xmlns="" id="{448F6ADF-1161-4824-BFEF-333668DC94C6}"/>
                  </a:ext>
                </a:extLst>
              </p:cNvPr>
              <p:cNvSpPr/>
              <p:nvPr/>
            </p:nvSpPr>
            <p:spPr>
              <a:xfrm>
                <a:off x="6766521" y="6030645"/>
                <a:ext cx="1014032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sz="14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instructor</a:t>
                </a: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3" name="组合 6">
                <a:extLst>
                  <a:ext uri="{FF2B5EF4-FFF2-40B4-BE49-F238E27FC236}">
                    <a16:creationId xmlns:a16="http://schemas.microsoft.com/office/drawing/2014/main" xmlns="" id="{DCC3C87B-79A3-4BEA-843D-7CAE5A67D4B7}"/>
                  </a:ext>
                </a:extLst>
              </p:cNvPr>
              <p:cNvGrpSpPr/>
              <p:nvPr/>
            </p:nvGrpSpPr>
            <p:grpSpPr>
              <a:xfrm>
                <a:off x="4803037" y="5319452"/>
                <a:ext cx="768596" cy="768596"/>
                <a:chOff x="3920969" y="4874243"/>
                <a:chExt cx="824886" cy="824886"/>
              </a:xfrm>
            </p:grpSpPr>
            <p:sp>
              <p:nvSpPr>
                <p:cNvPr id="19" name="菱形 4">
                  <a:extLst>
                    <a:ext uri="{FF2B5EF4-FFF2-40B4-BE49-F238E27FC236}">
                      <a16:creationId xmlns:a16="http://schemas.microsoft.com/office/drawing/2014/main" xmlns="" id="{47427B88-2E59-40D8-8F37-BD156E9EE06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920969" y="4874243"/>
                  <a:ext cx="824886" cy="824886"/>
                </a:xfrm>
                <a:prstGeom prst="diamond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noAutofit/>
                </a:bodyPr>
                <a:lstStyle/>
                <a:p>
                  <a:pPr algn="ctr">
                    <a:lnSpc>
                      <a:spcPct val="50000"/>
                    </a:lnSpc>
                  </a:pPr>
                  <a:endParaRPr lang="zh-CN" altLang="en-US" sz="14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" name="文本框 5">
                  <a:extLst>
                    <a:ext uri="{FF2B5EF4-FFF2-40B4-BE49-F238E27FC236}">
                      <a16:creationId xmlns:a16="http://schemas.microsoft.com/office/drawing/2014/main" xmlns="" id="{028D18B3-8BFD-48FD-B3FF-53B0B30C5E63}"/>
                    </a:ext>
                  </a:extLst>
                </p:cNvPr>
                <p:cNvSpPr txBox="1"/>
                <p:nvPr/>
              </p:nvSpPr>
              <p:spPr>
                <a:xfrm>
                  <a:off x="3998421" y="5115634"/>
                  <a:ext cx="667861" cy="330318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vert="horz" wrap="none" lIns="91440" tIns="45720" rIns="91440" bIns="45720" rtlCol="0" anchor="ctr">
                  <a:spAutoFit/>
                </a:bodyPr>
                <a:lstStyle/>
                <a:p>
                  <a:pPr algn="l"/>
                  <a:r>
                    <a:rPr kumimoji="1" lang="en-US" altLang="zh-CN" sz="1400" i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enroll</a:t>
                  </a:r>
                  <a:endParaRPr kumimoji="1" lang="zh-CN" altLang="en-US" sz="1400" i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xmlns="" id="{A0353803-4D65-4F32-B93F-E032C325F375}"/>
                  </a:ext>
                </a:extLst>
              </p:cNvPr>
              <p:cNvSpPr/>
              <p:nvPr/>
            </p:nvSpPr>
            <p:spPr>
              <a:xfrm>
                <a:off x="5915120" y="4979901"/>
                <a:ext cx="1936918" cy="144598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  <a:prstDash val="solid"/>
                <a:extLst>
                  <a:ext uri="{C807C97D-BFC1-408E-A445-0C87EB9F89A2}">
                    <ask:lineSketchStyleProps xmlns:ask="http://schemas.microsoft.com/office/drawing/2018/sketchyshapes" xmlns="" sd="1219033472">
                      <a:custGeom>
                        <a:avLst/>
                        <a:gdLst>
                          <a:gd name="connsiteX0" fmla="*/ 0 w 3251200"/>
                          <a:gd name="connsiteY0" fmla="*/ 276159 h 276159"/>
                          <a:gd name="connsiteX1" fmla="*/ 1778000 w 3251200"/>
                          <a:gd name="connsiteY1" fmla="*/ 388 h 276159"/>
                          <a:gd name="connsiteX2" fmla="*/ 3251200 w 3251200"/>
                          <a:gd name="connsiteY2" fmla="*/ 210845 h 276159"/>
                          <a:gd name="connsiteX3" fmla="*/ 3251200 w 3251200"/>
                          <a:gd name="connsiteY3" fmla="*/ 210845 h 27615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3251200" h="276159" extrusionOk="0">
                            <a:moveTo>
                              <a:pt x="0" y="276159"/>
                            </a:moveTo>
                            <a:cubicBezTo>
                              <a:pt x="525781" y="86793"/>
                              <a:pt x="1222218" y="16496"/>
                              <a:pt x="1778000" y="388"/>
                            </a:cubicBezTo>
                            <a:cubicBezTo>
                              <a:pt x="2319868" y="-10498"/>
                              <a:pt x="3251199" y="210845"/>
                              <a:pt x="3251200" y="210845"/>
                            </a:cubicBezTo>
                            <a:lnTo>
                              <a:pt x="3251200" y="210845"/>
                            </a:lnTo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5" name="Connector: Elbow 60">
                <a:extLst>
                  <a:ext uri="{FF2B5EF4-FFF2-40B4-BE49-F238E27FC236}">
                    <a16:creationId xmlns:a16="http://schemas.microsoft.com/office/drawing/2014/main" xmlns="" id="{3E54101A-D3EC-4759-891E-BCFACC5C1DD7}"/>
                  </a:ext>
                </a:extLst>
              </p:cNvPr>
              <p:cNvCxnSpPr>
                <a:stCxn id="21" idx="0"/>
                <a:endCxn id="10" idx="1"/>
              </p:cNvCxnSpPr>
              <p:nvPr/>
            </p:nvCxnSpPr>
            <p:spPr>
              <a:xfrm rot="5400000" flipH="1" flipV="1">
                <a:off x="6495338" y="5047411"/>
                <a:ext cx="93304" cy="449062"/>
              </a:xfrm>
              <a:prstGeom prst="bentConnector2">
                <a:avLst/>
              </a:prstGeom>
              <a:ln w="15875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Connector: Elbow 62">
                <a:extLst>
                  <a:ext uri="{FF2B5EF4-FFF2-40B4-BE49-F238E27FC236}">
                    <a16:creationId xmlns:a16="http://schemas.microsoft.com/office/drawing/2014/main" xmlns="" id="{8D4C8623-0F5D-47FE-9F52-9D1D14ABED6E}"/>
                  </a:ext>
                </a:extLst>
              </p:cNvPr>
              <p:cNvCxnSpPr>
                <a:cxnSpLocks/>
                <a:stCxn id="21" idx="2"/>
                <a:endCxn id="12" idx="1"/>
              </p:cNvCxnSpPr>
              <p:nvPr/>
            </p:nvCxnSpPr>
            <p:spPr>
              <a:xfrm rot="16200000" flipH="1">
                <a:off x="6493318" y="5911331"/>
                <a:ext cx="97344" cy="449062"/>
              </a:xfrm>
              <a:prstGeom prst="bentConnector2">
                <a:avLst/>
              </a:prstGeom>
              <a:ln w="15875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xmlns="" id="{FE0C871F-F524-429D-BF00-4DE464936B7A}"/>
                  </a:ext>
                </a:extLst>
              </p:cNvPr>
              <p:cNvCxnSpPr>
                <a:cxnSpLocks/>
                <a:stCxn id="9" idx="3"/>
                <a:endCxn id="19" idx="1"/>
              </p:cNvCxnSpPr>
              <p:nvPr/>
            </p:nvCxnSpPr>
            <p:spPr>
              <a:xfrm>
                <a:off x="4459550" y="5703267"/>
                <a:ext cx="343487" cy="483"/>
              </a:xfrm>
              <a:prstGeom prst="line">
                <a:avLst/>
              </a:prstGeom>
              <a:ln w="15875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xmlns="" id="{33A6BFE3-2746-4E03-8110-D86EB78C7D93}"/>
                  </a:ext>
                </a:extLst>
              </p:cNvPr>
              <p:cNvCxnSpPr>
                <a:cxnSpLocks/>
                <a:stCxn id="19" idx="3"/>
                <a:endCxn id="14" idx="1"/>
              </p:cNvCxnSpPr>
              <p:nvPr/>
            </p:nvCxnSpPr>
            <p:spPr>
              <a:xfrm flipV="1">
                <a:off x="5571633" y="5702892"/>
                <a:ext cx="343487" cy="858"/>
              </a:xfrm>
              <a:prstGeom prst="line">
                <a:avLst/>
              </a:prstGeom>
              <a:ln w="15875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3" name="Content Placeholder 2"/>
          <p:cNvSpPr txBox="1">
            <a:spLocks/>
          </p:cNvSpPr>
          <p:nvPr/>
        </p:nvSpPr>
        <p:spPr>
          <a:xfrm>
            <a:off x="954540" y="5070326"/>
            <a:ext cx="10515600" cy="107213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In Lab 5, combine objects (such as films and actors) together and use </a:t>
            </a:r>
            <a:r>
              <a:rPr lang="en-US" dirty="0" smtClean="0">
                <a:solidFill>
                  <a:srgbClr val="FF0000"/>
                </a:solidFill>
              </a:rPr>
              <a:t>aggregation functions </a:t>
            </a:r>
            <a:r>
              <a:rPr lang="en-US" dirty="0" smtClean="0"/>
              <a:t>such as count() and average() to study the group.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799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">
            <a:extLst>
              <a:ext uri="{FF2B5EF4-FFF2-40B4-BE49-F238E27FC236}">
                <a16:creationId xmlns="" xmlns:a16="http://schemas.microsoft.com/office/drawing/2014/main" id="{7185031B-8265-4F1B-A92F-819216077F64}"/>
              </a:ext>
            </a:extLst>
          </p:cNvPr>
          <p:cNvSpPr txBox="1">
            <a:spLocks/>
          </p:cNvSpPr>
          <p:nvPr/>
        </p:nvSpPr>
        <p:spPr>
          <a:xfrm>
            <a:off x="838201" y="1228436"/>
            <a:ext cx="10633364" cy="539403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ym typeface="Symbol" panose="05050102010706020507" pitchFamily="18" charset="2"/>
              </a:rPr>
              <a:t>Slide 3</a:t>
            </a:r>
          </a:p>
          <a:p>
            <a:r>
              <a:rPr lang="en-US" dirty="0">
                <a:sym typeface="Symbol" panose="05050102010706020507" pitchFamily="18" charset="2"/>
              </a:rPr>
              <a:t>Last lecture, we learned how to convert ternary relationship into binary relationships to remove ambiguity in meaning.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We used different binary architectures to handle Meaning 1 and Meaning 2.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Suppose we want all the constraints from Meaning 1 and 2, as listed in the 3 constraints in Slide 3; then the architectures in last lecture won’t work.</a:t>
            </a:r>
          </a:p>
          <a:p>
            <a:r>
              <a:rPr lang="en-US" dirty="0">
                <a:sym typeface="Symbol" panose="05050102010706020507" pitchFamily="18" charset="2"/>
              </a:rPr>
              <a:t>We can use </a:t>
            </a:r>
            <a:r>
              <a:rPr lang="en-US" dirty="0">
                <a:solidFill>
                  <a:srgbClr val="00B050"/>
                </a:solidFill>
                <a:sym typeface="Symbol" panose="05050102010706020507" pitchFamily="18" charset="2"/>
              </a:rPr>
              <a:t>aggregation </a:t>
            </a:r>
            <a:r>
              <a:rPr lang="en-US" dirty="0">
                <a:sym typeface="Symbol" panose="05050102010706020507" pitchFamily="18" charset="2"/>
              </a:rPr>
              <a:t>to solve this problem.</a:t>
            </a:r>
          </a:p>
          <a:p>
            <a:endParaRPr lang="en-US" sz="9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dirty="0">
                <a:sym typeface="Symbol" panose="05050102010706020507" pitchFamily="18" charset="2"/>
              </a:rPr>
              <a:t>Slide 4</a:t>
            </a:r>
          </a:p>
          <a:p>
            <a:r>
              <a:rPr lang="en-US" dirty="0">
                <a:sym typeface="Symbol" panose="05050102010706020507" pitchFamily="18" charset="2"/>
              </a:rPr>
              <a:t>The stuff inside </a:t>
            </a:r>
            <a:r>
              <a:rPr lang="en-US" dirty="0">
                <a:solidFill>
                  <a:srgbClr val="FF0000"/>
                </a:solidFill>
                <a:sym typeface="Symbol" panose="05050102010706020507" pitchFamily="18" charset="2"/>
              </a:rPr>
              <a:t>red box </a:t>
            </a:r>
            <a:r>
              <a:rPr lang="en-US" dirty="0">
                <a:sym typeface="Symbol" panose="05050102010706020507" pitchFamily="18" charset="2"/>
              </a:rPr>
              <a:t>is an aggregation; we treat it like one entity.</a:t>
            </a:r>
          </a:p>
          <a:p>
            <a:r>
              <a:rPr lang="en-US" dirty="0">
                <a:sym typeface="Symbol" panose="05050102010706020507" pitchFamily="18" charset="2"/>
              </a:rPr>
              <a:t>Inside the box allows relationship between entities </a:t>
            </a:r>
            <a:r>
              <a:rPr lang="en-US" i="1" dirty="0">
                <a:solidFill>
                  <a:srgbClr val="00B050"/>
                </a:solidFill>
                <a:sym typeface="Symbol" panose="05050102010706020507" pitchFamily="18" charset="2"/>
              </a:rPr>
              <a:t>course</a:t>
            </a:r>
            <a:r>
              <a:rPr lang="en-US" dirty="0">
                <a:sym typeface="Symbol" panose="05050102010706020507" pitchFamily="18" charset="2"/>
              </a:rPr>
              <a:t> and </a:t>
            </a:r>
            <a:r>
              <a:rPr lang="en-US" i="1" dirty="0">
                <a:solidFill>
                  <a:srgbClr val="00B050"/>
                </a:solidFill>
                <a:sym typeface="Symbol" panose="05050102010706020507" pitchFamily="18" charset="2"/>
              </a:rPr>
              <a:t>instructor</a:t>
            </a:r>
            <a:r>
              <a:rPr lang="en-US" dirty="0">
                <a:sym typeface="Symbol" panose="05050102010706020507" pitchFamily="18" charset="2"/>
              </a:rPr>
              <a:t>.</a:t>
            </a:r>
            <a:endParaRPr lang="en-US" i="1" dirty="0">
              <a:solidFill>
                <a:srgbClr val="00B050"/>
              </a:solidFill>
              <a:sym typeface="Symbol" panose="05050102010706020507" pitchFamily="18" charset="2"/>
            </a:endParaRPr>
          </a:p>
          <a:p>
            <a:r>
              <a:rPr lang="en-US" dirty="0">
                <a:sym typeface="Symbol" panose="05050102010706020507" pitchFamily="18" charset="2"/>
              </a:rPr>
              <a:t>Outside the box allows relationship between an entity (</a:t>
            </a:r>
            <a:r>
              <a:rPr lang="en-US" i="1" dirty="0">
                <a:solidFill>
                  <a:srgbClr val="00B050"/>
                </a:solidFill>
                <a:sym typeface="Symbol" panose="05050102010706020507" pitchFamily="18" charset="2"/>
              </a:rPr>
              <a:t>student</a:t>
            </a:r>
            <a:r>
              <a:rPr lang="en-US" dirty="0">
                <a:sym typeface="Symbol" panose="05050102010706020507" pitchFamily="18" charset="2"/>
              </a:rPr>
              <a:t>) and a combination of multiple entities (</a:t>
            </a:r>
            <a:r>
              <a:rPr lang="en-US" i="1" dirty="0">
                <a:solidFill>
                  <a:srgbClr val="00B050"/>
                </a:solidFill>
                <a:sym typeface="Symbol" panose="05050102010706020507" pitchFamily="18" charset="2"/>
              </a:rPr>
              <a:t>course</a:t>
            </a:r>
            <a:r>
              <a:rPr lang="en-US" dirty="0">
                <a:sym typeface="Symbol" panose="05050102010706020507" pitchFamily="18" charset="2"/>
              </a:rPr>
              <a:t> and </a:t>
            </a:r>
            <a:r>
              <a:rPr lang="en-US" i="1" dirty="0">
                <a:solidFill>
                  <a:srgbClr val="00B050"/>
                </a:solidFill>
                <a:sym typeface="Symbol" panose="05050102010706020507" pitchFamily="18" charset="2"/>
              </a:rPr>
              <a:t>instructor</a:t>
            </a:r>
            <a:r>
              <a:rPr lang="en-US" dirty="0">
                <a:sym typeface="Symbol" panose="05050102010706020507" pitchFamily="18" charset="2"/>
              </a:rPr>
              <a:t>).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0886"/>
            <a:ext cx="10515600" cy="607477"/>
          </a:xfrm>
        </p:spPr>
        <p:txBody>
          <a:bodyPr>
            <a:normAutofit fontScale="90000"/>
          </a:bodyPr>
          <a:lstStyle/>
          <a:p>
            <a:r>
              <a:rPr lang="en-US" dirty="0"/>
              <a:t>Aggregation (slides 3-8)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818075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">
            <a:extLst>
              <a:ext uri="{FF2B5EF4-FFF2-40B4-BE49-F238E27FC236}">
                <a16:creationId xmlns="" xmlns:a16="http://schemas.microsoft.com/office/drawing/2014/main" id="{7185031B-8265-4F1B-A92F-819216077F64}"/>
              </a:ext>
            </a:extLst>
          </p:cNvPr>
          <p:cNvSpPr txBox="1">
            <a:spLocks/>
          </p:cNvSpPr>
          <p:nvPr/>
        </p:nvSpPr>
        <p:spPr>
          <a:xfrm>
            <a:off x="869951" y="1415440"/>
            <a:ext cx="10483849" cy="50563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ym typeface="Symbol" panose="05050102010706020507" pitchFamily="18" charset="2"/>
              </a:rPr>
              <a:t>Slide 5</a:t>
            </a:r>
          </a:p>
          <a:p>
            <a:r>
              <a:rPr lang="en-US" dirty="0">
                <a:sym typeface="Symbol" panose="05050102010706020507" pitchFamily="18" charset="2"/>
              </a:rPr>
              <a:t>Form a 4-ary relationship by adding the entity </a:t>
            </a:r>
            <a:r>
              <a:rPr lang="en-US" i="1" dirty="0">
                <a:solidFill>
                  <a:srgbClr val="00B050"/>
                </a:solidFill>
                <a:sym typeface="Symbol" panose="05050102010706020507" pitchFamily="18" charset="2"/>
              </a:rPr>
              <a:t>project</a:t>
            </a:r>
            <a:r>
              <a:rPr lang="en-US" dirty="0">
                <a:sym typeface="Symbol" panose="05050102010706020507" pitchFamily="18" charset="2"/>
              </a:rPr>
              <a:t> to the ternary relationship in Slide 3.</a:t>
            </a:r>
            <a:endParaRPr lang="en-US" sz="8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dirty="0">
                <a:sym typeface="Symbol" panose="05050102010706020507" pitchFamily="18" charset="2"/>
              </a:rPr>
              <a:t>Slide 6</a:t>
            </a:r>
          </a:p>
          <a:p>
            <a:r>
              <a:rPr lang="en-US" dirty="0" smtClean="0">
                <a:sym typeface="Symbol" panose="05050102010706020507" pitchFamily="18" charset="2"/>
              </a:rPr>
              <a:t>Problem: The </a:t>
            </a:r>
            <a:r>
              <a:rPr lang="en-US" dirty="0">
                <a:sym typeface="Symbol" panose="05050102010706020507" pitchFamily="18" charset="2"/>
              </a:rPr>
              <a:t>original relationship </a:t>
            </a:r>
            <a:r>
              <a:rPr lang="en-US" i="1" dirty="0">
                <a:solidFill>
                  <a:srgbClr val="00B050"/>
                </a:solidFill>
                <a:sym typeface="Symbol" panose="05050102010706020507" pitchFamily="18" charset="2"/>
              </a:rPr>
              <a:t>enroll</a:t>
            </a:r>
            <a:r>
              <a:rPr lang="en-US" dirty="0">
                <a:sym typeface="Symbol" panose="05050102010706020507" pitchFamily="18" charset="2"/>
              </a:rPr>
              <a:t> in Slide 3 (</a:t>
            </a:r>
            <a:r>
              <a:rPr lang="en-US" dirty="0">
                <a:solidFill>
                  <a:srgbClr val="00B050"/>
                </a:solidFill>
                <a:sym typeface="Symbol" panose="05050102010706020507" pitchFamily="18" charset="2"/>
              </a:rPr>
              <a:t>student</a:t>
            </a:r>
            <a:r>
              <a:rPr lang="en-US" dirty="0">
                <a:sym typeface="Symbol" panose="05050102010706020507" pitchFamily="18" charset="2"/>
              </a:rPr>
              <a:t> and </a:t>
            </a:r>
            <a:r>
              <a:rPr lang="en-US" dirty="0">
                <a:solidFill>
                  <a:srgbClr val="00B050"/>
                </a:solidFill>
                <a:sym typeface="Symbol" panose="05050102010706020507" pitchFamily="18" charset="2"/>
              </a:rPr>
              <a:t>teacher</a:t>
            </a:r>
            <a:r>
              <a:rPr lang="en-US" dirty="0">
                <a:sym typeface="Symbol" panose="05050102010706020507" pitchFamily="18" charset="2"/>
              </a:rPr>
              <a:t> enroll in a </a:t>
            </a:r>
            <a:r>
              <a:rPr lang="en-US" dirty="0">
                <a:solidFill>
                  <a:srgbClr val="00B050"/>
                </a:solidFill>
                <a:sym typeface="Symbol" panose="05050102010706020507" pitchFamily="18" charset="2"/>
              </a:rPr>
              <a:t>course</a:t>
            </a:r>
            <a:r>
              <a:rPr lang="en-US" dirty="0">
                <a:sym typeface="Symbol" panose="05050102010706020507" pitchFamily="18" charset="2"/>
              </a:rPr>
              <a:t>) has a different meaning than the relationship between the 4 </a:t>
            </a:r>
            <a:r>
              <a:rPr lang="en-US" dirty="0" smtClean="0">
                <a:sym typeface="Symbol" panose="05050102010706020507" pitchFamily="18" charset="2"/>
              </a:rPr>
              <a:t>entities here.</a:t>
            </a:r>
          </a:p>
          <a:p>
            <a:pPr lvl="1"/>
            <a:r>
              <a:rPr lang="en-US" dirty="0" smtClean="0">
                <a:sym typeface="Symbol" panose="05050102010706020507" pitchFamily="18" charset="2"/>
              </a:rPr>
              <a:t>Diagram looks clumsy; not clear on relationships.</a:t>
            </a:r>
            <a:endParaRPr lang="en-US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dirty="0" smtClean="0">
                <a:sym typeface="Symbol" panose="05050102010706020507" pitchFamily="18" charset="2"/>
              </a:rPr>
              <a:t>Slide 7-8</a:t>
            </a:r>
            <a:r>
              <a:rPr lang="en-US" dirty="0">
                <a:sym typeface="Symbol" panose="05050102010706020507" pitchFamily="18" charset="2"/>
              </a:rPr>
              <a:t>	Use aggregation to remove redundancy.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T</a:t>
            </a:r>
            <a:r>
              <a:rPr lang="en-US" dirty="0" smtClean="0">
                <a:sym typeface="Symbol" panose="05050102010706020507" pitchFamily="18" charset="2"/>
              </a:rPr>
              <a:t>he aggregation is an abstract entity, having a relationship with entity project.</a:t>
            </a:r>
          </a:p>
          <a:p>
            <a:pPr lvl="1"/>
            <a:r>
              <a:rPr lang="en-US" dirty="0" smtClean="0">
                <a:sym typeface="Symbol" panose="05050102010706020507" pitchFamily="18" charset="2"/>
              </a:rPr>
              <a:t>Diagram in slide 8 much clearer than that in slide 6.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449" y="565541"/>
            <a:ext cx="10515600" cy="849899"/>
          </a:xfrm>
        </p:spPr>
        <p:txBody>
          <a:bodyPr>
            <a:normAutofit/>
          </a:bodyPr>
          <a:lstStyle/>
          <a:p>
            <a:r>
              <a:rPr lang="en-US" dirty="0"/>
              <a:t>Aggregation (slides 3-8)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469904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">
            <a:extLst>
              <a:ext uri="{FF2B5EF4-FFF2-40B4-BE49-F238E27FC236}">
                <a16:creationId xmlns="" xmlns:a16="http://schemas.microsoft.com/office/drawing/2014/main" id="{7185031B-8265-4F1B-A92F-819216077F64}"/>
              </a:ext>
            </a:extLst>
          </p:cNvPr>
          <p:cNvSpPr txBox="1">
            <a:spLocks/>
          </p:cNvSpPr>
          <p:nvPr/>
        </p:nvSpPr>
        <p:spPr>
          <a:xfrm>
            <a:off x="869951" y="1493520"/>
            <a:ext cx="10483849" cy="4978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ym typeface="Symbol" panose="05050102010706020507" pitchFamily="18" charset="2"/>
              </a:rPr>
              <a:t>Slide 9</a:t>
            </a:r>
          </a:p>
          <a:p>
            <a:r>
              <a:rPr lang="en-US" dirty="0">
                <a:sym typeface="Symbol" panose="05050102010706020507" pitchFamily="18" charset="2"/>
              </a:rPr>
              <a:t>A </a:t>
            </a:r>
            <a:r>
              <a:rPr lang="en-US" b="1" dirty="0">
                <a:solidFill>
                  <a:srgbClr val="00B050"/>
                </a:solidFill>
                <a:sym typeface="Symbol" panose="05050102010706020507" pitchFamily="18" charset="2"/>
              </a:rPr>
              <a:t>weak entity </a:t>
            </a:r>
            <a:r>
              <a:rPr lang="en-US" dirty="0">
                <a:sym typeface="Symbol" panose="05050102010706020507" pitchFamily="18" charset="2"/>
              </a:rPr>
              <a:t>can only exist </a:t>
            </a:r>
            <a:r>
              <a:rPr lang="en-US" b="1" dirty="0">
                <a:solidFill>
                  <a:srgbClr val="00B050"/>
                </a:solidFill>
                <a:sym typeface="Symbol" panose="05050102010706020507" pitchFamily="18" charset="2"/>
              </a:rPr>
              <a:t>depending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b="1" dirty="0">
                <a:solidFill>
                  <a:srgbClr val="00B050"/>
                </a:solidFill>
                <a:sym typeface="Symbol" panose="05050102010706020507" pitchFamily="18" charset="2"/>
              </a:rPr>
              <a:t>on another entity</a:t>
            </a:r>
            <a:r>
              <a:rPr lang="en-US" dirty="0">
                <a:sym typeface="Symbol" panose="05050102010706020507" pitchFamily="18" charset="2"/>
              </a:rPr>
              <a:t>.</a:t>
            </a:r>
          </a:p>
          <a:p>
            <a:pPr marL="0" indent="0">
              <a:buNone/>
            </a:pPr>
            <a:r>
              <a:rPr lang="en-US" dirty="0">
                <a:sym typeface="Symbol" panose="05050102010706020507" pitchFamily="18" charset="2"/>
              </a:rPr>
              <a:t>(Do Slide 10 before doing the rest of Slide </a:t>
            </a:r>
            <a:r>
              <a:rPr lang="en-US" dirty="0" smtClean="0">
                <a:sym typeface="Symbol" panose="05050102010706020507" pitchFamily="18" charset="2"/>
              </a:rPr>
              <a:t>9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smtClean="0">
                <a:sym typeface="Symbol" panose="05050102010706020507" pitchFamily="18" charset="2"/>
              </a:rPr>
              <a:t>and 11 together</a:t>
            </a:r>
            <a:endParaRPr lang="en-US" sz="800" dirty="0">
              <a:sym typeface="Symbol" panose="05050102010706020507" pitchFamily="18" charset="2"/>
            </a:endParaRPr>
          </a:p>
          <a:p>
            <a:r>
              <a:rPr lang="en-US" dirty="0" smtClean="0">
                <a:sym typeface="Symbol" panose="05050102010706020507" pitchFamily="18" charset="2"/>
              </a:rPr>
              <a:t>Slide 9 definitions with Slide 11 example E-R diagram </a:t>
            </a:r>
            <a:endParaRPr lang="en-US" dirty="0">
              <a:sym typeface="Symbol" panose="05050102010706020507" pitchFamily="18" charset="2"/>
            </a:endParaRPr>
          </a:p>
          <a:p>
            <a:pPr lvl="1"/>
            <a:r>
              <a:rPr lang="en-US" dirty="0">
                <a:sym typeface="Symbol" panose="05050102010706020507" pitchFamily="18" charset="2"/>
              </a:rPr>
              <a:t>The </a:t>
            </a:r>
            <a:r>
              <a:rPr lang="en-US" b="1" dirty="0">
                <a:sym typeface="Symbol" panose="05050102010706020507" pitchFamily="18" charset="2"/>
              </a:rPr>
              <a:t>weak entity </a:t>
            </a:r>
            <a:r>
              <a:rPr lang="en-US" b="1" i="1" dirty="0">
                <a:solidFill>
                  <a:srgbClr val="00B050"/>
                </a:solidFill>
                <a:sym typeface="Symbol" panose="05050102010706020507" pitchFamily="18" charset="2"/>
              </a:rPr>
              <a:t>section</a:t>
            </a:r>
            <a:r>
              <a:rPr lang="en-US" dirty="0">
                <a:solidFill>
                  <a:srgbClr val="00B050"/>
                </a:solidFill>
                <a:sym typeface="Symbol" panose="05050102010706020507" pitchFamily="18" charset="2"/>
              </a:rPr>
              <a:t> </a:t>
            </a:r>
            <a:r>
              <a:rPr lang="en-US" dirty="0">
                <a:sym typeface="Symbol" panose="05050102010706020507" pitchFamily="18" charset="2"/>
              </a:rPr>
              <a:t>(double rectangle) can only exist with the </a:t>
            </a:r>
            <a:r>
              <a:rPr lang="en-US" b="1" dirty="0">
                <a:sym typeface="Symbol" panose="05050102010706020507" pitchFamily="18" charset="2"/>
              </a:rPr>
              <a:t>identifying entity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b="1" i="1" dirty="0" smtClean="0">
                <a:solidFill>
                  <a:srgbClr val="00B050"/>
                </a:solidFill>
                <a:sym typeface="Symbol" panose="05050102010706020507" pitchFamily="18" charset="2"/>
              </a:rPr>
              <a:t>course</a:t>
            </a:r>
            <a:r>
              <a:rPr lang="en-US" dirty="0">
                <a:sym typeface="Symbol" panose="05050102010706020507" pitchFamily="18" charset="2"/>
              </a:rPr>
              <a:t>.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A</a:t>
            </a:r>
            <a:r>
              <a:rPr lang="en-US" b="1" dirty="0">
                <a:sym typeface="Symbol" panose="05050102010706020507" pitchFamily="18" charset="2"/>
              </a:rPr>
              <a:t> weak entity set </a:t>
            </a:r>
            <a:r>
              <a:rPr lang="en-US" dirty="0">
                <a:sym typeface="Symbol" panose="05050102010706020507" pitchFamily="18" charset="2"/>
              </a:rPr>
              <a:t>consists of </a:t>
            </a:r>
            <a:r>
              <a:rPr lang="en-US" b="1" dirty="0">
                <a:solidFill>
                  <a:srgbClr val="00B050"/>
                </a:solidFill>
                <a:sym typeface="Symbol" panose="05050102010706020507" pitchFamily="18" charset="2"/>
              </a:rPr>
              <a:t>all sections </a:t>
            </a:r>
            <a:r>
              <a:rPr lang="en-US" dirty="0">
                <a:sym typeface="Symbol" panose="05050102010706020507" pitchFamily="18" charset="2"/>
              </a:rPr>
              <a:t>of a </a:t>
            </a:r>
            <a:r>
              <a:rPr lang="en-US" b="1" i="1" dirty="0">
                <a:solidFill>
                  <a:srgbClr val="00B050"/>
                </a:solidFill>
                <a:sym typeface="Symbol" panose="05050102010706020507" pitchFamily="18" charset="2"/>
              </a:rPr>
              <a:t>course</a:t>
            </a:r>
            <a:r>
              <a:rPr lang="en-US" dirty="0">
                <a:sym typeface="Symbol" panose="05050102010706020507" pitchFamily="18" charset="2"/>
              </a:rPr>
              <a:t>.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Participation of </a:t>
            </a:r>
            <a:r>
              <a:rPr lang="en-US" b="1" i="1" dirty="0">
                <a:solidFill>
                  <a:srgbClr val="00B050"/>
                </a:solidFill>
                <a:sym typeface="Symbol" panose="05050102010706020507" pitchFamily="18" charset="2"/>
              </a:rPr>
              <a:t>section</a:t>
            </a:r>
            <a:r>
              <a:rPr lang="en-US" dirty="0">
                <a:sym typeface="Symbol" panose="05050102010706020507" pitchFamily="18" charset="2"/>
              </a:rPr>
              <a:t> in the </a:t>
            </a:r>
            <a:r>
              <a:rPr lang="en-US" b="1" dirty="0">
                <a:sym typeface="Symbol" panose="05050102010706020507" pitchFamily="18" charset="2"/>
              </a:rPr>
              <a:t>identifying relationship </a:t>
            </a:r>
            <a:r>
              <a:rPr lang="en-US" dirty="0">
                <a:sym typeface="Symbol" panose="05050102010706020507" pitchFamily="18" charset="2"/>
              </a:rPr>
              <a:t>(double diamond)</a:t>
            </a:r>
            <a:r>
              <a:rPr lang="en-US" b="1" dirty="0">
                <a:sym typeface="Symbol" panose="05050102010706020507" pitchFamily="18" charset="2"/>
              </a:rPr>
              <a:t> </a:t>
            </a:r>
            <a:r>
              <a:rPr lang="en-US" b="1" dirty="0" err="1">
                <a:solidFill>
                  <a:srgbClr val="00B050"/>
                </a:solidFill>
                <a:sym typeface="Symbol" panose="05050102010706020507" pitchFamily="18" charset="2"/>
              </a:rPr>
              <a:t>course_section</a:t>
            </a:r>
            <a:r>
              <a:rPr lang="en-US" dirty="0">
                <a:sym typeface="Symbol" panose="05050102010706020507" pitchFamily="18" charset="2"/>
              </a:rPr>
              <a:t> is </a:t>
            </a:r>
            <a:r>
              <a:rPr lang="en-US" b="1" dirty="0">
                <a:sym typeface="Symbol" panose="05050102010706020507" pitchFamily="18" charset="2"/>
              </a:rPr>
              <a:t>total</a:t>
            </a:r>
            <a:r>
              <a:rPr lang="en-US" dirty="0">
                <a:sym typeface="Symbol" panose="05050102010706020507" pitchFamily="18" charset="2"/>
              </a:rPr>
              <a:t> (double line); i.e. every section must depend on a course.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449" y="565541"/>
            <a:ext cx="10515600" cy="849899"/>
          </a:xfrm>
        </p:spPr>
        <p:txBody>
          <a:bodyPr>
            <a:normAutofit/>
          </a:bodyPr>
          <a:lstStyle/>
          <a:p>
            <a:r>
              <a:rPr lang="en-US" dirty="0"/>
              <a:t>Weak Entity Sets, Slides 9-11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066087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">
            <a:extLst>
              <a:ext uri="{FF2B5EF4-FFF2-40B4-BE49-F238E27FC236}">
                <a16:creationId xmlns="" xmlns:a16="http://schemas.microsoft.com/office/drawing/2014/main" id="{7185031B-8265-4F1B-A92F-819216077F64}"/>
              </a:ext>
            </a:extLst>
          </p:cNvPr>
          <p:cNvSpPr txBox="1">
            <a:spLocks/>
          </p:cNvSpPr>
          <p:nvPr/>
        </p:nvSpPr>
        <p:spPr>
          <a:xfrm>
            <a:off x="869951" y="1597891"/>
            <a:ext cx="10483849" cy="48739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ym typeface="Symbol" panose="05050102010706020507" pitchFamily="18" charset="2"/>
              </a:rPr>
              <a:t> Slide 9 definitions with Slide 11 example E-R </a:t>
            </a:r>
            <a:r>
              <a:rPr lang="en-US" dirty="0" smtClean="0">
                <a:sym typeface="Symbol" panose="05050102010706020507" pitchFamily="18" charset="2"/>
              </a:rPr>
              <a:t>diagram (continue</a:t>
            </a:r>
            <a:r>
              <a:rPr lang="en-US" dirty="0">
                <a:sym typeface="Symbol" panose="05050102010706020507" pitchFamily="18" charset="2"/>
              </a:rPr>
              <a:t>)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There’s a </a:t>
            </a:r>
            <a:r>
              <a:rPr lang="en-US" b="1" dirty="0">
                <a:sym typeface="Symbol" panose="05050102010706020507" pitchFamily="18" charset="2"/>
              </a:rPr>
              <a:t>one-to-many </a:t>
            </a:r>
            <a:r>
              <a:rPr lang="en-US" dirty="0">
                <a:sym typeface="Symbol" panose="05050102010706020507" pitchFamily="18" charset="2"/>
              </a:rPr>
              <a:t>relationship between identifying entity to weak entity, i.e. one course has many sections.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The </a:t>
            </a:r>
            <a:r>
              <a:rPr lang="en-US" b="1" dirty="0">
                <a:sym typeface="Symbol" panose="05050102010706020507" pitchFamily="18" charset="2"/>
              </a:rPr>
              <a:t>discriminator</a:t>
            </a:r>
            <a:r>
              <a:rPr lang="en-US" dirty="0">
                <a:sym typeface="Symbol" panose="05050102010706020507" pitchFamily="18" charset="2"/>
              </a:rPr>
              <a:t> (or </a:t>
            </a:r>
            <a:r>
              <a:rPr lang="en-US" b="1" dirty="0">
                <a:solidFill>
                  <a:srgbClr val="00B050"/>
                </a:solidFill>
                <a:sym typeface="Symbol" panose="05050102010706020507" pitchFamily="18" charset="2"/>
              </a:rPr>
              <a:t>partial key</a:t>
            </a:r>
            <a:r>
              <a:rPr lang="en-US" dirty="0">
                <a:sym typeface="Symbol" panose="05050102010706020507" pitchFamily="18" charset="2"/>
              </a:rPr>
              <a:t>) is </a:t>
            </a:r>
            <a:r>
              <a:rPr lang="en-US" b="1" i="1" dirty="0" err="1">
                <a:solidFill>
                  <a:srgbClr val="00B050"/>
                </a:solidFill>
                <a:sym typeface="Symbol" panose="05050102010706020507" pitchFamily="18" charset="2"/>
              </a:rPr>
              <a:t>section_num</a:t>
            </a:r>
            <a:r>
              <a:rPr lang="en-US" dirty="0">
                <a:sym typeface="Symbol" panose="05050102010706020507" pitchFamily="18" charset="2"/>
              </a:rPr>
              <a:t> (dashed underline).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Let </a:t>
            </a:r>
            <a:r>
              <a:rPr lang="en-US" b="1" i="1" dirty="0" err="1">
                <a:solidFill>
                  <a:srgbClr val="00B050"/>
                </a:solidFill>
                <a:sym typeface="Symbol" panose="05050102010706020507" pitchFamily="18" charset="2"/>
              </a:rPr>
              <a:t>course_name</a:t>
            </a:r>
            <a:r>
              <a:rPr lang="en-US" dirty="0">
                <a:solidFill>
                  <a:srgbClr val="00B050"/>
                </a:solidFill>
                <a:sym typeface="Symbol" panose="05050102010706020507" pitchFamily="18" charset="2"/>
              </a:rPr>
              <a:t> </a:t>
            </a:r>
            <a:r>
              <a:rPr lang="en-US" dirty="0">
                <a:sym typeface="Symbol" panose="05050102010706020507" pitchFamily="18" charset="2"/>
              </a:rPr>
              <a:t>(not shown in the diagram</a:t>
            </a:r>
            <a:r>
              <a:rPr lang="en-US" dirty="0" smtClean="0">
                <a:sym typeface="Symbol" panose="05050102010706020507" pitchFamily="18" charset="2"/>
              </a:rPr>
              <a:t>) </a:t>
            </a:r>
            <a:r>
              <a:rPr lang="en-US" dirty="0">
                <a:sym typeface="Symbol" panose="05050102010706020507" pitchFamily="18" charset="2"/>
              </a:rPr>
              <a:t>be the key of the entity </a:t>
            </a:r>
            <a:r>
              <a:rPr lang="en-US" b="1" i="1" dirty="0" smtClean="0">
                <a:solidFill>
                  <a:srgbClr val="00B050"/>
                </a:solidFill>
                <a:sym typeface="Symbol" panose="05050102010706020507" pitchFamily="18" charset="2"/>
              </a:rPr>
              <a:t>course</a:t>
            </a:r>
            <a:r>
              <a:rPr lang="en-US" dirty="0" smtClean="0">
                <a:sym typeface="Symbol" panose="05050102010706020507" pitchFamily="18" charset="2"/>
              </a:rPr>
              <a:t>. To </a:t>
            </a:r>
            <a:r>
              <a:rPr lang="en-US" dirty="0">
                <a:sym typeface="Symbol" panose="05050102010706020507" pitchFamily="18" charset="2"/>
              </a:rPr>
              <a:t>distinguish weak entities (different sections of a course), we must combine </a:t>
            </a:r>
            <a:r>
              <a:rPr lang="en-US" b="1" i="1" dirty="0" err="1">
                <a:solidFill>
                  <a:srgbClr val="00B050"/>
                </a:solidFill>
                <a:sym typeface="Symbol" panose="05050102010706020507" pitchFamily="18" charset="2"/>
              </a:rPr>
              <a:t>course_name</a:t>
            </a:r>
            <a:r>
              <a:rPr lang="en-US" dirty="0">
                <a:solidFill>
                  <a:srgbClr val="00B050"/>
                </a:solidFill>
                <a:sym typeface="Symbol" panose="05050102010706020507" pitchFamily="18" charset="2"/>
              </a:rPr>
              <a:t> </a:t>
            </a:r>
            <a:r>
              <a:rPr lang="en-US" dirty="0">
                <a:sym typeface="Symbol" panose="05050102010706020507" pitchFamily="18" charset="2"/>
              </a:rPr>
              <a:t>with </a:t>
            </a:r>
            <a:r>
              <a:rPr lang="en-US" b="1" i="1" dirty="0" err="1" smtClean="0">
                <a:solidFill>
                  <a:srgbClr val="00B050"/>
                </a:solidFill>
                <a:sym typeface="Symbol" panose="05050102010706020507" pitchFamily="18" charset="2"/>
              </a:rPr>
              <a:t>section_num</a:t>
            </a:r>
            <a:r>
              <a:rPr lang="en-US" dirty="0" smtClean="0">
                <a:sym typeface="Symbol" panose="05050102010706020507" pitchFamily="18" charset="2"/>
              </a:rPr>
              <a:t>, e.g. DBMS section 2.  </a:t>
            </a:r>
            <a:endParaRPr lang="en-US" dirty="0">
              <a:sym typeface="Symbol" panose="05050102010706020507" pitchFamily="18" charset="2"/>
            </a:endParaRPr>
          </a:p>
          <a:p>
            <a:endParaRPr lang="en-US" dirty="0">
              <a:sym typeface="Symbol" panose="05050102010706020507" pitchFamily="18" charset="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449" y="565541"/>
            <a:ext cx="10515600" cy="849899"/>
          </a:xfrm>
        </p:spPr>
        <p:txBody>
          <a:bodyPr>
            <a:normAutofit/>
          </a:bodyPr>
          <a:lstStyle/>
          <a:p>
            <a:r>
              <a:rPr lang="en-US" dirty="0"/>
              <a:t>Weak Entity Sets, Slides 9-11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010539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">
            <a:extLst>
              <a:ext uri="{FF2B5EF4-FFF2-40B4-BE49-F238E27FC236}">
                <a16:creationId xmlns="" xmlns:a16="http://schemas.microsoft.com/office/drawing/2014/main" id="{7185031B-8265-4F1B-A92F-819216077F64}"/>
              </a:ext>
            </a:extLst>
          </p:cNvPr>
          <p:cNvSpPr txBox="1">
            <a:spLocks/>
          </p:cNvSpPr>
          <p:nvPr/>
        </p:nvSpPr>
        <p:spPr>
          <a:xfrm>
            <a:off x="869952" y="1570183"/>
            <a:ext cx="7378122" cy="20504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ym typeface="Symbol" panose="05050102010706020507" pitchFamily="18" charset="2"/>
              </a:rPr>
              <a:t>Specialization </a:t>
            </a:r>
          </a:p>
          <a:p>
            <a:r>
              <a:rPr lang="en-US" dirty="0">
                <a:sym typeface="Symbol" panose="05050102010706020507" pitchFamily="18" charset="2"/>
              </a:rPr>
              <a:t>Top-down approach, similar to Java inheritance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Start with a high level general entity. 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Then specialize (add attributes) to child entities. </a:t>
            </a:r>
          </a:p>
          <a:p>
            <a:endParaRPr lang="en-US" dirty="0">
              <a:sym typeface="Symbol" panose="05050102010706020507" pitchFamily="18" charset="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449" y="565541"/>
            <a:ext cx="10515600" cy="849899"/>
          </a:xfrm>
        </p:spPr>
        <p:txBody>
          <a:bodyPr>
            <a:normAutofit fontScale="90000"/>
          </a:bodyPr>
          <a:lstStyle/>
          <a:p>
            <a:r>
              <a:rPr lang="en-US" dirty="0"/>
              <a:t>Generalization and Specialization (Slides 12-15)</a:t>
            </a:r>
            <a:endParaRPr lang="en-US" sz="3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3219" y="1618709"/>
            <a:ext cx="2070909" cy="19859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43367" y="1538796"/>
            <a:ext cx="147312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Specialization</a:t>
            </a:r>
          </a:p>
        </p:txBody>
      </p:sp>
      <p:sp>
        <p:nvSpPr>
          <p:cNvPr id="6" name="Down Arrow 5"/>
          <p:cNvSpPr/>
          <p:nvPr/>
        </p:nvSpPr>
        <p:spPr>
          <a:xfrm>
            <a:off x="10828157" y="2018411"/>
            <a:ext cx="457485" cy="46163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="" xmlns:a16="http://schemas.microsoft.com/office/drawing/2014/main" id="{7185031B-8265-4F1B-A92F-819216077F64}"/>
              </a:ext>
            </a:extLst>
          </p:cNvPr>
          <p:cNvSpPr txBox="1">
            <a:spLocks/>
          </p:cNvSpPr>
          <p:nvPr/>
        </p:nvSpPr>
        <p:spPr>
          <a:xfrm>
            <a:off x="927415" y="3540989"/>
            <a:ext cx="10162884" cy="28863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ym typeface="Symbol" panose="05050102010706020507" pitchFamily="18" charset="2"/>
              </a:rPr>
              <a:t>Generalization</a:t>
            </a:r>
          </a:p>
          <a:p>
            <a:r>
              <a:rPr lang="en-US" dirty="0">
                <a:sym typeface="Symbol" panose="05050102010706020507" pitchFamily="18" charset="2"/>
              </a:rPr>
              <a:t>Bottom-up approach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Start with low level entities, then create more general entity.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“Which attributes are common among these low level entities?”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Put the common entities into a higher level entity.</a:t>
            </a:r>
          </a:p>
          <a:p>
            <a:r>
              <a:rPr lang="en-US" dirty="0">
                <a:sym typeface="Symbol" panose="05050102010706020507" pitchFamily="18" charset="2"/>
              </a:rPr>
              <a:t>You learned this in OOP.  Same idea applies to entities.</a:t>
            </a:r>
          </a:p>
          <a:p>
            <a:endParaRPr lang="en-US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158676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324" y="405521"/>
            <a:ext cx="10515600" cy="849899"/>
          </a:xfrm>
        </p:spPr>
        <p:txBody>
          <a:bodyPr>
            <a:noAutofit/>
          </a:bodyPr>
          <a:lstStyle/>
          <a:p>
            <a:r>
              <a:rPr lang="en-US" sz="4000" dirty="0"/>
              <a:t>Generalization and Specialization (Slides 12-15)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="" xmlns:a16="http://schemas.microsoft.com/office/drawing/2014/main" id="{7185031B-8265-4F1B-A92F-819216077F64}"/>
              </a:ext>
            </a:extLst>
          </p:cNvPr>
          <p:cNvSpPr txBox="1">
            <a:spLocks/>
          </p:cNvSpPr>
          <p:nvPr/>
        </p:nvSpPr>
        <p:spPr>
          <a:xfrm>
            <a:off x="822324" y="1255420"/>
            <a:ext cx="10483849" cy="52482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ym typeface="Symbol" panose="05050102010706020507" pitchFamily="18" charset="2"/>
              </a:rPr>
              <a:t>Slide 12-13</a:t>
            </a:r>
          </a:p>
          <a:p>
            <a:r>
              <a:rPr lang="en-US" b="1" dirty="0">
                <a:sym typeface="Symbol" panose="05050102010706020507" pitchFamily="18" charset="2"/>
              </a:rPr>
              <a:t>Generalization</a:t>
            </a:r>
            <a:r>
              <a:rPr lang="en-US" dirty="0">
                <a:sym typeface="Symbol" panose="05050102010706020507" pitchFamily="18" charset="2"/>
              </a:rPr>
              <a:t> – create a super set entity called </a:t>
            </a:r>
            <a:r>
              <a:rPr lang="en-US" b="1" i="1" dirty="0">
                <a:solidFill>
                  <a:srgbClr val="00B050"/>
                </a:solidFill>
                <a:sym typeface="Symbol" panose="05050102010706020507" pitchFamily="18" charset="2"/>
              </a:rPr>
              <a:t>person</a:t>
            </a:r>
            <a:r>
              <a:rPr lang="en-US" dirty="0">
                <a:sym typeface="Symbol" panose="05050102010706020507" pitchFamily="18" charset="2"/>
              </a:rPr>
              <a:t> to hold all the </a:t>
            </a:r>
            <a:r>
              <a:rPr lang="en-US" b="1" dirty="0">
                <a:solidFill>
                  <a:srgbClr val="00B050"/>
                </a:solidFill>
                <a:sym typeface="Symbol" panose="05050102010706020507" pitchFamily="18" charset="2"/>
              </a:rPr>
              <a:t>common attributes </a:t>
            </a:r>
            <a:r>
              <a:rPr lang="en-US" dirty="0" smtClean="0">
                <a:sym typeface="Symbol" panose="05050102010706020507" pitchFamily="18" charset="2"/>
              </a:rPr>
              <a:t>between </a:t>
            </a:r>
            <a:r>
              <a:rPr lang="en-US" b="1" i="1" dirty="0">
                <a:solidFill>
                  <a:srgbClr val="00B050"/>
                </a:solidFill>
                <a:sym typeface="Symbol" panose="05050102010706020507" pitchFamily="18" charset="2"/>
              </a:rPr>
              <a:t>student</a:t>
            </a:r>
            <a:r>
              <a:rPr lang="en-US" dirty="0">
                <a:sym typeface="Symbol" panose="05050102010706020507" pitchFamily="18" charset="2"/>
              </a:rPr>
              <a:t> and </a:t>
            </a:r>
            <a:r>
              <a:rPr lang="en-US" b="1" i="1" dirty="0">
                <a:solidFill>
                  <a:srgbClr val="00B050"/>
                </a:solidFill>
                <a:sym typeface="Symbol" panose="05050102010706020507" pitchFamily="18" charset="2"/>
              </a:rPr>
              <a:t>instructor</a:t>
            </a:r>
            <a:r>
              <a:rPr lang="en-US" dirty="0">
                <a:solidFill>
                  <a:srgbClr val="00B050"/>
                </a:solidFill>
                <a:sym typeface="Symbol" panose="05050102010706020507" pitchFamily="18" charset="2"/>
              </a:rPr>
              <a:t> </a:t>
            </a:r>
            <a:r>
              <a:rPr lang="en-US" dirty="0">
                <a:sym typeface="Symbol" panose="05050102010706020507" pitchFamily="18" charset="2"/>
              </a:rPr>
              <a:t>entity.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In ER diagram, person is a </a:t>
            </a:r>
            <a:r>
              <a:rPr lang="en-US" b="1" dirty="0" smtClean="0">
                <a:solidFill>
                  <a:srgbClr val="00B050"/>
                </a:solidFill>
                <a:sym typeface="Symbol" panose="05050102010706020507" pitchFamily="18" charset="2"/>
              </a:rPr>
              <a:t>super set </a:t>
            </a:r>
            <a:r>
              <a:rPr lang="en-US" b="1" dirty="0">
                <a:solidFill>
                  <a:srgbClr val="00B050"/>
                </a:solidFill>
                <a:sym typeface="Symbol" panose="05050102010706020507" pitchFamily="18" charset="2"/>
              </a:rPr>
              <a:t>entity </a:t>
            </a:r>
            <a:r>
              <a:rPr lang="en-US" dirty="0">
                <a:sym typeface="Symbol" panose="05050102010706020507" pitchFamily="18" charset="2"/>
              </a:rPr>
              <a:t>of entities student and instructor.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In OOP, person is a </a:t>
            </a:r>
            <a:r>
              <a:rPr lang="en-US" b="1" dirty="0">
                <a:solidFill>
                  <a:srgbClr val="00B050"/>
                </a:solidFill>
                <a:sym typeface="Symbol" panose="05050102010706020507" pitchFamily="18" charset="2"/>
              </a:rPr>
              <a:t>super class </a:t>
            </a:r>
            <a:r>
              <a:rPr lang="en-US" dirty="0">
                <a:sym typeface="Symbol" panose="05050102010706020507" pitchFamily="18" charset="2"/>
              </a:rPr>
              <a:t>of student class and instructor class.</a:t>
            </a:r>
          </a:p>
          <a:p>
            <a:endParaRPr lang="en-US" sz="9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dirty="0">
                <a:sym typeface="Symbol" panose="05050102010706020507" pitchFamily="18" charset="2"/>
              </a:rPr>
              <a:t>Slide 14</a:t>
            </a:r>
          </a:p>
          <a:p>
            <a:r>
              <a:rPr lang="en-US" dirty="0">
                <a:sym typeface="Symbol" panose="05050102010706020507" pitchFamily="18" charset="2"/>
              </a:rPr>
              <a:t>The </a:t>
            </a:r>
            <a:r>
              <a:rPr lang="en-US" b="1" dirty="0">
                <a:sym typeface="Symbol" panose="05050102010706020507" pitchFamily="18" charset="2"/>
              </a:rPr>
              <a:t>ISA</a:t>
            </a:r>
            <a:r>
              <a:rPr lang="en-US" dirty="0">
                <a:sym typeface="Symbol" panose="05050102010706020507" pitchFamily="18" charset="2"/>
              </a:rPr>
              <a:t> triangle is similar to the class diagram symbol in Java.	    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(Except the arrow points to the opposite direction.)</a:t>
            </a:r>
          </a:p>
          <a:p>
            <a:pPr lvl="1"/>
            <a:endParaRPr lang="en-US" sz="900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357540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324" y="405521"/>
            <a:ext cx="10515600" cy="849899"/>
          </a:xfrm>
        </p:spPr>
        <p:txBody>
          <a:bodyPr>
            <a:noAutofit/>
          </a:bodyPr>
          <a:lstStyle/>
          <a:p>
            <a:r>
              <a:rPr lang="en-US" sz="4000" dirty="0"/>
              <a:t>Generalization and Specialization (Slides 12-15)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="" xmlns:a16="http://schemas.microsoft.com/office/drawing/2014/main" id="{7185031B-8265-4F1B-A92F-819216077F64}"/>
              </a:ext>
            </a:extLst>
          </p:cNvPr>
          <p:cNvSpPr txBox="1">
            <a:spLocks/>
          </p:cNvSpPr>
          <p:nvPr/>
        </p:nvSpPr>
        <p:spPr>
          <a:xfrm>
            <a:off x="822324" y="1255420"/>
            <a:ext cx="10483849" cy="52482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ym typeface="Symbol" panose="05050102010706020507" pitchFamily="18" charset="2"/>
              </a:rPr>
              <a:t>Slide 16</a:t>
            </a:r>
          </a:p>
          <a:p>
            <a:r>
              <a:rPr lang="en-US" dirty="0">
                <a:sym typeface="Symbol" panose="05050102010706020507" pitchFamily="18" charset="2"/>
              </a:rPr>
              <a:t>Recall last lecture cardinality constraints (how many) and participation constraints (total or partial). 	</a:t>
            </a:r>
          </a:p>
          <a:p>
            <a:r>
              <a:rPr lang="en-US" dirty="0">
                <a:sym typeface="Symbol" panose="05050102010706020507" pitchFamily="18" charset="2"/>
              </a:rPr>
              <a:t>In ISA, 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Don’t bother to put in double lines in lower level.</a:t>
            </a:r>
          </a:p>
          <a:p>
            <a:pPr lvl="2"/>
            <a:r>
              <a:rPr lang="en-US" dirty="0">
                <a:sym typeface="Symbol" panose="05050102010706020507" pitchFamily="18" charset="2"/>
              </a:rPr>
              <a:t>Lower level entities are always fully participating; see ISA in Slide 14.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We only consider two types of constraints: </a:t>
            </a:r>
            <a:r>
              <a:rPr lang="en-US" b="1" dirty="0">
                <a:sym typeface="Symbol" panose="05050102010706020507" pitchFamily="18" charset="2"/>
              </a:rPr>
              <a:t>total generalization </a:t>
            </a:r>
            <a:r>
              <a:rPr lang="en-US" dirty="0">
                <a:sym typeface="Symbol" panose="05050102010706020507" pitchFamily="18" charset="2"/>
              </a:rPr>
              <a:t>and </a:t>
            </a:r>
            <a:r>
              <a:rPr lang="en-US" b="1" dirty="0">
                <a:sym typeface="Symbol" panose="05050102010706020507" pitchFamily="18" charset="2"/>
              </a:rPr>
              <a:t>disjoint generalization</a:t>
            </a:r>
            <a:r>
              <a:rPr lang="en-US" dirty="0">
                <a:sym typeface="Symbol" panose="05050102010706020507" pitchFamily="18" charset="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44299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">
            <a:extLst>
              <a:ext uri="{FF2B5EF4-FFF2-40B4-BE49-F238E27FC236}">
                <a16:creationId xmlns="" xmlns:a16="http://schemas.microsoft.com/office/drawing/2014/main" id="{7185031B-8265-4F1B-A92F-819216077F64}"/>
              </a:ext>
            </a:extLst>
          </p:cNvPr>
          <p:cNvSpPr txBox="1">
            <a:spLocks/>
          </p:cNvSpPr>
          <p:nvPr/>
        </p:nvSpPr>
        <p:spPr>
          <a:xfrm>
            <a:off x="869951" y="1417320"/>
            <a:ext cx="10483849" cy="50545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ym typeface="Symbol" panose="05050102010706020507" pitchFamily="18" charset="2"/>
              </a:rPr>
              <a:t>Slide 17</a:t>
            </a:r>
          </a:p>
          <a:p>
            <a:r>
              <a:rPr lang="en-US" b="1" dirty="0">
                <a:sym typeface="Symbol" panose="05050102010706020507" pitchFamily="18" charset="2"/>
              </a:rPr>
              <a:t>Total generalization </a:t>
            </a:r>
            <a:r>
              <a:rPr lang="en-US" dirty="0">
                <a:sym typeface="Symbol" panose="05050102010706020507" pitchFamily="18" charset="2"/>
              </a:rPr>
              <a:t>are for full participation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Every </a:t>
            </a:r>
            <a:r>
              <a:rPr lang="en-US" b="1" i="1" dirty="0">
                <a:solidFill>
                  <a:srgbClr val="00B050"/>
                </a:solidFill>
                <a:sym typeface="Symbol" panose="05050102010706020507" pitchFamily="18" charset="2"/>
              </a:rPr>
              <a:t>person</a:t>
            </a:r>
            <a:r>
              <a:rPr lang="en-US" dirty="0">
                <a:sym typeface="Symbol" panose="05050102010706020507" pitchFamily="18" charset="2"/>
              </a:rPr>
              <a:t> must be </a:t>
            </a:r>
            <a:r>
              <a:rPr lang="en-US" dirty="0">
                <a:solidFill>
                  <a:srgbClr val="FF0000"/>
                </a:solidFill>
                <a:sym typeface="Symbol" panose="05050102010706020507" pitchFamily="18" charset="2"/>
              </a:rPr>
              <a:t>either</a:t>
            </a:r>
            <a:r>
              <a:rPr lang="en-US" dirty="0">
                <a:sym typeface="Symbol" panose="05050102010706020507" pitchFamily="18" charset="2"/>
              </a:rPr>
              <a:t> a </a:t>
            </a:r>
            <a:r>
              <a:rPr lang="en-US" b="1" i="1" dirty="0">
                <a:solidFill>
                  <a:srgbClr val="00B050"/>
                </a:solidFill>
                <a:sym typeface="Symbol" panose="05050102010706020507" pitchFamily="18" charset="2"/>
              </a:rPr>
              <a:t>student</a:t>
            </a:r>
            <a:r>
              <a:rPr lang="en-US" dirty="0">
                <a:solidFill>
                  <a:srgbClr val="00B050"/>
                </a:solidFill>
                <a:sym typeface="Symbol" panose="05050102010706020507" pitchFamily="18" charset="2"/>
              </a:rPr>
              <a:t> </a:t>
            </a:r>
            <a:r>
              <a:rPr lang="en-US" dirty="0">
                <a:sym typeface="Symbol" panose="05050102010706020507" pitchFamily="18" charset="2"/>
              </a:rPr>
              <a:t>or </a:t>
            </a:r>
            <a:r>
              <a:rPr lang="en-US" b="1" i="1" dirty="0">
                <a:solidFill>
                  <a:srgbClr val="00B050"/>
                </a:solidFill>
                <a:sym typeface="Symbol" panose="05050102010706020507" pitchFamily="18" charset="2"/>
              </a:rPr>
              <a:t>instructor</a:t>
            </a:r>
            <a:r>
              <a:rPr lang="en-US" dirty="0">
                <a:sym typeface="Symbol" panose="05050102010706020507" pitchFamily="18" charset="2"/>
              </a:rPr>
              <a:t>.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There is a </a:t>
            </a:r>
            <a:r>
              <a:rPr lang="en-US" dirty="0">
                <a:solidFill>
                  <a:srgbClr val="FF0000"/>
                </a:solidFill>
                <a:sym typeface="Symbol" panose="05050102010706020507" pitchFamily="18" charset="2"/>
              </a:rPr>
              <a:t>double line </a:t>
            </a:r>
            <a:r>
              <a:rPr lang="en-US" dirty="0">
                <a:sym typeface="Symbol" panose="05050102010706020507" pitchFamily="18" charset="2"/>
              </a:rPr>
              <a:t>between </a:t>
            </a:r>
            <a:r>
              <a:rPr lang="en-US" b="1" dirty="0">
                <a:solidFill>
                  <a:srgbClr val="00B050"/>
                </a:solidFill>
                <a:sym typeface="Symbol" panose="05050102010706020507" pitchFamily="18" charset="2"/>
              </a:rPr>
              <a:t>person</a:t>
            </a:r>
            <a:r>
              <a:rPr lang="en-US" dirty="0">
                <a:sym typeface="Symbol" panose="05050102010706020507" pitchFamily="18" charset="2"/>
              </a:rPr>
              <a:t> entity and </a:t>
            </a:r>
            <a:r>
              <a:rPr lang="en-US" b="1" dirty="0">
                <a:solidFill>
                  <a:srgbClr val="00B050"/>
                </a:solidFill>
                <a:sym typeface="Symbol" panose="05050102010706020507" pitchFamily="18" charset="2"/>
              </a:rPr>
              <a:t>ISA</a:t>
            </a:r>
            <a:r>
              <a:rPr lang="en-US" b="1" dirty="0">
                <a:sym typeface="Symbol" panose="05050102010706020507" pitchFamily="18" charset="2"/>
              </a:rPr>
              <a:t> </a:t>
            </a:r>
            <a:r>
              <a:rPr lang="en-US" dirty="0">
                <a:sym typeface="Symbol" panose="05050102010706020507" pitchFamily="18" charset="2"/>
              </a:rPr>
              <a:t>triangle.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The double line is colored in red </a:t>
            </a:r>
            <a:r>
              <a:rPr lang="en-US" dirty="0" smtClean="0">
                <a:sym typeface="Symbol" panose="05050102010706020507" pitchFamily="18" charset="2"/>
              </a:rPr>
              <a:t>in this diagram, </a:t>
            </a:r>
            <a:r>
              <a:rPr lang="en-US" dirty="0">
                <a:sym typeface="Symbol" panose="05050102010706020507" pitchFamily="18" charset="2"/>
              </a:rPr>
              <a:t>but usually it’s not colored.</a:t>
            </a:r>
          </a:p>
          <a:p>
            <a:r>
              <a:rPr lang="en-US" b="1" dirty="0">
                <a:sym typeface="Symbol" panose="05050102010706020507" pitchFamily="18" charset="2"/>
              </a:rPr>
              <a:t>Disjoint generalization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The two “child” entities </a:t>
            </a:r>
            <a:r>
              <a:rPr lang="en-US" b="1" i="1" dirty="0">
                <a:solidFill>
                  <a:srgbClr val="00B050"/>
                </a:solidFill>
                <a:sym typeface="Symbol" panose="05050102010706020507" pitchFamily="18" charset="2"/>
              </a:rPr>
              <a:t>student</a:t>
            </a:r>
            <a:r>
              <a:rPr lang="en-US" dirty="0">
                <a:sym typeface="Symbol" panose="05050102010706020507" pitchFamily="18" charset="2"/>
              </a:rPr>
              <a:t> and </a:t>
            </a:r>
            <a:r>
              <a:rPr lang="en-US" b="1" i="1" dirty="0">
                <a:solidFill>
                  <a:srgbClr val="00B050"/>
                </a:solidFill>
                <a:sym typeface="Symbol" panose="05050102010706020507" pitchFamily="18" charset="2"/>
              </a:rPr>
              <a:t>instructor</a:t>
            </a:r>
            <a:r>
              <a:rPr lang="en-US" dirty="0">
                <a:sym typeface="Symbol" panose="05050102010706020507" pitchFamily="18" charset="2"/>
              </a:rPr>
              <a:t> are disjoint. 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A </a:t>
            </a:r>
            <a:r>
              <a:rPr lang="en-US" b="1" i="1" dirty="0">
                <a:solidFill>
                  <a:srgbClr val="00B050"/>
                </a:solidFill>
                <a:sym typeface="Symbol" panose="05050102010706020507" pitchFamily="18" charset="2"/>
              </a:rPr>
              <a:t>person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>
                <a:solidFill>
                  <a:srgbClr val="FF0000"/>
                </a:solidFill>
                <a:sym typeface="Symbol" panose="05050102010706020507" pitchFamily="18" charset="2"/>
              </a:rPr>
              <a:t>cannot be both </a:t>
            </a:r>
            <a:r>
              <a:rPr lang="en-US" b="1" i="1" dirty="0">
                <a:solidFill>
                  <a:srgbClr val="00B050"/>
                </a:solidFill>
                <a:sym typeface="Symbol" panose="05050102010706020507" pitchFamily="18" charset="2"/>
              </a:rPr>
              <a:t>student</a:t>
            </a:r>
            <a:r>
              <a:rPr lang="en-US" dirty="0">
                <a:sym typeface="Symbol" panose="05050102010706020507" pitchFamily="18" charset="2"/>
              </a:rPr>
              <a:t> and </a:t>
            </a:r>
            <a:r>
              <a:rPr lang="en-US" b="1" i="1" dirty="0">
                <a:solidFill>
                  <a:srgbClr val="00B050"/>
                </a:solidFill>
                <a:sym typeface="Symbol" panose="05050102010706020507" pitchFamily="18" charset="2"/>
              </a:rPr>
              <a:t>instructor</a:t>
            </a:r>
            <a:r>
              <a:rPr lang="en-US" dirty="0">
                <a:sym typeface="Symbol" panose="05050102010706020507" pitchFamily="18" charset="2"/>
              </a:rPr>
              <a:t>.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Write “</a:t>
            </a:r>
            <a:r>
              <a:rPr lang="en-US" dirty="0">
                <a:solidFill>
                  <a:srgbClr val="FF0000"/>
                </a:solidFill>
                <a:sym typeface="Symbol" panose="05050102010706020507" pitchFamily="18" charset="2"/>
              </a:rPr>
              <a:t>disjoint</a:t>
            </a:r>
            <a:r>
              <a:rPr lang="en-US" dirty="0">
                <a:sym typeface="Symbol" panose="05050102010706020507" pitchFamily="18" charset="2"/>
              </a:rPr>
              <a:t>” underneath the ISA triangle (not necessarily in red).</a:t>
            </a:r>
          </a:p>
          <a:p>
            <a:pPr lvl="1"/>
            <a:endParaRPr lang="en-US" sz="800" dirty="0">
              <a:sym typeface="Symbol" panose="05050102010706020507" pitchFamily="18" charset="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449" y="565541"/>
            <a:ext cx="10515600" cy="554599"/>
          </a:xfrm>
        </p:spPr>
        <p:txBody>
          <a:bodyPr>
            <a:noAutofit/>
          </a:bodyPr>
          <a:lstStyle/>
          <a:p>
            <a:r>
              <a:rPr lang="en-US" sz="3600" dirty="0"/>
              <a:t>Constraints on Generalization / Specialization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938315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5CF740F5-F720-490F-80FB-2FD6E2FC9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Summary of ER Diagram Design</a:t>
            </a:r>
            <a:endParaRPr lang="zh-CN" altLang="en-US" dirty="0"/>
          </a:p>
        </p:txBody>
      </p:sp>
      <p:sp>
        <p:nvSpPr>
          <p:cNvPr id="13" name="矩形 12">
            <a:hlinkClick r:id="" action="ppaction://noaction"/>
            <a:extLst>
              <a:ext uri="{FF2B5EF4-FFF2-40B4-BE49-F238E27FC236}">
                <a16:creationId xmlns="" xmlns:a16="http://schemas.microsoft.com/office/drawing/2014/main" id="{7AF88F3A-D700-427E-BAE4-7C8331FFB359}"/>
              </a:ext>
            </a:extLst>
          </p:cNvPr>
          <p:cNvSpPr/>
          <p:nvPr/>
        </p:nvSpPr>
        <p:spPr>
          <a:xfrm>
            <a:off x="1524000" y="1"/>
            <a:ext cx="100965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Modeling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 13">
            <a:hlinkClick r:id="" action="ppaction://noaction"/>
            <a:extLst>
              <a:ext uri="{FF2B5EF4-FFF2-40B4-BE49-F238E27FC236}">
                <a16:creationId xmlns="" xmlns:a16="http://schemas.microsoft.com/office/drawing/2014/main" id="{F9E20F86-8C42-4B3B-ACDB-EA5FD16F71A3}"/>
              </a:ext>
            </a:extLst>
          </p:cNvPr>
          <p:cNvSpPr/>
          <p:nvPr/>
        </p:nvSpPr>
        <p:spPr>
          <a:xfrm>
            <a:off x="2533650" y="-1"/>
            <a:ext cx="100965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Constraints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 14">
            <a:hlinkClick r:id="" action="ppaction://noaction"/>
            <a:extLst>
              <a:ext uri="{FF2B5EF4-FFF2-40B4-BE49-F238E27FC236}">
                <a16:creationId xmlns="" xmlns:a16="http://schemas.microsoft.com/office/drawing/2014/main" id="{F136C49E-85D2-45B7-BB18-D140A07D0A34}"/>
              </a:ext>
            </a:extLst>
          </p:cNvPr>
          <p:cNvSpPr/>
          <p:nvPr/>
        </p:nvSpPr>
        <p:spPr>
          <a:xfrm>
            <a:off x="3543300" y="1"/>
            <a:ext cx="100965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 Model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矩形 15">
            <a:hlinkClick r:id="" action="ppaction://noaction"/>
            <a:extLst>
              <a:ext uri="{FF2B5EF4-FFF2-40B4-BE49-F238E27FC236}">
                <a16:creationId xmlns="" xmlns:a16="http://schemas.microsoft.com/office/drawing/2014/main" id="{68783B5D-D60F-4C53-ABC8-ED661E890E51}"/>
              </a:ext>
            </a:extLst>
          </p:cNvPr>
          <p:cNvSpPr/>
          <p:nvPr/>
        </p:nvSpPr>
        <p:spPr>
          <a:xfrm>
            <a:off x="4552950" y="-1"/>
            <a:ext cx="100965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 Entity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矩形 16">
            <a:hlinkClick r:id="" action="ppaction://noaction"/>
            <a:extLst>
              <a:ext uri="{FF2B5EF4-FFF2-40B4-BE49-F238E27FC236}">
                <a16:creationId xmlns="" xmlns:a16="http://schemas.microsoft.com/office/drawing/2014/main" id="{A6F9743A-3816-4A03-B0E4-03A0E8757B07}"/>
              </a:ext>
            </a:extLst>
          </p:cNvPr>
          <p:cNvSpPr/>
          <p:nvPr/>
        </p:nvSpPr>
        <p:spPr>
          <a:xfrm>
            <a:off x="5562600" y="2"/>
            <a:ext cx="100965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Extended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矩形 17">
            <a:hlinkClick r:id="" action="ppaction://noaction"/>
            <a:extLst>
              <a:ext uri="{FF2B5EF4-FFF2-40B4-BE49-F238E27FC236}">
                <a16:creationId xmlns="" xmlns:a16="http://schemas.microsoft.com/office/drawing/2014/main" id="{6592AE57-2C68-4265-971F-22D741F1ADDC}"/>
              </a:ext>
            </a:extLst>
          </p:cNvPr>
          <p:cNvSpPr/>
          <p:nvPr/>
        </p:nvSpPr>
        <p:spPr>
          <a:xfrm>
            <a:off x="6572250" y="1"/>
            <a:ext cx="100965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Issue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矩形 18">
            <a:hlinkClick r:id="" action="ppaction://noaction"/>
            <a:extLst>
              <a:ext uri="{FF2B5EF4-FFF2-40B4-BE49-F238E27FC236}">
                <a16:creationId xmlns="" xmlns:a16="http://schemas.microsoft.com/office/drawing/2014/main" id="{1B96678A-2BC9-4412-92CE-E06D003359C9}"/>
              </a:ext>
            </a:extLst>
          </p:cNvPr>
          <p:cNvSpPr/>
          <p:nvPr/>
        </p:nvSpPr>
        <p:spPr>
          <a:xfrm>
            <a:off x="7581900" y="2"/>
            <a:ext cx="100965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Tech</a:t>
            </a:r>
            <a:endParaRPr lang="zh-CN" altLang="en-US" sz="10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矩形 19">
            <a:hlinkClick r:id="" action="ppaction://noaction"/>
            <a:extLst>
              <a:ext uri="{FF2B5EF4-FFF2-40B4-BE49-F238E27FC236}">
                <a16:creationId xmlns="" xmlns:a16="http://schemas.microsoft.com/office/drawing/2014/main" id="{6C3CC5FB-D3FC-4D93-A811-84F4D70AD59F}"/>
              </a:ext>
            </a:extLst>
          </p:cNvPr>
          <p:cNvSpPr/>
          <p:nvPr/>
        </p:nvSpPr>
        <p:spPr>
          <a:xfrm>
            <a:off x="8591550" y="1"/>
            <a:ext cx="100965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Practice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矩形 20">
            <a:hlinkClick r:id="" action="ppaction://noaction"/>
            <a:extLst>
              <a:ext uri="{FF2B5EF4-FFF2-40B4-BE49-F238E27FC236}">
                <a16:creationId xmlns="" xmlns:a16="http://schemas.microsoft.com/office/drawing/2014/main" id="{C5331E20-40E2-448C-94B6-A40A27BA0294}"/>
              </a:ext>
            </a:extLst>
          </p:cNvPr>
          <p:cNvSpPr/>
          <p:nvPr/>
        </p:nvSpPr>
        <p:spPr>
          <a:xfrm>
            <a:off x="9601200" y="-2"/>
            <a:ext cx="10668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Schema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="" xmlns:a16="http://schemas.microsoft.com/office/drawing/2014/main" id="{93DA26BE-5D13-4CBD-BB27-CD213C46EF7F}"/>
              </a:ext>
            </a:extLst>
          </p:cNvPr>
          <p:cNvSpPr/>
          <p:nvPr/>
        </p:nvSpPr>
        <p:spPr>
          <a:xfrm>
            <a:off x="2619595" y="1588553"/>
            <a:ext cx="374343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 defTabSz="457200"/>
            <a:r>
              <a:rPr lang="en-US" altLang="zh-CN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zh-CN" altLang="en-US" sz="1400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="" xmlns:a16="http://schemas.microsoft.com/office/drawing/2014/main" id="{6D351283-F7CC-402F-A7BD-FA7AFD519189}"/>
              </a:ext>
            </a:extLst>
          </p:cNvPr>
          <p:cNvGrpSpPr/>
          <p:nvPr/>
        </p:nvGrpSpPr>
        <p:grpSpPr>
          <a:xfrm>
            <a:off x="5130424" y="1463892"/>
            <a:ext cx="550463" cy="550463"/>
            <a:chOff x="5578646" y="5157139"/>
            <a:chExt cx="1040454" cy="1040454"/>
          </a:xfrm>
        </p:grpSpPr>
        <p:sp>
          <p:nvSpPr>
            <p:cNvPr id="26" name="菱形 25">
              <a:extLst>
                <a:ext uri="{FF2B5EF4-FFF2-40B4-BE49-F238E27FC236}">
                  <a16:creationId xmlns="" xmlns:a16="http://schemas.microsoft.com/office/drawing/2014/main" id="{C0DC76B3-58D4-491A-BC14-C0A83F8EAFE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78646" y="5157139"/>
              <a:ext cx="1040454" cy="1040454"/>
            </a:xfrm>
            <a:prstGeom prst="diamond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 defTabSz="457200">
                <a:lnSpc>
                  <a:spcPct val="50000"/>
                </a:lnSpc>
              </a:pPr>
              <a:endParaRPr lang="zh-CN" altLang="en-US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="" xmlns:a16="http://schemas.microsoft.com/office/drawing/2014/main" id="{8F21A4CA-B9C1-4D26-AD3B-30DC2B3DBA42}"/>
                </a:ext>
              </a:extLst>
            </p:cNvPr>
            <p:cNvSpPr txBox="1"/>
            <p:nvPr/>
          </p:nvSpPr>
          <p:spPr>
            <a:xfrm>
              <a:off x="5820008" y="5406593"/>
              <a:ext cx="594469" cy="581743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pPr defTabSz="457200"/>
              <a:r>
                <a:rPr kumimoji="1" lang="en-US" altLang="zh-CN" sz="1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endParaRPr kumimoji="1" lang="zh-CN" altLang="en-US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6" name="文本框 35">
            <a:extLst>
              <a:ext uri="{FF2B5EF4-FFF2-40B4-BE49-F238E27FC236}">
                <a16:creationId xmlns="" xmlns:a16="http://schemas.microsoft.com/office/drawing/2014/main" id="{C917966D-0057-4D42-B1D5-75FFCFBB751D}"/>
              </a:ext>
            </a:extLst>
          </p:cNvPr>
          <p:cNvSpPr txBox="1"/>
          <p:nvPr/>
        </p:nvSpPr>
        <p:spPr>
          <a:xfrm>
            <a:off x="3614098" y="1588553"/>
            <a:ext cx="901209" cy="307777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 set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="" xmlns:a16="http://schemas.microsoft.com/office/drawing/2014/main" id="{6DFD521B-09D2-4382-B8F6-5857EE963CB3}"/>
              </a:ext>
            </a:extLst>
          </p:cNvPr>
          <p:cNvSpPr/>
          <p:nvPr/>
        </p:nvSpPr>
        <p:spPr>
          <a:xfrm>
            <a:off x="7824030" y="1572067"/>
            <a:ext cx="374343" cy="3540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000" rIns="0" bIns="18000" rtlCol="0" anchor="ctr">
            <a:spAutoFit/>
          </a:bodyPr>
          <a:lstStyle/>
          <a:p>
            <a:pPr algn="ctr" defTabSz="457200"/>
            <a:r>
              <a:rPr lang="en-US" altLang="zh-CN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zh-CN" altLang="en-US" sz="1400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="" xmlns:a16="http://schemas.microsoft.com/office/drawing/2014/main" id="{BC0C16E6-49E6-4A40-BBB7-4EBC7893807F}"/>
              </a:ext>
            </a:extLst>
          </p:cNvPr>
          <p:cNvSpPr txBox="1"/>
          <p:nvPr/>
        </p:nvSpPr>
        <p:spPr>
          <a:xfrm>
            <a:off x="5981810" y="1585234"/>
            <a:ext cx="1388522" cy="307777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 set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="" xmlns:a16="http://schemas.microsoft.com/office/drawing/2014/main" id="{277F3B9F-F74E-4AD3-9507-53E1C262AABF}"/>
              </a:ext>
            </a:extLst>
          </p:cNvPr>
          <p:cNvSpPr/>
          <p:nvPr/>
        </p:nvSpPr>
        <p:spPr>
          <a:xfrm>
            <a:off x="2612938" y="2280989"/>
            <a:ext cx="374343" cy="307777"/>
          </a:xfrm>
          <a:prstGeom prst="rect">
            <a:avLst/>
          </a:prstGeom>
          <a:noFill/>
          <a:ln w="34925" cmpd="dbl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 defTabSz="457200"/>
            <a:r>
              <a:rPr lang="en-US" altLang="zh-CN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zh-CN" altLang="en-US" sz="1400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="" xmlns:a16="http://schemas.microsoft.com/office/drawing/2014/main" id="{784A8C81-E56A-46AB-8A2C-EFFB8E45D4DA}"/>
              </a:ext>
            </a:extLst>
          </p:cNvPr>
          <p:cNvSpPr txBox="1"/>
          <p:nvPr/>
        </p:nvSpPr>
        <p:spPr>
          <a:xfrm>
            <a:off x="3607440" y="2280989"/>
            <a:ext cx="1369286" cy="307777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 entity set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="" xmlns:a16="http://schemas.microsoft.com/office/drawing/2014/main" id="{E3106681-CD66-45D5-B94D-46069BF0A0EF}"/>
              </a:ext>
            </a:extLst>
          </p:cNvPr>
          <p:cNvGrpSpPr/>
          <p:nvPr/>
        </p:nvGrpSpPr>
        <p:grpSpPr>
          <a:xfrm>
            <a:off x="5130424" y="2191284"/>
            <a:ext cx="550463" cy="550463"/>
            <a:chOff x="5578646" y="5157139"/>
            <a:chExt cx="1040454" cy="1040454"/>
          </a:xfrm>
        </p:grpSpPr>
        <p:sp>
          <p:nvSpPr>
            <p:cNvPr id="41" name="菱形 40">
              <a:extLst>
                <a:ext uri="{FF2B5EF4-FFF2-40B4-BE49-F238E27FC236}">
                  <a16:creationId xmlns="" xmlns:a16="http://schemas.microsoft.com/office/drawing/2014/main" id="{BC780BFB-CF05-4A86-AE58-13F643CEC5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78646" y="5157139"/>
              <a:ext cx="1040454" cy="1040454"/>
            </a:xfrm>
            <a:prstGeom prst="diamond">
              <a:avLst/>
            </a:prstGeom>
            <a:noFill/>
            <a:ln w="34925" cmpd="dbl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 defTabSz="457200">
                <a:lnSpc>
                  <a:spcPct val="50000"/>
                </a:lnSpc>
              </a:pPr>
              <a:endParaRPr lang="zh-CN" altLang="en-US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文本框 41">
              <a:extLst>
                <a:ext uri="{FF2B5EF4-FFF2-40B4-BE49-F238E27FC236}">
                  <a16:creationId xmlns="" xmlns:a16="http://schemas.microsoft.com/office/drawing/2014/main" id="{CE05839E-4DDC-462A-A40C-B9F0D3AEEA26}"/>
                </a:ext>
              </a:extLst>
            </p:cNvPr>
            <p:cNvSpPr txBox="1"/>
            <p:nvPr/>
          </p:nvSpPr>
          <p:spPr>
            <a:xfrm>
              <a:off x="5820008" y="5406593"/>
              <a:ext cx="594469" cy="581743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pPr defTabSz="457200"/>
              <a:r>
                <a:rPr kumimoji="1" lang="en-US" altLang="zh-CN" sz="1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endParaRPr kumimoji="1" lang="zh-CN" altLang="en-US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3" name="文本框 42">
            <a:extLst>
              <a:ext uri="{FF2B5EF4-FFF2-40B4-BE49-F238E27FC236}">
                <a16:creationId xmlns="" xmlns:a16="http://schemas.microsoft.com/office/drawing/2014/main" id="{EBE1C928-94BC-4AF3-BDEF-BD837C05B612}"/>
              </a:ext>
            </a:extLst>
          </p:cNvPr>
          <p:cNvSpPr txBox="1"/>
          <p:nvPr/>
        </p:nvSpPr>
        <p:spPr>
          <a:xfrm>
            <a:off x="5981810" y="2204904"/>
            <a:ext cx="1388522" cy="523220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identifying</a:t>
            </a:r>
          </a:p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 set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="" xmlns:a16="http://schemas.microsoft.com/office/drawing/2014/main" id="{4BD2FEE4-3A1E-4385-91B2-16839A93BB23}"/>
              </a:ext>
            </a:extLst>
          </p:cNvPr>
          <p:cNvSpPr txBox="1"/>
          <p:nvPr/>
        </p:nvSpPr>
        <p:spPr>
          <a:xfrm>
            <a:off x="8627256" y="1588553"/>
            <a:ext cx="830677" cy="307777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椭圆 44">
            <a:extLst>
              <a:ext uri="{FF2B5EF4-FFF2-40B4-BE49-F238E27FC236}">
                <a16:creationId xmlns="" xmlns:a16="http://schemas.microsoft.com/office/drawing/2014/main" id="{82B5BF29-9DD7-4BB4-BFD5-7EDC2E21E2E8}"/>
              </a:ext>
            </a:extLst>
          </p:cNvPr>
          <p:cNvSpPr/>
          <p:nvPr/>
        </p:nvSpPr>
        <p:spPr>
          <a:xfrm>
            <a:off x="7824030" y="2282519"/>
            <a:ext cx="374343" cy="354072"/>
          </a:xfrm>
          <a:prstGeom prst="ellipse">
            <a:avLst/>
          </a:prstGeom>
          <a:noFill/>
          <a:ln w="34925" cmpd="dbl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000" rIns="0" bIns="18000" rtlCol="0" anchor="ctr">
            <a:spAutoFit/>
          </a:bodyPr>
          <a:lstStyle/>
          <a:p>
            <a:pPr algn="ctr" defTabSz="457200"/>
            <a:r>
              <a:rPr lang="en-US" altLang="zh-CN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zh-CN" altLang="en-US" sz="1400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="" xmlns:a16="http://schemas.microsoft.com/office/drawing/2014/main" id="{0163EE33-288C-4A6A-9BFC-0C605C0D873B}"/>
              </a:ext>
            </a:extLst>
          </p:cNvPr>
          <p:cNvSpPr txBox="1"/>
          <p:nvPr/>
        </p:nvSpPr>
        <p:spPr>
          <a:xfrm>
            <a:off x="8627256" y="2191283"/>
            <a:ext cx="1090363" cy="523220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multivalued</a:t>
            </a:r>
          </a:p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椭圆 46">
            <a:extLst>
              <a:ext uri="{FF2B5EF4-FFF2-40B4-BE49-F238E27FC236}">
                <a16:creationId xmlns="" xmlns:a16="http://schemas.microsoft.com/office/drawing/2014/main" id="{1618D895-47BD-4611-9984-45029BDE7E13}"/>
              </a:ext>
            </a:extLst>
          </p:cNvPr>
          <p:cNvSpPr/>
          <p:nvPr/>
        </p:nvSpPr>
        <p:spPr>
          <a:xfrm>
            <a:off x="7824030" y="3070883"/>
            <a:ext cx="374343" cy="354072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000" rIns="0" bIns="18000" rtlCol="0" anchor="ctr">
            <a:spAutoFit/>
          </a:bodyPr>
          <a:lstStyle/>
          <a:p>
            <a:pPr algn="ctr" defTabSz="457200"/>
            <a:r>
              <a:rPr lang="en-US" altLang="zh-CN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zh-CN" altLang="en-US" sz="1400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="" xmlns:a16="http://schemas.microsoft.com/office/drawing/2014/main" id="{5B1D5A68-950D-4DEF-835D-7B6FFC9490FC}"/>
              </a:ext>
            </a:extLst>
          </p:cNvPr>
          <p:cNvSpPr txBox="1"/>
          <p:nvPr/>
        </p:nvSpPr>
        <p:spPr>
          <a:xfrm>
            <a:off x="8627256" y="2979647"/>
            <a:ext cx="830677" cy="523220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derived </a:t>
            </a:r>
          </a:p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椭圆 48">
            <a:extLst>
              <a:ext uri="{FF2B5EF4-FFF2-40B4-BE49-F238E27FC236}">
                <a16:creationId xmlns="" xmlns:a16="http://schemas.microsoft.com/office/drawing/2014/main" id="{01D9302B-F524-4DE1-A4B9-5057EBABB21D}"/>
              </a:ext>
            </a:extLst>
          </p:cNvPr>
          <p:cNvSpPr/>
          <p:nvPr/>
        </p:nvSpPr>
        <p:spPr>
          <a:xfrm>
            <a:off x="7824030" y="3859247"/>
            <a:ext cx="374343" cy="354072"/>
          </a:xfrm>
          <a:prstGeom prst="ellipse">
            <a:avLst/>
          </a:prstGeom>
          <a:noFill/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000" rIns="0" bIns="18000" rtlCol="0" anchor="ctr">
            <a:spAutoFit/>
          </a:bodyPr>
          <a:lstStyle/>
          <a:p>
            <a:pPr algn="ctr" defTabSz="457200"/>
            <a:r>
              <a:rPr lang="en-US" altLang="zh-CN" sz="1400" i="1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zh-CN" altLang="en-US" sz="1400" i="1" u="sng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="" xmlns:a16="http://schemas.microsoft.com/office/drawing/2014/main" id="{C74F44A6-59D6-4747-B872-AF0C2D34131A}"/>
              </a:ext>
            </a:extLst>
          </p:cNvPr>
          <p:cNvSpPr txBox="1"/>
          <p:nvPr/>
        </p:nvSpPr>
        <p:spPr>
          <a:xfrm>
            <a:off x="8627256" y="3875733"/>
            <a:ext cx="1109599" cy="307777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primary key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椭圆 50">
            <a:extLst>
              <a:ext uri="{FF2B5EF4-FFF2-40B4-BE49-F238E27FC236}">
                <a16:creationId xmlns="" xmlns:a16="http://schemas.microsoft.com/office/drawing/2014/main" id="{C3901E6C-82EC-4D10-992A-B038E46E6BFB}"/>
              </a:ext>
            </a:extLst>
          </p:cNvPr>
          <p:cNvSpPr/>
          <p:nvPr/>
        </p:nvSpPr>
        <p:spPr>
          <a:xfrm>
            <a:off x="7824030" y="4539690"/>
            <a:ext cx="374343" cy="354072"/>
          </a:xfrm>
          <a:prstGeom prst="ellipse">
            <a:avLst/>
          </a:prstGeom>
          <a:noFill/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000" rIns="0" bIns="18000" rtlCol="0" anchor="ctr">
            <a:spAutoFit/>
          </a:bodyPr>
          <a:lstStyle/>
          <a:p>
            <a:pPr algn="ctr" defTabSz="457200"/>
            <a:r>
              <a:rPr lang="en-US" altLang="zh-CN" sz="1400" i="1" u="dashLo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endParaRPr lang="zh-CN" altLang="en-US" sz="1400" i="1" u="dashLong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="" xmlns:a16="http://schemas.microsoft.com/office/drawing/2014/main" id="{12F1E923-CE3C-47C5-94F7-6406C90666BE}"/>
              </a:ext>
            </a:extLst>
          </p:cNvPr>
          <p:cNvSpPr txBox="1"/>
          <p:nvPr/>
        </p:nvSpPr>
        <p:spPr>
          <a:xfrm>
            <a:off x="8627256" y="4556176"/>
            <a:ext cx="1199367" cy="307777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discriminator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3" name="组合 52">
            <a:extLst>
              <a:ext uri="{FF2B5EF4-FFF2-40B4-BE49-F238E27FC236}">
                <a16:creationId xmlns="" xmlns:a16="http://schemas.microsoft.com/office/drawing/2014/main" id="{8B03DC5F-76FF-4D5C-848F-1083E22D4E62}"/>
              </a:ext>
            </a:extLst>
          </p:cNvPr>
          <p:cNvGrpSpPr/>
          <p:nvPr/>
        </p:nvGrpSpPr>
        <p:grpSpPr>
          <a:xfrm>
            <a:off x="5130424" y="2968530"/>
            <a:ext cx="550463" cy="550463"/>
            <a:chOff x="5578646" y="5157139"/>
            <a:chExt cx="1040454" cy="1040454"/>
          </a:xfrm>
        </p:grpSpPr>
        <p:sp>
          <p:nvSpPr>
            <p:cNvPr id="54" name="菱形 53">
              <a:extLst>
                <a:ext uri="{FF2B5EF4-FFF2-40B4-BE49-F238E27FC236}">
                  <a16:creationId xmlns="" xmlns:a16="http://schemas.microsoft.com/office/drawing/2014/main" id="{60240726-CE61-4A2B-A07E-7D4AE3FCE26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78646" y="5157139"/>
              <a:ext cx="1040454" cy="1040454"/>
            </a:xfrm>
            <a:prstGeom prst="diamond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 defTabSz="457200">
                <a:lnSpc>
                  <a:spcPct val="50000"/>
                </a:lnSpc>
              </a:pPr>
              <a:endParaRPr lang="zh-CN" altLang="en-US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文本框 54">
              <a:extLst>
                <a:ext uri="{FF2B5EF4-FFF2-40B4-BE49-F238E27FC236}">
                  <a16:creationId xmlns="" xmlns:a16="http://schemas.microsoft.com/office/drawing/2014/main" id="{0F8A008E-0D61-450F-8F8B-A720F28A4927}"/>
                </a:ext>
              </a:extLst>
            </p:cNvPr>
            <p:cNvSpPr txBox="1"/>
            <p:nvPr/>
          </p:nvSpPr>
          <p:spPr>
            <a:xfrm>
              <a:off x="5820008" y="5406593"/>
              <a:ext cx="594469" cy="581743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pPr defTabSz="457200"/>
              <a:r>
                <a:rPr kumimoji="1" lang="en-US" altLang="zh-CN" sz="1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endParaRPr kumimoji="1" lang="zh-CN" altLang="en-US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0" name="直接连接符 9">
            <a:extLst>
              <a:ext uri="{FF2B5EF4-FFF2-40B4-BE49-F238E27FC236}">
                <a16:creationId xmlns="" xmlns:a16="http://schemas.microsoft.com/office/drawing/2014/main" id="{1190F6B9-630D-46C5-A967-4B75C93CEF2C}"/>
              </a:ext>
            </a:extLst>
          </p:cNvPr>
          <p:cNvCxnSpPr>
            <a:stCxn id="54" idx="1"/>
          </p:cNvCxnSpPr>
          <p:nvPr/>
        </p:nvCxnSpPr>
        <p:spPr>
          <a:xfrm flipH="1" flipV="1">
            <a:off x="4910239" y="3241257"/>
            <a:ext cx="220185" cy="25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="" xmlns:a16="http://schemas.microsoft.com/office/drawing/2014/main" id="{0F85651A-D720-4143-AF04-2163E0EF33C8}"/>
              </a:ext>
            </a:extLst>
          </p:cNvPr>
          <p:cNvCxnSpPr/>
          <p:nvPr/>
        </p:nvCxnSpPr>
        <p:spPr>
          <a:xfrm flipH="1" flipV="1">
            <a:off x="5680887" y="3245415"/>
            <a:ext cx="220185" cy="25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="" xmlns:a16="http://schemas.microsoft.com/office/drawing/2014/main" id="{E5AD3D0F-02D8-4675-9A35-23F5D5F1C56B}"/>
              </a:ext>
            </a:extLst>
          </p:cNvPr>
          <p:cNvSpPr txBox="1"/>
          <p:nvPr/>
        </p:nvSpPr>
        <p:spPr>
          <a:xfrm>
            <a:off x="5981810" y="2963418"/>
            <a:ext cx="1388522" cy="523220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many-to-many </a:t>
            </a:r>
          </a:p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8" name="组合 57">
            <a:extLst>
              <a:ext uri="{FF2B5EF4-FFF2-40B4-BE49-F238E27FC236}">
                <a16:creationId xmlns="" xmlns:a16="http://schemas.microsoft.com/office/drawing/2014/main" id="{ED71C711-B3EE-456D-834B-2238101B2FB4}"/>
              </a:ext>
            </a:extLst>
          </p:cNvPr>
          <p:cNvGrpSpPr/>
          <p:nvPr/>
        </p:nvGrpSpPr>
        <p:grpSpPr>
          <a:xfrm>
            <a:off x="5130424" y="3721933"/>
            <a:ext cx="550463" cy="550463"/>
            <a:chOff x="5578646" y="5157139"/>
            <a:chExt cx="1040454" cy="1040454"/>
          </a:xfrm>
        </p:grpSpPr>
        <p:sp>
          <p:nvSpPr>
            <p:cNvPr id="59" name="菱形 58">
              <a:extLst>
                <a:ext uri="{FF2B5EF4-FFF2-40B4-BE49-F238E27FC236}">
                  <a16:creationId xmlns="" xmlns:a16="http://schemas.microsoft.com/office/drawing/2014/main" id="{68E12798-C6FD-4A3E-AFE5-0A20AD212B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78646" y="5157139"/>
              <a:ext cx="1040454" cy="1040454"/>
            </a:xfrm>
            <a:prstGeom prst="diamond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 defTabSz="457200">
                <a:lnSpc>
                  <a:spcPct val="50000"/>
                </a:lnSpc>
              </a:pPr>
              <a:endParaRPr lang="zh-CN" altLang="en-US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文本框 59">
              <a:extLst>
                <a:ext uri="{FF2B5EF4-FFF2-40B4-BE49-F238E27FC236}">
                  <a16:creationId xmlns="" xmlns:a16="http://schemas.microsoft.com/office/drawing/2014/main" id="{174A9C71-FD4C-4257-B64E-3B4F647DDB74}"/>
                </a:ext>
              </a:extLst>
            </p:cNvPr>
            <p:cNvSpPr txBox="1"/>
            <p:nvPr/>
          </p:nvSpPr>
          <p:spPr>
            <a:xfrm>
              <a:off x="5820008" y="5406593"/>
              <a:ext cx="594469" cy="581743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pPr defTabSz="457200"/>
              <a:r>
                <a:rPr kumimoji="1" lang="en-US" altLang="zh-CN" sz="1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endParaRPr kumimoji="1" lang="zh-CN" altLang="en-US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61" name="直接连接符 60">
            <a:extLst>
              <a:ext uri="{FF2B5EF4-FFF2-40B4-BE49-F238E27FC236}">
                <a16:creationId xmlns="" xmlns:a16="http://schemas.microsoft.com/office/drawing/2014/main" id="{3B0452D8-F5F9-4A83-A719-9A23AE54CCCC}"/>
              </a:ext>
            </a:extLst>
          </p:cNvPr>
          <p:cNvCxnSpPr>
            <a:stCxn id="59" idx="1"/>
          </p:cNvCxnSpPr>
          <p:nvPr/>
        </p:nvCxnSpPr>
        <p:spPr>
          <a:xfrm flipH="1" flipV="1">
            <a:off x="4910239" y="3994660"/>
            <a:ext cx="220185" cy="25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="" xmlns:a16="http://schemas.microsoft.com/office/drawing/2014/main" id="{5617342A-E310-4F3A-97AF-B61763083D1D}"/>
              </a:ext>
            </a:extLst>
          </p:cNvPr>
          <p:cNvCxnSpPr/>
          <p:nvPr/>
        </p:nvCxnSpPr>
        <p:spPr>
          <a:xfrm flipH="1" flipV="1">
            <a:off x="5680887" y="3998818"/>
            <a:ext cx="220185" cy="2504"/>
          </a:xfrm>
          <a:prstGeom prst="line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="" xmlns:a16="http://schemas.microsoft.com/office/drawing/2014/main" id="{FD55059F-4A23-4E38-B608-8D66D3E2CD51}"/>
              </a:ext>
            </a:extLst>
          </p:cNvPr>
          <p:cNvSpPr txBox="1"/>
          <p:nvPr/>
        </p:nvSpPr>
        <p:spPr>
          <a:xfrm>
            <a:off x="5981811" y="3716821"/>
            <a:ext cx="1237839" cy="523220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many-to-one </a:t>
            </a:r>
          </a:p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4" name="组合 63">
            <a:extLst>
              <a:ext uri="{FF2B5EF4-FFF2-40B4-BE49-F238E27FC236}">
                <a16:creationId xmlns="" xmlns:a16="http://schemas.microsoft.com/office/drawing/2014/main" id="{A3AFB0AC-0781-44C5-B204-856BFD5B72A9}"/>
              </a:ext>
            </a:extLst>
          </p:cNvPr>
          <p:cNvGrpSpPr/>
          <p:nvPr/>
        </p:nvGrpSpPr>
        <p:grpSpPr>
          <a:xfrm>
            <a:off x="5130424" y="4425470"/>
            <a:ext cx="550463" cy="550463"/>
            <a:chOff x="5578646" y="5157139"/>
            <a:chExt cx="1040454" cy="1040454"/>
          </a:xfrm>
        </p:grpSpPr>
        <p:sp>
          <p:nvSpPr>
            <p:cNvPr id="65" name="菱形 64">
              <a:extLst>
                <a:ext uri="{FF2B5EF4-FFF2-40B4-BE49-F238E27FC236}">
                  <a16:creationId xmlns="" xmlns:a16="http://schemas.microsoft.com/office/drawing/2014/main" id="{CC48A84E-E51D-4659-A946-97B400611C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78646" y="5157139"/>
              <a:ext cx="1040454" cy="1040454"/>
            </a:xfrm>
            <a:prstGeom prst="diamond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 defTabSz="457200">
                <a:lnSpc>
                  <a:spcPct val="50000"/>
                </a:lnSpc>
              </a:pPr>
              <a:endParaRPr lang="zh-CN" altLang="en-US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文本框 65">
              <a:extLst>
                <a:ext uri="{FF2B5EF4-FFF2-40B4-BE49-F238E27FC236}">
                  <a16:creationId xmlns="" xmlns:a16="http://schemas.microsoft.com/office/drawing/2014/main" id="{9FC0C16E-0FB8-43F6-B02E-243BAE8737D2}"/>
                </a:ext>
              </a:extLst>
            </p:cNvPr>
            <p:cNvSpPr txBox="1"/>
            <p:nvPr/>
          </p:nvSpPr>
          <p:spPr>
            <a:xfrm>
              <a:off x="5820008" y="5406593"/>
              <a:ext cx="594469" cy="581743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pPr defTabSz="457200"/>
              <a:r>
                <a:rPr kumimoji="1" lang="en-US" altLang="zh-CN" sz="1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endParaRPr kumimoji="1" lang="zh-CN" altLang="en-US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67" name="直接连接符 66">
            <a:extLst>
              <a:ext uri="{FF2B5EF4-FFF2-40B4-BE49-F238E27FC236}">
                <a16:creationId xmlns="" xmlns:a16="http://schemas.microsoft.com/office/drawing/2014/main" id="{05F7BD41-4153-46AC-AA3B-93BE08286DA0}"/>
              </a:ext>
            </a:extLst>
          </p:cNvPr>
          <p:cNvCxnSpPr>
            <a:stCxn id="65" idx="1"/>
          </p:cNvCxnSpPr>
          <p:nvPr/>
        </p:nvCxnSpPr>
        <p:spPr>
          <a:xfrm flipH="1" flipV="1">
            <a:off x="4910239" y="4698197"/>
            <a:ext cx="220185" cy="2504"/>
          </a:xfrm>
          <a:prstGeom prst="line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="" xmlns:a16="http://schemas.microsoft.com/office/drawing/2014/main" id="{BC7885A4-8AE5-48D4-9DC1-EEF8F6BB9FA7}"/>
              </a:ext>
            </a:extLst>
          </p:cNvPr>
          <p:cNvCxnSpPr/>
          <p:nvPr/>
        </p:nvCxnSpPr>
        <p:spPr>
          <a:xfrm flipH="1" flipV="1">
            <a:off x="5680887" y="4702355"/>
            <a:ext cx="220185" cy="2504"/>
          </a:xfrm>
          <a:prstGeom prst="line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="" xmlns:a16="http://schemas.microsoft.com/office/drawing/2014/main" id="{8FC57332-0080-463E-96A4-EBA76E3E2450}"/>
              </a:ext>
            </a:extLst>
          </p:cNvPr>
          <p:cNvSpPr txBox="1"/>
          <p:nvPr/>
        </p:nvSpPr>
        <p:spPr>
          <a:xfrm>
            <a:off x="5981811" y="4420358"/>
            <a:ext cx="1099981" cy="523220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one-to-one </a:t>
            </a:r>
          </a:p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6" name="组合 95">
            <a:extLst>
              <a:ext uri="{FF2B5EF4-FFF2-40B4-BE49-F238E27FC236}">
                <a16:creationId xmlns="" xmlns:a16="http://schemas.microsoft.com/office/drawing/2014/main" id="{3772424F-3156-47CC-BD55-DB846C8D5842}"/>
              </a:ext>
            </a:extLst>
          </p:cNvPr>
          <p:cNvGrpSpPr/>
          <p:nvPr/>
        </p:nvGrpSpPr>
        <p:grpSpPr>
          <a:xfrm>
            <a:off x="1994520" y="2936176"/>
            <a:ext cx="1504017" cy="550463"/>
            <a:chOff x="470519" y="2936175"/>
            <a:chExt cx="1504017" cy="550463"/>
          </a:xfrm>
        </p:grpSpPr>
        <p:grpSp>
          <p:nvGrpSpPr>
            <p:cNvPr id="70" name="组合 69">
              <a:extLst>
                <a:ext uri="{FF2B5EF4-FFF2-40B4-BE49-F238E27FC236}">
                  <a16:creationId xmlns="" xmlns:a16="http://schemas.microsoft.com/office/drawing/2014/main" id="{B545A23B-E9FD-487A-B920-D4D184B7B21E}"/>
                </a:ext>
              </a:extLst>
            </p:cNvPr>
            <p:cNvGrpSpPr/>
            <p:nvPr/>
          </p:nvGrpSpPr>
          <p:grpSpPr>
            <a:xfrm>
              <a:off x="470519" y="2936175"/>
              <a:ext cx="550463" cy="550463"/>
              <a:chOff x="5578646" y="5157139"/>
              <a:chExt cx="1040454" cy="1040454"/>
            </a:xfrm>
          </p:grpSpPr>
          <p:sp>
            <p:nvSpPr>
              <p:cNvPr id="71" name="菱形 70">
                <a:extLst>
                  <a:ext uri="{FF2B5EF4-FFF2-40B4-BE49-F238E27FC236}">
                    <a16:creationId xmlns="" xmlns:a16="http://schemas.microsoft.com/office/drawing/2014/main" id="{829C6498-0410-4028-BEC6-539C6371A2E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578646" y="5157139"/>
                <a:ext cx="1040454" cy="1040454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 defTabSz="457200">
                  <a:lnSpc>
                    <a:spcPct val="50000"/>
                  </a:lnSpc>
                </a:pPr>
                <a:endParaRPr lang="zh-CN" altLang="en-US" sz="1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2" name="文本框 71">
                <a:extLst>
                  <a:ext uri="{FF2B5EF4-FFF2-40B4-BE49-F238E27FC236}">
                    <a16:creationId xmlns="" xmlns:a16="http://schemas.microsoft.com/office/drawing/2014/main" id="{C2776C50-FBBA-43A1-B2D4-F2F82A65C064}"/>
                  </a:ext>
                </a:extLst>
              </p:cNvPr>
              <p:cNvSpPr txBox="1"/>
              <p:nvPr/>
            </p:nvSpPr>
            <p:spPr>
              <a:xfrm>
                <a:off x="5820008" y="5406593"/>
                <a:ext cx="594469" cy="581743"/>
              </a:xfrm>
              <a:prstGeom prst="rect">
                <a:avLst/>
              </a:prstGeom>
              <a:ln>
                <a:noFill/>
              </a:ln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defTabSz="457200"/>
                <a:r>
                  <a:rPr kumimoji="1" lang="en-US" altLang="zh-CN" sz="1400" i="1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endParaRPr kumimoji="1" lang="zh-CN" altLang="en-US" sz="1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74" name="直接连接符 73">
              <a:extLst>
                <a:ext uri="{FF2B5EF4-FFF2-40B4-BE49-F238E27FC236}">
                  <a16:creationId xmlns="" xmlns:a16="http://schemas.microsoft.com/office/drawing/2014/main" id="{C9FE82DB-B258-4703-A236-E73A96A84F51}"/>
                </a:ext>
              </a:extLst>
            </p:cNvPr>
            <p:cNvCxnSpPr>
              <a:cxnSpLocks/>
              <a:stCxn id="75" idx="1"/>
              <a:endCxn id="71" idx="3"/>
            </p:cNvCxnSpPr>
            <p:nvPr/>
          </p:nvCxnSpPr>
          <p:spPr>
            <a:xfrm flipH="1">
              <a:off x="1020982" y="3211406"/>
              <a:ext cx="579211" cy="1"/>
            </a:xfrm>
            <a:prstGeom prst="line">
              <a:avLst/>
            </a:prstGeom>
            <a:ln w="34925" cmpd="dbl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矩形 74">
              <a:extLst>
                <a:ext uri="{FF2B5EF4-FFF2-40B4-BE49-F238E27FC236}">
                  <a16:creationId xmlns="" xmlns:a16="http://schemas.microsoft.com/office/drawing/2014/main" id="{256B4B5E-D11F-416D-AA6C-5051CEA11D15}"/>
                </a:ext>
              </a:extLst>
            </p:cNvPr>
            <p:cNvSpPr/>
            <p:nvPr/>
          </p:nvSpPr>
          <p:spPr>
            <a:xfrm>
              <a:off x="1600193" y="3057517"/>
              <a:ext cx="37434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 defTabSz="457200"/>
              <a:r>
                <a:rPr lang="en-US" altLang="zh-CN" sz="1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  <a:endParaRPr lang="zh-CN" altLang="en-US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79" name="文本框 78">
            <a:extLst>
              <a:ext uri="{FF2B5EF4-FFF2-40B4-BE49-F238E27FC236}">
                <a16:creationId xmlns="" xmlns:a16="http://schemas.microsoft.com/office/drawing/2014/main" id="{DE4230CE-3A25-4EEC-B4C5-BEA3D07AB368}"/>
              </a:ext>
            </a:extLst>
          </p:cNvPr>
          <p:cNvSpPr txBox="1"/>
          <p:nvPr/>
        </p:nvSpPr>
        <p:spPr>
          <a:xfrm>
            <a:off x="3610323" y="2963162"/>
            <a:ext cx="1149674" cy="523220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</a:t>
            </a:r>
          </a:p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participation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="" xmlns:a16="http://schemas.microsoft.com/office/drawing/2014/main" id="{0EA7E2B6-ABE0-4A1A-B0BD-50E9EDA07CCE}"/>
              </a:ext>
            </a:extLst>
          </p:cNvPr>
          <p:cNvSpPr txBox="1"/>
          <p:nvPr/>
        </p:nvSpPr>
        <p:spPr>
          <a:xfrm>
            <a:off x="3609654" y="3743808"/>
            <a:ext cx="990977" cy="523220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cardinality</a:t>
            </a:r>
          </a:p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limits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="" xmlns:a16="http://schemas.microsoft.com/office/drawing/2014/main" id="{C9820585-E054-4676-ABDE-DDAAADD974DA}"/>
              </a:ext>
            </a:extLst>
          </p:cNvPr>
          <p:cNvSpPr txBox="1"/>
          <p:nvPr/>
        </p:nvSpPr>
        <p:spPr>
          <a:xfrm>
            <a:off x="3613979" y="4443096"/>
            <a:ext cx="861133" cy="523220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role </a:t>
            </a:r>
          </a:p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indicator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7" name="组合 96">
            <a:extLst>
              <a:ext uri="{FF2B5EF4-FFF2-40B4-BE49-F238E27FC236}">
                <a16:creationId xmlns="" xmlns:a16="http://schemas.microsoft.com/office/drawing/2014/main" id="{3AB51E85-4F13-45D0-9ECD-846FAE1CBFC1}"/>
              </a:ext>
            </a:extLst>
          </p:cNvPr>
          <p:cNvGrpSpPr/>
          <p:nvPr/>
        </p:nvGrpSpPr>
        <p:grpSpPr>
          <a:xfrm>
            <a:off x="1993850" y="3716822"/>
            <a:ext cx="1504017" cy="550463"/>
            <a:chOff x="469849" y="3716821"/>
            <a:chExt cx="1504017" cy="550463"/>
          </a:xfrm>
        </p:grpSpPr>
        <p:grpSp>
          <p:nvGrpSpPr>
            <p:cNvPr id="81" name="组合 80">
              <a:extLst>
                <a:ext uri="{FF2B5EF4-FFF2-40B4-BE49-F238E27FC236}">
                  <a16:creationId xmlns="" xmlns:a16="http://schemas.microsoft.com/office/drawing/2014/main" id="{AC7FDC5A-3F65-4A2D-BC28-004AAC96D2EB}"/>
                </a:ext>
              </a:extLst>
            </p:cNvPr>
            <p:cNvGrpSpPr/>
            <p:nvPr/>
          </p:nvGrpSpPr>
          <p:grpSpPr>
            <a:xfrm>
              <a:off x="469849" y="3716821"/>
              <a:ext cx="550463" cy="550463"/>
              <a:chOff x="5578646" y="5157139"/>
              <a:chExt cx="1040454" cy="1040454"/>
            </a:xfrm>
          </p:grpSpPr>
          <p:sp>
            <p:nvSpPr>
              <p:cNvPr id="84" name="菱形 83">
                <a:extLst>
                  <a:ext uri="{FF2B5EF4-FFF2-40B4-BE49-F238E27FC236}">
                    <a16:creationId xmlns="" xmlns:a16="http://schemas.microsoft.com/office/drawing/2014/main" id="{252AD122-0FB9-4192-A9F2-050DE2DD9BA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578646" y="5157139"/>
                <a:ext cx="1040454" cy="1040454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 defTabSz="457200">
                  <a:lnSpc>
                    <a:spcPct val="50000"/>
                  </a:lnSpc>
                </a:pPr>
                <a:endParaRPr lang="zh-CN" altLang="en-US" sz="1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5" name="文本框 84">
                <a:extLst>
                  <a:ext uri="{FF2B5EF4-FFF2-40B4-BE49-F238E27FC236}">
                    <a16:creationId xmlns="" xmlns:a16="http://schemas.microsoft.com/office/drawing/2014/main" id="{A3CE1C1C-E682-407C-86CD-186F7DBEF81C}"/>
                  </a:ext>
                </a:extLst>
              </p:cNvPr>
              <p:cNvSpPr txBox="1"/>
              <p:nvPr/>
            </p:nvSpPr>
            <p:spPr>
              <a:xfrm>
                <a:off x="5820008" y="5406593"/>
                <a:ext cx="594469" cy="581743"/>
              </a:xfrm>
              <a:prstGeom prst="rect">
                <a:avLst/>
              </a:prstGeom>
              <a:ln>
                <a:noFill/>
              </a:ln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defTabSz="457200"/>
                <a:r>
                  <a:rPr kumimoji="1" lang="en-US" altLang="zh-CN" sz="1400" i="1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endParaRPr kumimoji="1" lang="zh-CN" altLang="en-US" sz="1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82" name="直接连接符 81">
              <a:extLst>
                <a:ext uri="{FF2B5EF4-FFF2-40B4-BE49-F238E27FC236}">
                  <a16:creationId xmlns="" xmlns:a16="http://schemas.microsoft.com/office/drawing/2014/main" id="{13C0AD70-2235-43D5-BD20-380BDCA01C92}"/>
                </a:ext>
              </a:extLst>
            </p:cNvPr>
            <p:cNvCxnSpPr>
              <a:cxnSpLocks/>
              <a:stCxn id="83" idx="1"/>
              <a:endCxn id="84" idx="3"/>
            </p:cNvCxnSpPr>
            <p:nvPr/>
          </p:nvCxnSpPr>
          <p:spPr>
            <a:xfrm flipH="1">
              <a:off x="1020312" y="3992052"/>
              <a:ext cx="579211" cy="1"/>
            </a:xfrm>
            <a:prstGeom prst="line">
              <a:avLst/>
            </a:prstGeom>
            <a:ln w="6350" cmpd="sng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矩形 82">
              <a:extLst>
                <a:ext uri="{FF2B5EF4-FFF2-40B4-BE49-F238E27FC236}">
                  <a16:creationId xmlns="" xmlns:a16="http://schemas.microsoft.com/office/drawing/2014/main" id="{DC8CC880-3589-4054-937F-9F22733505FB}"/>
                </a:ext>
              </a:extLst>
            </p:cNvPr>
            <p:cNvSpPr/>
            <p:nvPr/>
          </p:nvSpPr>
          <p:spPr>
            <a:xfrm>
              <a:off x="1599523" y="3838163"/>
              <a:ext cx="37434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 defTabSz="457200"/>
              <a:r>
                <a:rPr lang="en-US" altLang="zh-CN" sz="1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  <a:endParaRPr lang="zh-CN" altLang="en-US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文本框 93">
              <a:extLst>
                <a:ext uri="{FF2B5EF4-FFF2-40B4-BE49-F238E27FC236}">
                  <a16:creationId xmlns="" xmlns:a16="http://schemas.microsoft.com/office/drawing/2014/main" id="{54E89B1A-765C-48F8-8585-8AE89CDD20AE}"/>
                </a:ext>
              </a:extLst>
            </p:cNvPr>
            <p:cNvSpPr txBox="1"/>
            <p:nvPr/>
          </p:nvSpPr>
          <p:spPr>
            <a:xfrm>
              <a:off x="1027718" y="3721843"/>
              <a:ext cx="482824" cy="307777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pPr defTabSz="457200"/>
              <a:r>
                <a:rPr kumimoji="1" lang="en-US" altLang="zh-CN" sz="14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1..h</a:t>
              </a:r>
              <a:endParaRPr kumimoji="1" lang="zh-CN" alt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8" name="组合 97">
            <a:extLst>
              <a:ext uri="{FF2B5EF4-FFF2-40B4-BE49-F238E27FC236}">
                <a16:creationId xmlns="" xmlns:a16="http://schemas.microsoft.com/office/drawing/2014/main" id="{6F468FCB-4963-4B81-A788-40DEA991E837}"/>
              </a:ext>
            </a:extLst>
          </p:cNvPr>
          <p:cNvGrpSpPr/>
          <p:nvPr/>
        </p:nvGrpSpPr>
        <p:grpSpPr>
          <a:xfrm>
            <a:off x="1998175" y="4416050"/>
            <a:ext cx="1504017" cy="550523"/>
            <a:chOff x="474174" y="4416049"/>
            <a:chExt cx="1504017" cy="550523"/>
          </a:xfrm>
        </p:grpSpPr>
        <p:grpSp>
          <p:nvGrpSpPr>
            <p:cNvPr id="88" name="组合 87">
              <a:extLst>
                <a:ext uri="{FF2B5EF4-FFF2-40B4-BE49-F238E27FC236}">
                  <a16:creationId xmlns="" xmlns:a16="http://schemas.microsoft.com/office/drawing/2014/main" id="{1353819A-FB42-4952-88B5-5FE07FF2DFD3}"/>
                </a:ext>
              </a:extLst>
            </p:cNvPr>
            <p:cNvGrpSpPr/>
            <p:nvPr/>
          </p:nvGrpSpPr>
          <p:grpSpPr>
            <a:xfrm>
              <a:off x="474174" y="4416109"/>
              <a:ext cx="550463" cy="550463"/>
              <a:chOff x="5578646" y="5157139"/>
              <a:chExt cx="1040454" cy="1040454"/>
            </a:xfrm>
          </p:grpSpPr>
          <p:sp>
            <p:nvSpPr>
              <p:cNvPr id="91" name="菱形 90">
                <a:extLst>
                  <a:ext uri="{FF2B5EF4-FFF2-40B4-BE49-F238E27FC236}">
                    <a16:creationId xmlns="" xmlns:a16="http://schemas.microsoft.com/office/drawing/2014/main" id="{A9D89F97-FE6B-415D-BB16-51572E9E59A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578646" y="5157139"/>
                <a:ext cx="1040454" cy="1040454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 defTabSz="457200">
                  <a:lnSpc>
                    <a:spcPct val="50000"/>
                  </a:lnSpc>
                </a:pPr>
                <a:endParaRPr lang="zh-CN" altLang="en-US" sz="1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2" name="文本框 91">
                <a:extLst>
                  <a:ext uri="{FF2B5EF4-FFF2-40B4-BE49-F238E27FC236}">
                    <a16:creationId xmlns="" xmlns:a16="http://schemas.microsoft.com/office/drawing/2014/main" id="{B97EC29E-E5ED-4CD0-8216-30883A4F1675}"/>
                  </a:ext>
                </a:extLst>
              </p:cNvPr>
              <p:cNvSpPr txBox="1"/>
              <p:nvPr/>
            </p:nvSpPr>
            <p:spPr>
              <a:xfrm>
                <a:off x="5820008" y="5406593"/>
                <a:ext cx="594469" cy="581743"/>
              </a:xfrm>
              <a:prstGeom prst="rect">
                <a:avLst/>
              </a:prstGeom>
              <a:ln>
                <a:noFill/>
              </a:ln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defTabSz="457200"/>
                <a:r>
                  <a:rPr kumimoji="1" lang="en-US" altLang="zh-CN" sz="1400" i="1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endParaRPr kumimoji="1" lang="zh-CN" altLang="en-US" sz="1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89" name="直接连接符 88">
              <a:extLst>
                <a:ext uri="{FF2B5EF4-FFF2-40B4-BE49-F238E27FC236}">
                  <a16:creationId xmlns="" xmlns:a16="http://schemas.microsoft.com/office/drawing/2014/main" id="{DDBC077D-A282-4B2A-A0CA-193880130457}"/>
                </a:ext>
              </a:extLst>
            </p:cNvPr>
            <p:cNvCxnSpPr>
              <a:cxnSpLocks/>
              <a:stCxn id="90" idx="1"/>
              <a:endCxn id="91" idx="3"/>
            </p:cNvCxnSpPr>
            <p:nvPr/>
          </p:nvCxnSpPr>
          <p:spPr>
            <a:xfrm flipH="1">
              <a:off x="1024637" y="4691340"/>
              <a:ext cx="579211" cy="1"/>
            </a:xfrm>
            <a:prstGeom prst="line">
              <a:avLst/>
            </a:prstGeom>
            <a:ln w="6350" cmpd="sng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矩形 89">
              <a:extLst>
                <a:ext uri="{FF2B5EF4-FFF2-40B4-BE49-F238E27FC236}">
                  <a16:creationId xmlns="" xmlns:a16="http://schemas.microsoft.com/office/drawing/2014/main" id="{F768F09F-F1F8-4A05-9C61-6809B3927E14}"/>
                </a:ext>
              </a:extLst>
            </p:cNvPr>
            <p:cNvSpPr/>
            <p:nvPr/>
          </p:nvSpPr>
          <p:spPr>
            <a:xfrm>
              <a:off x="1603848" y="4537451"/>
              <a:ext cx="37434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 defTabSz="457200"/>
              <a:r>
                <a:rPr lang="en-US" altLang="zh-CN" sz="1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  <a:endParaRPr lang="zh-CN" altLang="en-US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文本框 94">
              <a:extLst>
                <a:ext uri="{FF2B5EF4-FFF2-40B4-BE49-F238E27FC236}">
                  <a16:creationId xmlns="" xmlns:a16="http://schemas.microsoft.com/office/drawing/2014/main" id="{27FCB26B-90F6-4407-BC2A-0B884E94CDCF}"/>
                </a:ext>
              </a:extLst>
            </p:cNvPr>
            <p:cNvSpPr txBox="1"/>
            <p:nvPr/>
          </p:nvSpPr>
          <p:spPr>
            <a:xfrm>
              <a:off x="1010464" y="4416049"/>
              <a:ext cx="631904" cy="523220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pPr defTabSz="457200"/>
              <a:r>
                <a:rPr kumimoji="1" lang="en-US" altLang="zh-CN" sz="14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role </a:t>
              </a:r>
            </a:p>
            <a:p>
              <a:pPr defTabSz="457200"/>
              <a:r>
                <a:rPr kumimoji="1" lang="en-US" altLang="zh-CN" sz="14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</a:t>
              </a:r>
              <a:endParaRPr kumimoji="1" lang="zh-CN" alt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12" name="组合 111">
            <a:extLst>
              <a:ext uri="{FF2B5EF4-FFF2-40B4-BE49-F238E27FC236}">
                <a16:creationId xmlns="" xmlns:a16="http://schemas.microsoft.com/office/drawing/2014/main" id="{4F8413C2-F62D-49B7-A244-26326F13A5C4}"/>
              </a:ext>
            </a:extLst>
          </p:cNvPr>
          <p:cNvGrpSpPr/>
          <p:nvPr/>
        </p:nvGrpSpPr>
        <p:grpSpPr>
          <a:xfrm>
            <a:off x="2469637" y="5186393"/>
            <a:ext cx="667081" cy="1047774"/>
            <a:chOff x="945636" y="5186393"/>
            <a:chExt cx="667081" cy="1047774"/>
          </a:xfrm>
        </p:grpSpPr>
        <p:grpSp>
          <p:nvGrpSpPr>
            <p:cNvPr id="99" name="组合 98">
              <a:extLst>
                <a:ext uri="{FF2B5EF4-FFF2-40B4-BE49-F238E27FC236}">
                  <a16:creationId xmlns="" xmlns:a16="http://schemas.microsoft.com/office/drawing/2014/main" id="{CC72B9CB-62F7-4356-AF67-4C083DAB592A}"/>
                </a:ext>
              </a:extLst>
            </p:cNvPr>
            <p:cNvGrpSpPr/>
            <p:nvPr/>
          </p:nvGrpSpPr>
          <p:grpSpPr>
            <a:xfrm>
              <a:off x="945636" y="5415586"/>
              <a:ext cx="667081" cy="575070"/>
              <a:chOff x="6193357" y="3368102"/>
              <a:chExt cx="667081" cy="575070"/>
            </a:xfrm>
          </p:grpSpPr>
          <p:sp>
            <p:nvSpPr>
              <p:cNvPr id="100" name="等腰三角形 99">
                <a:extLst>
                  <a:ext uri="{FF2B5EF4-FFF2-40B4-BE49-F238E27FC236}">
                    <a16:creationId xmlns="" xmlns:a16="http://schemas.microsoft.com/office/drawing/2014/main" id="{D7324F69-4DE0-4754-BE0E-E037438D93A8}"/>
                  </a:ext>
                </a:extLst>
              </p:cNvPr>
              <p:cNvSpPr/>
              <p:nvPr/>
            </p:nvSpPr>
            <p:spPr>
              <a:xfrm flipV="1">
                <a:off x="6193357" y="3368102"/>
                <a:ext cx="667081" cy="575070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200"/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1" name="文本框 100">
                <a:extLst>
                  <a:ext uri="{FF2B5EF4-FFF2-40B4-BE49-F238E27FC236}">
                    <a16:creationId xmlns="" xmlns:a16="http://schemas.microsoft.com/office/drawing/2014/main" id="{A6497611-B308-4EC2-B129-024559660C94}"/>
                  </a:ext>
                </a:extLst>
              </p:cNvPr>
              <p:cNvSpPr txBox="1"/>
              <p:nvPr/>
            </p:nvSpPr>
            <p:spPr>
              <a:xfrm>
                <a:off x="6294643" y="3387152"/>
                <a:ext cx="474810" cy="307777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defTabSz="457200"/>
                <a:r>
                  <a:rPr kumimoji="1" lang="en-US" altLang="zh-CN" sz="14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ISA</a:t>
                </a:r>
                <a:endParaRPr kumimoji="1" lang="zh-CN" altLang="en-US" sz="14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03" name="直接连接符 102">
              <a:extLst>
                <a:ext uri="{FF2B5EF4-FFF2-40B4-BE49-F238E27FC236}">
                  <a16:creationId xmlns="" xmlns:a16="http://schemas.microsoft.com/office/drawing/2014/main" id="{F162D8EB-7B4F-4C81-A446-C80DFFE60630}"/>
                </a:ext>
              </a:extLst>
            </p:cNvPr>
            <p:cNvCxnSpPr>
              <a:cxnSpLocks/>
              <a:stCxn id="100" idx="3"/>
            </p:cNvCxnSpPr>
            <p:nvPr/>
          </p:nvCxnSpPr>
          <p:spPr>
            <a:xfrm flipV="1">
              <a:off x="1279177" y="5186393"/>
              <a:ext cx="0" cy="2291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="" xmlns:a16="http://schemas.microsoft.com/office/drawing/2014/main" id="{76BC99FB-2CF4-4104-9B90-E7ADC8C06F2F}"/>
                </a:ext>
              </a:extLst>
            </p:cNvPr>
            <p:cNvCxnSpPr>
              <a:cxnSpLocks/>
              <a:endCxn id="100" idx="0"/>
            </p:cNvCxnSpPr>
            <p:nvPr/>
          </p:nvCxnSpPr>
          <p:spPr>
            <a:xfrm flipH="1" flipV="1">
              <a:off x="1279177" y="5990656"/>
              <a:ext cx="3588" cy="24351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1" name="文本框 110">
            <a:extLst>
              <a:ext uri="{FF2B5EF4-FFF2-40B4-BE49-F238E27FC236}">
                <a16:creationId xmlns="" xmlns:a16="http://schemas.microsoft.com/office/drawing/2014/main" id="{E6A5210B-DADD-4D8C-A0A0-4A63BE15FB4A}"/>
              </a:ext>
            </a:extLst>
          </p:cNvPr>
          <p:cNvSpPr txBox="1"/>
          <p:nvPr/>
        </p:nvSpPr>
        <p:spPr>
          <a:xfrm>
            <a:off x="3613978" y="5434636"/>
            <a:ext cx="474810" cy="307777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ISA</a:t>
            </a:r>
          </a:p>
        </p:txBody>
      </p:sp>
      <p:grpSp>
        <p:nvGrpSpPr>
          <p:cNvPr id="113" name="组合 112">
            <a:extLst>
              <a:ext uri="{FF2B5EF4-FFF2-40B4-BE49-F238E27FC236}">
                <a16:creationId xmlns="" xmlns:a16="http://schemas.microsoft.com/office/drawing/2014/main" id="{93BB2242-5BC9-4044-99AC-85ED9CD9C658}"/>
              </a:ext>
            </a:extLst>
          </p:cNvPr>
          <p:cNvGrpSpPr/>
          <p:nvPr/>
        </p:nvGrpSpPr>
        <p:grpSpPr>
          <a:xfrm>
            <a:off x="5090973" y="5184663"/>
            <a:ext cx="667081" cy="1047774"/>
            <a:chOff x="945636" y="5186393"/>
            <a:chExt cx="667081" cy="1047774"/>
          </a:xfrm>
        </p:grpSpPr>
        <p:grpSp>
          <p:nvGrpSpPr>
            <p:cNvPr id="114" name="组合 113">
              <a:extLst>
                <a:ext uri="{FF2B5EF4-FFF2-40B4-BE49-F238E27FC236}">
                  <a16:creationId xmlns="" xmlns:a16="http://schemas.microsoft.com/office/drawing/2014/main" id="{C2BE8B48-3CBF-4804-92A7-B3AA37F48D3E}"/>
                </a:ext>
              </a:extLst>
            </p:cNvPr>
            <p:cNvGrpSpPr/>
            <p:nvPr/>
          </p:nvGrpSpPr>
          <p:grpSpPr>
            <a:xfrm>
              <a:off x="945636" y="5415586"/>
              <a:ext cx="667081" cy="575070"/>
              <a:chOff x="6193357" y="3368102"/>
              <a:chExt cx="667081" cy="575070"/>
            </a:xfrm>
          </p:grpSpPr>
          <p:sp>
            <p:nvSpPr>
              <p:cNvPr id="117" name="等腰三角形 116">
                <a:extLst>
                  <a:ext uri="{FF2B5EF4-FFF2-40B4-BE49-F238E27FC236}">
                    <a16:creationId xmlns="" xmlns:a16="http://schemas.microsoft.com/office/drawing/2014/main" id="{72B9A6C3-F2D9-4F3F-9527-E75DF4B28BA4}"/>
                  </a:ext>
                </a:extLst>
              </p:cNvPr>
              <p:cNvSpPr/>
              <p:nvPr/>
            </p:nvSpPr>
            <p:spPr>
              <a:xfrm flipV="1">
                <a:off x="6193357" y="3368102"/>
                <a:ext cx="667081" cy="575070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200"/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8" name="文本框 117">
                <a:extLst>
                  <a:ext uri="{FF2B5EF4-FFF2-40B4-BE49-F238E27FC236}">
                    <a16:creationId xmlns="" xmlns:a16="http://schemas.microsoft.com/office/drawing/2014/main" id="{EFC754B4-7081-464A-AB11-0DF76196929C}"/>
                  </a:ext>
                </a:extLst>
              </p:cNvPr>
              <p:cNvSpPr txBox="1"/>
              <p:nvPr/>
            </p:nvSpPr>
            <p:spPr>
              <a:xfrm>
                <a:off x="6294643" y="3387152"/>
                <a:ext cx="474810" cy="307777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defTabSz="457200"/>
                <a:r>
                  <a:rPr kumimoji="1" lang="en-US" altLang="zh-CN" sz="14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ISA</a:t>
                </a:r>
                <a:endParaRPr kumimoji="1" lang="zh-CN" altLang="en-US" sz="14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15" name="直接连接符 114">
              <a:extLst>
                <a:ext uri="{FF2B5EF4-FFF2-40B4-BE49-F238E27FC236}">
                  <a16:creationId xmlns="" xmlns:a16="http://schemas.microsoft.com/office/drawing/2014/main" id="{D0ADB96B-5A80-4B18-B28A-FF47A76BB781}"/>
                </a:ext>
              </a:extLst>
            </p:cNvPr>
            <p:cNvCxnSpPr>
              <a:cxnSpLocks/>
              <a:stCxn id="117" idx="3"/>
            </p:cNvCxnSpPr>
            <p:nvPr/>
          </p:nvCxnSpPr>
          <p:spPr>
            <a:xfrm flipV="1">
              <a:off x="1279177" y="5186393"/>
              <a:ext cx="0" cy="229193"/>
            </a:xfrm>
            <a:prstGeom prst="line">
              <a:avLst/>
            </a:prstGeom>
            <a:ln w="34925" cmpd="dbl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="" xmlns:a16="http://schemas.microsoft.com/office/drawing/2014/main" id="{F3415765-35E3-4F2C-8EDA-3AD8B218F994}"/>
                </a:ext>
              </a:extLst>
            </p:cNvPr>
            <p:cNvCxnSpPr>
              <a:cxnSpLocks/>
              <a:endCxn id="117" idx="0"/>
            </p:cNvCxnSpPr>
            <p:nvPr/>
          </p:nvCxnSpPr>
          <p:spPr>
            <a:xfrm flipH="1" flipV="1">
              <a:off x="1279177" y="5990656"/>
              <a:ext cx="3588" cy="24351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9" name="文本框 118">
            <a:extLst>
              <a:ext uri="{FF2B5EF4-FFF2-40B4-BE49-F238E27FC236}">
                <a16:creationId xmlns="" xmlns:a16="http://schemas.microsoft.com/office/drawing/2014/main" id="{BE4CCC2B-7E99-4F0B-B60B-2DC020B0AFE0}"/>
              </a:ext>
            </a:extLst>
          </p:cNvPr>
          <p:cNvSpPr txBox="1"/>
          <p:nvPr/>
        </p:nvSpPr>
        <p:spPr>
          <a:xfrm>
            <a:off x="6096001" y="5332651"/>
            <a:ext cx="1298753" cy="523220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</a:t>
            </a:r>
          </a:p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generalization</a:t>
            </a:r>
          </a:p>
        </p:txBody>
      </p:sp>
      <p:grpSp>
        <p:nvGrpSpPr>
          <p:cNvPr id="120" name="组合 119">
            <a:extLst>
              <a:ext uri="{FF2B5EF4-FFF2-40B4-BE49-F238E27FC236}">
                <a16:creationId xmlns="" xmlns:a16="http://schemas.microsoft.com/office/drawing/2014/main" id="{C0086FC3-28C4-4E51-8E5F-1D87530419DE}"/>
              </a:ext>
            </a:extLst>
          </p:cNvPr>
          <p:cNvGrpSpPr/>
          <p:nvPr/>
        </p:nvGrpSpPr>
        <p:grpSpPr>
          <a:xfrm>
            <a:off x="7708721" y="5180380"/>
            <a:ext cx="667081" cy="1047774"/>
            <a:chOff x="945636" y="5186393"/>
            <a:chExt cx="667081" cy="1047774"/>
          </a:xfrm>
        </p:grpSpPr>
        <p:grpSp>
          <p:nvGrpSpPr>
            <p:cNvPr id="121" name="组合 120">
              <a:extLst>
                <a:ext uri="{FF2B5EF4-FFF2-40B4-BE49-F238E27FC236}">
                  <a16:creationId xmlns="" xmlns:a16="http://schemas.microsoft.com/office/drawing/2014/main" id="{5781F809-5AC4-4756-96D5-45C99005401D}"/>
                </a:ext>
              </a:extLst>
            </p:cNvPr>
            <p:cNvGrpSpPr/>
            <p:nvPr/>
          </p:nvGrpSpPr>
          <p:grpSpPr>
            <a:xfrm>
              <a:off x="945636" y="5415586"/>
              <a:ext cx="667081" cy="575070"/>
              <a:chOff x="6193357" y="3368102"/>
              <a:chExt cx="667081" cy="575070"/>
            </a:xfrm>
          </p:grpSpPr>
          <p:sp>
            <p:nvSpPr>
              <p:cNvPr id="124" name="等腰三角形 123">
                <a:extLst>
                  <a:ext uri="{FF2B5EF4-FFF2-40B4-BE49-F238E27FC236}">
                    <a16:creationId xmlns="" xmlns:a16="http://schemas.microsoft.com/office/drawing/2014/main" id="{44BB9C81-9E16-40B4-838A-3BDD8AE62CE9}"/>
                  </a:ext>
                </a:extLst>
              </p:cNvPr>
              <p:cNvSpPr/>
              <p:nvPr/>
            </p:nvSpPr>
            <p:spPr>
              <a:xfrm flipV="1">
                <a:off x="6193357" y="3368102"/>
                <a:ext cx="667081" cy="575070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200"/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5" name="文本框 124">
                <a:extLst>
                  <a:ext uri="{FF2B5EF4-FFF2-40B4-BE49-F238E27FC236}">
                    <a16:creationId xmlns="" xmlns:a16="http://schemas.microsoft.com/office/drawing/2014/main" id="{DC4CBF89-F46C-4753-A113-B63C06E92C3A}"/>
                  </a:ext>
                </a:extLst>
              </p:cNvPr>
              <p:cNvSpPr txBox="1"/>
              <p:nvPr/>
            </p:nvSpPr>
            <p:spPr>
              <a:xfrm>
                <a:off x="6294643" y="3387152"/>
                <a:ext cx="474810" cy="307777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defTabSz="457200"/>
                <a:r>
                  <a:rPr kumimoji="1" lang="en-US" altLang="zh-CN" sz="14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ISA</a:t>
                </a:r>
                <a:endParaRPr kumimoji="1" lang="zh-CN" altLang="en-US" sz="14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22" name="直接连接符 121">
              <a:extLst>
                <a:ext uri="{FF2B5EF4-FFF2-40B4-BE49-F238E27FC236}">
                  <a16:creationId xmlns="" xmlns:a16="http://schemas.microsoft.com/office/drawing/2014/main" id="{D1B52413-C371-4E5E-ACD8-B0547F856D8B}"/>
                </a:ext>
              </a:extLst>
            </p:cNvPr>
            <p:cNvCxnSpPr>
              <a:cxnSpLocks/>
              <a:stCxn id="124" idx="3"/>
            </p:cNvCxnSpPr>
            <p:nvPr/>
          </p:nvCxnSpPr>
          <p:spPr>
            <a:xfrm flipV="1">
              <a:off x="1279177" y="5186393"/>
              <a:ext cx="0" cy="229193"/>
            </a:xfrm>
            <a:prstGeom prst="line">
              <a:avLst/>
            </a:prstGeom>
            <a:ln w="9525" cmpd="sng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="" xmlns:a16="http://schemas.microsoft.com/office/drawing/2014/main" id="{48809180-C992-43B5-BCE2-3BAC7351B221}"/>
                </a:ext>
              </a:extLst>
            </p:cNvPr>
            <p:cNvCxnSpPr>
              <a:cxnSpLocks/>
              <a:endCxn id="124" idx="0"/>
            </p:cNvCxnSpPr>
            <p:nvPr/>
          </p:nvCxnSpPr>
          <p:spPr>
            <a:xfrm flipH="1" flipV="1">
              <a:off x="1279177" y="5990656"/>
              <a:ext cx="3588" cy="24351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6" name="文本框 125">
            <a:extLst>
              <a:ext uri="{FF2B5EF4-FFF2-40B4-BE49-F238E27FC236}">
                <a16:creationId xmlns="" xmlns:a16="http://schemas.microsoft.com/office/drawing/2014/main" id="{7773FDEF-FF95-43F3-8C52-9537FE125BA5}"/>
              </a:ext>
            </a:extLst>
          </p:cNvPr>
          <p:cNvSpPr txBox="1"/>
          <p:nvPr/>
        </p:nvSpPr>
        <p:spPr>
          <a:xfrm>
            <a:off x="8629979" y="5328368"/>
            <a:ext cx="1298753" cy="523220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disjoint </a:t>
            </a:r>
          </a:p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generalization</a:t>
            </a:r>
          </a:p>
        </p:txBody>
      </p:sp>
      <p:sp>
        <p:nvSpPr>
          <p:cNvPr id="127" name="文本框 126">
            <a:extLst>
              <a:ext uri="{FF2B5EF4-FFF2-40B4-BE49-F238E27FC236}">
                <a16:creationId xmlns="" xmlns:a16="http://schemas.microsoft.com/office/drawing/2014/main" id="{A69A0EDB-6C51-4756-8B10-769FB49FB72F}"/>
              </a:ext>
            </a:extLst>
          </p:cNvPr>
          <p:cNvSpPr txBox="1"/>
          <p:nvPr/>
        </p:nvSpPr>
        <p:spPr>
          <a:xfrm>
            <a:off x="8011201" y="5928191"/>
            <a:ext cx="742511" cy="307777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disjoint</a:t>
            </a:r>
          </a:p>
        </p:txBody>
      </p:sp>
    </p:spTree>
    <p:extLst>
      <p:ext uri="{BB962C8B-B14F-4D97-AF65-F5344CB8AC3E}">
        <p14:creationId xmlns:p14="http://schemas.microsoft.com/office/powerpoint/2010/main" val="41467242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">
            <a:extLst>
              <a:ext uri="{FF2B5EF4-FFF2-40B4-BE49-F238E27FC236}">
                <a16:creationId xmlns="" xmlns:a16="http://schemas.microsoft.com/office/drawing/2014/main" id="{7185031B-8265-4F1B-A92F-819216077F64}"/>
              </a:ext>
            </a:extLst>
          </p:cNvPr>
          <p:cNvSpPr txBox="1">
            <a:spLocks/>
          </p:cNvSpPr>
          <p:nvPr/>
        </p:nvSpPr>
        <p:spPr>
          <a:xfrm>
            <a:off x="869951" y="1283368"/>
            <a:ext cx="10483849" cy="51884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ym typeface="Symbol" panose="05050102010706020507" pitchFamily="18" charset="2"/>
              </a:rPr>
              <a:t>Slide </a:t>
            </a:r>
            <a:r>
              <a:rPr lang="en-US" dirty="0">
                <a:sym typeface="Symbol" panose="05050102010706020507" pitchFamily="18" charset="2"/>
              </a:rPr>
              <a:t>19 is </a:t>
            </a:r>
            <a:r>
              <a:rPr lang="en-US" dirty="0" smtClean="0">
                <a:sym typeface="Symbol" panose="05050102010706020507" pitchFamily="18" charset="2"/>
              </a:rPr>
              <a:t>the solution </a:t>
            </a:r>
            <a:r>
              <a:rPr lang="en-US" dirty="0">
                <a:sym typeface="Symbol" panose="05050102010706020507" pitchFamily="18" charset="2"/>
              </a:rPr>
              <a:t>to last week’s exercise</a:t>
            </a:r>
            <a:r>
              <a:rPr lang="en-US" dirty="0" smtClean="0">
                <a:sym typeface="Symbol" panose="05050102010706020507" pitchFamily="18" charset="2"/>
              </a:rPr>
              <a:t>.</a:t>
            </a:r>
          </a:p>
          <a:p>
            <a:pPr marL="0" indent="0">
              <a:buNone/>
            </a:pPr>
            <a:endParaRPr lang="en-US" sz="8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dirty="0" smtClean="0">
                <a:sym typeface="Symbol" panose="05050102010706020507" pitchFamily="18" charset="2"/>
              </a:rPr>
              <a:t>Slide </a:t>
            </a:r>
            <a:r>
              <a:rPr lang="en-US" dirty="0">
                <a:sym typeface="Symbol" panose="05050102010706020507" pitchFamily="18" charset="2"/>
              </a:rPr>
              <a:t>18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ym typeface="Symbol" panose="05050102010706020507" pitchFamily="18" charset="2"/>
              </a:rPr>
              <a:t>Add weak entity section – see Slide 11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ym typeface="Symbol" panose="05050102010706020507" pitchFamily="18" charset="2"/>
              </a:rPr>
              <a:t>Generalize “student” and “instructor” – see Slide 17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ym typeface="Symbol" panose="05050102010706020507" pitchFamily="18" charset="2"/>
              </a:rPr>
              <a:t>Add “semester” </a:t>
            </a:r>
            <a:r>
              <a:rPr lang="en-US" dirty="0" smtClean="0">
                <a:sym typeface="Symbol" panose="05050102010706020507" pitchFamily="18" charset="2"/>
              </a:rPr>
              <a:t>and “section number” (</a:t>
            </a:r>
            <a:r>
              <a:rPr lang="en-US" smtClean="0">
                <a:sym typeface="Symbol" panose="05050102010706020507" pitchFamily="18" charset="2"/>
              </a:rPr>
              <a:t>partial key) </a:t>
            </a:r>
            <a:r>
              <a:rPr lang="en-US">
                <a:sym typeface="Symbol" panose="05050102010706020507" pitchFamily="18" charset="2"/>
              </a:rPr>
              <a:t>to </a:t>
            </a:r>
            <a:r>
              <a:rPr lang="en-US" smtClean="0">
                <a:sym typeface="Symbol" panose="05050102010706020507" pitchFamily="18" charset="2"/>
              </a:rPr>
              <a:t>section.</a:t>
            </a:r>
            <a:endParaRPr lang="en-US" dirty="0">
              <a:sym typeface="Symbol" panose="05050102010706020507" pitchFamily="18" charset="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449" y="565541"/>
            <a:ext cx="10515600" cy="554599"/>
          </a:xfrm>
        </p:spPr>
        <p:txBody>
          <a:bodyPr>
            <a:noAutofit/>
          </a:bodyPr>
          <a:lstStyle/>
          <a:p>
            <a:r>
              <a:rPr lang="en-US" sz="3600" dirty="0"/>
              <a:t>Exercises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2608656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4DF11C0E-3738-4859-A671-C06870D63B29}"/>
              </a:ext>
            </a:extLst>
          </p:cNvPr>
          <p:cNvGrpSpPr/>
          <p:nvPr/>
        </p:nvGrpSpPr>
        <p:grpSpPr>
          <a:xfrm>
            <a:off x="1761565" y="618565"/>
            <a:ext cx="8807823" cy="5593977"/>
            <a:chOff x="1761565" y="618565"/>
            <a:chExt cx="8807823" cy="5593977"/>
          </a:xfrm>
        </p:grpSpPr>
        <p:grpSp>
          <p:nvGrpSpPr>
            <p:cNvPr id="4" name="Group 3">
              <a:extLst>
                <a:ext uri="{FF2B5EF4-FFF2-40B4-BE49-F238E27FC236}">
                  <a16:creationId xmlns="" xmlns:a16="http://schemas.microsoft.com/office/drawing/2014/main" id="{D3A35294-C0BA-4597-9B80-D21C136354EE}"/>
                </a:ext>
              </a:extLst>
            </p:cNvPr>
            <p:cNvGrpSpPr/>
            <p:nvPr/>
          </p:nvGrpSpPr>
          <p:grpSpPr>
            <a:xfrm>
              <a:off x="1761565" y="618565"/>
              <a:ext cx="8807823" cy="5593977"/>
              <a:chOff x="0" y="0"/>
              <a:chExt cx="4928235" cy="2852057"/>
            </a:xfrm>
          </p:grpSpPr>
          <p:pic>
            <p:nvPicPr>
              <p:cNvPr id="5" name="Picture 4">
                <a:extLst>
                  <a:ext uri="{FF2B5EF4-FFF2-40B4-BE49-F238E27FC236}">
                    <a16:creationId xmlns="" xmlns:a16="http://schemas.microsoft.com/office/drawing/2014/main" id="{AF1AA048-4BAD-4224-9268-1963D3A8E6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4928235" cy="2743200"/>
              </a:xfrm>
              <a:prstGeom prst="rect">
                <a:avLst/>
              </a:prstGeom>
              <a:noFill/>
            </p:spPr>
          </p:pic>
          <p:cxnSp>
            <p:nvCxnSpPr>
              <p:cNvPr id="6" name="Straight Arrow Connector 5">
                <a:extLst>
                  <a:ext uri="{FF2B5EF4-FFF2-40B4-BE49-F238E27FC236}">
                    <a16:creationId xmlns="" xmlns:a16="http://schemas.microsoft.com/office/drawing/2014/main" id="{C671C22E-64BA-470B-B2F4-80DE386EF7ED}"/>
                  </a:ext>
                </a:extLst>
              </p:cNvPr>
              <p:cNvCxnSpPr/>
              <p:nvPr/>
            </p:nvCxnSpPr>
            <p:spPr>
              <a:xfrm flipH="1" flipV="1">
                <a:off x="3118757" y="1937657"/>
                <a:ext cx="876300" cy="8636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>
                <a:extLst>
                  <a:ext uri="{FF2B5EF4-FFF2-40B4-BE49-F238E27FC236}">
                    <a16:creationId xmlns="" xmlns:a16="http://schemas.microsoft.com/office/drawing/2014/main" id="{5DBA03AF-8BCA-41F5-A639-12C0A3E953F5}"/>
                  </a:ext>
                </a:extLst>
              </p:cNvPr>
              <p:cNvCxnSpPr/>
              <p:nvPr/>
            </p:nvCxnSpPr>
            <p:spPr>
              <a:xfrm flipV="1">
                <a:off x="1491343" y="2362200"/>
                <a:ext cx="83185" cy="47625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Arrow Connector 7">
                <a:extLst>
                  <a:ext uri="{FF2B5EF4-FFF2-40B4-BE49-F238E27FC236}">
                    <a16:creationId xmlns="" xmlns:a16="http://schemas.microsoft.com/office/drawing/2014/main" id="{B06646BE-8DDA-4F5F-B9A2-32D1BC4848CC}"/>
                  </a:ext>
                </a:extLst>
              </p:cNvPr>
              <p:cNvCxnSpPr/>
              <p:nvPr/>
            </p:nvCxnSpPr>
            <p:spPr>
              <a:xfrm flipV="1">
                <a:off x="1866900" y="2318657"/>
                <a:ext cx="730250" cy="5334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" name="Straight Arrow Connector 8">
              <a:extLst>
                <a:ext uri="{FF2B5EF4-FFF2-40B4-BE49-F238E27FC236}">
                  <a16:creationId xmlns="" xmlns:a16="http://schemas.microsoft.com/office/drawing/2014/main" id="{E0038FE0-7F0C-4C05-9061-1031B96C99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10282" y="3200400"/>
              <a:ext cx="1828801" cy="10839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2978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42110"/>
            <a:ext cx="10515600" cy="5234854"/>
          </a:xfrm>
        </p:spPr>
        <p:txBody>
          <a:bodyPr/>
          <a:lstStyle/>
          <a:p>
            <a:r>
              <a:rPr lang="en-US" dirty="0"/>
              <a:t>Lecture the intro to Lab 5.</a:t>
            </a:r>
          </a:p>
          <a:p>
            <a:pPr lvl="1"/>
            <a:r>
              <a:rPr lang="en-US" dirty="0"/>
              <a:t>Up to Slide 3 of Lab 5, Slide 5 of addendum.</a:t>
            </a:r>
          </a:p>
          <a:p>
            <a:pPr lvl="1"/>
            <a:r>
              <a:rPr lang="en-US" dirty="0"/>
              <a:t>If not for long holiday, should lecture up to Slide 7 examples.</a:t>
            </a:r>
          </a:p>
          <a:p>
            <a:endParaRPr lang="en-US" dirty="0"/>
          </a:p>
          <a:p>
            <a:r>
              <a:rPr lang="en-US" dirty="0"/>
              <a:t>Long break before doing the lab after National Holiday.</a:t>
            </a:r>
          </a:p>
          <a:p>
            <a:r>
              <a:rPr lang="en-US" dirty="0"/>
              <a:t>After National Holiday but before Lab 5, you need to review the Lab 5 and Lab 5 addendum slides.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516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eamer_like">
  <a:themeElements>
    <a:clrScheme name="自定义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C2CAA"/>
      </a:accent1>
      <a:accent2>
        <a:srgbClr val="A94F0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 algn="l">
          <a:defRPr kumimoji="1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beamer_like" id="{20F149E5-FEF3-4710-82AE-E763CD58F1C4}" vid="{D2B214A1-1DDD-42F1-A099-CF5F8281926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7890</TotalTime>
  <Words>1025</Words>
  <Application>Microsoft Office PowerPoint</Application>
  <PresentationFormat>Widescreen</PresentationFormat>
  <Paragraphs>172</Paragraphs>
  <Slides>15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Adobe Heiti Std R</vt:lpstr>
      <vt:lpstr>等线</vt:lpstr>
      <vt:lpstr>Hiragino Sans GB W3</vt:lpstr>
      <vt:lpstr>Microsoft YaHei</vt:lpstr>
      <vt:lpstr>宋体</vt:lpstr>
      <vt:lpstr>Arial</vt:lpstr>
      <vt:lpstr>Calibri</vt:lpstr>
      <vt:lpstr>Calibri Light</vt:lpstr>
      <vt:lpstr>Symbol</vt:lpstr>
      <vt:lpstr>Office Theme</vt:lpstr>
      <vt:lpstr>beamer_like</vt:lpstr>
      <vt:lpstr>Database Lecture 4 Entity-Relationship  Model,  Extended Features Addendum</vt:lpstr>
      <vt:lpstr>Announcements</vt:lpstr>
      <vt:lpstr>Note on Aggregation</vt:lpstr>
      <vt:lpstr>Aggregation (slides 3-8)</vt:lpstr>
      <vt:lpstr>Aggregation (slides 3-8)</vt:lpstr>
      <vt:lpstr>Weak Entity Sets, Slides 9-11</vt:lpstr>
      <vt:lpstr>Weak Entity Sets, Slides 9-11</vt:lpstr>
      <vt:lpstr>Generalization and Specialization (Slides 12-15)</vt:lpstr>
      <vt:lpstr>Generalization and Specialization (Slides 12-15)</vt:lpstr>
      <vt:lpstr>Generalization and Specialization (Slides 12-15)</vt:lpstr>
      <vt:lpstr>Constraints on Generalization / Specialization</vt:lpstr>
      <vt:lpstr>Summary of ER Diagram Design</vt:lpstr>
      <vt:lpstr>Exercises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Addendum Chapter 1</dc:title>
  <dc:creator>j f</dc:creator>
  <cp:lastModifiedBy>Microsoft account</cp:lastModifiedBy>
  <cp:revision>776</cp:revision>
  <dcterms:created xsi:type="dcterms:W3CDTF">2021-08-02T03:54:37Z</dcterms:created>
  <dcterms:modified xsi:type="dcterms:W3CDTF">2025-10-14T13:42:30Z</dcterms:modified>
</cp:coreProperties>
</file>