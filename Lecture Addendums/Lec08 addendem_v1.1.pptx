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555" r:id="rId3"/>
    <p:sldId id="554" r:id="rId4"/>
    <p:sldId id="551" r:id="rId5"/>
    <p:sldId id="552" r:id="rId6"/>
    <p:sldId id="553" r:id="rId7"/>
    <p:sldId id="5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66CC"/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1677" autoAdjust="0"/>
  </p:normalViewPr>
  <p:slideViewPr>
    <p:cSldViewPr snapToGrid="0">
      <p:cViewPr varScale="1">
        <p:scale>
          <a:sx n="54" d="100"/>
          <a:sy n="54" d="100"/>
        </p:scale>
        <p:origin x="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Lecture 8</a:t>
            </a:r>
            <a:br>
              <a:rPr lang="en-US" dirty="0"/>
            </a:br>
            <a:r>
              <a:rPr lang="en-US" dirty="0"/>
              <a:t>Relational Design</a:t>
            </a:r>
            <a:br>
              <a:rPr lang="en-US" dirty="0"/>
            </a:br>
            <a:r>
              <a:rPr lang="en-US" dirty="0"/>
              <a:t>Purpose and Atomicity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Addendum</a:t>
            </a:r>
          </a:p>
          <a:p>
            <a:r>
              <a:rPr lang="en-US" sz="3200" dirty="0"/>
              <a:t>Dr. Jefferson Fong</a:t>
            </a:r>
          </a:p>
          <a:p>
            <a:r>
              <a:rPr lang="en-US" sz="3200"/>
              <a:t>Reference 7.1</a:t>
            </a:r>
            <a:endParaRPr lang="en-US" sz="32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3" y="215029"/>
            <a:ext cx="6061364" cy="897617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7" y="1525906"/>
            <a:ext cx="4483163" cy="40628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847426" y="1525906"/>
            <a:ext cx="5045363" cy="40805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Anyone who cannot attend at that time must apply for official excuse form in order to take the make-up test.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Closed book, no notes or any electronic devices allowed.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Bring a pen (or two) and your UIC or government issued photo ID card.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426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8235"/>
          </a:xfrm>
        </p:spPr>
        <p:txBody>
          <a:bodyPr/>
          <a:lstStyle/>
          <a:p>
            <a:r>
              <a:rPr lang="en-US" dirty="0"/>
              <a:t>Announcement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928"/>
            <a:ext cx="10515600" cy="4560036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Project</a:t>
            </a:r>
          </a:p>
          <a:p>
            <a:r>
              <a:rPr lang="en-US" dirty="0"/>
              <a:t>All requirements are in iSpace under “Project – Problem description” </a:t>
            </a:r>
          </a:p>
          <a:p>
            <a:pPr lvl="1"/>
            <a:r>
              <a:rPr lang="en-US" dirty="0"/>
              <a:t>Check the Timeline section on when tasks are due.</a:t>
            </a:r>
          </a:p>
          <a:p>
            <a:r>
              <a:rPr lang="en-US" dirty="0"/>
              <a:t>ER diagram is due on Sunday 23 Nov 11:59 pm</a:t>
            </a:r>
          </a:p>
          <a:p>
            <a:r>
              <a:rPr lang="en-US" dirty="0"/>
              <a:t>Static Webpages (html files) are due Sunday 30 Nov 11:59 pm</a:t>
            </a:r>
          </a:p>
        </p:txBody>
      </p:sp>
    </p:spTree>
    <p:extLst>
      <p:ext uri="{BB962C8B-B14F-4D97-AF65-F5344CB8AC3E}">
        <p14:creationId xmlns:p14="http://schemas.microsoft.com/office/powerpoint/2010/main" val="2825827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49ABD-3708-4ED2-983B-FB82D93F3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20"/>
                <a:ext cx="10515600" cy="5472320"/>
              </a:xfrm>
              <a:solidFill>
                <a:schemeClr val="bg1"/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Slide 2</a:t>
                </a:r>
              </a:p>
              <a:p>
                <a:r>
                  <a:rPr lang="en-US" dirty="0"/>
                  <a:t>(Short) Lecture 8 covers first 2 bullets and give an intro on FD.</a:t>
                </a:r>
              </a:p>
              <a:p>
                <a:pPr lvl="1"/>
                <a:r>
                  <a:rPr lang="en-US" dirty="0"/>
                  <a:t>Let you study for midterm exam.</a:t>
                </a:r>
              </a:p>
              <a:p>
                <a:r>
                  <a:rPr lang="en-US" dirty="0"/>
                  <a:t>(Longer) Lecture 9 covers the other bullets.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:r>
                  <a:rPr lang="en-US" dirty="0"/>
                  <a:t>Slide 4</a:t>
                </a:r>
              </a:p>
              <a:p>
                <a:r>
                  <a:rPr lang="en-US" dirty="0"/>
                  <a:t>This is solution to Lecture 6 Exercise Question 3, but missing</a:t>
                </a:r>
              </a:p>
              <a:p>
                <a:pPr marL="0" indent="0">
                  <a:buNone/>
                </a:pPr>
                <a:r>
                  <a:rPr lang="en-US" sz="2400" dirty="0"/>
                  <a:t>	enroll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𝑠𝑒𝑚</m:t>
                        </m:r>
                      </m:e>
                    </m:ba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𝑔𝑟𝑎𝑑𝑒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dirty="0"/>
              </a:p>
              <a:p>
                <a:endParaRPr lang="en-US" sz="800" dirty="0">
                  <a:ea typeface="Batang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E849ABD-3708-4ED2-983B-FB82D93F3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20"/>
                <a:ext cx="10515600" cy="5472320"/>
              </a:xfrm>
              <a:blipFill rotWithShape="0">
                <a:blip r:embed="rId2"/>
                <a:stretch>
                  <a:fillRect l="-1217" t="-17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00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49ABD-3708-4ED2-983B-FB82D93F3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6220"/>
                <a:ext cx="10515600" cy="5594450"/>
              </a:xfrm>
              <a:solidFill>
                <a:schemeClr val="bg1"/>
              </a:solidFill>
              <a:ln>
                <a:noFill/>
              </a:ln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Slide 11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Slides 5-7 show 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course_info</a:t>
                </a:r>
                <a:r>
                  <a:rPr lang="en-US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lang="en-US" dirty="0"/>
                  <a:t>is a bad schema.</a:t>
                </a:r>
              </a:p>
              <a:p>
                <a:pPr lvl="1"/>
                <a:r>
                  <a:rPr lang="en-US" dirty="0"/>
                  <a:t>How do we know </a:t>
                </a:r>
                <a:r>
                  <a:rPr lang="en-US" i="1" dirty="0" err="1"/>
                  <a:t>course_info</a:t>
                </a:r>
                <a:r>
                  <a:rPr lang="en-US" dirty="0"/>
                  <a:t> should be decomposed into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course</a:t>
                </a:r>
                <a:r>
                  <a:rPr lang="en-US" dirty="0"/>
                  <a:t> and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offer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FD:	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𝑛𝑎𝑚𝑒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→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𝑐𝑟𝑒𝑑𝑖𝑡𝑠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𝑑𝑜𝑚𝑎𝑖𝑛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,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𝑐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_</m:t>
                    </m:r>
                    <m:r>
                      <a:rPr lang="en-US" altLang="zh-CN" sz="21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  <a:sym typeface="Symbol" pitchFamily="18" charset="2"/>
                      </a:rPr>
                      <m:t>𝑛𝑢𝑚𝑏𝑒𝑟</m:t>
                    </m:r>
                  </m:oMath>
                </a14:m>
                <a:endParaRPr lang="en-US" altLang="zh-CN" dirty="0">
                  <a:ea typeface="宋体" charset="-122"/>
                  <a:sym typeface="Symbol" pitchFamily="18" charset="2"/>
                </a:endParaRPr>
              </a:p>
              <a:p>
                <a:pPr lvl="2"/>
                <a:r>
                  <a:rPr lang="en-US" dirty="0"/>
                  <a:t>Next week you will learn functional dependency.</a:t>
                </a:r>
              </a:p>
              <a:p>
                <a:pPr lvl="2"/>
                <a:r>
                  <a:rPr lang="en-US" dirty="0"/>
                  <a:t>This tells us table </a:t>
                </a:r>
                <a:r>
                  <a:rPr lang="en-US" i="1" dirty="0"/>
                  <a:t>course</a:t>
                </a:r>
                <a:r>
                  <a:rPr lang="en-US" dirty="0"/>
                  <a:t> should contains </a:t>
                </a:r>
                <a:r>
                  <a:rPr lang="en-US" i="1" dirty="0" err="1"/>
                  <a:t>c_name</a:t>
                </a:r>
                <a:r>
                  <a:rPr lang="en-US" i="1" dirty="0"/>
                  <a:t>, credit, domain </a:t>
                </a:r>
                <a:r>
                  <a:rPr lang="en-US" dirty="0"/>
                  <a:t>and </a:t>
                </a:r>
                <a:r>
                  <a:rPr lang="en-US" i="1" dirty="0" err="1"/>
                  <a:t>c_numbe</a:t>
                </a:r>
                <a:r>
                  <a:rPr lang="en-US" dirty="0" err="1"/>
                  <a:t>r</a:t>
                </a:r>
                <a:r>
                  <a:rPr lang="en-US" dirty="0"/>
                  <a:t>, with </a:t>
                </a:r>
                <a:r>
                  <a:rPr lang="en-US" i="1" dirty="0" err="1"/>
                  <a:t>p_code</a:t>
                </a:r>
                <a:r>
                  <a:rPr lang="en-US" dirty="0"/>
                  <a:t> belonging to another table. </a:t>
                </a:r>
              </a:p>
              <a:p>
                <a:pPr lvl="1"/>
                <a:r>
                  <a:rPr lang="en-US" dirty="0"/>
                  <a:t>The “</a:t>
                </a:r>
                <a:r>
                  <a:rPr lang="en-US" b="1" dirty="0">
                    <a:solidFill>
                      <a:srgbClr val="FF33CC"/>
                    </a:solidFill>
                  </a:rPr>
                  <a:t>last two examples</a:t>
                </a:r>
                <a:r>
                  <a:rPr lang="en-US" dirty="0"/>
                  <a:t>” are:</a:t>
                </a:r>
              </a:p>
              <a:p>
                <a:pPr lvl="1"/>
                <a:r>
                  <a:rPr lang="en-US" dirty="0"/>
                  <a:t>In Slide 8,	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𝑝𝑟𝑜𝑔𝑟𝑎𝑚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𝑐𝑜𝑑𝑒</m:t>
                        </m:r>
                      </m:e>
                    </m:ba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𝑑𝑖𝑣𝑖𝑠𝑖𝑜𝑛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𝑑𝑖𝑟𝑒𝑐𝑡𝑜𝑟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p_code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p_name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, division, director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lvl="2"/>
                <a:r>
                  <a:rPr lang="en-US" dirty="0">
                    <a:ea typeface="Batang" panose="02030600000101010101" pitchFamily="18" charset="-127"/>
                  </a:rPr>
                  <a:t>So </a:t>
                </a:r>
                <a:r>
                  <a:rPr lang="en-US" dirty="0" err="1">
                    <a:latin typeface="Batang" panose="02030600000101010101" pitchFamily="18" charset="-127"/>
                    <a:ea typeface="Batang" panose="02030600000101010101" pitchFamily="18" charset="-127"/>
                  </a:rPr>
                  <a:t>p_code</a:t>
                </a:r>
                <a:r>
                  <a:rPr lang="en-US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lang="en-US" dirty="0">
                    <a:ea typeface="Batang" panose="02030600000101010101" pitchFamily="18" charset="-127"/>
                  </a:rPr>
                  <a:t>is a candidate key for </a:t>
                </a:r>
                <a:r>
                  <a:rPr lang="en-US" i="1" dirty="0">
                    <a:ea typeface="Batang" panose="02030600000101010101" pitchFamily="18" charset="-127"/>
                  </a:rPr>
                  <a:t>program</a:t>
                </a:r>
                <a:r>
                  <a:rPr lang="en-US" dirty="0">
                    <a:ea typeface="Batang" panose="02030600000101010101" pitchFamily="18" charset="-127"/>
                  </a:rPr>
                  <a:t>; don’t need to decompose </a:t>
                </a:r>
                <a:r>
                  <a:rPr lang="en-US" i="1" dirty="0">
                    <a:ea typeface="Batang" panose="02030600000101010101" pitchFamily="18" charset="-127"/>
                  </a:rPr>
                  <a:t>program</a:t>
                </a:r>
                <a:r>
                  <a:rPr lang="en-US" dirty="0">
                    <a:ea typeface="Batang" panose="02030600000101010101" pitchFamily="18" charset="-127"/>
                  </a:rPr>
                  <a:t>.</a:t>
                </a:r>
              </a:p>
              <a:p>
                <a:pPr lvl="1"/>
                <a:r>
                  <a:rPr lang="en-US" dirty="0">
                    <a:ea typeface="Batang" panose="02030600000101010101" pitchFamily="18" charset="-127"/>
                  </a:rPr>
                  <a:t>In Slide 9,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𝑠𝑡𝑢𝑑𝑒𝑛𝑡𝑠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</m:e>
                    </m:ba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𝑛𝑎𝑚𝑒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𝑦𝑒𝑎𝑟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𝑔𝑝𝑎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𝑚𝑎𝑗𝑜𝑟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endParaRPr lang="en-US" dirty="0">
                  <a:ea typeface="Batang" panose="02030600000101010101" pitchFamily="18" charset="-127"/>
                </a:endParaRPr>
              </a:p>
              <a:p>
                <a:pPr lvl="2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id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s_name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, year,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gpa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, major</a:t>
                </a:r>
              </a:p>
              <a:p>
                <a:pPr lvl="2"/>
                <a:r>
                  <a:rPr lang="en-US" dirty="0">
                    <a:ea typeface="Batang" panose="02030600000101010101" pitchFamily="18" charset="-127"/>
                    <a:sym typeface="Wingdings" panose="05000000000000000000" pitchFamily="2" charset="2"/>
                  </a:rPr>
                  <a:t>So </a:t>
                </a:r>
                <a:r>
                  <a:rPr lang="en-US" dirty="0">
                    <a:latin typeface="Batang" panose="02030600000101010101" pitchFamily="18" charset="-127"/>
                    <a:ea typeface="Batang" panose="02030600000101010101" pitchFamily="18" charset="-127"/>
                    <a:sym typeface="Wingdings" panose="05000000000000000000" pitchFamily="2" charset="2"/>
                  </a:rPr>
                  <a:t>id</a:t>
                </a:r>
                <a:r>
                  <a:rPr lang="en-US" dirty="0">
                    <a:ea typeface="Batang" panose="02030600000101010101" pitchFamily="18" charset="-127"/>
                    <a:sym typeface="Wingdings" panose="05000000000000000000" pitchFamily="2" charset="2"/>
                  </a:rPr>
                  <a:t> is a candidate key for </a:t>
                </a:r>
                <a:r>
                  <a:rPr lang="en-US" i="1" dirty="0">
                    <a:ea typeface="Batang" panose="02030600000101010101" pitchFamily="18" charset="-127"/>
                    <a:sym typeface="Wingdings" panose="05000000000000000000" pitchFamily="2" charset="2"/>
                  </a:rPr>
                  <a:t>students</a:t>
                </a:r>
                <a:r>
                  <a:rPr lang="en-US" dirty="0">
                    <a:ea typeface="Batang" panose="02030600000101010101" pitchFamily="18" charset="-127"/>
                    <a:sym typeface="Wingdings" panose="05000000000000000000" pitchFamily="2" charset="2"/>
                  </a:rPr>
                  <a:t>; don’t need to decompose </a:t>
                </a:r>
                <a:r>
                  <a:rPr lang="en-US" i="1" dirty="0">
                    <a:ea typeface="Batang" panose="02030600000101010101" pitchFamily="18" charset="-127"/>
                    <a:sym typeface="Wingdings" panose="05000000000000000000" pitchFamily="2" charset="2"/>
                  </a:rPr>
                  <a:t>students</a:t>
                </a:r>
                <a:r>
                  <a:rPr lang="en-US" dirty="0">
                    <a:ea typeface="Batang" panose="02030600000101010101" pitchFamily="18" charset="-127"/>
                    <a:sym typeface="Wingdings" panose="05000000000000000000" pitchFamily="2" charset="2"/>
                  </a:rPr>
                  <a:t>.</a:t>
                </a:r>
              </a:p>
              <a:p>
                <a:pPr lvl="1"/>
                <a:r>
                  <a:rPr lang="en-US" dirty="0">
                    <a:ea typeface="Batang" panose="02030600000101010101" pitchFamily="18" charset="-127"/>
                    <a:sym typeface="Wingdings" panose="05000000000000000000" pitchFamily="2" charset="2"/>
                  </a:rPr>
                  <a:t>More in Lecture 9.</a:t>
                </a:r>
                <a:br>
                  <a:rPr lang="en-US" dirty="0"/>
                </a:br>
                <a:endParaRPr lang="en-US" dirty="0"/>
              </a:p>
              <a:p>
                <a:endParaRPr lang="en-US" sz="800" dirty="0"/>
              </a:p>
              <a:p>
                <a:pPr marL="0" indent="0">
                  <a:buNone/>
                </a:pPr>
                <a:endParaRPr lang="en-US" dirty="0">
                  <a:ea typeface="Batang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E849ABD-3708-4ED2-983B-FB82D93F3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6220"/>
                <a:ext cx="10515600" cy="5594450"/>
              </a:xfrm>
              <a:blipFill rotWithShape="0">
                <a:blip r:embed="rId2"/>
                <a:stretch>
                  <a:fillRect l="-1217" t="-23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040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9ABD-3708-4ED2-983B-FB82D93F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6220"/>
            <a:ext cx="10515600" cy="593457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13</a:t>
            </a:r>
          </a:p>
          <a:p>
            <a:r>
              <a:rPr lang="en-US" dirty="0"/>
              <a:t>In ancient Greeks philosophy, an atom is the smallest indivisible unit of matter.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14</a:t>
            </a:r>
          </a:p>
          <a:p>
            <a:r>
              <a:rPr lang="en-US" dirty="0"/>
              <a:t>If data is not atomic, need another Java or Python program to extract “CS” from “CS0012”.</a:t>
            </a:r>
          </a:p>
          <a:p>
            <a:r>
              <a:rPr lang="en-US" dirty="0"/>
              <a:t>Bad idea to require application programs to extract info rather than using SQL.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r>
              <a:rPr lang="en-US" dirty="0">
                <a:ea typeface="Batang" panose="02030600000101010101" pitchFamily="18" charset="-127"/>
              </a:rPr>
              <a:t>“Lab07b addendum.pptx” – correction to Lab07.</a:t>
            </a:r>
          </a:p>
          <a:p>
            <a:r>
              <a:rPr lang="en-US">
                <a:ea typeface="Batang" panose="02030600000101010101" pitchFamily="18" charset="-127"/>
              </a:rPr>
              <a:t>Intro to Lab 8. </a:t>
            </a:r>
            <a:endParaRPr lang="en-US" dirty="0"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983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9ABD-3708-4ED2-983B-FB82D93F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6220"/>
            <a:ext cx="10515600" cy="5934570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Lab 7b – Correct errors from </a:t>
            </a:r>
            <a:r>
              <a:rPr lang="en-US"/>
              <a:t>last lab.</a:t>
            </a:r>
            <a:endParaRPr lang="en-US" dirty="0"/>
          </a:p>
          <a:p>
            <a:pPr marL="0" indent="0">
              <a:buNone/>
            </a:pPr>
            <a:endParaRPr lang="en-US" dirty="0">
              <a:ea typeface="Batang" panose="02030600000101010101" pitchFamily="18" charset="-127"/>
            </a:endParaRPr>
          </a:p>
          <a:p>
            <a:pPr marL="0" indent="0">
              <a:buNone/>
            </a:pPr>
            <a:r>
              <a:rPr lang="en-US" dirty="0">
                <a:ea typeface="Batang" panose="02030600000101010101" pitchFamily="18" charset="-127"/>
              </a:rPr>
              <a:t>Lab 8  NULL and Subquery</a:t>
            </a:r>
          </a:p>
        </p:txBody>
      </p:sp>
    </p:spTree>
    <p:extLst>
      <p:ext uri="{BB962C8B-B14F-4D97-AF65-F5344CB8AC3E}">
        <p14:creationId xmlns:p14="http://schemas.microsoft.com/office/powerpoint/2010/main" val="1981746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8839</TotalTime>
  <Words>438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Batang</vt:lpstr>
      <vt:lpstr>宋体</vt:lpstr>
      <vt:lpstr>Arial</vt:lpstr>
      <vt:lpstr>Calibri</vt:lpstr>
      <vt:lpstr>Calibri Light</vt:lpstr>
      <vt:lpstr>Cambria Math</vt:lpstr>
      <vt:lpstr>Symbol</vt:lpstr>
      <vt:lpstr>Wingdings</vt:lpstr>
      <vt:lpstr>Office Theme</vt:lpstr>
      <vt:lpstr>Database Lecture 8 Relational Design Purpose and Atomicity</vt:lpstr>
      <vt:lpstr>Announcements</vt:lpstr>
      <vt:lpstr>Announcement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868</cp:revision>
  <dcterms:created xsi:type="dcterms:W3CDTF">2021-08-02T03:54:37Z</dcterms:created>
  <dcterms:modified xsi:type="dcterms:W3CDTF">2025-11-12T00:45:10Z</dcterms:modified>
</cp:coreProperties>
</file>