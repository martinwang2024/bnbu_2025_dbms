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64" r:id="rId4"/>
    <p:sldId id="282" r:id="rId5"/>
    <p:sldId id="281" r:id="rId6"/>
    <p:sldId id="284" r:id="rId7"/>
    <p:sldId id="286" r:id="rId8"/>
    <p:sldId id="261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60" d="100"/>
          <a:sy n="60" d="100"/>
        </p:scale>
        <p:origin x="6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Addendum</a:t>
            </a:r>
            <a:br>
              <a:rPr lang="en-US" dirty="0"/>
            </a:br>
            <a:r>
              <a:rPr lang="en-US" dirty="0"/>
              <a:t>Lecture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Jefferson Fong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35A6F-7D74-4AB4-83AF-007D5D474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50" y="2948524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0FA6F-F460-407E-B67E-40BCE39E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2014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WeCom</a:t>
            </a:r>
            <a:r>
              <a:rPr lang="en-US" dirty="0"/>
              <a:t> Group, Section 1002, 1005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E94857-87E1-49BE-AE68-6D86D140A686}"/>
              </a:ext>
            </a:extLst>
          </p:cNvPr>
          <p:cNvSpPr txBox="1">
            <a:spLocks/>
          </p:cNvSpPr>
          <p:nvPr/>
        </p:nvSpPr>
        <p:spPr>
          <a:xfrm>
            <a:off x="582069" y="1489626"/>
            <a:ext cx="5661713" cy="36365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chat group:</a:t>
            </a:r>
          </a:p>
          <a:p>
            <a:pPr lvl="1"/>
            <a:r>
              <a:rPr lang="en-US" dirty="0"/>
              <a:t>We will only answer questions that are addressed directly to us, e.g. @Jefferson</a:t>
            </a:r>
          </a:p>
          <a:p>
            <a:pPr lvl="1"/>
            <a:r>
              <a:rPr lang="en-US" dirty="0"/>
              <a:t>We will only answer during office hours or when we have time during the day</a:t>
            </a:r>
          </a:p>
          <a:p>
            <a:pPr lvl="2"/>
            <a:r>
              <a:rPr lang="en-US" dirty="0"/>
              <a:t>So don’t expect us to answer your questions immediately</a:t>
            </a:r>
          </a:p>
          <a:p>
            <a:pPr lvl="2"/>
            <a:r>
              <a:rPr lang="en-US" dirty="0"/>
              <a:t>Perhaps your classmates can answer the simple questions.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E94857-87E1-49BE-AE68-6D86D140A686}"/>
              </a:ext>
            </a:extLst>
          </p:cNvPr>
          <p:cNvSpPr txBox="1">
            <a:spLocks/>
          </p:cNvSpPr>
          <p:nvPr/>
        </p:nvSpPr>
        <p:spPr>
          <a:xfrm>
            <a:off x="582069" y="5197977"/>
            <a:ext cx="4538571" cy="69531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personal questions, contact us by email or see us in person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990358-26E2-4C3C-BAA4-5912C3ADF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635" y="1311456"/>
            <a:ext cx="4692296" cy="455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4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610E-0E1D-45B4-A588-65DA15C0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365"/>
          </a:xfrm>
        </p:spPr>
        <p:txBody>
          <a:bodyPr/>
          <a:lstStyle/>
          <a:p>
            <a:r>
              <a:rPr lang="en-US" dirty="0"/>
              <a:t>General Comments in UIC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2170C-4E58-493B-A669-D3D903B94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492"/>
            <a:ext cx="10515600" cy="4985472"/>
          </a:xfrm>
        </p:spPr>
        <p:txBody>
          <a:bodyPr>
            <a:normAutofit/>
          </a:bodyPr>
          <a:lstStyle/>
          <a:p>
            <a:r>
              <a:rPr lang="en-US" dirty="0"/>
              <a:t>Most important things you learn in UIC is </a:t>
            </a:r>
            <a:r>
              <a:rPr lang="en-US" b="1" dirty="0">
                <a:solidFill>
                  <a:srgbClr val="FF0000"/>
                </a:solidFill>
              </a:rPr>
              <a:t>how to manage your time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Time management is more important than database management or anything else we teach you in CST</a:t>
            </a:r>
          </a:p>
          <a:p>
            <a:r>
              <a:rPr lang="en-US" dirty="0"/>
              <a:t>You must decide how much time to spend on</a:t>
            </a:r>
          </a:p>
          <a:p>
            <a:pPr lvl="1"/>
            <a:r>
              <a:rPr lang="en-US" dirty="0"/>
              <a:t>Studying and doing homework</a:t>
            </a:r>
          </a:p>
          <a:p>
            <a:pPr lvl="1"/>
            <a:r>
              <a:rPr lang="en-US" dirty="0"/>
              <a:t>Activities</a:t>
            </a:r>
          </a:p>
          <a:p>
            <a:pPr lvl="2"/>
            <a:r>
              <a:rPr lang="en-US" dirty="0"/>
              <a:t>Sports, club activities, etc.</a:t>
            </a:r>
          </a:p>
          <a:p>
            <a:pPr lvl="1"/>
            <a:r>
              <a:rPr lang="en-US" dirty="0"/>
              <a:t>Social development</a:t>
            </a:r>
          </a:p>
          <a:p>
            <a:pPr lvl="2"/>
            <a:r>
              <a:rPr lang="en-US" dirty="0"/>
              <a:t>Hang out with friends, learn social skills</a:t>
            </a:r>
          </a:p>
          <a:p>
            <a:pPr lvl="1"/>
            <a:r>
              <a:rPr lang="en-US" dirty="0"/>
              <a:t>Playing with your cell phone or computer</a:t>
            </a:r>
          </a:p>
          <a:p>
            <a:r>
              <a:rPr lang="en-US" dirty="0"/>
              <a:t>Unlike high school, no one tells you when to study and play.</a:t>
            </a:r>
          </a:p>
          <a:p>
            <a:r>
              <a:rPr lang="en-US" dirty="0"/>
              <a:t>Your success in UIC, and life in general, depends on your choice.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226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Office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2826"/>
            <a:ext cx="10515600" cy="4584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T3-602-R1</a:t>
            </a:r>
            <a:endParaRPr lang="en-US" sz="800" dirty="0"/>
          </a:p>
          <a:p>
            <a:pPr marL="0" indent="0">
              <a:buNone/>
            </a:pPr>
            <a:r>
              <a:rPr lang="en-US" dirty="0"/>
              <a:t>Tue	10–11 am, 3–5 pm</a:t>
            </a:r>
          </a:p>
          <a:p>
            <a:pPr marL="0" indent="0">
              <a:buNone/>
            </a:pPr>
            <a:r>
              <a:rPr lang="en-US" dirty="0"/>
              <a:t>Wed	1–1:45, 4-5 pm</a:t>
            </a:r>
          </a:p>
          <a:p>
            <a:pPr marL="0" indent="0">
              <a:buNone/>
            </a:pPr>
            <a:r>
              <a:rPr lang="en-US" dirty="0"/>
              <a:t>Thu 	2-4:45 pm</a:t>
            </a:r>
          </a:p>
          <a:p>
            <a:pPr marL="0" indent="0">
              <a:buNone/>
            </a:pPr>
            <a:r>
              <a:rPr lang="en-US" dirty="0"/>
              <a:t>Fri	1-1:45, 4-5 pm </a:t>
            </a:r>
          </a:p>
          <a:p>
            <a:pPr marL="0" indent="0">
              <a:buNone/>
            </a:pPr>
            <a:r>
              <a:rPr lang="en-US" dirty="0"/>
              <a:t>Plus by appointments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If possible, please let me know beforehand if you come.</a:t>
            </a:r>
          </a:p>
          <a:p>
            <a:pPr lvl="1"/>
            <a:r>
              <a:rPr lang="en-US" dirty="0"/>
              <a:t>Send me a message in class </a:t>
            </a:r>
            <a:r>
              <a:rPr lang="en-US" dirty="0" err="1"/>
              <a:t>WeCom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535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66F9-FC52-40C0-925B-96E13FE9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900"/>
            <a:ext cx="10515600" cy="5714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2 Course Info</a:t>
            </a:r>
          </a:p>
          <a:p>
            <a:r>
              <a:rPr lang="en-US" dirty="0"/>
              <a:t>Textbook is in iSpace</a:t>
            </a:r>
          </a:p>
          <a:p>
            <a:endParaRPr lang="en-US" sz="900" dirty="0"/>
          </a:p>
          <a:p>
            <a:endParaRPr lang="en-US" sz="900" dirty="0"/>
          </a:p>
          <a:p>
            <a:pPr marL="0" indent="0">
              <a:buNone/>
            </a:pPr>
            <a:r>
              <a:rPr lang="en-US" dirty="0"/>
              <a:t>Slide 3 </a:t>
            </a:r>
          </a:p>
          <a:p>
            <a:r>
              <a:rPr lang="en-US" b="1" dirty="0">
                <a:solidFill>
                  <a:srgbClr val="FF0000"/>
                </a:solidFill>
              </a:rPr>
              <a:t>Tutorial</a:t>
            </a:r>
            <a:r>
              <a:rPr lang="en-US" dirty="0"/>
              <a:t> is optional</a:t>
            </a:r>
          </a:p>
          <a:p>
            <a:pPr lvl="1"/>
            <a:r>
              <a:rPr lang="en-US" dirty="0"/>
              <a:t>No new material will be presented</a:t>
            </a:r>
          </a:p>
          <a:p>
            <a:pPr lvl="1"/>
            <a:r>
              <a:rPr lang="en-US" dirty="0"/>
              <a:t>The TA can give more help on lab exercises, explanations on exercises solutions (after they are released), lectures, etc.</a:t>
            </a:r>
          </a:p>
          <a:p>
            <a:pPr lvl="1"/>
            <a:r>
              <a:rPr lang="en-US" dirty="0"/>
              <a:t>If you cannot attend the tutorial for this section, you can attend the tutorial in other sections.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445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66F9-FC52-40C0-925B-96E13FE9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900"/>
            <a:ext cx="10515600" cy="5714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Slides 7 ff. Introduction to Database</a:t>
            </a:r>
          </a:p>
          <a:p>
            <a:r>
              <a:rPr lang="en-US" dirty="0"/>
              <a:t>Reference – Chapter 1 of textbook (7</a:t>
            </a:r>
            <a:r>
              <a:rPr lang="en-US" baseline="30000" dirty="0"/>
              <a:t>th</a:t>
            </a:r>
            <a:r>
              <a:rPr lang="en-US" dirty="0"/>
              <a:t> edition)</a:t>
            </a:r>
          </a:p>
          <a:p>
            <a:pPr lvl="1"/>
            <a:r>
              <a:rPr lang="en-US" dirty="0"/>
              <a:t>See the Lecture Weekly Schedule (Slide 6), the column Readings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Slide 9 University DB Example</a:t>
            </a:r>
          </a:p>
          <a:p>
            <a:r>
              <a:rPr lang="en-US" dirty="0"/>
              <a:t>We will use this example throughout this course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Slide 10</a:t>
            </a:r>
          </a:p>
          <a:p>
            <a:r>
              <a:rPr lang="en-US" dirty="0"/>
              <a:t>Children ask Santa Clause for toys</a:t>
            </a:r>
          </a:p>
          <a:p>
            <a:r>
              <a:rPr lang="en-US" dirty="0"/>
              <a:t>Elves (Santa’s helpers) give </a:t>
            </a:r>
          </a:p>
          <a:p>
            <a:pPr lvl="1"/>
            <a:r>
              <a:rPr lang="en-US" dirty="0"/>
              <a:t>Nice children what they’ve asked of</a:t>
            </a:r>
          </a:p>
          <a:p>
            <a:pPr lvl="1"/>
            <a:r>
              <a:rPr lang="en-US" dirty="0"/>
              <a:t>Naughty children a lump of coal</a:t>
            </a:r>
          </a:p>
          <a:p>
            <a:pPr lvl="1"/>
            <a:r>
              <a:rPr lang="en-US" dirty="0"/>
              <a:t>Note the data for Toys appear in two different files.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01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66F9-FC52-40C0-925B-96E13FE9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900"/>
            <a:ext cx="10515600" cy="5714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11-14</a:t>
            </a:r>
          </a:p>
          <a:p>
            <a:r>
              <a:rPr lang="en-US" dirty="0"/>
              <a:t>More details on these later.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Slide 15-16 </a:t>
            </a:r>
          </a:p>
          <a:p>
            <a:pPr marL="0" indent="0">
              <a:buNone/>
            </a:pPr>
            <a:r>
              <a:rPr lang="en-US" dirty="0"/>
              <a:t>Database Management System (DBMS) consists of </a:t>
            </a:r>
          </a:p>
          <a:p>
            <a:pPr lvl="1"/>
            <a:r>
              <a:rPr lang="en-US" dirty="0"/>
              <a:t>Database – data that are related</a:t>
            </a:r>
          </a:p>
          <a:p>
            <a:pPr lvl="1"/>
            <a:r>
              <a:rPr lang="en-US" dirty="0"/>
              <a:t>Software that manages the DB</a:t>
            </a:r>
          </a:p>
          <a:p>
            <a:r>
              <a:rPr lang="en-US" dirty="0"/>
              <a:t>DBAP = Database Application Program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Slide 17</a:t>
            </a:r>
          </a:p>
          <a:p>
            <a:r>
              <a:rPr lang="en-US" dirty="0"/>
              <a:t>UC Berkeley!  Yeah!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47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66F9-FC52-40C0-925B-96E13FE9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900"/>
            <a:ext cx="10515600" cy="57070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 19-21</a:t>
            </a:r>
          </a:p>
          <a:p>
            <a:r>
              <a:rPr lang="en-US" dirty="0"/>
              <a:t>Oracle is king</a:t>
            </a:r>
          </a:p>
          <a:p>
            <a:r>
              <a:rPr lang="en-US" dirty="0"/>
              <a:t>MySQL and PostgreSQL are free</a:t>
            </a:r>
          </a:p>
          <a:p>
            <a:r>
              <a:rPr lang="en-US" dirty="0"/>
              <a:t>MongoDB is open source, currently the biggest open source company</a:t>
            </a:r>
          </a:p>
          <a:p>
            <a:r>
              <a:rPr lang="en-US" dirty="0"/>
              <a:t>Relational DBMS database model is most used; focus of this course</a:t>
            </a:r>
          </a:p>
          <a:p>
            <a:r>
              <a:rPr lang="en-US" dirty="0"/>
              <a:t>From 2019 onward (Slide 20-21), multi-model becoming more important.</a:t>
            </a:r>
          </a:p>
          <a:p>
            <a:pPr lvl="1"/>
            <a:r>
              <a:rPr lang="en-US" dirty="0"/>
              <a:t>Need to access databases from different companies</a:t>
            </a:r>
          </a:p>
          <a:p>
            <a:pPr lvl="1"/>
            <a:r>
              <a:rPr lang="en-US" dirty="0"/>
              <a:t>More data are unstructured or loosely structured</a:t>
            </a:r>
          </a:p>
          <a:p>
            <a:pPr marL="0" indent="0"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66531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7AC1C5F-11C3-4140-A137-AEEE3295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 XAMPP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66F9-FC52-40C0-925B-96E13FE9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680" y="1179496"/>
            <a:ext cx="10710119" cy="2305825"/>
          </a:xfrm>
        </p:spPr>
        <p:txBody>
          <a:bodyPr>
            <a:normAutofit/>
          </a:bodyPr>
          <a:lstStyle/>
          <a:p>
            <a:r>
              <a:rPr lang="en-US" dirty="0"/>
              <a:t>Before next lab, try to install XAMPP in your computer. </a:t>
            </a:r>
          </a:p>
          <a:p>
            <a:pPr lvl="1"/>
            <a:r>
              <a:rPr lang="en-US" dirty="0"/>
              <a:t>In iSpace, see “For Students” &gt; Labs &gt; XAMPP Installation</a:t>
            </a:r>
          </a:p>
          <a:p>
            <a:pPr lvl="1"/>
            <a:r>
              <a:rPr lang="en-US" dirty="0"/>
              <a:t>We’ve done something similar in SWDW last semester.</a:t>
            </a:r>
          </a:p>
          <a:p>
            <a:pPr lvl="1"/>
            <a:r>
              <a:rPr lang="en-US" dirty="0"/>
              <a:t>Installation notes from SWDW are in “Section 1002/1005 Specific &gt; </a:t>
            </a:r>
            <a:r>
              <a:rPr lang="en-US" dirty="0" err="1"/>
              <a:t>Etc</a:t>
            </a:r>
            <a:r>
              <a:rPr lang="en-US" dirty="0"/>
              <a:t>”, but the XAMPP Installation link here should have enough info.</a:t>
            </a: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9A0990-8915-4E82-8CA6-10B69BC87E12}"/>
              </a:ext>
            </a:extLst>
          </p:cNvPr>
          <p:cNvSpPr txBox="1">
            <a:spLocks/>
          </p:cNvSpPr>
          <p:nvPr/>
        </p:nvSpPr>
        <p:spPr>
          <a:xfrm>
            <a:off x="607713" y="3942808"/>
            <a:ext cx="10519312" cy="2314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use XAMPP in the lab computers, but …</a:t>
            </a:r>
          </a:p>
          <a:p>
            <a:r>
              <a:rPr lang="en-US" dirty="0"/>
              <a:t>Advantages in using XAMPP in your own computer:</a:t>
            </a:r>
          </a:p>
          <a:p>
            <a:pPr lvl="1"/>
            <a:r>
              <a:rPr lang="en-US" dirty="0"/>
              <a:t>You can use it in your dorm.</a:t>
            </a:r>
          </a:p>
          <a:p>
            <a:pPr lvl="1"/>
            <a:r>
              <a:rPr lang="en-US" dirty="0"/>
              <a:t>Someone might mess up the settings and DB’s in the lab computers; they can’t mess up those in your own computer.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sz="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93984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587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Database Addendum Lecture 1</vt:lpstr>
      <vt:lpstr>Class WeCom Group, Section 1002, 1005</vt:lpstr>
      <vt:lpstr>General Comments in UIC</vt:lpstr>
      <vt:lpstr>Tentative Office Hours</vt:lpstr>
      <vt:lpstr>PowerPoint Presentation</vt:lpstr>
      <vt:lpstr>PowerPoint Presentation</vt:lpstr>
      <vt:lpstr>PowerPoint Presentation</vt:lpstr>
      <vt:lpstr>PowerPoint Presentation</vt:lpstr>
      <vt:lpstr>Install XAMPP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UIC</cp:lastModifiedBy>
  <cp:revision>102</cp:revision>
  <dcterms:created xsi:type="dcterms:W3CDTF">2021-08-02T03:54:37Z</dcterms:created>
  <dcterms:modified xsi:type="dcterms:W3CDTF">2025-09-09T03:27:45Z</dcterms:modified>
</cp:coreProperties>
</file>