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3" r:id="rId1"/>
  </p:sldMasterIdLst>
  <p:notesMasterIdLst>
    <p:notesMasterId r:id="rId22"/>
  </p:notesMasterIdLst>
  <p:handoutMasterIdLst>
    <p:handoutMasterId r:id="rId23"/>
  </p:handoutMasterIdLst>
  <p:sldIdLst>
    <p:sldId id="359" r:id="rId2"/>
    <p:sldId id="415" r:id="rId3"/>
    <p:sldId id="549" r:id="rId4"/>
    <p:sldId id="550" r:id="rId5"/>
    <p:sldId id="551" r:id="rId6"/>
    <p:sldId id="552" r:id="rId7"/>
    <p:sldId id="553" r:id="rId8"/>
    <p:sldId id="554" r:id="rId9"/>
    <p:sldId id="555" r:id="rId10"/>
    <p:sldId id="556" r:id="rId11"/>
    <p:sldId id="557" r:id="rId12"/>
    <p:sldId id="558" r:id="rId13"/>
    <p:sldId id="559" r:id="rId14"/>
    <p:sldId id="560" r:id="rId15"/>
    <p:sldId id="561" r:id="rId16"/>
    <p:sldId id="562" r:id="rId17"/>
    <p:sldId id="563" r:id="rId18"/>
    <p:sldId id="564" r:id="rId19"/>
    <p:sldId id="565" r:id="rId20"/>
    <p:sldId id="548" r:id="rId21"/>
  </p:sldIdLst>
  <p:sldSz cx="9144000" cy="6858000" type="screen4x3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0D19B48-831F-4E6B-AF3B-4F992F4541F9}">
          <p14:sldIdLst>
            <p14:sldId id="359"/>
            <p14:sldId id="415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70">
          <p15:clr>
            <a:srgbClr val="A4A3A4"/>
          </p15:clr>
        </p15:guide>
        <p15:guide id="2" pos="5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9" autoAdjust="0"/>
    <p:restoredTop sz="94675" autoAdjust="0"/>
  </p:normalViewPr>
  <p:slideViewPr>
    <p:cSldViewPr snapToGrid="0">
      <p:cViewPr varScale="1">
        <p:scale>
          <a:sx n="106" d="100"/>
          <a:sy n="106" d="100"/>
        </p:scale>
        <p:origin x="1884" y="78"/>
      </p:cViewPr>
      <p:guideLst>
        <p:guide orient="horz" pos="770"/>
        <p:guide pos="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8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80538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66698023-D9D3-402A-A05D-A6BC1BC77B9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3017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41363"/>
            <a:ext cx="4937125" cy="3703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691063"/>
            <a:ext cx="4987925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2125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2125"/>
            <a:ext cx="2946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300"/>
            </a:lvl1pPr>
          </a:lstStyle>
          <a:p>
            <a:pPr>
              <a:defRPr/>
            </a:pPr>
            <a:fld id="{5FBFA51E-237C-4FFD-AE50-83DCAB7B2F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3158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 defTabSz="931863">
              <a:defRPr sz="1600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09473B1B-9752-4C70-9A68-EEEE781A15AF}" type="slidenum">
              <a:rPr lang="zh-CN" altLang="en-US" sz="1300" smtClean="0"/>
              <a:pPr/>
              <a:t>1</a:t>
            </a:fld>
            <a:endParaRPr lang="en-US" altLang="zh-CN" sz="13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BFA51E-237C-4FFD-AE50-83DCAB7B2FE5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232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4424" y="2983971"/>
            <a:ext cx="6858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609597" y="1402663"/>
            <a:ext cx="7890933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579813"/>
            <a:ext cx="6858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0954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32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600200"/>
            <a:ext cx="78867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308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6542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435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00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810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62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6219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874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193800"/>
            <a:ext cx="78867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0"/>
            <a:ext cx="9144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666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35327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306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3033000" y="6637867"/>
            <a:ext cx="306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ER Model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6084000" y="6637866"/>
            <a:ext cx="306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8515350" y="6637865"/>
            <a:ext cx="546380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492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Lecture 4  Entity-Relationship Model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Extended Features</a:t>
            </a:r>
          </a:p>
        </p:txBody>
      </p:sp>
      <p:sp>
        <p:nvSpPr>
          <p:cNvPr id="15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88D2D146-5119-4577-A4BC-340452CA9BEB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36E5037D-9A5A-4CB2-9274-4A92E9FA5ECC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12">
            <a:hlinkClick r:id="rId5" action="ppaction://hlinksldjump"/>
            <a:extLst>
              <a:ext uri="{FF2B5EF4-FFF2-40B4-BE49-F238E27FC236}">
                <a16:creationId xmlns:a16="http://schemas.microsoft.com/office/drawing/2014/main" id="{1C413CA7-524A-478A-A1C9-5C4C791FCC0E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740F5-F720-490F-80FB-2FD6E2FC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1294B-3791-470A-80CF-91F15D80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410456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charset="-122"/>
              </a:rPr>
              <a:t>Aggregation</a:t>
            </a:r>
          </a:p>
          <a:p>
            <a:r>
              <a:rPr lang="en-US" altLang="zh-CN" dirty="0">
                <a:ea typeface="宋体" charset="-122"/>
              </a:rPr>
              <a:t>Weak Entity Sets</a:t>
            </a:r>
          </a:p>
          <a:p>
            <a:r>
              <a:rPr lang="en-US" altLang="zh-CN" dirty="0">
                <a:ea typeface="宋体" charset="-122"/>
              </a:rPr>
              <a:t>Generalization and Specialization</a:t>
            </a:r>
          </a:p>
        </p:txBody>
      </p:sp>
      <p:sp>
        <p:nvSpPr>
          <p:cNvPr id="4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BACE1D96-3908-465D-99EA-0FB8A070A3A3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BD83E3A7-56AE-4320-9ECC-B444608F03ED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6F6D04FE-6FE9-4FA4-BCCD-10E71F5A83BB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98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F4E3-1CA7-46BB-8C11-48986CAF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BC4F6-DCF3-409B-851B-3ED3A787E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last lecture, we saw the example to constraint ternary relationship sets.</a:t>
            </a:r>
          </a:p>
          <a:p>
            <a:r>
              <a:rPr lang="en-US" dirty="0"/>
              <a:t>But there were some constraints which were not discussed.</a:t>
            </a:r>
          </a:p>
          <a:p>
            <a:r>
              <a:rPr lang="en-US" dirty="0"/>
              <a:t>Recall the ternary relationship set and the constraints.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course is instructed by at most one instructor. 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instructor can instruct at most one course.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student is associated with at most one combination of instructors and courses.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07E0AC-A234-474A-8EEF-F6B8945B5432}"/>
              </a:ext>
            </a:extLst>
          </p:cNvPr>
          <p:cNvGrpSpPr/>
          <p:nvPr/>
        </p:nvGrpSpPr>
        <p:grpSpPr>
          <a:xfrm>
            <a:off x="2661835" y="4415474"/>
            <a:ext cx="3820329" cy="1306782"/>
            <a:chOff x="2661835" y="2122218"/>
            <a:chExt cx="3820329" cy="130678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B5C3AA5-D2AD-401E-944D-6E3D8E1CE775}"/>
                </a:ext>
              </a:extLst>
            </p:cNvPr>
            <p:cNvGrpSpPr/>
            <p:nvPr/>
          </p:nvGrpSpPr>
          <p:grpSpPr>
            <a:xfrm>
              <a:off x="2661835" y="2122218"/>
              <a:ext cx="3820329" cy="768596"/>
              <a:chOff x="3160692" y="3044701"/>
              <a:chExt cx="3820329" cy="768596"/>
            </a:xfrm>
          </p:grpSpPr>
          <p:sp>
            <p:nvSpPr>
              <p:cNvPr id="8" name="矩形 3">
                <a:extLst>
                  <a:ext uri="{FF2B5EF4-FFF2-40B4-BE49-F238E27FC236}">
                    <a16:creationId xmlns:a16="http://schemas.microsoft.com/office/drawing/2014/main" id="{32E906CB-827B-4915-9E3D-95BE791F67EF}"/>
                  </a:ext>
                </a:extLst>
              </p:cNvPr>
              <p:cNvSpPr/>
              <p:nvPr/>
            </p:nvSpPr>
            <p:spPr>
              <a:xfrm>
                <a:off x="3160692" y="3275111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student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矩形 3">
                <a:extLst>
                  <a:ext uri="{FF2B5EF4-FFF2-40B4-BE49-F238E27FC236}">
                    <a16:creationId xmlns:a16="http://schemas.microsoft.com/office/drawing/2014/main" id="{2F2E904A-BDC8-49AC-8C8C-E96014E01EBB}"/>
                  </a:ext>
                </a:extLst>
              </p:cNvPr>
              <p:cNvSpPr/>
              <p:nvPr/>
            </p:nvSpPr>
            <p:spPr>
              <a:xfrm>
                <a:off x="6050238" y="3275111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" name="组合 6">
                <a:extLst>
                  <a:ext uri="{FF2B5EF4-FFF2-40B4-BE49-F238E27FC236}">
                    <a16:creationId xmlns:a16="http://schemas.microsoft.com/office/drawing/2014/main" id="{DA57A4C3-7EA8-4DE3-8AFD-3E19AA68A793}"/>
                  </a:ext>
                </a:extLst>
              </p:cNvPr>
              <p:cNvGrpSpPr/>
              <p:nvPr/>
            </p:nvGrpSpPr>
            <p:grpSpPr>
              <a:xfrm>
                <a:off x="4697923" y="3044701"/>
                <a:ext cx="768596" cy="768596"/>
                <a:chOff x="3920969" y="4874243"/>
                <a:chExt cx="824886" cy="824886"/>
              </a:xfrm>
            </p:grpSpPr>
            <p:sp>
              <p:nvSpPr>
                <p:cNvPr id="13" name="菱形 4">
                  <a:extLst>
                    <a:ext uri="{FF2B5EF4-FFF2-40B4-BE49-F238E27FC236}">
                      <a16:creationId xmlns:a16="http://schemas.microsoft.com/office/drawing/2014/main" id="{98E1EBA2-6ACC-4712-AD75-35C22D12F9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20969" y="4874243"/>
                  <a:ext cx="824886" cy="824886"/>
                </a:xfrm>
                <a:prstGeom prst="diamond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noAutofit/>
                </a:bodyPr>
                <a:lstStyle/>
                <a:p>
                  <a:pPr algn="ctr">
                    <a:lnSpc>
                      <a:spcPct val="50000"/>
                    </a:lnSpc>
                  </a:pPr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文本框 5">
                  <a:extLst>
                    <a:ext uri="{FF2B5EF4-FFF2-40B4-BE49-F238E27FC236}">
                      <a16:creationId xmlns:a16="http://schemas.microsoft.com/office/drawing/2014/main" id="{A3C0A29A-1AB4-48A0-974A-0028B72E17D7}"/>
                    </a:ext>
                  </a:extLst>
                </p:cNvPr>
                <p:cNvSpPr txBox="1"/>
                <p:nvPr/>
              </p:nvSpPr>
              <p:spPr>
                <a:xfrm>
                  <a:off x="3998421" y="5115634"/>
                  <a:ext cx="667861" cy="330318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:r>
                    <a:rPr kumimoji="1" lang="en-US" altLang="zh-CN" sz="14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enroll</a:t>
                  </a:r>
                  <a:endParaRPr kumimoji="1" lang="zh-CN" altLang="en-US" sz="14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920E374-7093-4DD1-88F0-93EE7837EF64}"/>
                  </a:ext>
                </a:extLst>
              </p:cNvPr>
              <p:cNvCxnSpPr>
                <a:stCxn id="8" idx="3"/>
                <a:endCxn id="13" idx="1"/>
              </p:cNvCxnSpPr>
              <p:nvPr/>
            </p:nvCxnSpPr>
            <p:spPr>
              <a:xfrm flipV="1">
                <a:off x="4091475" y="3428999"/>
                <a:ext cx="606448" cy="1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head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B69BA9C-6EF1-4D92-8535-F763A7F9D395}"/>
                  </a:ext>
                </a:extLst>
              </p:cNvPr>
              <p:cNvCxnSpPr>
                <a:stCxn id="13" idx="3"/>
                <a:endCxn id="9" idx="1"/>
              </p:cNvCxnSpPr>
              <p:nvPr/>
            </p:nvCxnSpPr>
            <p:spPr>
              <a:xfrm>
                <a:off x="5466519" y="3428999"/>
                <a:ext cx="583719" cy="1"/>
              </a:xfrm>
              <a:prstGeom prst="line">
                <a:avLst/>
              </a:prstGeom>
              <a:ln w="15875" cmpd="sng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FF39A81F-2DAD-4E4B-B499-BEA33ADE48F9}"/>
                </a:ext>
              </a:extLst>
            </p:cNvPr>
            <p:cNvSpPr/>
            <p:nvPr/>
          </p:nvSpPr>
          <p:spPr>
            <a:xfrm>
              <a:off x="4076348" y="3121223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4BDEBFB-C709-4548-8958-E618BB1CEA2C}"/>
                </a:ext>
              </a:extLst>
            </p:cNvPr>
            <p:cNvCxnSpPr>
              <a:stCxn id="13" idx="2"/>
              <a:endCxn id="6" idx="0"/>
            </p:cNvCxnSpPr>
            <p:nvPr/>
          </p:nvCxnSpPr>
          <p:spPr>
            <a:xfrm>
              <a:off x="4583364" y="2890814"/>
              <a:ext cx="0" cy="230409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1106EADA-F21E-4044-94B5-582D2EA408CB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73BF6B8E-78B8-4E38-987C-EC6A971CEAED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5EF02EEC-6ADB-47FD-BA94-ED1E076A0DA8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00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F4E3-1CA7-46BB-8C11-48986CAF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BC4F6-DCF3-409B-851B-3ED3A787E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097215"/>
          </a:xfrm>
        </p:spPr>
        <p:txBody>
          <a:bodyPr/>
          <a:lstStyle/>
          <a:p>
            <a:r>
              <a:rPr lang="en-US" dirty="0"/>
              <a:t>The difficulty in this example is that the ER diagram wants to express two types of constraints at the same time,</a:t>
            </a:r>
          </a:p>
          <a:p>
            <a:pPr lvl="1"/>
            <a:r>
              <a:rPr lang="en-US" dirty="0"/>
              <a:t>a constraint between two entity sets in a multi-</a:t>
            </a:r>
            <a:r>
              <a:rPr lang="en-US" dirty="0" err="1"/>
              <a:t>ary</a:t>
            </a:r>
            <a:r>
              <a:rPr lang="en-US" dirty="0"/>
              <a:t> relationship set, and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constraint between a</a:t>
            </a:r>
            <a:r>
              <a:rPr lang="en-US" dirty="0"/>
              <a:t>n entity set and a combination of multiple entity sets.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handle this issue, ER diagrams </a:t>
            </a:r>
            <a:r>
              <a:rPr lang="en-US" dirty="0"/>
              <a:t>use </a:t>
            </a:r>
            <a:r>
              <a:rPr lang="en-US" b="1" i="1" dirty="0"/>
              <a:t>aggregations</a:t>
            </a:r>
            <a:r>
              <a:rPr lang="en-US" dirty="0"/>
              <a:t>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Treat relationship as an abstract entity.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Allows relationships between relationships.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Abstraction of relationship into new entity.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Back to the example, the following design is much </a:t>
            </a:r>
            <a:r>
              <a:rPr lang="en-US" altLang="zh-CN" dirty="0"/>
              <a:t>better.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68C3B90-36B5-41E1-982A-4A04C683D11C}"/>
              </a:ext>
            </a:extLst>
          </p:cNvPr>
          <p:cNvGrpSpPr/>
          <p:nvPr/>
        </p:nvGrpSpPr>
        <p:grpSpPr>
          <a:xfrm>
            <a:off x="1047262" y="4974424"/>
            <a:ext cx="6979249" cy="1445982"/>
            <a:chOff x="2141820" y="4999048"/>
            <a:chExt cx="6979249" cy="144598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9753F08-8B21-4D46-A424-5A04498F42E9}"/>
                </a:ext>
              </a:extLst>
            </p:cNvPr>
            <p:cNvSpPr txBox="1"/>
            <p:nvPr/>
          </p:nvSpPr>
          <p:spPr>
            <a:xfrm>
              <a:off x="6666551" y="5068076"/>
              <a:ext cx="2454518" cy="369332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algn="l"/>
              <a:r>
                <a:rPr kumimoji="1"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abstract entity set</a:t>
              </a: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22F4D2F-7475-4526-820A-4D625C00901E}"/>
                </a:ext>
              </a:extLst>
            </p:cNvPr>
            <p:cNvSpPr/>
            <p:nvPr/>
          </p:nvSpPr>
          <p:spPr>
            <a:xfrm flipH="1">
              <a:off x="6678421" y="5498245"/>
              <a:ext cx="1221935" cy="218303"/>
            </a:xfrm>
            <a:custGeom>
              <a:avLst/>
              <a:gdLst>
                <a:gd name="connsiteX0" fmla="*/ 31099 w 1379839"/>
                <a:gd name="connsiteY0" fmla="*/ 0 h 218303"/>
                <a:gd name="connsiteX1" fmla="*/ 175879 w 1379839"/>
                <a:gd name="connsiteY1" fmla="*/ 190500 h 218303"/>
                <a:gd name="connsiteX2" fmla="*/ 1379839 w 1379839"/>
                <a:gd name="connsiteY2" fmla="*/ 213360 h 218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9839" h="218303">
                  <a:moveTo>
                    <a:pt x="31099" y="0"/>
                  </a:moveTo>
                  <a:cubicBezTo>
                    <a:pt x="-8906" y="77470"/>
                    <a:pt x="-48911" y="154940"/>
                    <a:pt x="175879" y="190500"/>
                  </a:cubicBezTo>
                  <a:cubicBezTo>
                    <a:pt x="400669" y="226060"/>
                    <a:pt x="890254" y="219710"/>
                    <a:pt x="1379839" y="21336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stealth" w="lg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251200"/>
                        <a:gd name="connsiteY0" fmla="*/ 276159 h 276159"/>
                        <a:gd name="connsiteX1" fmla="*/ 1778000 w 3251200"/>
                        <a:gd name="connsiteY1" fmla="*/ 388 h 276159"/>
                        <a:gd name="connsiteX2" fmla="*/ 3251200 w 3251200"/>
                        <a:gd name="connsiteY2" fmla="*/ 210845 h 276159"/>
                        <a:gd name="connsiteX3" fmla="*/ 3251200 w 3251200"/>
                        <a:gd name="connsiteY3" fmla="*/ 210845 h 2761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251200" h="276159" extrusionOk="0">
                          <a:moveTo>
                            <a:pt x="0" y="276159"/>
                          </a:moveTo>
                          <a:cubicBezTo>
                            <a:pt x="525781" y="86793"/>
                            <a:pt x="1222218" y="16496"/>
                            <a:pt x="1778000" y="388"/>
                          </a:cubicBezTo>
                          <a:cubicBezTo>
                            <a:pt x="2319868" y="-10498"/>
                            <a:pt x="3251199" y="210845"/>
                            <a:pt x="3251200" y="210845"/>
                          </a:cubicBezTo>
                          <a:lnTo>
                            <a:pt x="3251200" y="210845"/>
                          </a:ln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8B92CC5-BE15-4057-B5F7-E6C95C05315D}"/>
                </a:ext>
              </a:extLst>
            </p:cNvPr>
            <p:cNvGrpSpPr/>
            <p:nvPr/>
          </p:nvGrpSpPr>
          <p:grpSpPr>
            <a:xfrm>
              <a:off x="2141820" y="4999048"/>
              <a:ext cx="4398213" cy="1445982"/>
              <a:chOff x="3453825" y="4979901"/>
              <a:chExt cx="4398213" cy="1445982"/>
            </a:xfrm>
          </p:grpSpPr>
          <p:sp>
            <p:nvSpPr>
              <p:cNvPr id="30" name="矩形 3">
                <a:extLst>
                  <a:ext uri="{FF2B5EF4-FFF2-40B4-BE49-F238E27FC236}">
                    <a16:creationId xmlns:a16="http://schemas.microsoft.com/office/drawing/2014/main" id="{1E90DD08-07E4-4B5D-A6F7-4B81993BF71C}"/>
                  </a:ext>
                </a:extLst>
              </p:cNvPr>
              <p:cNvSpPr/>
              <p:nvPr/>
            </p:nvSpPr>
            <p:spPr>
              <a:xfrm>
                <a:off x="3453825" y="5549378"/>
                <a:ext cx="1005725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student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矩形 3">
                <a:extLst>
                  <a:ext uri="{FF2B5EF4-FFF2-40B4-BE49-F238E27FC236}">
                    <a16:creationId xmlns:a16="http://schemas.microsoft.com/office/drawing/2014/main" id="{871D54EC-40AD-4FDE-B3CE-588B4C99790D}"/>
                  </a:ext>
                </a:extLst>
              </p:cNvPr>
              <p:cNvSpPr/>
              <p:nvPr/>
            </p:nvSpPr>
            <p:spPr>
              <a:xfrm>
                <a:off x="6766521" y="5071401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course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" name="组合 6">
                <a:extLst>
                  <a:ext uri="{FF2B5EF4-FFF2-40B4-BE49-F238E27FC236}">
                    <a16:creationId xmlns:a16="http://schemas.microsoft.com/office/drawing/2014/main" id="{F39753EB-2F59-4EED-B46F-0B9DE29E2469}"/>
                  </a:ext>
                </a:extLst>
              </p:cNvPr>
              <p:cNvGrpSpPr/>
              <p:nvPr/>
            </p:nvGrpSpPr>
            <p:grpSpPr>
              <a:xfrm>
                <a:off x="5933161" y="5318594"/>
                <a:ext cx="768596" cy="768596"/>
                <a:chOff x="3920969" y="4874243"/>
                <a:chExt cx="824886" cy="824886"/>
              </a:xfrm>
            </p:grpSpPr>
            <p:sp>
              <p:nvSpPr>
                <p:cNvPr id="35" name="菱形 4">
                  <a:extLst>
                    <a:ext uri="{FF2B5EF4-FFF2-40B4-BE49-F238E27FC236}">
                      <a16:creationId xmlns:a16="http://schemas.microsoft.com/office/drawing/2014/main" id="{89BDBC94-4634-44EB-8EBC-B68F3E68AF2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20969" y="4874243"/>
                  <a:ext cx="824886" cy="824886"/>
                </a:xfrm>
                <a:prstGeom prst="diamond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noAutofit/>
                </a:bodyPr>
                <a:lstStyle/>
                <a:p>
                  <a:pPr algn="ctr">
                    <a:lnSpc>
                      <a:spcPct val="50000"/>
                    </a:lnSpc>
                  </a:pPr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文本框 5">
                  <a:extLst>
                    <a:ext uri="{FF2B5EF4-FFF2-40B4-BE49-F238E27FC236}">
                      <a16:creationId xmlns:a16="http://schemas.microsoft.com/office/drawing/2014/main" id="{DD2234D9-1A96-4195-A0EF-612C6B31EB3D}"/>
                    </a:ext>
                  </a:extLst>
                </p:cNvPr>
                <p:cNvSpPr txBox="1"/>
                <p:nvPr/>
              </p:nvSpPr>
              <p:spPr>
                <a:xfrm>
                  <a:off x="3998421" y="5115634"/>
                  <a:ext cx="667861" cy="330318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:r>
                    <a:rPr kumimoji="1" lang="en-US" altLang="zh-CN" sz="14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teach</a:t>
                  </a:r>
                  <a:endParaRPr kumimoji="1" lang="zh-CN" altLang="en-US" sz="14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8" name="矩形 3">
                <a:extLst>
                  <a:ext uri="{FF2B5EF4-FFF2-40B4-BE49-F238E27FC236}">
                    <a16:creationId xmlns:a16="http://schemas.microsoft.com/office/drawing/2014/main" id="{448F6ADF-1161-4824-BFEF-333668DC94C6}"/>
                  </a:ext>
                </a:extLst>
              </p:cNvPr>
              <p:cNvSpPr/>
              <p:nvPr/>
            </p:nvSpPr>
            <p:spPr>
              <a:xfrm>
                <a:off x="6766521" y="6030645"/>
                <a:ext cx="101403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instructor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8" name="组合 6">
                <a:extLst>
                  <a:ext uri="{FF2B5EF4-FFF2-40B4-BE49-F238E27FC236}">
                    <a16:creationId xmlns:a16="http://schemas.microsoft.com/office/drawing/2014/main" id="{DCC3C87B-79A3-4BEA-843D-7CAE5A67D4B7}"/>
                  </a:ext>
                </a:extLst>
              </p:cNvPr>
              <p:cNvGrpSpPr/>
              <p:nvPr/>
            </p:nvGrpSpPr>
            <p:grpSpPr>
              <a:xfrm>
                <a:off x="4803037" y="5319452"/>
                <a:ext cx="768596" cy="768596"/>
                <a:chOff x="3920969" y="4874243"/>
                <a:chExt cx="824886" cy="824886"/>
              </a:xfrm>
            </p:grpSpPr>
            <p:sp>
              <p:nvSpPr>
                <p:cNvPr id="39" name="菱形 4">
                  <a:extLst>
                    <a:ext uri="{FF2B5EF4-FFF2-40B4-BE49-F238E27FC236}">
                      <a16:creationId xmlns:a16="http://schemas.microsoft.com/office/drawing/2014/main" id="{47427B88-2E59-40D8-8F37-BD156E9EE06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20969" y="4874243"/>
                  <a:ext cx="824886" cy="824886"/>
                </a:xfrm>
                <a:prstGeom prst="diamond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noAutofit/>
                </a:bodyPr>
                <a:lstStyle/>
                <a:p>
                  <a:pPr algn="ctr">
                    <a:lnSpc>
                      <a:spcPct val="50000"/>
                    </a:lnSpc>
                  </a:pPr>
                  <a:endParaRPr lang="zh-CN" altLang="en-US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文本框 5">
                  <a:extLst>
                    <a:ext uri="{FF2B5EF4-FFF2-40B4-BE49-F238E27FC236}">
                      <a16:creationId xmlns:a16="http://schemas.microsoft.com/office/drawing/2014/main" id="{028D18B3-8BFD-48FD-B3FF-53B0B30C5E63}"/>
                    </a:ext>
                  </a:extLst>
                </p:cNvPr>
                <p:cNvSpPr txBox="1"/>
                <p:nvPr/>
              </p:nvSpPr>
              <p:spPr>
                <a:xfrm>
                  <a:off x="3998421" y="5115634"/>
                  <a:ext cx="667861" cy="330318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wrap="none" lIns="91440" tIns="45720" rIns="91440" bIns="45720" rtlCol="0" anchor="ctr">
                  <a:spAutoFit/>
                </a:bodyPr>
                <a:lstStyle/>
                <a:p>
                  <a:pPr algn="l"/>
                  <a:r>
                    <a:rPr kumimoji="1" lang="en-US" altLang="zh-CN" sz="14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enroll</a:t>
                  </a:r>
                  <a:endParaRPr kumimoji="1" lang="zh-CN" altLang="en-US" sz="14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0353803-4D65-4F32-B93F-E032C325F375}"/>
                  </a:ext>
                </a:extLst>
              </p:cNvPr>
              <p:cNvSpPr/>
              <p:nvPr/>
            </p:nvSpPr>
            <p:spPr>
              <a:xfrm>
                <a:off x="5915120" y="4979901"/>
                <a:ext cx="1936918" cy="144598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3251200"/>
                          <a:gd name="connsiteY0" fmla="*/ 276159 h 276159"/>
                          <a:gd name="connsiteX1" fmla="*/ 1778000 w 3251200"/>
                          <a:gd name="connsiteY1" fmla="*/ 388 h 276159"/>
                          <a:gd name="connsiteX2" fmla="*/ 3251200 w 3251200"/>
                          <a:gd name="connsiteY2" fmla="*/ 210845 h 276159"/>
                          <a:gd name="connsiteX3" fmla="*/ 3251200 w 3251200"/>
                          <a:gd name="connsiteY3" fmla="*/ 210845 h 2761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3251200" h="276159" extrusionOk="0">
                            <a:moveTo>
                              <a:pt x="0" y="276159"/>
                            </a:moveTo>
                            <a:cubicBezTo>
                              <a:pt x="525781" y="86793"/>
                              <a:pt x="1222218" y="16496"/>
                              <a:pt x="1778000" y="388"/>
                            </a:cubicBezTo>
                            <a:cubicBezTo>
                              <a:pt x="2319868" y="-10498"/>
                              <a:pt x="3251199" y="210845"/>
                              <a:pt x="3251200" y="210845"/>
                            </a:cubicBezTo>
                            <a:lnTo>
                              <a:pt x="3251200" y="210845"/>
                            </a:lnTo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Connector: Elbow 60">
                <a:extLst>
                  <a:ext uri="{FF2B5EF4-FFF2-40B4-BE49-F238E27FC236}">
                    <a16:creationId xmlns:a16="http://schemas.microsoft.com/office/drawing/2014/main" id="{3E54101A-D3EC-4759-891E-BCFACC5C1DD7}"/>
                  </a:ext>
                </a:extLst>
              </p:cNvPr>
              <p:cNvCxnSpPr>
                <a:stCxn id="35" idx="0"/>
                <a:endCxn id="31" idx="1"/>
              </p:cNvCxnSpPr>
              <p:nvPr/>
            </p:nvCxnSpPr>
            <p:spPr>
              <a:xfrm rot="5400000" flipH="1" flipV="1">
                <a:off x="6495338" y="5047411"/>
                <a:ext cx="93304" cy="449062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nector: Elbow 62">
                <a:extLst>
                  <a:ext uri="{FF2B5EF4-FFF2-40B4-BE49-F238E27FC236}">
                    <a16:creationId xmlns:a16="http://schemas.microsoft.com/office/drawing/2014/main" id="{8D4C8623-0F5D-47FE-9F52-9D1D14ABED6E}"/>
                  </a:ext>
                </a:extLst>
              </p:cNvPr>
              <p:cNvCxnSpPr>
                <a:cxnSpLocks/>
                <a:stCxn id="35" idx="2"/>
                <a:endCxn id="28" idx="1"/>
              </p:cNvCxnSpPr>
              <p:nvPr/>
            </p:nvCxnSpPr>
            <p:spPr>
              <a:xfrm rot="16200000" flipH="1">
                <a:off x="6493318" y="5911331"/>
                <a:ext cx="97344" cy="449062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E0C871F-F524-429D-BF00-4DE464936B7A}"/>
                  </a:ext>
                </a:extLst>
              </p:cNvPr>
              <p:cNvCxnSpPr>
                <a:cxnSpLocks/>
                <a:stCxn id="30" idx="3"/>
                <a:endCxn id="39" idx="1"/>
              </p:cNvCxnSpPr>
              <p:nvPr/>
            </p:nvCxnSpPr>
            <p:spPr>
              <a:xfrm>
                <a:off x="4459550" y="5703267"/>
                <a:ext cx="343487" cy="483"/>
              </a:xfrm>
              <a:prstGeom prst="line">
                <a:avLst/>
              </a:prstGeom>
              <a:ln w="15875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33A6BFE3-2746-4E03-8110-D86EB78C7D93}"/>
                  </a:ext>
                </a:extLst>
              </p:cNvPr>
              <p:cNvCxnSpPr>
                <a:cxnSpLocks/>
                <a:stCxn id="39" idx="3"/>
                <a:endCxn id="53" idx="1"/>
              </p:cNvCxnSpPr>
              <p:nvPr/>
            </p:nvCxnSpPr>
            <p:spPr>
              <a:xfrm flipV="1">
                <a:off x="5571633" y="5702892"/>
                <a:ext cx="343487" cy="858"/>
              </a:xfrm>
              <a:prstGeom prst="line">
                <a:avLst/>
              </a:prstGeom>
              <a:ln w="15875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5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72E3BD73-EC58-4FF8-B4A1-8BF0BEDF69F8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F577F72A-8B49-482F-86B8-39762E5740E7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矩形 12">
            <a:hlinkClick r:id="rId5" action="ppaction://hlinksldjump"/>
            <a:extLst>
              <a:ext uri="{FF2B5EF4-FFF2-40B4-BE49-F238E27FC236}">
                <a16:creationId xmlns:a16="http://schemas.microsoft.com/office/drawing/2014/main" id="{68023A43-55CA-4324-B4D0-39F0319BFD6C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44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4720-9043-4F58-AFE1-6B4F18993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B6E5-F957-460A-AC5A-792EE3339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386385"/>
          </a:xfrm>
        </p:spPr>
        <p:txBody>
          <a:bodyPr/>
          <a:lstStyle/>
          <a:p>
            <a:r>
              <a:rPr lang="en-US" dirty="0"/>
              <a:t>Sometimes, aggregations are also used to remove </a:t>
            </a:r>
            <a:r>
              <a:rPr lang="en-US" altLang="zh-CN" dirty="0"/>
              <a:t>redundancies.</a:t>
            </a:r>
          </a:p>
          <a:p>
            <a:r>
              <a:rPr lang="en-US" altLang="zh-CN" dirty="0"/>
              <a:t>First, let’s go back to the ternary relationship among “student”, “instructor”, and “course” without any constraint.</a:t>
            </a:r>
          </a:p>
          <a:p>
            <a:r>
              <a:rPr lang="en-US" dirty="0"/>
              <a:t>This time, we want to model a new entity set, course projects.</a:t>
            </a:r>
          </a:p>
          <a:p>
            <a:r>
              <a:rPr lang="en-US" dirty="0"/>
              <a:t>Since each course project is supervised by an instructor and done by some students for a particular course, then a </a:t>
            </a:r>
            <a:r>
              <a:rPr lang="en-US" altLang="zh-CN" dirty="0"/>
              <a:t>quaternary (4-ary) relationship set is reasonable.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3E71E9F-BE86-4DE6-9340-ABB332CA32B4}"/>
              </a:ext>
            </a:extLst>
          </p:cNvPr>
          <p:cNvGrpSpPr/>
          <p:nvPr/>
        </p:nvGrpSpPr>
        <p:grpSpPr>
          <a:xfrm>
            <a:off x="2733359" y="4479118"/>
            <a:ext cx="3820329" cy="1853565"/>
            <a:chOff x="2733359" y="4479118"/>
            <a:chExt cx="3820329" cy="1853565"/>
          </a:xfrm>
        </p:grpSpPr>
        <p:sp>
          <p:nvSpPr>
            <p:cNvPr id="8" name="矩形 3">
              <a:extLst>
                <a:ext uri="{FF2B5EF4-FFF2-40B4-BE49-F238E27FC236}">
                  <a16:creationId xmlns:a16="http://schemas.microsoft.com/office/drawing/2014/main" id="{D3202FCD-73A7-4302-ABB1-7AEEA71986C3}"/>
                </a:ext>
              </a:extLst>
            </p:cNvPr>
            <p:cNvSpPr/>
            <p:nvPr/>
          </p:nvSpPr>
          <p:spPr>
            <a:xfrm>
              <a:off x="2733359" y="52563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3">
              <a:extLst>
                <a:ext uri="{FF2B5EF4-FFF2-40B4-BE49-F238E27FC236}">
                  <a16:creationId xmlns:a16="http://schemas.microsoft.com/office/drawing/2014/main" id="{659572B4-F6CB-4A31-87D2-637498595AAD}"/>
                </a:ext>
              </a:extLst>
            </p:cNvPr>
            <p:cNvSpPr/>
            <p:nvPr/>
          </p:nvSpPr>
          <p:spPr>
            <a:xfrm>
              <a:off x="5622905" y="52563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组合 6">
              <a:extLst>
                <a:ext uri="{FF2B5EF4-FFF2-40B4-BE49-F238E27FC236}">
                  <a16:creationId xmlns:a16="http://schemas.microsoft.com/office/drawing/2014/main" id="{9002FBFC-E493-4788-9BE5-59E502EE58E0}"/>
                </a:ext>
              </a:extLst>
            </p:cNvPr>
            <p:cNvGrpSpPr/>
            <p:nvPr/>
          </p:nvGrpSpPr>
          <p:grpSpPr>
            <a:xfrm>
              <a:off x="4270590" y="5025901"/>
              <a:ext cx="768596" cy="768596"/>
              <a:chOff x="3920969" y="4874243"/>
              <a:chExt cx="824886" cy="824886"/>
            </a:xfrm>
          </p:grpSpPr>
          <p:sp>
            <p:nvSpPr>
              <p:cNvPr id="13" name="菱形 4">
                <a:extLst>
                  <a:ext uri="{FF2B5EF4-FFF2-40B4-BE49-F238E27FC236}">
                    <a16:creationId xmlns:a16="http://schemas.microsoft.com/office/drawing/2014/main" id="{6D8F7E62-68CF-43DD-89BF-300CDBD33E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文本框 5">
                <a:extLst>
                  <a:ext uri="{FF2B5EF4-FFF2-40B4-BE49-F238E27FC236}">
                    <a16:creationId xmlns:a16="http://schemas.microsoft.com/office/drawing/2014/main" id="{9A5C7901-8EAB-469A-813F-F2409EA827F8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67861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doing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FCC8D66-D601-4BF0-8DFE-A180D28E5BE1}"/>
                </a:ext>
              </a:extLst>
            </p:cNvPr>
            <p:cNvCxnSpPr>
              <a:stCxn id="8" idx="3"/>
              <a:endCxn id="13" idx="1"/>
            </p:cNvCxnSpPr>
            <p:nvPr/>
          </p:nvCxnSpPr>
          <p:spPr>
            <a:xfrm flipV="1">
              <a:off x="3664142" y="5410199"/>
              <a:ext cx="606448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9915417-51BF-47BF-AE50-6500ABF0E91C}"/>
                </a:ext>
              </a:extLst>
            </p:cNvPr>
            <p:cNvCxnSpPr>
              <a:stCxn id="13" idx="3"/>
              <a:endCxn id="9" idx="1"/>
            </p:cNvCxnSpPr>
            <p:nvPr/>
          </p:nvCxnSpPr>
          <p:spPr>
            <a:xfrm>
              <a:off x="5039186" y="5410199"/>
              <a:ext cx="583719" cy="1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4A1E4AA4-F055-4655-A818-4509ED09F4D9}"/>
                </a:ext>
              </a:extLst>
            </p:cNvPr>
            <p:cNvSpPr/>
            <p:nvPr/>
          </p:nvSpPr>
          <p:spPr>
            <a:xfrm>
              <a:off x="4147872" y="6024906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A3A7AF4-ED5C-4E8F-BA06-7EE6F96EEB58}"/>
                </a:ext>
              </a:extLst>
            </p:cNvPr>
            <p:cNvCxnSpPr>
              <a:stCxn id="13" idx="2"/>
              <a:endCxn id="6" idx="0"/>
            </p:cNvCxnSpPr>
            <p:nvPr/>
          </p:nvCxnSpPr>
          <p:spPr>
            <a:xfrm>
              <a:off x="4654888" y="5794497"/>
              <a:ext cx="0" cy="230409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3">
              <a:extLst>
                <a:ext uri="{FF2B5EF4-FFF2-40B4-BE49-F238E27FC236}">
                  <a16:creationId xmlns:a16="http://schemas.microsoft.com/office/drawing/2014/main" id="{775E0CCF-4CF2-4308-B202-D6DEDB34789D}"/>
                </a:ext>
              </a:extLst>
            </p:cNvPr>
            <p:cNvSpPr/>
            <p:nvPr/>
          </p:nvSpPr>
          <p:spPr>
            <a:xfrm>
              <a:off x="4147872" y="4479118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F3BDD0E-AEB9-4DEA-BC6A-9FB30D2CFBC5}"/>
                </a:ext>
              </a:extLst>
            </p:cNvPr>
            <p:cNvCxnSpPr>
              <a:cxnSpLocks/>
              <a:stCxn id="15" idx="2"/>
              <a:endCxn id="13" idx="0"/>
            </p:cNvCxnSpPr>
            <p:nvPr/>
          </p:nvCxnSpPr>
          <p:spPr>
            <a:xfrm>
              <a:off x="4654888" y="4786895"/>
              <a:ext cx="0" cy="239006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217C246E-8E80-43C8-B521-74041D2016AC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2CE6011A-1E96-487F-825F-83A651F4628D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DC186B14-B347-446B-9558-E86E2653E287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78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4720-9043-4F58-AFE1-6B4F18993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B6E5-F957-460A-AC5A-792EE3339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386385"/>
          </a:xfrm>
        </p:spPr>
        <p:txBody>
          <a:bodyPr/>
          <a:lstStyle/>
          <a:p>
            <a:r>
              <a:rPr lang="en-US" altLang="zh-CN" dirty="0"/>
              <a:t>However, only one quaternary relationship cannot cover the original relationship set “enroll”.</a:t>
            </a:r>
          </a:p>
          <a:p>
            <a:r>
              <a:rPr lang="en-US" dirty="0"/>
              <a:t>The two relationship sets are of different meanings.</a:t>
            </a:r>
          </a:p>
          <a:p>
            <a:r>
              <a:rPr lang="en-US" dirty="0"/>
              <a:t>More importantly, some courses may not have any project.</a:t>
            </a:r>
          </a:p>
          <a:p>
            <a:r>
              <a:rPr lang="en-US" dirty="0"/>
              <a:t>Thus, the ER diagram also needs “enroll”.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8C6A68D-D095-4FD1-9249-67A5569DFAA4}"/>
              </a:ext>
            </a:extLst>
          </p:cNvPr>
          <p:cNvGrpSpPr/>
          <p:nvPr/>
        </p:nvGrpSpPr>
        <p:grpSpPr>
          <a:xfrm>
            <a:off x="2661835" y="3793392"/>
            <a:ext cx="3820329" cy="2083975"/>
            <a:chOff x="2661835" y="3976198"/>
            <a:chExt cx="3820329" cy="2083975"/>
          </a:xfrm>
        </p:grpSpPr>
        <p:sp>
          <p:nvSpPr>
            <p:cNvPr id="8" name="矩形 3">
              <a:extLst>
                <a:ext uri="{FF2B5EF4-FFF2-40B4-BE49-F238E27FC236}">
                  <a16:creationId xmlns:a16="http://schemas.microsoft.com/office/drawing/2014/main" id="{D3202FCD-73A7-4302-ABB1-7AEEA71986C3}"/>
                </a:ext>
              </a:extLst>
            </p:cNvPr>
            <p:cNvSpPr/>
            <p:nvPr/>
          </p:nvSpPr>
          <p:spPr>
            <a:xfrm>
              <a:off x="2661835" y="475339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3">
              <a:extLst>
                <a:ext uri="{FF2B5EF4-FFF2-40B4-BE49-F238E27FC236}">
                  <a16:creationId xmlns:a16="http://schemas.microsoft.com/office/drawing/2014/main" id="{659572B4-F6CB-4A31-87D2-637498595AAD}"/>
                </a:ext>
              </a:extLst>
            </p:cNvPr>
            <p:cNvSpPr/>
            <p:nvPr/>
          </p:nvSpPr>
          <p:spPr>
            <a:xfrm>
              <a:off x="5551381" y="475339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组合 6">
              <a:extLst>
                <a:ext uri="{FF2B5EF4-FFF2-40B4-BE49-F238E27FC236}">
                  <a16:creationId xmlns:a16="http://schemas.microsoft.com/office/drawing/2014/main" id="{9002FBFC-E493-4788-9BE5-59E502EE58E0}"/>
                </a:ext>
              </a:extLst>
            </p:cNvPr>
            <p:cNvGrpSpPr/>
            <p:nvPr/>
          </p:nvGrpSpPr>
          <p:grpSpPr>
            <a:xfrm>
              <a:off x="4199066" y="4522981"/>
              <a:ext cx="768596" cy="768596"/>
              <a:chOff x="3920969" y="4874243"/>
              <a:chExt cx="824886" cy="824886"/>
            </a:xfrm>
          </p:grpSpPr>
          <p:sp>
            <p:nvSpPr>
              <p:cNvPr id="13" name="菱形 4">
                <a:extLst>
                  <a:ext uri="{FF2B5EF4-FFF2-40B4-BE49-F238E27FC236}">
                    <a16:creationId xmlns:a16="http://schemas.microsoft.com/office/drawing/2014/main" id="{6D8F7E62-68CF-43DD-89BF-300CDBD33E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文本框 5">
                <a:extLst>
                  <a:ext uri="{FF2B5EF4-FFF2-40B4-BE49-F238E27FC236}">
                    <a16:creationId xmlns:a16="http://schemas.microsoft.com/office/drawing/2014/main" id="{9A5C7901-8EAB-469A-813F-F2409EA827F8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67861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doing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FCC8D66-D601-4BF0-8DFE-A180D28E5BE1}"/>
                </a:ext>
              </a:extLst>
            </p:cNvPr>
            <p:cNvCxnSpPr>
              <a:stCxn id="8" idx="3"/>
              <a:endCxn id="13" idx="1"/>
            </p:cNvCxnSpPr>
            <p:nvPr/>
          </p:nvCxnSpPr>
          <p:spPr>
            <a:xfrm flipV="1">
              <a:off x="3592618" y="4907279"/>
              <a:ext cx="606448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9915417-51BF-47BF-AE50-6500ABF0E91C}"/>
                </a:ext>
              </a:extLst>
            </p:cNvPr>
            <p:cNvCxnSpPr>
              <a:stCxn id="13" idx="3"/>
              <a:endCxn id="9" idx="1"/>
            </p:cNvCxnSpPr>
            <p:nvPr/>
          </p:nvCxnSpPr>
          <p:spPr>
            <a:xfrm>
              <a:off x="4967662" y="4907279"/>
              <a:ext cx="583719" cy="1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4A1E4AA4-F055-4655-A818-4509ED09F4D9}"/>
                </a:ext>
              </a:extLst>
            </p:cNvPr>
            <p:cNvSpPr/>
            <p:nvPr/>
          </p:nvSpPr>
          <p:spPr>
            <a:xfrm>
              <a:off x="4076348" y="5521986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A3A7AF4-ED5C-4E8F-BA06-7EE6F96EEB58}"/>
                </a:ext>
              </a:extLst>
            </p:cNvPr>
            <p:cNvCxnSpPr>
              <a:stCxn id="13" idx="2"/>
              <a:endCxn id="6" idx="0"/>
            </p:cNvCxnSpPr>
            <p:nvPr/>
          </p:nvCxnSpPr>
          <p:spPr>
            <a:xfrm>
              <a:off x="4583364" y="5291577"/>
              <a:ext cx="0" cy="230409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3">
              <a:extLst>
                <a:ext uri="{FF2B5EF4-FFF2-40B4-BE49-F238E27FC236}">
                  <a16:creationId xmlns:a16="http://schemas.microsoft.com/office/drawing/2014/main" id="{775E0CCF-4CF2-4308-B202-D6DEDB34789D}"/>
                </a:ext>
              </a:extLst>
            </p:cNvPr>
            <p:cNvSpPr/>
            <p:nvPr/>
          </p:nvSpPr>
          <p:spPr>
            <a:xfrm>
              <a:off x="4076348" y="3976198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F3BDD0E-AEB9-4DEA-BC6A-9FB30D2CFBC5}"/>
                </a:ext>
              </a:extLst>
            </p:cNvPr>
            <p:cNvCxnSpPr>
              <a:cxnSpLocks/>
              <a:stCxn id="15" idx="2"/>
              <a:endCxn id="13" idx="0"/>
            </p:cNvCxnSpPr>
            <p:nvPr/>
          </p:nvCxnSpPr>
          <p:spPr>
            <a:xfrm>
              <a:off x="4583364" y="4283975"/>
              <a:ext cx="0" cy="239006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6">
              <a:extLst>
                <a:ext uri="{FF2B5EF4-FFF2-40B4-BE49-F238E27FC236}">
                  <a16:creationId xmlns:a16="http://schemas.microsoft.com/office/drawing/2014/main" id="{B6045A13-57F7-4900-9C8D-0EB5723C55D8}"/>
                </a:ext>
              </a:extLst>
            </p:cNvPr>
            <p:cNvGrpSpPr/>
            <p:nvPr/>
          </p:nvGrpSpPr>
          <p:grpSpPr>
            <a:xfrm>
              <a:off x="2742948" y="5291577"/>
              <a:ext cx="768596" cy="768596"/>
              <a:chOff x="3920969" y="4874243"/>
              <a:chExt cx="824886" cy="824886"/>
            </a:xfrm>
          </p:grpSpPr>
          <p:sp>
            <p:nvSpPr>
              <p:cNvPr id="18" name="菱形 4">
                <a:extLst>
                  <a:ext uri="{FF2B5EF4-FFF2-40B4-BE49-F238E27FC236}">
                    <a16:creationId xmlns:a16="http://schemas.microsoft.com/office/drawing/2014/main" id="{704E6468-D368-46D9-843A-2BC42A86C5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文本框 5">
                <a:extLst>
                  <a:ext uri="{FF2B5EF4-FFF2-40B4-BE49-F238E27FC236}">
                    <a16:creationId xmlns:a16="http://schemas.microsoft.com/office/drawing/2014/main" id="{6403B546-D80B-4633-B6F0-EC1122D96FB1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67861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enroll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117D687-B5DD-4542-8E18-AB3433A76F2F}"/>
                </a:ext>
              </a:extLst>
            </p:cNvPr>
            <p:cNvCxnSpPr>
              <a:cxnSpLocks/>
              <a:stCxn id="8" idx="2"/>
              <a:endCxn id="18" idx="0"/>
            </p:cNvCxnSpPr>
            <p:nvPr/>
          </p:nvCxnSpPr>
          <p:spPr>
            <a:xfrm>
              <a:off x="3127227" y="5061168"/>
              <a:ext cx="19" cy="230409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BF2465-2D63-4CA3-B5BF-82E9E486194B}"/>
                </a:ext>
              </a:extLst>
            </p:cNvPr>
            <p:cNvCxnSpPr>
              <a:cxnSpLocks/>
              <a:stCxn id="18" idx="3"/>
              <a:endCxn id="6" idx="1"/>
            </p:cNvCxnSpPr>
            <p:nvPr/>
          </p:nvCxnSpPr>
          <p:spPr>
            <a:xfrm>
              <a:off x="3511544" y="5675875"/>
              <a:ext cx="56480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87B7EBD0-1813-412B-9BBA-02509D1B596B}"/>
                </a:ext>
              </a:extLst>
            </p:cNvPr>
            <p:cNvCxnSpPr>
              <a:stCxn id="9" idx="2"/>
              <a:endCxn id="18" idx="2"/>
            </p:cNvCxnSpPr>
            <p:nvPr/>
          </p:nvCxnSpPr>
          <p:spPr>
            <a:xfrm rot="5400000">
              <a:off x="4072508" y="4115907"/>
              <a:ext cx="999005" cy="2889527"/>
            </a:xfrm>
            <a:prstGeom prst="bentConnector3">
              <a:avLst>
                <a:gd name="adj1" fmla="val 122883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3BCAB78E-D36C-4279-A13C-655C8E158EBD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A39DB266-CD35-40A0-99EC-BFBC0A10B977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65A19A50-446B-4105-9561-019D57452F8A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34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4720-9043-4F58-AFE1-6B4F18993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B6E5-F957-460A-AC5A-792EE3339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386385"/>
          </a:xfrm>
        </p:spPr>
        <p:txBody>
          <a:bodyPr/>
          <a:lstStyle/>
          <a:p>
            <a:r>
              <a:rPr lang="en-US" dirty="0"/>
              <a:t>But this model contains redundancies. </a:t>
            </a:r>
          </a:p>
          <a:p>
            <a:r>
              <a:rPr lang="en-US" dirty="0"/>
              <a:t>If a student does a project for a course under an instructor’s supervision, this student and the instructor must enroll the course.</a:t>
            </a:r>
          </a:p>
          <a:p>
            <a:r>
              <a:rPr lang="en-US" dirty="0"/>
              <a:t>Each project must be with an enrollment.</a:t>
            </a:r>
          </a:p>
        </p:txBody>
      </p:sp>
      <p:sp>
        <p:nvSpPr>
          <p:cNvPr id="22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C1580453-2F87-45E5-B9C7-EF88EC2058F1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B3C6B696-B193-496E-B725-708AA7FD3032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0622BC84-5CB3-41EE-80B6-B33AA95BCB7B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D47C82-A32F-A0A5-A585-1A5CD6C31923}"/>
              </a:ext>
            </a:extLst>
          </p:cNvPr>
          <p:cNvGrpSpPr/>
          <p:nvPr/>
        </p:nvGrpSpPr>
        <p:grpSpPr>
          <a:xfrm>
            <a:off x="2661835" y="3793392"/>
            <a:ext cx="3820329" cy="2083975"/>
            <a:chOff x="2661835" y="3976198"/>
            <a:chExt cx="3820329" cy="2083975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D4DE22DD-0784-93E3-3414-54E80BFDA8E7}"/>
                </a:ext>
              </a:extLst>
            </p:cNvPr>
            <p:cNvSpPr/>
            <p:nvPr/>
          </p:nvSpPr>
          <p:spPr>
            <a:xfrm>
              <a:off x="2661835" y="475339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3">
              <a:extLst>
                <a:ext uri="{FF2B5EF4-FFF2-40B4-BE49-F238E27FC236}">
                  <a16:creationId xmlns:a16="http://schemas.microsoft.com/office/drawing/2014/main" id="{01DB7D8D-758A-8427-9DB8-51B6DA66D46E}"/>
                </a:ext>
              </a:extLst>
            </p:cNvPr>
            <p:cNvSpPr/>
            <p:nvPr/>
          </p:nvSpPr>
          <p:spPr>
            <a:xfrm>
              <a:off x="5551381" y="475339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6" name="组合 6">
              <a:extLst>
                <a:ext uri="{FF2B5EF4-FFF2-40B4-BE49-F238E27FC236}">
                  <a16:creationId xmlns:a16="http://schemas.microsoft.com/office/drawing/2014/main" id="{5C3F49C9-00D4-B3DA-D219-7D6D126DB6F4}"/>
                </a:ext>
              </a:extLst>
            </p:cNvPr>
            <p:cNvGrpSpPr/>
            <p:nvPr/>
          </p:nvGrpSpPr>
          <p:grpSpPr>
            <a:xfrm>
              <a:off x="4199066" y="4522981"/>
              <a:ext cx="768596" cy="768596"/>
              <a:chOff x="3920969" y="4874243"/>
              <a:chExt cx="824886" cy="824886"/>
            </a:xfrm>
          </p:grpSpPr>
          <p:sp>
            <p:nvSpPr>
              <p:cNvPr id="41" name="菱形 4">
                <a:extLst>
                  <a:ext uri="{FF2B5EF4-FFF2-40B4-BE49-F238E27FC236}">
                    <a16:creationId xmlns:a16="http://schemas.microsoft.com/office/drawing/2014/main" id="{6A50E0A8-CF79-D2F9-A055-223A431C18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文本框 5">
                <a:extLst>
                  <a:ext uri="{FF2B5EF4-FFF2-40B4-BE49-F238E27FC236}">
                    <a16:creationId xmlns:a16="http://schemas.microsoft.com/office/drawing/2014/main" id="{56BB6596-2FEF-998B-1A95-4B2353A6C01E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67861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doing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068713-D66A-69F7-5239-090C85FD289D}"/>
                </a:ext>
              </a:extLst>
            </p:cNvPr>
            <p:cNvCxnSpPr>
              <a:stCxn id="5" idx="3"/>
              <a:endCxn id="41" idx="1"/>
            </p:cNvCxnSpPr>
            <p:nvPr/>
          </p:nvCxnSpPr>
          <p:spPr>
            <a:xfrm flipV="1">
              <a:off x="3592618" y="4907279"/>
              <a:ext cx="606448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0DD8D7-152F-5A5D-C8CF-0C4EEA310CF3}"/>
                </a:ext>
              </a:extLst>
            </p:cNvPr>
            <p:cNvCxnSpPr>
              <a:stCxn id="41" idx="3"/>
              <a:endCxn id="19" idx="1"/>
            </p:cNvCxnSpPr>
            <p:nvPr/>
          </p:nvCxnSpPr>
          <p:spPr>
            <a:xfrm>
              <a:off x="4967662" y="4907279"/>
              <a:ext cx="583719" cy="1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3">
              <a:extLst>
                <a:ext uri="{FF2B5EF4-FFF2-40B4-BE49-F238E27FC236}">
                  <a16:creationId xmlns:a16="http://schemas.microsoft.com/office/drawing/2014/main" id="{055ECD36-046D-6F99-17FB-C43963BEC5B1}"/>
                </a:ext>
              </a:extLst>
            </p:cNvPr>
            <p:cNvSpPr/>
            <p:nvPr/>
          </p:nvSpPr>
          <p:spPr>
            <a:xfrm>
              <a:off x="4076348" y="5521986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9D321DA-160B-8979-AD0E-DC19F63490D6}"/>
                </a:ext>
              </a:extLst>
            </p:cNvPr>
            <p:cNvCxnSpPr>
              <a:stCxn id="41" idx="2"/>
              <a:endCxn id="29" idx="0"/>
            </p:cNvCxnSpPr>
            <p:nvPr/>
          </p:nvCxnSpPr>
          <p:spPr>
            <a:xfrm>
              <a:off x="4583364" y="5291577"/>
              <a:ext cx="0" cy="230409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">
              <a:extLst>
                <a:ext uri="{FF2B5EF4-FFF2-40B4-BE49-F238E27FC236}">
                  <a16:creationId xmlns:a16="http://schemas.microsoft.com/office/drawing/2014/main" id="{33D04558-59C6-1038-DF1A-9D4C61E55D2B}"/>
                </a:ext>
              </a:extLst>
            </p:cNvPr>
            <p:cNvSpPr/>
            <p:nvPr/>
          </p:nvSpPr>
          <p:spPr>
            <a:xfrm>
              <a:off x="4076348" y="3976198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DE5817-E043-DBAC-CEA3-F80991F20663}"/>
                </a:ext>
              </a:extLst>
            </p:cNvPr>
            <p:cNvCxnSpPr>
              <a:cxnSpLocks/>
              <a:stCxn id="33" idx="2"/>
              <a:endCxn id="41" idx="0"/>
            </p:cNvCxnSpPr>
            <p:nvPr/>
          </p:nvCxnSpPr>
          <p:spPr>
            <a:xfrm>
              <a:off x="4583364" y="4283975"/>
              <a:ext cx="0" cy="239006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6">
              <a:extLst>
                <a:ext uri="{FF2B5EF4-FFF2-40B4-BE49-F238E27FC236}">
                  <a16:creationId xmlns:a16="http://schemas.microsoft.com/office/drawing/2014/main" id="{C35B17E2-6C05-F3DC-0F48-A2A380243E8A}"/>
                </a:ext>
              </a:extLst>
            </p:cNvPr>
            <p:cNvGrpSpPr/>
            <p:nvPr/>
          </p:nvGrpSpPr>
          <p:grpSpPr>
            <a:xfrm>
              <a:off x="2742948" y="5291577"/>
              <a:ext cx="768596" cy="768596"/>
              <a:chOff x="3920969" y="4874243"/>
              <a:chExt cx="824886" cy="824886"/>
            </a:xfrm>
          </p:grpSpPr>
          <p:sp>
            <p:nvSpPr>
              <p:cNvPr id="39" name="菱形 4">
                <a:extLst>
                  <a:ext uri="{FF2B5EF4-FFF2-40B4-BE49-F238E27FC236}">
                    <a16:creationId xmlns:a16="http://schemas.microsoft.com/office/drawing/2014/main" id="{69B6F6A1-3E4F-50F3-3DD9-007C44A77C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文本框 5">
                <a:extLst>
                  <a:ext uri="{FF2B5EF4-FFF2-40B4-BE49-F238E27FC236}">
                    <a16:creationId xmlns:a16="http://schemas.microsoft.com/office/drawing/2014/main" id="{DFB1D5BE-7578-22FE-7A2D-F8AD832EC169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67861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enroll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49DDD50-991F-4CCD-7BEE-B7035F47D85B}"/>
                </a:ext>
              </a:extLst>
            </p:cNvPr>
            <p:cNvCxnSpPr>
              <a:cxnSpLocks/>
              <a:stCxn id="5" idx="2"/>
              <a:endCxn id="39" idx="0"/>
            </p:cNvCxnSpPr>
            <p:nvPr/>
          </p:nvCxnSpPr>
          <p:spPr>
            <a:xfrm>
              <a:off x="3127227" y="5061168"/>
              <a:ext cx="19" cy="230409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4D44FD1-09BE-0A09-C2D4-F1967789A9CD}"/>
                </a:ext>
              </a:extLst>
            </p:cNvPr>
            <p:cNvCxnSpPr>
              <a:cxnSpLocks/>
              <a:stCxn id="39" idx="3"/>
              <a:endCxn id="29" idx="1"/>
            </p:cNvCxnSpPr>
            <p:nvPr/>
          </p:nvCxnSpPr>
          <p:spPr>
            <a:xfrm>
              <a:off x="3511544" y="5675875"/>
              <a:ext cx="56480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39A57998-4A08-3823-4576-1E47E9C9A04F}"/>
                </a:ext>
              </a:extLst>
            </p:cNvPr>
            <p:cNvCxnSpPr>
              <a:stCxn id="19" idx="2"/>
              <a:endCxn id="39" idx="2"/>
            </p:cNvCxnSpPr>
            <p:nvPr/>
          </p:nvCxnSpPr>
          <p:spPr>
            <a:xfrm rot="5400000">
              <a:off x="4072508" y="4115907"/>
              <a:ext cx="999005" cy="2889527"/>
            </a:xfrm>
            <a:prstGeom prst="bentConnector3">
              <a:avLst>
                <a:gd name="adj1" fmla="val 122883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367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BE3D-9666-41AE-81D0-B3E30B33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721F-4408-4191-A159-EFA761C17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better model is let “student”, “instructor”, “course”, and “enroll” form an abstract entity as an aggregation.</a:t>
            </a:r>
          </a:p>
          <a:p>
            <a:r>
              <a:rPr lang="en-US" dirty="0"/>
              <a:t>Then “project” only need to associate with the courses which has a course project.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76207E3-C8A2-4570-B53B-36E219FC033C}"/>
              </a:ext>
            </a:extLst>
          </p:cNvPr>
          <p:cNvGrpSpPr/>
          <p:nvPr/>
        </p:nvGrpSpPr>
        <p:grpSpPr>
          <a:xfrm>
            <a:off x="2391507" y="3157415"/>
            <a:ext cx="4360985" cy="3066594"/>
            <a:chOff x="876036" y="3157415"/>
            <a:chExt cx="4360985" cy="3066594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F34141-A59E-4212-AD8B-3EB8ECAEA249}"/>
                </a:ext>
              </a:extLst>
            </p:cNvPr>
            <p:cNvGrpSpPr/>
            <p:nvPr/>
          </p:nvGrpSpPr>
          <p:grpSpPr>
            <a:xfrm>
              <a:off x="2673708" y="4922717"/>
              <a:ext cx="768596" cy="768596"/>
              <a:chOff x="3920969" y="4874243"/>
              <a:chExt cx="824886" cy="824886"/>
            </a:xfrm>
          </p:grpSpPr>
          <p:sp>
            <p:nvSpPr>
              <p:cNvPr id="20" name="菱形 4">
                <a:extLst>
                  <a:ext uri="{FF2B5EF4-FFF2-40B4-BE49-F238E27FC236}">
                    <a16:creationId xmlns:a16="http://schemas.microsoft.com/office/drawing/2014/main" id="{4E9CFCBA-5811-4588-A44B-E2078C0C58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文本框 5">
                <a:extLst>
                  <a:ext uri="{FF2B5EF4-FFF2-40B4-BE49-F238E27FC236}">
                    <a16:creationId xmlns:a16="http://schemas.microsoft.com/office/drawing/2014/main" id="{54771665-DA09-4A51-A52B-72D4CA1CF1D2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67861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doing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97E48CF-65A3-4ECF-8F84-94EA4E5397BB}"/>
                </a:ext>
              </a:extLst>
            </p:cNvPr>
            <p:cNvCxnSpPr>
              <a:cxnSpLocks/>
              <a:stCxn id="20" idx="2"/>
              <a:endCxn id="36" idx="0"/>
            </p:cNvCxnSpPr>
            <p:nvPr/>
          </p:nvCxnSpPr>
          <p:spPr>
            <a:xfrm flipH="1">
              <a:off x="3057018" y="5691313"/>
              <a:ext cx="988" cy="224919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261D637-DB29-4EDF-A7DA-3167CDD754CB}"/>
                </a:ext>
              </a:extLst>
            </p:cNvPr>
            <p:cNvCxnSpPr>
              <a:cxnSpLocks/>
              <a:stCxn id="31" idx="2"/>
              <a:endCxn id="20" idx="0"/>
            </p:cNvCxnSpPr>
            <p:nvPr/>
          </p:nvCxnSpPr>
          <p:spPr>
            <a:xfrm>
              <a:off x="3057517" y="4719614"/>
              <a:ext cx="489" cy="203103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3">
              <a:extLst>
                <a:ext uri="{FF2B5EF4-FFF2-40B4-BE49-F238E27FC236}">
                  <a16:creationId xmlns:a16="http://schemas.microsoft.com/office/drawing/2014/main" id="{8453A062-3E3B-4B70-AD58-8DE9B31746E2}"/>
                </a:ext>
              </a:extLst>
            </p:cNvPr>
            <p:cNvSpPr/>
            <p:nvPr/>
          </p:nvSpPr>
          <p:spPr>
            <a:xfrm>
              <a:off x="1135988" y="4181428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 3">
              <a:extLst>
                <a:ext uri="{FF2B5EF4-FFF2-40B4-BE49-F238E27FC236}">
                  <a16:creationId xmlns:a16="http://schemas.microsoft.com/office/drawing/2014/main" id="{411C2C2D-060D-49B8-A98D-843609D33C8B}"/>
                </a:ext>
              </a:extLst>
            </p:cNvPr>
            <p:cNvSpPr/>
            <p:nvPr/>
          </p:nvSpPr>
          <p:spPr>
            <a:xfrm>
              <a:off x="4025534" y="4181428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8" name="组合 6">
              <a:extLst>
                <a:ext uri="{FF2B5EF4-FFF2-40B4-BE49-F238E27FC236}">
                  <a16:creationId xmlns:a16="http://schemas.microsoft.com/office/drawing/2014/main" id="{587766C1-BD06-4308-9939-3020B04410D1}"/>
                </a:ext>
              </a:extLst>
            </p:cNvPr>
            <p:cNvGrpSpPr/>
            <p:nvPr/>
          </p:nvGrpSpPr>
          <p:grpSpPr>
            <a:xfrm>
              <a:off x="2673219" y="3951018"/>
              <a:ext cx="768596" cy="768596"/>
              <a:chOff x="3920969" y="4874243"/>
              <a:chExt cx="824886" cy="824886"/>
            </a:xfrm>
          </p:grpSpPr>
          <p:sp>
            <p:nvSpPr>
              <p:cNvPr id="31" name="菱形 4">
                <a:extLst>
                  <a:ext uri="{FF2B5EF4-FFF2-40B4-BE49-F238E27FC236}">
                    <a16:creationId xmlns:a16="http://schemas.microsoft.com/office/drawing/2014/main" id="{E9E47682-F143-4CE5-89FF-6AB033E537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文本框 5">
                <a:extLst>
                  <a:ext uri="{FF2B5EF4-FFF2-40B4-BE49-F238E27FC236}">
                    <a16:creationId xmlns:a16="http://schemas.microsoft.com/office/drawing/2014/main" id="{99084097-E1D7-4BBF-AE39-A05E8A65B159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67861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enroll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FA616D1-92DA-4857-835E-30E0CA68ECDD}"/>
                </a:ext>
              </a:extLst>
            </p:cNvPr>
            <p:cNvCxnSpPr>
              <a:stCxn id="26" idx="3"/>
              <a:endCxn id="31" idx="1"/>
            </p:cNvCxnSpPr>
            <p:nvPr/>
          </p:nvCxnSpPr>
          <p:spPr>
            <a:xfrm flipV="1">
              <a:off x="2066771" y="4335316"/>
              <a:ext cx="606448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6E97F0-DBC0-42EA-93AC-303F6F449AFD}"/>
                </a:ext>
              </a:extLst>
            </p:cNvPr>
            <p:cNvCxnSpPr>
              <a:stCxn id="31" idx="3"/>
              <a:endCxn id="27" idx="1"/>
            </p:cNvCxnSpPr>
            <p:nvPr/>
          </p:nvCxnSpPr>
          <p:spPr>
            <a:xfrm>
              <a:off x="3441815" y="4335316"/>
              <a:ext cx="583719" cy="1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3">
              <a:extLst>
                <a:ext uri="{FF2B5EF4-FFF2-40B4-BE49-F238E27FC236}">
                  <a16:creationId xmlns:a16="http://schemas.microsoft.com/office/drawing/2014/main" id="{EF136699-7A15-4178-A2CF-D4E75435E0F3}"/>
                </a:ext>
              </a:extLst>
            </p:cNvPr>
            <p:cNvSpPr/>
            <p:nvPr/>
          </p:nvSpPr>
          <p:spPr>
            <a:xfrm>
              <a:off x="2549513" y="3421185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781D294-4770-49FC-A3E9-497F9266D308}"/>
                </a:ext>
              </a:extLst>
            </p:cNvPr>
            <p:cNvCxnSpPr>
              <a:cxnSpLocks/>
              <a:stCxn id="31" idx="0"/>
              <a:endCxn id="24" idx="2"/>
            </p:cNvCxnSpPr>
            <p:nvPr/>
          </p:nvCxnSpPr>
          <p:spPr>
            <a:xfrm flipH="1" flipV="1">
              <a:off x="3056529" y="3728962"/>
              <a:ext cx="988" cy="222056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">
              <a:extLst>
                <a:ext uri="{FF2B5EF4-FFF2-40B4-BE49-F238E27FC236}">
                  <a16:creationId xmlns:a16="http://schemas.microsoft.com/office/drawing/2014/main" id="{99D39564-4B62-43C0-A9CE-321DE5A49721}"/>
                </a:ext>
              </a:extLst>
            </p:cNvPr>
            <p:cNvSpPr/>
            <p:nvPr/>
          </p:nvSpPr>
          <p:spPr>
            <a:xfrm>
              <a:off x="2550002" y="5916232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C560AED-0A85-4CB9-9D4F-AAD671D0EF03}"/>
                </a:ext>
              </a:extLst>
            </p:cNvPr>
            <p:cNvSpPr/>
            <p:nvPr/>
          </p:nvSpPr>
          <p:spPr>
            <a:xfrm>
              <a:off x="876036" y="3157415"/>
              <a:ext cx="4360985" cy="1562199"/>
            </a:xfrm>
            <a:prstGeom prst="rect">
              <a:avLst/>
            </a:prstGeom>
            <a:noFill/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251200"/>
                        <a:gd name="connsiteY0" fmla="*/ 276159 h 276159"/>
                        <a:gd name="connsiteX1" fmla="*/ 1778000 w 3251200"/>
                        <a:gd name="connsiteY1" fmla="*/ 388 h 276159"/>
                        <a:gd name="connsiteX2" fmla="*/ 3251200 w 3251200"/>
                        <a:gd name="connsiteY2" fmla="*/ 210845 h 276159"/>
                        <a:gd name="connsiteX3" fmla="*/ 3251200 w 3251200"/>
                        <a:gd name="connsiteY3" fmla="*/ 210845 h 2761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251200" h="276159" extrusionOk="0">
                          <a:moveTo>
                            <a:pt x="0" y="276159"/>
                          </a:moveTo>
                          <a:cubicBezTo>
                            <a:pt x="525781" y="86793"/>
                            <a:pt x="1222218" y="16496"/>
                            <a:pt x="1778000" y="388"/>
                          </a:cubicBezTo>
                          <a:cubicBezTo>
                            <a:pt x="2319868" y="-10498"/>
                            <a:pt x="3251199" y="210845"/>
                            <a:pt x="3251200" y="210845"/>
                          </a:cubicBezTo>
                          <a:lnTo>
                            <a:pt x="3251200" y="210845"/>
                          </a:ln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F374FF78-1C26-4780-8316-7A6B8735FDA2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851A574D-211C-48D2-A870-B3D8D791C5D0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72AAFAD5-6ABF-4815-89D9-C5C90214077E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757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59D5-D3B8-461E-BC26-6B15423FD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Weak Entity 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B0A0B-ED75-41B2-9ED5-87DB2820F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6990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i="1" dirty="0"/>
              <a:t>weak entity</a:t>
            </a:r>
            <a:r>
              <a:rPr lang="en-US" dirty="0"/>
              <a:t> is an entity cannot exist alone. The </a:t>
            </a:r>
            <a:r>
              <a:rPr lang="en-US" altLang="zh-CN" dirty="0"/>
              <a:t>existence depends on another entity of a different type.</a:t>
            </a:r>
          </a:p>
          <a:p>
            <a:r>
              <a:rPr lang="en-US" dirty="0"/>
              <a:t>A set of weak entities is a </a:t>
            </a:r>
            <a:r>
              <a:rPr lang="en-US" b="1" i="1" dirty="0"/>
              <a:t>weak entity set</a:t>
            </a:r>
            <a:r>
              <a:rPr lang="en-US" dirty="0"/>
              <a:t>.</a:t>
            </a:r>
          </a:p>
          <a:p>
            <a:r>
              <a:rPr lang="en-US" dirty="0"/>
              <a:t>Since a weak entity cannot exist alone, it </a:t>
            </a:r>
            <a:r>
              <a:rPr lang="en-US" dirty="0">
                <a:solidFill>
                  <a:srgbClr val="C00000"/>
                </a:solidFill>
              </a:rPr>
              <a:t>does not have a key</a:t>
            </a:r>
            <a:r>
              <a:rPr lang="en-US" dirty="0"/>
              <a:t>.</a:t>
            </a:r>
          </a:p>
          <a:p>
            <a:r>
              <a:rPr lang="en-US" altLang="zh-CN" dirty="0">
                <a:ea typeface="宋体" charset="-122"/>
              </a:rPr>
              <a:t>The existence of a weak entity set depends on the existence of an </a:t>
            </a:r>
            <a:r>
              <a:rPr lang="en-US" altLang="zh-CN" b="1" dirty="0">
                <a:ea typeface="宋体" charset="-122"/>
              </a:rPr>
              <a:t>identifying entity set.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A weak must relate to the identifying entity set via a 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total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, 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one-to-many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 relationship set from the identifying to the weak entity set.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An </a:t>
            </a:r>
            <a:r>
              <a:rPr lang="en-US" altLang="zh-CN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identifying relationship </a:t>
            </a:r>
            <a:r>
              <a:rPr lang="en-US" altLang="zh-CN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depicted using a double diamond.</a:t>
            </a:r>
          </a:p>
          <a:p>
            <a:r>
              <a:rPr lang="en-US" altLang="zh-CN" dirty="0">
                <a:ea typeface="宋体" charset="-122"/>
              </a:rPr>
              <a:t>The </a:t>
            </a:r>
            <a:r>
              <a:rPr lang="en-US" altLang="zh-CN" b="1" dirty="0">
                <a:ea typeface="宋体" charset="-122"/>
              </a:rPr>
              <a:t>discriminator</a:t>
            </a:r>
            <a:r>
              <a:rPr lang="en-US" altLang="zh-CN" b="1" i="1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(</a:t>
            </a:r>
            <a:r>
              <a:rPr lang="en-US" altLang="zh-CN" i="1" dirty="0">
                <a:ea typeface="宋体" charset="-122"/>
              </a:rPr>
              <a:t>or partial key)</a:t>
            </a:r>
            <a:r>
              <a:rPr lang="en-US" altLang="zh-CN" dirty="0">
                <a:ea typeface="宋体" charset="-122"/>
              </a:rPr>
              <a:t> of a weak entity set is the set of attributes that distinguishes among all the entities of a weak entity set.</a:t>
            </a:r>
          </a:p>
          <a:p>
            <a:r>
              <a:rPr lang="en-US" altLang="zh-CN" dirty="0">
                <a:ea typeface="宋体" charset="-122"/>
              </a:rPr>
              <a:t>To distinguish weak entities, one must combine </a:t>
            </a: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the key of the identifying entity set and the discriminator</a:t>
            </a:r>
            <a:r>
              <a:rPr lang="en-US" altLang="zh-CN" dirty="0">
                <a:ea typeface="宋体" charset="-122"/>
              </a:rPr>
              <a:t>.</a:t>
            </a:r>
          </a:p>
          <a:p>
            <a:endParaRPr lang="en-US" dirty="0"/>
          </a:p>
        </p:txBody>
      </p:sp>
      <p:sp>
        <p:nvSpPr>
          <p:cNvPr id="4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1E5FA426-3CAD-4ED5-8A98-B9E09EA03A68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2F85375E-9DD3-4659-9B7D-042742675601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8B6E3016-95B3-4D8D-BABB-FA0CF801D0E8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67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9E92-6778-4699-92AD-F68719571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Entity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0BD50-FF9F-4EE6-9033-62560FA29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628662"/>
          </a:xfrm>
        </p:spPr>
        <p:txBody>
          <a:bodyPr/>
          <a:lstStyle/>
          <a:p>
            <a:r>
              <a:rPr lang="en-US" dirty="0"/>
              <a:t>Our original modeling for courses was not </a:t>
            </a:r>
            <a:r>
              <a:rPr lang="en-US" altLang="zh-CN" dirty="0"/>
              <a:t>accurate.</a:t>
            </a:r>
          </a:p>
          <a:p>
            <a:r>
              <a:rPr lang="en-US" dirty="0"/>
              <a:t>Instead of saying “a student is enrolled to a course”, it’s better to say, “a student is enrolled to a section of a course”.</a:t>
            </a:r>
          </a:p>
          <a:p>
            <a:r>
              <a:rPr lang="en-US" dirty="0"/>
              <a:t>Same for instructors, one instructor may teach multiple sections of one course.</a:t>
            </a:r>
          </a:p>
          <a:p>
            <a:r>
              <a:rPr lang="en-US" dirty="0"/>
              <a:t>An entity set “section” is needed.</a:t>
            </a:r>
          </a:p>
          <a:p>
            <a:r>
              <a:rPr lang="en-US" dirty="0"/>
              <a:t>But a section needs to be with a course.</a:t>
            </a:r>
          </a:p>
          <a:p>
            <a:r>
              <a:rPr lang="en-US" dirty="0"/>
              <a:t>Thus, “section” is a weak entity set which depends on “course”.</a:t>
            </a:r>
          </a:p>
          <a:p>
            <a:endParaRPr lang="en-US" dirty="0"/>
          </a:p>
        </p:txBody>
      </p:sp>
      <p:sp>
        <p:nvSpPr>
          <p:cNvPr id="4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42518C85-0784-4537-B507-E05B54200368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AF58E8C8-F485-40FA-8DDC-361707C4F501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0F301E3A-C06F-4F22-9542-CAB605F716CD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3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3636-2D9D-4744-AFB7-94B360BB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Entity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C0A59-34AD-450C-AD0C-70BB6A1C7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Double rectangles </a:t>
            </a:r>
            <a:r>
              <a:rPr lang="en-US" dirty="0"/>
              <a:t>denote weak entity sets.</a:t>
            </a:r>
          </a:p>
          <a:p>
            <a:r>
              <a:rPr lang="en-US" b="1" i="1" dirty="0"/>
              <a:t>Dashed underlines </a:t>
            </a:r>
            <a:r>
              <a:rPr lang="en-US" dirty="0"/>
              <a:t>denote discriminators of weak entity sets.</a:t>
            </a:r>
          </a:p>
          <a:p>
            <a:r>
              <a:rPr lang="en-US" b="1" i="1" dirty="0"/>
              <a:t>Double </a:t>
            </a:r>
            <a:r>
              <a:rPr lang="en-US" altLang="zh-CN" b="1" i="1" dirty="0"/>
              <a:t>diamonds </a:t>
            </a:r>
            <a:r>
              <a:rPr lang="en-US" altLang="zh-CN" dirty="0"/>
              <a:t>denote identifying relationship sets.</a:t>
            </a:r>
          </a:p>
          <a:p>
            <a:r>
              <a:rPr lang="en-US" dirty="0"/>
              <a:t>Assume we model the original “enroll” relationship set without constraints.</a:t>
            </a:r>
          </a:p>
          <a:p>
            <a:r>
              <a:rPr lang="en-US" dirty="0"/>
              <a:t>After adding the weak entity set “section”,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9572D6-8BCC-C921-84C9-AFD8B484726B}"/>
              </a:ext>
            </a:extLst>
          </p:cNvPr>
          <p:cNvGrpSpPr/>
          <p:nvPr/>
        </p:nvGrpSpPr>
        <p:grpSpPr>
          <a:xfrm>
            <a:off x="1958450" y="4431104"/>
            <a:ext cx="5863462" cy="1314597"/>
            <a:chOff x="1958450" y="4431104"/>
            <a:chExt cx="5863462" cy="1314597"/>
          </a:xfrm>
        </p:grpSpPr>
        <p:sp>
          <p:nvSpPr>
            <p:cNvPr id="10" name="矩形 3">
              <a:extLst>
                <a:ext uri="{FF2B5EF4-FFF2-40B4-BE49-F238E27FC236}">
                  <a16:creationId xmlns:a16="http://schemas.microsoft.com/office/drawing/2014/main" id="{B428A0EB-C3BD-4C17-9F35-B07A892628C7}"/>
                </a:ext>
              </a:extLst>
            </p:cNvPr>
            <p:cNvSpPr/>
            <p:nvPr/>
          </p:nvSpPr>
          <p:spPr>
            <a:xfrm>
              <a:off x="1958450" y="4661514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矩形 3">
              <a:extLst>
                <a:ext uri="{FF2B5EF4-FFF2-40B4-BE49-F238E27FC236}">
                  <a16:creationId xmlns:a16="http://schemas.microsoft.com/office/drawing/2014/main" id="{291DE07D-B74A-4A3D-8A99-944D108EEF34}"/>
                </a:ext>
              </a:extLst>
            </p:cNvPr>
            <p:cNvSpPr/>
            <p:nvPr/>
          </p:nvSpPr>
          <p:spPr>
            <a:xfrm>
              <a:off x="4847996" y="4661514"/>
              <a:ext cx="930783" cy="307777"/>
            </a:xfrm>
            <a:prstGeom prst="rect">
              <a:avLst/>
            </a:prstGeom>
            <a:noFill/>
            <a:ln w="2857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section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组合 6">
              <a:extLst>
                <a:ext uri="{FF2B5EF4-FFF2-40B4-BE49-F238E27FC236}">
                  <a16:creationId xmlns:a16="http://schemas.microsoft.com/office/drawing/2014/main" id="{62824546-2EB1-45C7-8737-E4944EFD328B}"/>
                </a:ext>
              </a:extLst>
            </p:cNvPr>
            <p:cNvGrpSpPr/>
            <p:nvPr/>
          </p:nvGrpSpPr>
          <p:grpSpPr>
            <a:xfrm>
              <a:off x="3495681" y="4431104"/>
              <a:ext cx="768596" cy="768596"/>
              <a:chOff x="3920969" y="4874243"/>
              <a:chExt cx="824886" cy="824886"/>
            </a:xfrm>
          </p:grpSpPr>
          <p:sp>
            <p:nvSpPr>
              <p:cNvPr id="15" name="菱形 4">
                <a:extLst>
                  <a:ext uri="{FF2B5EF4-FFF2-40B4-BE49-F238E27FC236}">
                    <a16:creationId xmlns:a16="http://schemas.microsoft.com/office/drawing/2014/main" id="{F76466EF-5FBE-4D8B-A4FF-C38429BCC8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文本框 5">
                <a:extLst>
                  <a:ext uri="{FF2B5EF4-FFF2-40B4-BE49-F238E27FC236}">
                    <a16:creationId xmlns:a16="http://schemas.microsoft.com/office/drawing/2014/main" id="{D632A10C-B226-48C1-839E-E5C82ABD8EAD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67861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enroll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3FA134B-98F0-4059-8F6B-1F7934CFB209}"/>
                </a:ext>
              </a:extLst>
            </p:cNvPr>
            <p:cNvCxnSpPr>
              <a:stCxn id="10" idx="3"/>
              <a:endCxn id="15" idx="1"/>
            </p:cNvCxnSpPr>
            <p:nvPr/>
          </p:nvCxnSpPr>
          <p:spPr>
            <a:xfrm flipV="1">
              <a:off x="2889233" y="4815402"/>
              <a:ext cx="606448" cy="1"/>
            </a:xfrm>
            <a:prstGeom prst="line">
              <a:avLst/>
            </a:prstGeom>
            <a:ln w="15875" cmpd="sng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BB0D642-9EA8-4AF8-B99E-84DE892867C4}"/>
                </a:ext>
              </a:extLst>
            </p:cNvPr>
            <p:cNvCxnSpPr>
              <a:stCxn id="15" idx="3"/>
              <a:endCxn id="11" idx="1"/>
            </p:cNvCxnSpPr>
            <p:nvPr/>
          </p:nvCxnSpPr>
          <p:spPr>
            <a:xfrm>
              <a:off x="4264277" y="4815402"/>
              <a:ext cx="583719" cy="1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3">
              <a:extLst>
                <a:ext uri="{FF2B5EF4-FFF2-40B4-BE49-F238E27FC236}">
                  <a16:creationId xmlns:a16="http://schemas.microsoft.com/office/drawing/2014/main" id="{BED5028C-5441-40F2-A82C-41DC5003128E}"/>
                </a:ext>
              </a:extLst>
            </p:cNvPr>
            <p:cNvSpPr/>
            <p:nvPr/>
          </p:nvSpPr>
          <p:spPr>
            <a:xfrm>
              <a:off x="3372963" y="5430109"/>
              <a:ext cx="101403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C98D76D-216B-4E8D-B99D-8B700855D2EC}"/>
                </a:ext>
              </a:extLst>
            </p:cNvPr>
            <p:cNvCxnSpPr>
              <a:stCxn id="15" idx="2"/>
              <a:endCxn id="8" idx="0"/>
            </p:cNvCxnSpPr>
            <p:nvPr/>
          </p:nvCxnSpPr>
          <p:spPr>
            <a:xfrm>
              <a:off x="3879979" y="5199700"/>
              <a:ext cx="0" cy="230409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3">
              <a:extLst>
                <a:ext uri="{FF2B5EF4-FFF2-40B4-BE49-F238E27FC236}">
                  <a16:creationId xmlns:a16="http://schemas.microsoft.com/office/drawing/2014/main" id="{DB623CE2-1ECB-432D-822F-BC1A91D040B0}"/>
                </a:ext>
              </a:extLst>
            </p:cNvPr>
            <p:cNvSpPr/>
            <p:nvPr/>
          </p:nvSpPr>
          <p:spPr>
            <a:xfrm>
              <a:off x="6626174" y="5437924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course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BB9F607-A432-49E6-ADA1-4667E104E381}"/>
                </a:ext>
              </a:extLst>
            </p:cNvPr>
            <p:cNvCxnSpPr>
              <a:cxnSpLocks/>
              <a:stCxn id="11" idx="3"/>
              <a:endCxn id="20" idx="1"/>
            </p:cNvCxnSpPr>
            <p:nvPr/>
          </p:nvCxnSpPr>
          <p:spPr>
            <a:xfrm flipV="1">
              <a:off x="5778779" y="4815402"/>
              <a:ext cx="582443" cy="1"/>
            </a:xfrm>
            <a:prstGeom prst="line">
              <a:avLst/>
            </a:prstGeom>
            <a:ln w="34925" cmpd="dbl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组合 6">
              <a:extLst>
                <a:ext uri="{FF2B5EF4-FFF2-40B4-BE49-F238E27FC236}">
                  <a16:creationId xmlns:a16="http://schemas.microsoft.com/office/drawing/2014/main" id="{AB666540-0B4D-46A3-AD7B-72064F9D6055}"/>
                </a:ext>
              </a:extLst>
            </p:cNvPr>
            <p:cNvGrpSpPr/>
            <p:nvPr/>
          </p:nvGrpSpPr>
          <p:grpSpPr>
            <a:xfrm>
              <a:off x="6361222" y="4431104"/>
              <a:ext cx="1460690" cy="768596"/>
              <a:chOff x="3920968" y="4874243"/>
              <a:chExt cx="1567667" cy="824886"/>
            </a:xfrm>
          </p:grpSpPr>
          <p:sp>
            <p:nvSpPr>
              <p:cNvPr id="20" name="菱形 4">
                <a:extLst>
                  <a:ext uri="{FF2B5EF4-FFF2-40B4-BE49-F238E27FC236}">
                    <a16:creationId xmlns:a16="http://schemas.microsoft.com/office/drawing/2014/main" id="{D73D2CD6-516E-4268-A4DB-626261B505A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8" y="4874243"/>
                <a:ext cx="1567666" cy="824886"/>
              </a:xfrm>
              <a:prstGeom prst="diamond">
                <a:avLst/>
              </a:prstGeom>
              <a:noFill/>
              <a:ln w="28575" cmpd="dbl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文本框 5">
                <a:extLst>
                  <a:ext uri="{FF2B5EF4-FFF2-40B4-BE49-F238E27FC236}">
                    <a16:creationId xmlns:a16="http://schemas.microsoft.com/office/drawing/2014/main" id="{B15F5C9A-637B-4EA9-B976-2CFD6CD7CA59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1490214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course_section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4DF80CC-905F-4CEC-9BC2-4C7A725BD875}"/>
                </a:ext>
              </a:extLst>
            </p:cNvPr>
            <p:cNvCxnSpPr>
              <a:cxnSpLocks/>
              <a:stCxn id="20" idx="2"/>
              <a:endCxn id="17" idx="0"/>
            </p:cNvCxnSpPr>
            <p:nvPr/>
          </p:nvCxnSpPr>
          <p:spPr>
            <a:xfrm flipH="1">
              <a:off x="7091566" y="5199700"/>
              <a:ext cx="1" cy="238224"/>
            </a:xfrm>
            <a:prstGeom prst="line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5">
              <a:extLst>
                <a:ext uri="{FF2B5EF4-FFF2-40B4-BE49-F238E27FC236}">
                  <a16:creationId xmlns:a16="http://schemas.microsoft.com/office/drawing/2014/main" id="{F40C1639-E358-4CDA-A63D-37F51673BD35}"/>
                </a:ext>
              </a:extLst>
            </p:cNvPr>
            <p:cNvSpPr/>
            <p:nvPr/>
          </p:nvSpPr>
          <p:spPr>
            <a:xfrm>
              <a:off x="4579782" y="5229925"/>
              <a:ext cx="1467209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dottedHeavy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section_num</a:t>
              </a:r>
              <a:endParaRPr lang="zh-CN" altLang="en-US" sz="1400" i="1" u="dottedHeavy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E1FA4D9-F1E4-4C5B-BE97-5C8E5FDD0829}"/>
                </a:ext>
              </a:extLst>
            </p:cNvPr>
            <p:cNvCxnSpPr>
              <a:stCxn id="11" idx="2"/>
              <a:endCxn id="30" idx="0"/>
            </p:cNvCxnSpPr>
            <p:nvPr/>
          </p:nvCxnSpPr>
          <p:spPr>
            <a:xfrm flipH="1">
              <a:off x="5313387" y="4969291"/>
              <a:ext cx="1" cy="26063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5355DBE7-14D8-458C-A018-668A681EB6D3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79C1C2C2-11E2-498A-8399-B0B37A7EFC1E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AD46515A-F69D-4446-964C-AD558D267E5E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42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43C8-2896-4071-B159-A0244915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Generalization and Specialization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4B42-ECDF-4158-9B99-BE075FD4E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199"/>
            <a:ext cx="7886700" cy="4467497"/>
          </a:xfrm>
        </p:spPr>
        <p:txBody>
          <a:bodyPr/>
          <a:lstStyle/>
          <a:p>
            <a:r>
              <a:rPr lang="en-US" dirty="0"/>
              <a:t>Let’s look at the entity sets “student” and “instructor” again.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Both of them have attributes id, name, major, and phone number because they are all persons.</a:t>
            </a:r>
          </a:p>
          <a:p>
            <a:r>
              <a:rPr lang="en-US" dirty="0"/>
              <a:t>At the same time, these two entity sets cannot be </a:t>
            </a:r>
            <a:r>
              <a:rPr lang="en-US" altLang="zh-CN" dirty="0"/>
              <a:t>merged as one because students are not instructors.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992546-2F9B-441D-A2AA-9419B90CE6F9}"/>
              </a:ext>
            </a:extLst>
          </p:cNvPr>
          <p:cNvGrpSpPr/>
          <p:nvPr/>
        </p:nvGrpSpPr>
        <p:grpSpPr>
          <a:xfrm>
            <a:off x="1190308" y="2085677"/>
            <a:ext cx="2600836" cy="2014835"/>
            <a:chOff x="2855061" y="3907873"/>
            <a:chExt cx="2600836" cy="2014835"/>
          </a:xfrm>
        </p:grpSpPr>
        <p:sp>
          <p:nvSpPr>
            <p:cNvPr id="5" name="椭圆 7">
              <a:extLst>
                <a:ext uri="{FF2B5EF4-FFF2-40B4-BE49-F238E27FC236}">
                  <a16:creationId xmlns:a16="http://schemas.microsoft.com/office/drawing/2014/main" id="{AAEFD6E7-29F4-4279-AB19-8B97704460D7}"/>
                </a:ext>
              </a:extLst>
            </p:cNvPr>
            <p:cNvSpPr/>
            <p:nvPr/>
          </p:nvSpPr>
          <p:spPr>
            <a:xfrm>
              <a:off x="2855061" y="4595603"/>
              <a:ext cx="817594" cy="354072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3AE38B2-ECB2-4516-95CF-998AF67A852C}"/>
                </a:ext>
              </a:extLst>
            </p:cNvPr>
            <p:cNvCxnSpPr>
              <a:cxnSpLocks/>
              <a:stCxn id="5" idx="6"/>
              <a:endCxn id="7" idx="1"/>
            </p:cNvCxnSpPr>
            <p:nvPr/>
          </p:nvCxnSpPr>
          <p:spPr>
            <a:xfrm flipV="1">
              <a:off x="3672655" y="4772231"/>
              <a:ext cx="425348" cy="40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3">
              <a:extLst>
                <a:ext uri="{FF2B5EF4-FFF2-40B4-BE49-F238E27FC236}">
                  <a16:creationId xmlns:a16="http://schemas.microsoft.com/office/drawing/2014/main" id="{F00342E9-D4AC-4315-B4C4-1E23A7AB5D9F}"/>
                </a:ext>
              </a:extLst>
            </p:cNvPr>
            <p:cNvSpPr/>
            <p:nvPr/>
          </p:nvSpPr>
          <p:spPr>
            <a:xfrm>
              <a:off x="4098003" y="4618342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962E012-868A-49A3-ABCA-3460742332DC}"/>
                </a:ext>
              </a:extLst>
            </p:cNvPr>
            <p:cNvSpPr/>
            <p:nvPr/>
          </p:nvSpPr>
          <p:spPr>
            <a:xfrm>
              <a:off x="3770271" y="3949661"/>
              <a:ext cx="4765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22">
              <a:extLst>
                <a:ext uri="{FF2B5EF4-FFF2-40B4-BE49-F238E27FC236}">
                  <a16:creationId xmlns:a16="http://schemas.microsoft.com/office/drawing/2014/main" id="{24BB6EE6-EB65-403B-93AC-4679AC2E0647}"/>
                </a:ext>
              </a:extLst>
            </p:cNvPr>
            <p:cNvSpPr/>
            <p:nvPr/>
          </p:nvSpPr>
          <p:spPr>
            <a:xfrm>
              <a:off x="4753912" y="3907873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23">
              <a:extLst>
                <a:ext uri="{FF2B5EF4-FFF2-40B4-BE49-F238E27FC236}">
                  <a16:creationId xmlns:a16="http://schemas.microsoft.com/office/drawing/2014/main" id="{6DFB845B-26B8-477A-9CD1-06086C4BD557}"/>
                </a:ext>
              </a:extLst>
            </p:cNvPr>
            <p:cNvSpPr/>
            <p:nvPr/>
          </p:nvSpPr>
          <p:spPr>
            <a:xfrm>
              <a:off x="3688102" y="5200676"/>
              <a:ext cx="5583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24">
              <a:extLst>
                <a:ext uri="{FF2B5EF4-FFF2-40B4-BE49-F238E27FC236}">
                  <a16:creationId xmlns:a16="http://schemas.microsoft.com/office/drawing/2014/main" id="{DFA857E3-7C5C-41F8-A2BD-083FEF1ED217}"/>
                </a:ext>
              </a:extLst>
            </p:cNvPr>
            <p:cNvSpPr/>
            <p:nvPr/>
          </p:nvSpPr>
          <p:spPr>
            <a:xfrm>
              <a:off x="4826995" y="5214564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major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" name="直接连接符 9">
              <a:extLst>
                <a:ext uri="{FF2B5EF4-FFF2-40B4-BE49-F238E27FC236}">
                  <a16:creationId xmlns:a16="http://schemas.microsoft.com/office/drawing/2014/main" id="{3A492AF5-CBAA-4A69-A054-19EEC0D88BE9}"/>
                </a:ext>
              </a:extLst>
            </p:cNvPr>
            <p:cNvCxnSpPr>
              <a:cxnSpLocks/>
              <a:stCxn id="8" idx="5"/>
              <a:endCxn id="7" idx="0"/>
            </p:cNvCxnSpPr>
            <p:nvPr/>
          </p:nvCxnSpPr>
          <p:spPr>
            <a:xfrm>
              <a:off x="4177011" y="4251880"/>
              <a:ext cx="386384" cy="36646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1">
              <a:extLst>
                <a:ext uri="{FF2B5EF4-FFF2-40B4-BE49-F238E27FC236}">
                  <a16:creationId xmlns:a16="http://schemas.microsoft.com/office/drawing/2014/main" id="{EB355713-561C-41F4-96FD-CA616B752303}"/>
                </a:ext>
              </a:extLst>
            </p:cNvPr>
            <p:cNvCxnSpPr>
              <a:stCxn id="9" idx="3"/>
              <a:endCxn id="7" idx="0"/>
            </p:cNvCxnSpPr>
            <p:nvPr/>
          </p:nvCxnSpPr>
          <p:spPr>
            <a:xfrm flipH="1">
              <a:off x="4563395" y="4210092"/>
              <a:ext cx="282618" cy="4082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28">
              <a:extLst>
                <a:ext uri="{FF2B5EF4-FFF2-40B4-BE49-F238E27FC236}">
                  <a16:creationId xmlns:a16="http://schemas.microsoft.com/office/drawing/2014/main" id="{26EEB4D8-095E-4617-A45B-619C2FF50505}"/>
                </a:ext>
              </a:extLst>
            </p:cNvPr>
            <p:cNvCxnSpPr>
              <a:cxnSpLocks/>
              <a:stCxn id="10" idx="0"/>
              <a:endCxn id="7" idx="2"/>
            </p:cNvCxnSpPr>
            <p:nvPr/>
          </p:nvCxnSpPr>
          <p:spPr>
            <a:xfrm flipV="1">
              <a:off x="3967265" y="4926119"/>
              <a:ext cx="596130" cy="274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30">
              <a:extLst>
                <a:ext uri="{FF2B5EF4-FFF2-40B4-BE49-F238E27FC236}">
                  <a16:creationId xmlns:a16="http://schemas.microsoft.com/office/drawing/2014/main" id="{2798FEC2-1029-42F6-A832-997DF2F6F061}"/>
                </a:ext>
              </a:extLst>
            </p:cNvPr>
            <p:cNvCxnSpPr>
              <a:stCxn id="11" idx="1"/>
              <a:endCxn id="7" idx="2"/>
            </p:cNvCxnSpPr>
            <p:nvPr/>
          </p:nvCxnSpPr>
          <p:spPr>
            <a:xfrm flipH="1" flipV="1">
              <a:off x="4563395" y="4926119"/>
              <a:ext cx="355701" cy="3402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24">
              <a:extLst>
                <a:ext uri="{FF2B5EF4-FFF2-40B4-BE49-F238E27FC236}">
                  <a16:creationId xmlns:a16="http://schemas.microsoft.com/office/drawing/2014/main" id="{E7A92526-A08D-4D50-AC1E-D6F1AE0CDCF7}"/>
                </a:ext>
              </a:extLst>
            </p:cNvPr>
            <p:cNvSpPr/>
            <p:nvPr/>
          </p:nvSpPr>
          <p:spPr>
            <a:xfrm>
              <a:off x="4229598" y="5568636"/>
              <a:ext cx="515474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GPA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7" name="直接连接符 30">
              <a:extLst>
                <a:ext uri="{FF2B5EF4-FFF2-40B4-BE49-F238E27FC236}">
                  <a16:creationId xmlns:a16="http://schemas.microsoft.com/office/drawing/2014/main" id="{1F002DD8-A26C-4C3D-A145-259FB85AC43D}"/>
                </a:ext>
              </a:extLst>
            </p:cNvPr>
            <p:cNvCxnSpPr>
              <a:cxnSpLocks/>
              <a:stCxn id="16" idx="0"/>
              <a:endCxn id="7" idx="2"/>
            </p:cNvCxnSpPr>
            <p:nvPr/>
          </p:nvCxnSpPr>
          <p:spPr>
            <a:xfrm flipV="1">
              <a:off x="4487335" y="4926119"/>
              <a:ext cx="76060" cy="64251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E384DB-D30B-4CAF-BAB7-049C2BBA434C}"/>
              </a:ext>
            </a:extLst>
          </p:cNvPr>
          <p:cNvGrpSpPr/>
          <p:nvPr/>
        </p:nvGrpSpPr>
        <p:grpSpPr>
          <a:xfrm>
            <a:off x="4790471" y="2089895"/>
            <a:ext cx="2679271" cy="2010617"/>
            <a:chOff x="163638" y="3247183"/>
            <a:chExt cx="2679271" cy="2010617"/>
          </a:xfrm>
        </p:grpSpPr>
        <p:sp>
          <p:nvSpPr>
            <p:cNvPr id="19" name="矩形 3">
              <a:extLst>
                <a:ext uri="{FF2B5EF4-FFF2-40B4-BE49-F238E27FC236}">
                  <a16:creationId xmlns:a16="http://schemas.microsoft.com/office/drawing/2014/main" id="{F605FE46-BD3A-4C5D-B1EA-2A68A7DCE4CF}"/>
                </a:ext>
              </a:extLst>
            </p:cNvPr>
            <p:cNvSpPr/>
            <p:nvPr/>
          </p:nvSpPr>
          <p:spPr>
            <a:xfrm>
              <a:off x="1411257" y="3957652"/>
              <a:ext cx="100454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椭圆 7">
              <a:extLst>
                <a:ext uri="{FF2B5EF4-FFF2-40B4-BE49-F238E27FC236}">
                  <a16:creationId xmlns:a16="http://schemas.microsoft.com/office/drawing/2014/main" id="{D77C7CB1-ACCA-42D0-8386-98B7F382C921}"/>
                </a:ext>
              </a:extLst>
            </p:cNvPr>
            <p:cNvSpPr/>
            <p:nvPr/>
          </p:nvSpPr>
          <p:spPr>
            <a:xfrm>
              <a:off x="1157283" y="3288971"/>
              <a:ext cx="4765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椭圆 22">
              <a:extLst>
                <a:ext uri="{FF2B5EF4-FFF2-40B4-BE49-F238E27FC236}">
                  <a16:creationId xmlns:a16="http://schemas.microsoft.com/office/drawing/2014/main" id="{F5F8DB60-A4A1-4F63-81F7-6A4C925C6918}"/>
                </a:ext>
              </a:extLst>
            </p:cNvPr>
            <p:cNvSpPr/>
            <p:nvPr/>
          </p:nvSpPr>
          <p:spPr>
            <a:xfrm>
              <a:off x="2140924" y="3247183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椭圆 23">
              <a:extLst>
                <a:ext uri="{FF2B5EF4-FFF2-40B4-BE49-F238E27FC236}">
                  <a16:creationId xmlns:a16="http://schemas.microsoft.com/office/drawing/2014/main" id="{86992E89-B494-41CB-888B-4450319BB0E9}"/>
                </a:ext>
              </a:extLst>
            </p:cNvPr>
            <p:cNvSpPr/>
            <p:nvPr/>
          </p:nvSpPr>
          <p:spPr>
            <a:xfrm>
              <a:off x="1075114" y="4539986"/>
              <a:ext cx="5583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title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椭圆 24">
              <a:extLst>
                <a:ext uri="{FF2B5EF4-FFF2-40B4-BE49-F238E27FC236}">
                  <a16:creationId xmlns:a16="http://schemas.microsoft.com/office/drawing/2014/main" id="{EE8BD141-8C10-4C66-8CF6-6F400FDE90A3}"/>
                </a:ext>
              </a:extLst>
            </p:cNvPr>
            <p:cNvSpPr/>
            <p:nvPr/>
          </p:nvSpPr>
          <p:spPr>
            <a:xfrm>
              <a:off x="2214007" y="4553874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major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直接连接符 9">
              <a:extLst>
                <a:ext uri="{FF2B5EF4-FFF2-40B4-BE49-F238E27FC236}">
                  <a16:creationId xmlns:a16="http://schemas.microsoft.com/office/drawing/2014/main" id="{4ED41740-314B-4662-9327-9EC5D6C0413F}"/>
                </a:ext>
              </a:extLst>
            </p:cNvPr>
            <p:cNvCxnSpPr>
              <a:cxnSpLocks/>
              <a:stCxn id="20" idx="5"/>
              <a:endCxn id="19" idx="0"/>
            </p:cNvCxnSpPr>
            <p:nvPr/>
          </p:nvCxnSpPr>
          <p:spPr>
            <a:xfrm>
              <a:off x="1564023" y="3591190"/>
              <a:ext cx="349505" cy="36646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11">
              <a:extLst>
                <a:ext uri="{FF2B5EF4-FFF2-40B4-BE49-F238E27FC236}">
                  <a16:creationId xmlns:a16="http://schemas.microsoft.com/office/drawing/2014/main" id="{E6FAC4FE-996B-4426-96EA-C41C87291B16}"/>
                </a:ext>
              </a:extLst>
            </p:cNvPr>
            <p:cNvCxnSpPr>
              <a:cxnSpLocks/>
              <a:stCxn id="21" idx="3"/>
              <a:endCxn id="19" idx="0"/>
            </p:cNvCxnSpPr>
            <p:nvPr/>
          </p:nvCxnSpPr>
          <p:spPr>
            <a:xfrm flipH="1">
              <a:off x="1913528" y="3549402"/>
              <a:ext cx="319497" cy="4082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8">
              <a:extLst>
                <a:ext uri="{FF2B5EF4-FFF2-40B4-BE49-F238E27FC236}">
                  <a16:creationId xmlns:a16="http://schemas.microsoft.com/office/drawing/2014/main" id="{5BF0C507-F272-4EDE-8342-FAD81614925E}"/>
                </a:ext>
              </a:extLst>
            </p:cNvPr>
            <p:cNvCxnSpPr>
              <a:cxnSpLocks/>
              <a:stCxn id="22" idx="0"/>
              <a:endCxn id="19" idx="2"/>
            </p:cNvCxnSpPr>
            <p:nvPr/>
          </p:nvCxnSpPr>
          <p:spPr>
            <a:xfrm flipV="1">
              <a:off x="1354277" y="4265429"/>
              <a:ext cx="559251" cy="274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0">
              <a:extLst>
                <a:ext uri="{FF2B5EF4-FFF2-40B4-BE49-F238E27FC236}">
                  <a16:creationId xmlns:a16="http://schemas.microsoft.com/office/drawing/2014/main" id="{4B02FE26-5D82-49C3-8149-923DF924A3D2}"/>
                </a:ext>
              </a:extLst>
            </p:cNvPr>
            <p:cNvCxnSpPr>
              <a:cxnSpLocks/>
              <a:stCxn id="23" idx="1"/>
              <a:endCxn id="19" idx="2"/>
            </p:cNvCxnSpPr>
            <p:nvPr/>
          </p:nvCxnSpPr>
          <p:spPr>
            <a:xfrm flipH="1" flipV="1">
              <a:off x="1913528" y="4265429"/>
              <a:ext cx="392580" cy="34029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3">
              <a:extLst>
                <a:ext uri="{FF2B5EF4-FFF2-40B4-BE49-F238E27FC236}">
                  <a16:creationId xmlns:a16="http://schemas.microsoft.com/office/drawing/2014/main" id="{8A5566FB-7CF6-40C8-9E64-F0336D351903}"/>
                </a:ext>
              </a:extLst>
            </p:cNvPr>
            <p:cNvSpPr/>
            <p:nvPr/>
          </p:nvSpPr>
          <p:spPr>
            <a:xfrm>
              <a:off x="1544941" y="4903728"/>
              <a:ext cx="735323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salary</a:t>
              </a:r>
            </a:p>
          </p:txBody>
        </p:sp>
        <p:cxnSp>
          <p:nvCxnSpPr>
            <p:cNvPr id="29" name="直接连接符 11">
              <a:extLst>
                <a:ext uri="{FF2B5EF4-FFF2-40B4-BE49-F238E27FC236}">
                  <a16:creationId xmlns:a16="http://schemas.microsoft.com/office/drawing/2014/main" id="{DBF73235-1C87-4EFC-BF5F-39284A448F53}"/>
                </a:ext>
              </a:extLst>
            </p:cNvPr>
            <p:cNvCxnSpPr>
              <a:cxnSpLocks/>
              <a:stCxn id="28" idx="0"/>
              <a:endCxn id="19" idx="2"/>
            </p:cNvCxnSpPr>
            <p:nvPr/>
          </p:nvCxnSpPr>
          <p:spPr>
            <a:xfrm flipV="1">
              <a:off x="1912603" y="4265429"/>
              <a:ext cx="925" cy="63829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7">
              <a:extLst>
                <a:ext uri="{FF2B5EF4-FFF2-40B4-BE49-F238E27FC236}">
                  <a16:creationId xmlns:a16="http://schemas.microsoft.com/office/drawing/2014/main" id="{067BC10E-3E82-4073-8999-5D1AB6F78D38}"/>
                </a:ext>
              </a:extLst>
            </p:cNvPr>
            <p:cNvSpPr/>
            <p:nvPr/>
          </p:nvSpPr>
          <p:spPr>
            <a:xfrm>
              <a:off x="163638" y="3934504"/>
              <a:ext cx="817594" cy="354072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40434E0-7813-48CE-A536-049099ABC3F9}"/>
                </a:ext>
              </a:extLst>
            </p:cNvPr>
            <p:cNvCxnSpPr>
              <a:cxnSpLocks/>
              <a:stCxn id="30" idx="6"/>
              <a:endCxn id="19" idx="1"/>
            </p:cNvCxnSpPr>
            <p:nvPr/>
          </p:nvCxnSpPr>
          <p:spPr>
            <a:xfrm>
              <a:off x="981232" y="4111540"/>
              <a:ext cx="430025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63A5B5E1-5AC8-4997-8CEF-0A283E7957F9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3F837D68-9F5B-435D-8235-7A521C71C85C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3ED60070-0CE4-417C-8457-EF929ED26F89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51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1278E-BCEB-4D02-B584-F12BCD6F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and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D0373-19C9-4BEC-A44A-91512504E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199709"/>
          </a:xfrm>
        </p:spPr>
        <p:txBody>
          <a:bodyPr>
            <a:normAutofit/>
          </a:bodyPr>
          <a:lstStyle/>
          <a:p>
            <a:r>
              <a:rPr lang="en-US" dirty="0"/>
              <a:t>For this case, an entity set “person” is usually created to hold the </a:t>
            </a:r>
            <a:r>
              <a:rPr lang="en-US" altLang="zh-CN" dirty="0"/>
              <a:t>common attributes.</a:t>
            </a:r>
          </a:p>
          <a:p>
            <a:r>
              <a:rPr lang="en-US" dirty="0"/>
              <a:t>This is called </a:t>
            </a:r>
            <a:r>
              <a:rPr lang="en-US" b="1" i="1" dirty="0"/>
              <a:t>generalization</a:t>
            </a:r>
            <a:r>
              <a:rPr lang="en-US" dirty="0"/>
              <a:t>, finding common properties among several different entity sets.</a:t>
            </a:r>
          </a:p>
          <a:p>
            <a:r>
              <a:rPr lang="en-US" dirty="0"/>
              <a:t>The entity sets “student” and “instructor” are also remained to keep their special attributes.</a:t>
            </a:r>
          </a:p>
          <a:p>
            <a:r>
              <a:rPr lang="en-US" dirty="0"/>
              <a:t>A special relationship set, </a:t>
            </a:r>
            <a:r>
              <a:rPr lang="en-US" b="1" i="1" dirty="0"/>
              <a:t>ISA </a:t>
            </a:r>
            <a:r>
              <a:rPr lang="en-US" dirty="0"/>
              <a:t>is used to show the connection among “person”, “student”, and “instructor”.</a:t>
            </a:r>
          </a:p>
          <a:p>
            <a:r>
              <a:rPr lang="en-US" dirty="0"/>
              <a:t>The </a:t>
            </a:r>
            <a:r>
              <a:rPr lang="en-US" altLang="zh-CN" dirty="0"/>
              <a:t>intuition is that a student </a:t>
            </a:r>
            <a:r>
              <a:rPr lang="en-US" altLang="zh-CN" b="1" i="1" dirty="0"/>
              <a:t>is a </a:t>
            </a:r>
            <a:r>
              <a:rPr lang="en-US" altLang="zh-CN" dirty="0"/>
              <a:t>person.</a:t>
            </a:r>
          </a:p>
          <a:p>
            <a:r>
              <a:rPr lang="en-US" dirty="0"/>
              <a:t>The entity set “person” is also a super set of “student” and “instructor”.</a:t>
            </a:r>
          </a:p>
        </p:txBody>
      </p:sp>
      <p:sp>
        <p:nvSpPr>
          <p:cNvPr id="4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FA71A6DD-C4CD-4CAA-B2D6-56C00C10CC27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E59634DF-C7AD-423D-996D-C5E0CD8A2A15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42079D3C-AC17-45E3-859D-6C8DBE1742F3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83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4DF9-8B8D-49AB-8288-48B2FEDC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and </a:t>
            </a:r>
            <a:r>
              <a:rPr lang="en-US" altLang="zh-CN" dirty="0"/>
              <a:t>Specialization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B2963-D986-4E28-A39D-920F5A598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ISA relationship sets are denoted by </a:t>
            </a:r>
            <a:r>
              <a:rPr lang="en-US" altLang="zh-CN" b="1" i="1" dirty="0"/>
              <a:t>triangles</a:t>
            </a:r>
            <a:r>
              <a:rPr lang="en-US" altLang="zh-CN" dirty="0"/>
              <a:t>.</a:t>
            </a:r>
          </a:p>
          <a:p>
            <a:r>
              <a:rPr lang="en-US" dirty="0"/>
              <a:t>The super set is usually placed above the triangle.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296C1E8-520B-4B52-8D90-15494B5366A7}"/>
              </a:ext>
            </a:extLst>
          </p:cNvPr>
          <p:cNvGrpSpPr/>
          <p:nvPr/>
        </p:nvGrpSpPr>
        <p:grpSpPr>
          <a:xfrm>
            <a:off x="2666651" y="2811163"/>
            <a:ext cx="3995937" cy="2758134"/>
            <a:chOff x="2674467" y="2373501"/>
            <a:chExt cx="3995937" cy="2758134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0DF87B7-F23B-410C-8C60-7E360BF058EF}"/>
                </a:ext>
              </a:extLst>
            </p:cNvPr>
            <p:cNvGrpSpPr/>
            <p:nvPr/>
          </p:nvGrpSpPr>
          <p:grpSpPr>
            <a:xfrm>
              <a:off x="2674467" y="4195229"/>
              <a:ext cx="1485129" cy="936406"/>
              <a:chOff x="1517491" y="4858136"/>
              <a:chExt cx="1485129" cy="936406"/>
            </a:xfrm>
          </p:grpSpPr>
          <p:sp>
            <p:nvSpPr>
              <p:cNvPr id="7" name="矩形 3">
                <a:extLst>
                  <a:ext uri="{FF2B5EF4-FFF2-40B4-BE49-F238E27FC236}">
                    <a16:creationId xmlns:a16="http://schemas.microsoft.com/office/drawing/2014/main" id="{91CC3A93-E3B4-4932-806B-06FF11795D39}"/>
                  </a:ext>
                </a:extLst>
              </p:cNvPr>
              <p:cNvSpPr/>
              <p:nvPr/>
            </p:nvSpPr>
            <p:spPr>
              <a:xfrm>
                <a:off x="1927392" y="4858136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student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椭圆 23">
                <a:extLst>
                  <a:ext uri="{FF2B5EF4-FFF2-40B4-BE49-F238E27FC236}">
                    <a16:creationId xmlns:a16="http://schemas.microsoft.com/office/drawing/2014/main" id="{2D321E5C-3D46-450C-B04F-547450310A70}"/>
                  </a:ext>
                </a:extLst>
              </p:cNvPr>
              <p:cNvSpPr/>
              <p:nvPr/>
            </p:nvSpPr>
            <p:spPr>
              <a:xfrm>
                <a:off x="1517491" y="5440470"/>
                <a:ext cx="558326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year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" name="直接连接符 28">
                <a:extLst>
                  <a:ext uri="{FF2B5EF4-FFF2-40B4-BE49-F238E27FC236}">
                    <a16:creationId xmlns:a16="http://schemas.microsoft.com/office/drawing/2014/main" id="{6A1F725A-9C9C-4178-8388-19882F5532A8}"/>
                  </a:ext>
                </a:extLst>
              </p:cNvPr>
              <p:cNvCxnSpPr>
                <a:cxnSpLocks/>
                <a:stCxn id="10" idx="0"/>
                <a:endCxn id="7" idx="2"/>
              </p:cNvCxnSpPr>
              <p:nvPr/>
            </p:nvCxnSpPr>
            <p:spPr>
              <a:xfrm flipV="1">
                <a:off x="1796654" y="5165913"/>
                <a:ext cx="596130" cy="274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椭圆 24">
                <a:extLst>
                  <a:ext uri="{FF2B5EF4-FFF2-40B4-BE49-F238E27FC236}">
                    <a16:creationId xmlns:a16="http://schemas.microsoft.com/office/drawing/2014/main" id="{D161A2FB-3DFE-4D5F-B2B7-60BDB533C9ED}"/>
                  </a:ext>
                </a:extLst>
              </p:cNvPr>
              <p:cNvSpPr/>
              <p:nvPr/>
            </p:nvSpPr>
            <p:spPr>
              <a:xfrm>
                <a:off x="2487146" y="5440470"/>
                <a:ext cx="515474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GPA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7" name="直接连接符 30">
                <a:extLst>
                  <a:ext uri="{FF2B5EF4-FFF2-40B4-BE49-F238E27FC236}">
                    <a16:creationId xmlns:a16="http://schemas.microsoft.com/office/drawing/2014/main" id="{782D1309-D764-4220-AE7D-7903F97C8D5F}"/>
                  </a:ext>
                </a:extLst>
              </p:cNvPr>
              <p:cNvCxnSpPr>
                <a:cxnSpLocks/>
                <a:stCxn id="16" idx="0"/>
                <a:endCxn id="7" idx="2"/>
              </p:cNvCxnSpPr>
              <p:nvPr/>
            </p:nvCxnSpPr>
            <p:spPr>
              <a:xfrm flipH="1" flipV="1">
                <a:off x="2392784" y="5165913"/>
                <a:ext cx="352099" cy="274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DDE7AF3-F4A2-49CB-9AF4-87735D1987D0}"/>
                </a:ext>
              </a:extLst>
            </p:cNvPr>
            <p:cNvGrpSpPr/>
            <p:nvPr/>
          </p:nvGrpSpPr>
          <p:grpSpPr>
            <a:xfrm>
              <a:off x="5039688" y="4172081"/>
              <a:ext cx="1630716" cy="936406"/>
              <a:chOff x="5995793" y="4758024"/>
              <a:chExt cx="1630716" cy="936406"/>
            </a:xfrm>
          </p:grpSpPr>
          <p:sp>
            <p:nvSpPr>
              <p:cNvPr id="19" name="矩形 3">
                <a:extLst>
                  <a:ext uri="{FF2B5EF4-FFF2-40B4-BE49-F238E27FC236}">
                    <a16:creationId xmlns:a16="http://schemas.microsoft.com/office/drawing/2014/main" id="{AE59FA11-62C7-4F1A-90A6-41E8B92B622E}"/>
                  </a:ext>
                </a:extLst>
              </p:cNvPr>
              <p:cNvSpPr/>
              <p:nvPr/>
            </p:nvSpPr>
            <p:spPr>
              <a:xfrm>
                <a:off x="6331936" y="4758024"/>
                <a:ext cx="100454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instructor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椭圆 23">
                <a:extLst>
                  <a:ext uri="{FF2B5EF4-FFF2-40B4-BE49-F238E27FC236}">
                    <a16:creationId xmlns:a16="http://schemas.microsoft.com/office/drawing/2014/main" id="{41A06DB1-560C-49AA-8192-25D53A67111C}"/>
                  </a:ext>
                </a:extLst>
              </p:cNvPr>
              <p:cNvSpPr/>
              <p:nvPr/>
            </p:nvSpPr>
            <p:spPr>
              <a:xfrm>
                <a:off x="5995793" y="5340358"/>
                <a:ext cx="558326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title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6" name="直接连接符 28">
                <a:extLst>
                  <a:ext uri="{FF2B5EF4-FFF2-40B4-BE49-F238E27FC236}">
                    <a16:creationId xmlns:a16="http://schemas.microsoft.com/office/drawing/2014/main" id="{5718C04F-B4E6-47DA-87E6-D113531A3361}"/>
                  </a:ext>
                </a:extLst>
              </p:cNvPr>
              <p:cNvCxnSpPr>
                <a:cxnSpLocks/>
                <a:stCxn id="22" idx="0"/>
                <a:endCxn id="19" idx="2"/>
              </p:cNvCxnSpPr>
              <p:nvPr/>
            </p:nvCxnSpPr>
            <p:spPr>
              <a:xfrm flipV="1">
                <a:off x="6274956" y="5065801"/>
                <a:ext cx="559251" cy="274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椭圆 23">
                <a:extLst>
                  <a:ext uri="{FF2B5EF4-FFF2-40B4-BE49-F238E27FC236}">
                    <a16:creationId xmlns:a16="http://schemas.microsoft.com/office/drawing/2014/main" id="{811CBA6F-B505-4EB3-9411-DA40BCB3A79E}"/>
                  </a:ext>
                </a:extLst>
              </p:cNvPr>
              <p:cNvSpPr/>
              <p:nvPr/>
            </p:nvSpPr>
            <p:spPr>
              <a:xfrm>
                <a:off x="6891186" y="5340358"/>
                <a:ext cx="735323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salary</a:t>
                </a:r>
              </a:p>
            </p:txBody>
          </p:sp>
          <p:cxnSp>
            <p:nvCxnSpPr>
              <p:cNvPr id="29" name="直接连接符 11">
                <a:extLst>
                  <a:ext uri="{FF2B5EF4-FFF2-40B4-BE49-F238E27FC236}">
                    <a16:creationId xmlns:a16="http://schemas.microsoft.com/office/drawing/2014/main" id="{F9944DC7-34D4-4598-93F6-1D217D928E29}"/>
                  </a:ext>
                </a:extLst>
              </p:cNvPr>
              <p:cNvCxnSpPr>
                <a:cxnSpLocks/>
                <a:stCxn id="28" idx="0"/>
                <a:endCxn id="19" idx="2"/>
              </p:cNvCxnSpPr>
              <p:nvPr/>
            </p:nvCxnSpPr>
            <p:spPr>
              <a:xfrm flipH="1" flipV="1">
                <a:off x="6834207" y="5065801"/>
                <a:ext cx="424641" cy="274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椭圆 7">
              <a:extLst>
                <a:ext uri="{FF2B5EF4-FFF2-40B4-BE49-F238E27FC236}">
                  <a16:creationId xmlns:a16="http://schemas.microsoft.com/office/drawing/2014/main" id="{FC84060B-456B-40DF-AA45-B7FB70F3C501}"/>
                </a:ext>
              </a:extLst>
            </p:cNvPr>
            <p:cNvSpPr/>
            <p:nvPr/>
          </p:nvSpPr>
          <p:spPr>
            <a:xfrm>
              <a:off x="2970011" y="2929581"/>
              <a:ext cx="817594" cy="354072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926BDBB-0D11-48F9-B8A0-6F441039E84B}"/>
                </a:ext>
              </a:extLst>
            </p:cNvPr>
            <p:cNvCxnSpPr>
              <a:cxnSpLocks/>
              <a:stCxn id="33" idx="6"/>
              <a:endCxn id="35" idx="1"/>
            </p:cNvCxnSpPr>
            <p:nvPr/>
          </p:nvCxnSpPr>
          <p:spPr>
            <a:xfrm flipV="1">
              <a:off x="3787605" y="3106209"/>
              <a:ext cx="425348" cy="40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">
              <a:extLst>
                <a:ext uri="{FF2B5EF4-FFF2-40B4-BE49-F238E27FC236}">
                  <a16:creationId xmlns:a16="http://schemas.microsoft.com/office/drawing/2014/main" id="{1A2A6083-9D86-49C5-BD06-BCCEA8BA74B9}"/>
                </a:ext>
              </a:extLst>
            </p:cNvPr>
            <p:cNvSpPr/>
            <p:nvPr/>
          </p:nvSpPr>
          <p:spPr>
            <a:xfrm>
              <a:off x="4212953" y="2952320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person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椭圆 7">
              <a:extLst>
                <a:ext uri="{FF2B5EF4-FFF2-40B4-BE49-F238E27FC236}">
                  <a16:creationId xmlns:a16="http://schemas.microsoft.com/office/drawing/2014/main" id="{7B4B1106-995A-445D-987E-8480DB29E050}"/>
                </a:ext>
              </a:extLst>
            </p:cNvPr>
            <p:cNvSpPr/>
            <p:nvPr/>
          </p:nvSpPr>
          <p:spPr>
            <a:xfrm>
              <a:off x="4076453" y="2424591"/>
              <a:ext cx="4765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椭圆 22">
              <a:extLst>
                <a:ext uri="{FF2B5EF4-FFF2-40B4-BE49-F238E27FC236}">
                  <a16:creationId xmlns:a16="http://schemas.microsoft.com/office/drawing/2014/main" id="{2783937C-4C4D-44F7-945E-02BB1159DB08}"/>
                </a:ext>
              </a:extLst>
            </p:cNvPr>
            <p:cNvSpPr/>
            <p:nvPr/>
          </p:nvSpPr>
          <p:spPr>
            <a:xfrm>
              <a:off x="4829285" y="2373501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椭圆 24">
              <a:extLst>
                <a:ext uri="{FF2B5EF4-FFF2-40B4-BE49-F238E27FC236}">
                  <a16:creationId xmlns:a16="http://schemas.microsoft.com/office/drawing/2014/main" id="{FB8D0EF6-258E-4A2C-B572-B1F6F08CAA99}"/>
                </a:ext>
              </a:extLst>
            </p:cNvPr>
            <p:cNvSpPr/>
            <p:nvPr/>
          </p:nvSpPr>
          <p:spPr>
            <a:xfrm>
              <a:off x="5448192" y="2929581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major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直接连接符 9">
              <a:extLst>
                <a:ext uri="{FF2B5EF4-FFF2-40B4-BE49-F238E27FC236}">
                  <a16:creationId xmlns:a16="http://schemas.microsoft.com/office/drawing/2014/main" id="{63974AD5-1BF7-4754-931D-A66E3380DCC9}"/>
                </a:ext>
              </a:extLst>
            </p:cNvPr>
            <p:cNvCxnSpPr>
              <a:cxnSpLocks/>
              <a:stCxn id="36" idx="5"/>
              <a:endCxn id="35" idx="0"/>
            </p:cNvCxnSpPr>
            <p:nvPr/>
          </p:nvCxnSpPr>
          <p:spPr>
            <a:xfrm>
              <a:off x="4483193" y="2726810"/>
              <a:ext cx="195152" cy="22551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11">
              <a:extLst>
                <a:ext uri="{FF2B5EF4-FFF2-40B4-BE49-F238E27FC236}">
                  <a16:creationId xmlns:a16="http://schemas.microsoft.com/office/drawing/2014/main" id="{AF79FDF6-55A7-4720-843A-68BFA9736B2A}"/>
                </a:ext>
              </a:extLst>
            </p:cNvPr>
            <p:cNvCxnSpPr>
              <a:stCxn id="37" idx="3"/>
              <a:endCxn id="35" idx="0"/>
            </p:cNvCxnSpPr>
            <p:nvPr/>
          </p:nvCxnSpPr>
          <p:spPr>
            <a:xfrm flipH="1">
              <a:off x="4678345" y="2675720"/>
              <a:ext cx="243041" cy="2766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30">
              <a:extLst>
                <a:ext uri="{FF2B5EF4-FFF2-40B4-BE49-F238E27FC236}">
                  <a16:creationId xmlns:a16="http://schemas.microsoft.com/office/drawing/2014/main" id="{8DD87AB1-842A-45B8-B10F-F6E46EBF243B}"/>
                </a:ext>
              </a:extLst>
            </p:cNvPr>
            <p:cNvCxnSpPr>
              <a:cxnSpLocks/>
              <a:stCxn id="39" idx="2"/>
              <a:endCxn id="35" idx="3"/>
            </p:cNvCxnSpPr>
            <p:nvPr/>
          </p:nvCxnSpPr>
          <p:spPr>
            <a:xfrm flipH="1" flipV="1">
              <a:off x="5143736" y="3106209"/>
              <a:ext cx="304456" cy="40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85079D5-EDC6-4A8F-BA65-B815AA03FB05}"/>
                </a:ext>
              </a:extLst>
            </p:cNvPr>
            <p:cNvGrpSpPr/>
            <p:nvPr/>
          </p:nvGrpSpPr>
          <p:grpSpPr>
            <a:xfrm>
              <a:off x="4306788" y="3548497"/>
              <a:ext cx="746146" cy="649708"/>
              <a:chOff x="7093655" y="4025622"/>
              <a:chExt cx="746146" cy="649708"/>
            </a:xfrm>
          </p:grpSpPr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370E206A-E496-4ECB-984F-B4CAB5D0B5A9}"/>
                  </a:ext>
                </a:extLst>
              </p:cNvPr>
              <p:cNvSpPr/>
              <p:nvPr/>
            </p:nvSpPr>
            <p:spPr>
              <a:xfrm rot="10800000">
                <a:off x="7093655" y="4032101"/>
                <a:ext cx="746146" cy="643229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3251200"/>
                          <a:gd name="connsiteY0" fmla="*/ 276159 h 276159"/>
                          <a:gd name="connsiteX1" fmla="*/ 1778000 w 3251200"/>
                          <a:gd name="connsiteY1" fmla="*/ 388 h 276159"/>
                          <a:gd name="connsiteX2" fmla="*/ 3251200 w 3251200"/>
                          <a:gd name="connsiteY2" fmla="*/ 210845 h 276159"/>
                          <a:gd name="connsiteX3" fmla="*/ 3251200 w 3251200"/>
                          <a:gd name="connsiteY3" fmla="*/ 210845 h 2761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3251200" h="276159" extrusionOk="0">
                            <a:moveTo>
                              <a:pt x="0" y="276159"/>
                            </a:moveTo>
                            <a:cubicBezTo>
                              <a:pt x="525781" y="86793"/>
                              <a:pt x="1222218" y="16496"/>
                              <a:pt x="1778000" y="388"/>
                            </a:cubicBezTo>
                            <a:cubicBezTo>
                              <a:pt x="2319868" y="-10498"/>
                              <a:pt x="3251199" y="210845"/>
                              <a:pt x="3251200" y="210845"/>
                            </a:cubicBezTo>
                            <a:lnTo>
                              <a:pt x="3251200" y="210845"/>
                            </a:lnTo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4163756-57B6-462B-862A-A20A45DB525C}"/>
                  </a:ext>
                </a:extLst>
              </p:cNvPr>
              <p:cNvSpPr txBox="1"/>
              <p:nvPr/>
            </p:nvSpPr>
            <p:spPr>
              <a:xfrm>
                <a:off x="7187771" y="4025622"/>
                <a:ext cx="557914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</a:p>
            </p:txBody>
          </p:sp>
        </p:grp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A80A85-BDA0-4792-8FAE-13AD6D0DC4A6}"/>
                </a:ext>
              </a:extLst>
            </p:cNvPr>
            <p:cNvCxnSpPr>
              <a:stCxn id="35" idx="2"/>
              <a:endCxn id="56" idx="0"/>
            </p:cNvCxnSpPr>
            <p:nvPr/>
          </p:nvCxnSpPr>
          <p:spPr>
            <a:xfrm>
              <a:off x="4678345" y="3260097"/>
              <a:ext cx="1516" cy="2884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496B022-6738-4B4A-AD02-A591DBB8430A}"/>
                </a:ext>
              </a:extLst>
            </p:cNvPr>
            <p:cNvCxnSpPr>
              <a:cxnSpLocks/>
              <a:stCxn id="55" idx="5"/>
              <a:endCxn id="7" idx="0"/>
            </p:cNvCxnSpPr>
            <p:nvPr/>
          </p:nvCxnSpPr>
          <p:spPr>
            <a:xfrm flipH="1">
              <a:off x="3549760" y="3876590"/>
              <a:ext cx="943564" cy="31863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B507CB8-8243-4169-AA2F-97761A3AE36B}"/>
                </a:ext>
              </a:extLst>
            </p:cNvPr>
            <p:cNvCxnSpPr>
              <a:cxnSpLocks/>
              <a:stCxn id="55" idx="1"/>
              <a:endCxn id="19" idx="0"/>
            </p:cNvCxnSpPr>
            <p:nvPr/>
          </p:nvCxnSpPr>
          <p:spPr>
            <a:xfrm>
              <a:off x="4866397" y="3876590"/>
              <a:ext cx="1011705" cy="29549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EEE1A1F2-A304-4AD6-B941-2C6820169261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D1266184-6588-442D-A807-C40C94EF1A95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0A32C3AB-C6A1-4087-82EE-B7926288DBF9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537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A6979-D809-4FD1-A7E8-527133F6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and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82A93-7800-4DC8-8A88-EC14024C6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511062"/>
          </a:xfrm>
        </p:spPr>
        <p:txBody>
          <a:bodyPr/>
          <a:lstStyle/>
          <a:p>
            <a:r>
              <a:rPr lang="en-US" dirty="0"/>
              <a:t>The above design process is </a:t>
            </a:r>
            <a:r>
              <a:rPr lang="en-US" b="1" i="1" dirty="0"/>
              <a:t>bottom-up</a:t>
            </a:r>
            <a:r>
              <a:rPr lang="en-US" dirty="0"/>
              <a:t>, combining several entity sets with same attributes into higher-level entity set.</a:t>
            </a:r>
          </a:p>
          <a:p>
            <a:r>
              <a:rPr lang="en-US" dirty="0"/>
              <a:t>But sometimes the process is reversed.</a:t>
            </a:r>
          </a:p>
          <a:p>
            <a:r>
              <a:rPr lang="en-US" dirty="0"/>
              <a:t>Some entity sets can be split into some lower-level entity sets with specific attributes.</a:t>
            </a:r>
          </a:p>
          <a:p>
            <a:r>
              <a:rPr lang="en-US" dirty="0"/>
              <a:t>This </a:t>
            </a:r>
            <a:r>
              <a:rPr lang="en-US" b="1" i="1" dirty="0"/>
              <a:t>top-down</a:t>
            </a:r>
            <a:r>
              <a:rPr lang="en-US" dirty="0"/>
              <a:t> process is called </a:t>
            </a:r>
            <a:r>
              <a:rPr lang="en-US" b="1" i="1" dirty="0"/>
              <a:t>specialization</a:t>
            </a:r>
            <a:r>
              <a:rPr lang="en-US" dirty="0"/>
              <a:t>.</a:t>
            </a:r>
          </a:p>
        </p:txBody>
      </p:sp>
      <p:sp>
        <p:nvSpPr>
          <p:cNvPr id="4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D5E287F0-24B6-4503-829B-61AF35E221AA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15EDF55C-9823-495C-ACE0-3FB5352D1FB5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419B1086-E5A1-4507-8CF0-7E0FE84856AE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11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4EEB-F52D-4411-B047-93562184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on Generalization/Specialization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B2976-38FF-42A0-9AC5-0714748C3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199"/>
            <a:ext cx="7886700" cy="4738077"/>
          </a:xfrm>
        </p:spPr>
        <p:txBody>
          <a:bodyPr/>
          <a:lstStyle/>
          <a:p>
            <a:r>
              <a:rPr lang="en-US" altLang="zh-CN" dirty="0"/>
              <a:t>Cardinality constraints and participation constraints can be applied on ISA relationship sets.</a:t>
            </a:r>
          </a:p>
          <a:p>
            <a:r>
              <a:rPr lang="en-US" dirty="0"/>
              <a:t>But some constraints are omitted because</a:t>
            </a:r>
          </a:p>
          <a:p>
            <a:pPr lvl="1"/>
            <a:r>
              <a:rPr lang="en-US" dirty="0"/>
              <a:t>each entity on the lower-level is one entity on the higher-level (the entity sets on the lower-level always fully participate ISA);</a:t>
            </a:r>
          </a:p>
          <a:p>
            <a:pPr lvl="1"/>
            <a:r>
              <a:rPr lang="en-US" dirty="0"/>
              <a:t>one entity cannot be associated with multiple entities in the same entity set on the lower-level.</a:t>
            </a:r>
          </a:p>
          <a:p>
            <a:r>
              <a:rPr lang="en-US" dirty="0"/>
              <a:t>Thus, the constraints on ISA only discuss</a:t>
            </a:r>
          </a:p>
          <a:p>
            <a:r>
              <a:rPr lang="en-US" dirty="0"/>
              <a:t>Does one higher-level entity belong to at least one lower-level entity set?</a:t>
            </a:r>
          </a:p>
          <a:p>
            <a:pPr lvl="1"/>
            <a:r>
              <a:rPr lang="en-US" dirty="0"/>
              <a:t>If yes, this ISA is a </a:t>
            </a:r>
            <a:r>
              <a:rPr lang="en-US" b="1" i="1" dirty="0"/>
              <a:t>total generalization</a:t>
            </a:r>
            <a:r>
              <a:rPr lang="en-US" dirty="0"/>
              <a:t>.</a:t>
            </a:r>
          </a:p>
          <a:p>
            <a:r>
              <a:rPr lang="en-US" dirty="0"/>
              <a:t>Does one higher-level entity belong to multiple lower-level entity set? </a:t>
            </a:r>
          </a:p>
          <a:p>
            <a:pPr lvl="1"/>
            <a:r>
              <a:rPr lang="en-US" dirty="0"/>
              <a:t>If No, it is a </a:t>
            </a:r>
            <a:r>
              <a:rPr lang="en-US" b="1" i="1" dirty="0"/>
              <a:t>disjoint generalization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sp>
        <p:nvSpPr>
          <p:cNvPr id="4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3AC72D71-F50F-4B5C-A363-DB5B5C457A1E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8CF0467F-DD85-4EA3-A6B9-73601EAD2F77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92A8B32A-71E4-476D-B421-B5F6950FD148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55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4EEB-F52D-4411-B047-93562184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on Generalization/Specialization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B2976-38FF-42A0-9AC5-0714748C3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199"/>
            <a:ext cx="7886700" cy="4738077"/>
          </a:xfrm>
        </p:spPr>
        <p:txBody>
          <a:bodyPr/>
          <a:lstStyle/>
          <a:p>
            <a:r>
              <a:rPr lang="en-US" dirty="0"/>
              <a:t>Consider the “student” and “instructor” example.</a:t>
            </a:r>
          </a:p>
          <a:p>
            <a:r>
              <a:rPr lang="en-US" dirty="0"/>
              <a:t>If we want to express every person is either a student or an instructor, then this is a total generalization.</a:t>
            </a:r>
          </a:p>
          <a:p>
            <a:r>
              <a:rPr lang="en-US" dirty="0"/>
              <a:t>And if we assume nobody can be a student and an instructor at the same time, this is a disjoint generalization.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CC58D7-2DCA-4285-BFF2-1081C5B1D54E}"/>
              </a:ext>
            </a:extLst>
          </p:cNvPr>
          <p:cNvGrpSpPr/>
          <p:nvPr/>
        </p:nvGrpSpPr>
        <p:grpSpPr>
          <a:xfrm>
            <a:off x="2574031" y="3429000"/>
            <a:ext cx="3995937" cy="2758134"/>
            <a:chOff x="2674467" y="2373501"/>
            <a:chExt cx="3995937" cy="275813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1EC7393-BFEE-4ABE-904E-48EEA105C7F9}"/>
                </a:ext>
              </a:extLst>
            </p:cNvPr>
            <p:cNvGrpSpPr/>
            <p:nvPr/>
          </p:nvGrpSpPr>
          <p:grpSpPr>
            <a:xfrm>
              <a:off x="2674467" y="4195229"/>
              <a:ext cx="1485129" cy="936406"/>
              <a:chOff x="1517491" y="4858136"/>
              <a:chExt cx="1485129" cy="936406"/>
            </a:xfrm>
          </p:grpSpPr>
          <p:sp>
            <p:nvSpPr>
              <p:cNvPr id="27" name="矩形 3">
                <a:extLst>
                  <a:ext uri="{FF2B5EF4-FFF2-40B4-BE49-F238E27FC236}">
                    <a16:creationId xmlns:a16="http://schemas.microsoft.com/office/drawing/2014/main" id="{591FA51A-0935-47BD-B120-12DC7ED469D6}"/>
                  </a:ext>
                </a:extLst>
              </p:cNvPr>
              <p:cNvSpPr/>
              <p:nvPr/>
            </p:nvSpPr>
            <p:spPr>
              <a:xfrm>
                <a:off x="1927392" y="4858136"/>
                <a:ext cx="930783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student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椭圆 23">
                <a:extLst>
                  <a:ext uri="{FF2B5EF4-FFF2-40B4-BE49-F238E27FC236}">
                    <a16:creationId xmlns:a16="http://schemas.microsoft.com/office/drawing/2014/main" id="{5E18D2BE-58EB-47E4-8A93-0CC35C5F05B4}"/>
                  </a:ext>
                </a:extLst>
              </p:cNvPr>
              <p:cNvSpPr/>
              <p:nvPr/>
            </p:nvSpPr>
            <p:spPr>
              <a:xfrm>
                <a:off x="1517491" y="5440470"/>
                <a:ext cx="558326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year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A40EDC2-03DF-4FC6-8B88-49EFE0C0C90C}"/>
                  </a:ext>
                </a:extLst>
              </p:cNvPr>
              <p:cNvCxnSpPr>
                <a:cxnSpLocks/>
                <a:stCxn id="28" idx="0"/>
                <a:endCxn id="27" idx="2"/>
              </p:cNvCxnSpPr>
              <p:nvPr/>
            </p:nvCxnSpPr>
            <p:spPr>
              <a:xfrm flipV="1">
                <a:off x="1796654" y="5165913"/>
                <a:ext cx="596130" cy="274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4">
                <a:extLst>
                  <a:ext uri="{FF2B5EF4-FFF2-40B4-BE49-F238E27FC236}">
                    <a16:creationId xmlns:a16="http://schemas.microsoft.com/office/drawing/2014/main" id="{5E0823BB-6D55-4CD0-B922-E4A721E90312}"/>
                  </a:ext>
                </a:extLst>
              </p:cNvPr>
              <p:cNvSpPr/>
              <p:nvPr/>
            </p:nvSpPr>
            <p:spPr>
              <a:xfrm>
                <a:off x="2487146" y="5440470"/>
                <a:ext cx="515474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GPA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B1A31406-851B-4F11-B38B-A4E8B6A28BF6}"/>
                  </a:ext>
                </a:extLst>
              </p:cNvPr>
              <p:cNvCxnSpPr>
                <a:cxnSpLocks/>
                <a:stCxn id="30" idx="0"/>
                <a:endCxn id="27" idx="2"/>
              </p:cNvCxnSpPr>
              <p:nvPr/>
            </p:nvCxnSpPr>
            <p:spPr>
              <a:xfrm flipH="1" flipV="1">
                <a:off x="2392784" y="5165913"/>
                <a:ext cx="352099" cy="274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7133709-1FC1-427C-8895-F924AEDA276E}"/>
                </a:ext>
              </a:extLst>
            </p:cNvPr>
            <p:cNvGrpSpPr/>
            <p:nvPr/>
          </p:nvGrpSpPr>
          <p:grpSpPr>
            <a:xfrm>
              <a:off x="5039688" y="4172081"/>
              <a:ext cx="1630716" cy="936406"/>
              <a:chOff x="5995793" y="4758024"/>
              <a:chExt cx="1630716" cy="936406"/>
            </a:xfrm>
          </p:grpSpPr>
          <p:sp>
            <p:nvSpPr>
              <p:cNvPr id="22" name="矩形 3">
                <a:extLst>
                  <a:ext uri="{FF2B5EF4-FFF2-40B4-BE49-F238E27FC236}">
                    <a16:creationId xmlns:a16="http://schemas.microsoft.com/office/drawing/2014/main" id="{86CD59E0-EB0A-407E-87F1-82E438487E8B}"/>
                  </a:ext>
                </a:extLst>
              </p:cNvPr>
              <p:cNvSpPr/>
              <p:nvPr/>
            </p:nvSpPr>
            <p:spPr>
              <a:xfrm>
                <a:off x="6331936" y="4758024"/>
                <a:ext cx="1004542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instructor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椭圆 23">
                <a:extLst>
                  <a:ext uri="{FF2B5EF4-FFF2-40B4-BE49-F238E27FC236}">
                    <a16:creationId xmlns:a16="http://schemas.microsoft.com/office/drawing/2014/main" id="{A889AD87-B0B2-422D-84DF-785F4F8BAF3C}"/>
                  </a:ext>
                </a:extLst>
              </p:cNvPr>
              <p:cNvSpPr/>
              <p:nvPr/>
            </p:nvSpPr>
            <p:spPr>
              <a:xfrm>
                <a:off x="5995793" y="5340358"/>
                <a:ext cx="558326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title</a:t>
                </a: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4" name="直接连接符 28">
                <a:extLst>
                  <a:ext uri="{FF2B5EF4-FFF2-40B4-BE49-F238E27FC236}">
                    <a16:creationId xmlns:a16="http://schemas.microsoft.com/office/drawing/2014/main" id="{22AC2841-B49E-4FD4-BC14-457ECCED71D8}"/>
                  </a:ext>
                </a:extLst>
              </p:cNvPr>
              <p:cNvCxnSpPr>
                <a:cxnSpLocks/>
                <a:stCxn id="23" idx="0"/>
                <a:endCxn id="22" idx="2"/>
              </p:cNvCxnSpPr>
              <p:nvPr/>
            </p:nvCxnSpPr>
            <p:spPr>
              <a:xfrm flipV="1">
                <a:off x="6274956" y="5065801"/>
                <a:ext cx="559251" cy="274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椭圆 23">
                <a:extLst>
                  <a:ext uri="{FF2B5EF4-FFF2-40B4-BE49-F238E27FC236}">
                    <a16:creationId xmlns:a16="http://schemas.microsoft.com/office/drawing/2014/main" id="{83A20F2A-DA05-47D8-8730-66C8C1319ABB}"/>
                  </a:ext>
                </a:extLst>
              </p:cNvPr>
              <p:cNvSpPr/>
              <p:nvPr/>
            </p:nvSpPr>
            <p:spPr>
              <a:xfrm>
                <a:off x="6891186" y="5340358"/>
                <a:ext cx="735323" cy="35407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8000" rIns="0" bIns="18000" rtlCol="0" anchor="ctr">
                <a:spAutoFit/>
              </a:bodyPr>
              <a:lstStyle/>
              <a:p>
                <a:pPr algn="ctr"/>
                <a:r>
                  <a:rPr lang="en-US" altLang="zh-C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salary</a:t>
                </a:r>
              </a:p>
            </p:txBody>
          </p:sp>
          <p:cxnSp>
            <p:nvCxnSpPr>
              <p:cNvPr id="26" name="直接连接符 11">
                <a:extLst>
                  <a:ext uri="{FF2B5EF4-FFF2-40B4-BE49-F238E27FC236}">
                    <a16:creationId xmlns:a16="http://schemas.microsoft.com/office/drawing/2014/main" id="{AF8ED83D-7C72-446F-84C8-563716C9F7C4}"/>
                  </a:ext>
                </a:extLst>
              </p:cNvPr>
              <p:cNvCxnSpPr>
                <a:cxnSpLocks/>
                <a:stCxn id="25" idx="0"/>
                <a:endCxn id="22" idx="2"/>
              </p:cNvCxnSpPr>
              <p:nvPr/>
            </p:nvCxnSpPr>
            <p:spPr>
              <a:xfrm flipH="1" flipV="1">
                <a:off x="6834207" y="5065801"/>
                <a:ext cx="424641" cy="274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椭圆 7">
              <a:extLst>
                <a:ext uri="{FF2B5EF4-FFF2-40B4-BE49-F238E27FC236}">
                  <a16:creationId xmlns:a16="http://schemas.microsoft.com/office/drawing/2014/main" id="{E856821A-DCB4-4544-A8A5-C4542CD83FDD}"/>
                </a:ext>
              </a:extLst>
            </p:cNvPr>
            <p:cNvSpPr/>
            <p:nvPr/>
          </p:nvSpPr>
          <p:spPr>
            <a:xfrm>
              <a:off x="2970011" y="2929581"/>
              <a:ext cx="817594" cy="354072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phone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89F6DB4-4323-434A-A545-5231E668E9EC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3787605" y="3106209"/>
              <a:ext cx="425348" cy="40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3">
              <a:extLst>
                <a:ext uri="{FF2B5EF4-FFF2-40B4-BE49-F238E27FC236}">
                  <a16:creationId xmlns:a16="http://schemas.microsoft.com/office/drawing/2014/main" id="{406EC6B4-9EBC-4F37-A2D8-FB7C8D4C4F69}"/>
                </a:ext>
              </a:extLst>
            </p:cNvPr>
            <p:cNvSpPr/>
            <p:nvPr/>
          </p:nvSpPr>
          <p:spPr>
            <a:xfrm>
              <a:off x="4212953" y="2952320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person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7">
              <a:extLst>
                <a:ext uri="{FF2B5EF4-FFF2-40B4-BE49-F238E27FC236}">
                  <a16:creationId xmlns:a16="http://schemas.microsoft.com/office/drawing/2014/main" id="{B5756F4F-0A56-40C9-A71C-370BEFA5A36B}"/>
                </a:ext>
              </a:extLst>
            </p:cNvPr>
            <p:cNvSpPr/>
            <p:nvPr/>
          </p:nvSpPr>
          <p:spPr>
            <a:xfrm>
              <a:off x="4076453" y="2424591"/>
              <a:ext cx="476526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u="sng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endParaRPr lang="zh-CN" altLang="en-US" sz="1400" i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22">
              <a:extLst>
                <a:ext uri="{FF2B5EF4-FFF2-40B4-BE49-F238E27FC236}">
                  <a16:creationId xmlns:a16="http://schemas.microsoft.com/office/drawing/2014/main" id="{6C310678-1CD7-4186-8482-307967789890}"/>
                </a:ext>
              </a:extLst>
            </p:cNvPr>
            <p:cNvSpPr/>
            <p:nvPr/>
          </p:nvSpPr>
          <p:spPr>
            <a:xfrm>
              <a:off x="4829285" y="2373501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24">
              <a:extLst>
                <a:ext uri="{FF2B5EF4-FFF2-40B4-BE49-F238E27FC236}">
                  <a16:creationId xmlns:a16="http://schemas.microsoft.com/office/drawing/2014/main" id="{6CB91229-8180-48F7-ADD0-1FD9269BAC90}"/>
                </a:ext>
              </a:extLst>
            </p:cNvPr>
            <p:cNvSpPr/>
            <p:nvPr/>
          </p:nvSpPr>
          <p:spPr>
            <a:xfrm>
              <a:off x="5448192" y="2929581"/>
              <a:ext cx="628902" cy="354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18000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major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直接连接符 9">
              <a:extLst>
                <a:ext uri="{FF2B5EF4-FFF2-40B4-BE49-F238E27FC236}">
                  <a16:creationId xmlns:a16="http://schemas.microsoft.com/office/drawing/2014/main" id="{8C0B959D-6FED-4E6A-859D-7B50525CF941}"/>
                </a:ext>
              </a:extLst>
            </p:cNvPr>
            <p:cNvCxnSpPr>
              <a:cxnSpLocks/>
              <a:stCxn id="10" idx="5"/>
              <a:endCxn id="9" idx="0"/>
            </p:cNvCxnSpPr>
            <p:nvPr/>
          </p:nvCxnSpPr>
          <p:spPr>
            <a:xfrm>
              <a:off x="4483193" y="2726810"/>
              <a:ext cx="195152" cy="22551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1">
              <a:extLst>
                <a:ext uri="{FF2B5EF4-FFF2-40B4-BE49-F238E27FC236}">
                  <a16:creationId xmlns:a16="http://schemas.microsoft.com/office/drawing/2014/main" id="{152E3FE7-769D-4716-BD58-FDE05593FA0C}"/>
                </a:ext>
              </a:extLst>
            </p:cNvPr>
            <p:cNvCxnSpPr>
              <a:stCxn id="11" idx="3"/>
              <a:endCxn id="9" idx="0"/>
            </p:cNvCxnSpPr>
            <p:nvPr/>
          </p:nvCxnSpPr>
          <p:spPr>
            <a:xfrm flipH="1">
              <a:off x="4678345" y="2675720"/>
              <a:ext cx="243041" cy="2766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30">
              <a:extLst>
                <a:ext uri="{FF2B5EF4-FFF2-40B4-BE49-F238E27FC236}">
                  <a16:creationId xmlns:a16="http://schemas.microsoft.com/office/drawing/2014/main" id="{7E371060-5CD9-42D1-94C8-7E93C8846F9E}"/>
                </a:ext>
              </a:extLst>
            </p:cNvPr>
            <p:cNvCxnSpPr>
              <a:cxnSpLocks/>
              <a:stCxn id="12" idx="2"/>
              <a:endCxn id="9" idx="3"/>
            </p:cNvCxnSpPr>
            <p:nvPr/>
          </p:nvCxnSpPr>
          <p:spPr>
            <a:xfrm flipH="1" flipV="1">
              <a:off x="5143736" y="3106209"/>
              <a:ext cx="304456" cy="40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27B493-CC35-40B5-9F5A-927AB8CADCF9}"/>
                </a:ext>
              </a:extLst>
            </p:cNvPr>
            <p:cNvGrpSpPr/>
            <p:nvPr/>
          </p:nvGrpSpPr>
          <p:grpSpPr>
            <a:xfrm>
              <a:off x="4306788" y="3548497"/>
              <a:ext cx="746146" cy="649708"/>
              <a:chOff x="7093655" y="4025622"/>
              <a:chExt cx="746146" cy="649708"/>
            </a:xfrm>
          </p:grpSpPr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BD21111C-F3BC-47AA-A189-80BA0EF6FE7D}"/>
                  </a:ext>
                </a:extLst>
              </p:cNvPr>
              <p:cNvSpPr/>
              <p:nvPr/>
            </p:nvSpPr>
            <p:spPr>
              <a:xfrm rot="10800000">
                <a:off x="7093655" y="4032101"/>
                <a:ext cx="746146" cy="643229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3251200"/>
                          <a:gd name="connsiteY0" fmla="*/ 276159 h 276159"/>
                          <a:gd name="connsiteX1" fmla="*/ 1778000 w 3251200"/>
                          <a:gd name="connsiteY1" fmla="*/ 388 h 276159"/>
                          <a:gd name="connsiteX2" fmla="*/ 3251200 w 3251200"/>
                          <a:gd name="connsiteY2" fmla="*/ 210845 h 276159"/>
                          <a:gd name="connsiteX3" fmla="*/ 3251200 w 3251200"/>
                          <a:gd name="connsiteY3" fmla="*/ 210845 h 2761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</a:cxnLst>
                        <a:rect l="l" t="t" r="r" b="b"/>
                        <a:pathLst>
                          <a:path w="3251200" h="276159" extrusionOk="0">
                            <a:moveTo>
                              <a:pt x="0" y="276159"/>
                            </a:moveTo>
                            <a:cubicBezTo>
                              <a:pt x="525781" y="86793"/>
                              <a:pt x="1222218" y="16496"/>
                              <a:pt x="1778000" y="388"/>
                            </a:cubicBezTo>
                            <a:cubicBezTo>
                              <a:pt x="2319868" y="-10498"/>
                              <a:pt x="3251199" y="210845"/>
                              <a:pt x="3251200" y="210845"/>
                            </a:cubicBezTo>
                            <a:lnTo>
                              <a:pt x="3251200" y="210845"/>
                            </a:lnTo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F67E73-465E-4828-B0A5-6A73271D9296}"/>
                  </a:ext>
                </a:extLst>
              </p:cNvPr>
              <p:cNvSpPr txBox="1"/>
              <p:nvPr/>
            </p:nvSpPr>
            <p:spPr>
              <a:xfrm>
                <a:off x="7187771" y="4025622"/>
                <a:ext cx="557914" cy="36933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EC7DC-B78C-49F6-9B22-6837447CF1E6}"/>
                </a:ext>
              </a:extLst>
            </p:cNvPr>
            <p:cNvCxnSpPr>
              <a:stCxn id="9" idx="2"/>
              <a:endCxn id="21" idx="0"/>
            </p:cNvCxnSpPr>
            <p:nvPr/>
          </p:nvCxnSpPr>
          <p:spPr>
            <a:xfrm>
              <a:off x="4678345" y="3260097"/>
              <a:ext cx="1516" cy="288400"/>
            </a:xfrm>
            <a:prstGeom prst="line">
              <a:avLst/>
            </a:prstGeom>
            <a:ln w="38100" cmpd="dbl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3D12E8-AB60-48AC-A1E3-A108F6405540}"/>
                </a:ext>
              </a:extLst>
            </p:cNvPr>
            <p:cNvCxnSpPr>
              <a:cxnSpLocks/>
              <a:stCxn id="20" idx="5"/>
              <a:endCxn id="27" idx="0"/>
            </p:cNvCxnSpPr>
            <p:nvPr/>
          </p:nvCxnSpPr>
          <p:spPr>
            <a:xfrm flipH="1">
              <a:off x="3549760" y="3876590"/>
              <a:ext cx="943564" cy="31863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2A990E3-B3BD-4C60-94E4-8CD4574D88A6}"/>
                </a:ext>
              </a:extLst>
            </p:cNvPr>
            <p:cNvCxnSpPr>
              <a:cxnSpLocks/>
              <a:stCxn id="20" idx="1"/>
              <a:endCxn id="22" idx="0"/>
            </p:cNvCxnSpPr>
            <p:nvPr/>
          </p:nvCxnSpPr>
          <p:spPr>
            <a:xfrm>
              <a:off x="4866397" y="3876590"/>
              <a:ext cx="1011705" cy="29549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5CA74A6-0241-4549-90B4-34BDCD3F3F14}"/>
              </a:ext>
            </a:extLst>
          </p:cNvPr>
          <p:cNvSpPr txBox="1"/>
          <p:nvPr/>
        </p:nvSpPr>
        <p:spPr>
          <a:xfrm>
            <a:off x="4127261" y="5278293"/>
            <a:ext cx="902811" cy="3693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disjoint</a:t>
            </a:r>
          </a:p>
        </p:txBody>
      </p:sp>
      <p:sp>
        <p:nvSpPr>
          <p:cNvPr id="33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348D50CA-70A0-48A2-B415-6DD00476780F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1329902F-5EDE-4E96-B2FD-EF02DFD284FC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0FB9405F-419B-4716-84C5-2D45E6161CA6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05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3A8F-1D1D-42F2-B3AA-5DF3523D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04D81-A402-4272-AA83-EF7CBFBB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ER diagram of the exercise from the last lecture.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Add the weak entity set “section”.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Generalize “student” and “instructor”.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Associate the entity sets by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zh-CN" altLang="en-US" dirty="0"/>
              <a:t> </a:t>
            </a:r>
            <a:r>
              <a:rPr lang="en-US" altLang="zh-CN" dirty="0"/>
              <a:t>sets properly.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115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9718EE7E-B73A-4B74-80FE-E72DF1A36DB4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C4FE710D-3147-4668-8210-CF543482E94F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846EE6FD-5F21-4B0E-BEE4-9867F3713D1A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521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1D49-92A2-43D0-A7FE-21BAD4FA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5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9287D892-B0F5-4CF7-8187-F62BB8FCD1B8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1934042C-D07C-430B-9B2F-F09E62841760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50E09B65-8D69-4789-8254-549976F8FC3C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CBBA8-B4AD-6B54-5E97-B01D95C0F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73" y="1646996"/>
            <a:ext cx="8618053" cy="485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63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0C92D0-2944-449E-881E-BE7E0F32F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Lecture 4</a:t>
            </a:r>
          </a:p>
        </p:txBody>
      </p:sp>
      <p:sp>
        <p:nvSpPr>
          <p:cNvPr id="4" name="矩形 12">
            <a:hlinkClick r:id="rId2" action="ppaction://hlinksldjump"/>
            <a:extLst>
              <a:ext uri="{FF2B5EF4-FFF2-40B4-BE49-F238E27FC236}">
                <a16:creationId xmlns:a16="http://schemas.microsoft.com/office/drawing/2014/main" id="{65F0FC65-5046-4B0A-8C4A-ED4B13713C33}"/>
              </a:ext>
            </a:extLst>
          </p:cNvPr>
          <p:cNvSpPr/>
          <p:nvPr/>
        </p:nvSpPr>
        <p:spPr>
          <a:xfrm>
            <a:off x="0" y="0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12">
            <a:hlinkClick r:id="rId3" action="ppaction://hlinksldjump"/>
            <a:extLst>
              <a:ext uri="{FF2B5EF4-FFF2-40B4-BE49-F238E27FC236}">
                <a16:creationId xmlns:a16="http://schemas.microsoft.com/office/drawing/2014/main" id="{86D06B38-C69F-4EBB-9B47-91A54AF3DB27}"/>
              </a:ext>
            </a:extLst>
          </p:cNvPr>
          <p:cNvSpPr/>
          <p:nvPr/>
        </p:nvSpPr>
        <p:spPr>
          <a:xfrm>
            <a:off x="6120000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 and Specialization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2">
            <a:hlinkClick r:id="rId4" action="ppaction://hlinksldjump"/>
            <a:extLst>
              <a:ext uri="{FF2B5EF4-FFF2-40B4-BE49-F238E27FC236}">
                <a16:creationId xmlns:a16="http://schemas.microsoft.com/office/drawing/2014/main" id="{31BCFF2E-B814-40B6-AE0F-9C4190525048}"/>
              </a:ext>
            </a:extLst>
          </p:cNvPr>
          <p:cNvSpPr/>
          <p:nvPr/>
        </p:nvSpPr>
        <p:spPr>
          <a:xfrm>
            <a:off x="3024000" y="0"/>
            <a:ext cx="3096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43937"/>
      </p:ext>
    </p:extLst>
  </p:cSld>
  <p:clrMapOvr>
    <a:masterClrMapping/>
  </p:clrMapOvr>
</p:sld>
</file>

<file path=ppt/theme/theme1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  <a:extLst>
            <a:ext uri="{C807C97D-BFC1-408E-A445-0C87EB9F89A2}">
              <ask:lineSketchStyleProps xmlns:ask="http://schemas.microsoft.com/office/drawing/2018/sketchyshapes" sd="1219033472">
                <a:custGeom>
                  <a:avLst/>
                  <a:gdLst>
                    <a:gd name="connsiteX0" fmla="*/ 0 w 3251200"/>
                    <a:gd name="connsiteY0" fmla="*/ 276159 h 276159"/>
                    <a:gd name="connsiteX1" fmla="*/ 1778000 w 3251200"/>
                    <a:gd name="connsiteY1" fmla="*/ 388 h 276159"/>
                    <a:gd name="connsiteX2" fmla="*/ 3251200 w 3251200"/>
                    <a:gd name="connsiteY2" fmla="*/ 210845 h 276159"/>
                    <a:gd name="connsiteX3" fmla="*/ 3251200 w 3251200"/>
                    <a:gd name="connsiteY3" fmla="*/ 210845 h 276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51200" h="276159" extrusionOk="0">
                      <a:moveTo>
                        <a:pt x="0" y="276159"/>
                      </a:moveTo>
                      <a:cubicBezTo>
                        <a:pt x="525781" y="86793"/>
                        <a:pt x="1222218" y="16496"/>
                        <a:pt x="1778000" y="388"/>
                      </a:cubicBezTo>
                      <a:cubicBezTo>
                        <a:pt x="2319868" y="-10498"/>
                        <a:pt x="3251199" y="210845"/>
                        <a:pt x="3251200" y="210845"/>
                      </a:cubicBezTo>
                      <a:lnTo>
                        <a:pt x="3251200" y="210845"/>
                      </a:lnTo>
                    </a:path>
                  </a:pathLst>
                </a:custGeom>
                <ask:type>
                  <ask:lineSketchNone/>
                </ask:type>
              </ask:lineSketchStyleProps>
            </a:ext>
          </a:extLst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beamer_like</Template>
  <TotalTime>34012</TotalTime>
  <Words>1354</Words>
  <Application>Microsoft Office PowerPoint</Application>
  <PresentationFormat>On-screen Show (4:3)</PresentationFormat>
  <Paragraphs>247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Adobe Heiti Std R</vt:lpstr>
      <vt:lpstr>Hiragino Sans GB W3</vt:lpstr>
      <vt:lpstr>等线</vt:lpstr>
      <vt:lpstr>Arial</vt:lpstr>
      <vt:lpstr>Calibri</vt:lpstr>
      <vt:lpstr>Helvetica</vt:lpstr>
      <vt:lpstr>Times New Roman</vt:lpstr>
      <vt:lpstr>beamer_like</vt:lpstr>
      <vt:lpstr>Lecture 4  Entity-Relationship Model Extended Features</vt:lpstr>
      <vt:lpstr>Outline</vt:lpstr>
      <vt:lpstr>Aggregation</vt:lpstr>
      <vt:lpstr>Aggregation</vt:lpstr>
      <vt:lpstr>Aggregation</vt:lpstr>
      <vt:lpstr>Aggregation</vt:lpstr>
      <vt:lpstr>Aggregation</vt:lpstr>
      <vt:lpstr>Aggregation</vt:lpstr>
      <vt:lpstr>Weak Entity Sets</vt:lpstr>
      <vt:lpstr>Weak Entity Sets</vt:lpstr>
      <vt:lpstr>Weak Entity Sets</vt:lpstr>
      <vt:lpstr>Generalization and Specialization</vt:lpstr>
      <vt:lpstr>Generalization and Specialization</vt:lpstr>
      <vt:lpstr>Generalization and Specialization</vt:lpstr>
      <vt:lpstr>Generalization and Specialization</vt:lpstr>
      <vt:lpstr>Constraints on Generalization/Specialization</vt:lpstr>
      <vt:lpstr>Constraints on Generalization/Specialization</vt:lpstr>
      <vt:lpstr>Exercises</vt:lpstr>
      <vt:lpstr>Exercises</vt:lpstr>
      <vt:lpstr>End of Lecture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Marilyn Turnamian</dc:creator>
  <cp:lastModifiedBy>Zhiyuan Li</cp:lastModifiedBy>
  <cp:revision>379</cp:revision>
  <cp:lastPrinted>1999-06-28T19:27:31Z</cp:lastPrinted>
  <dcterms:created xsi:type="dcterms:W3CDTF">1999-11-04T22:02:40Z</dcterms:created>
  <dcterms:modified xsi:type="dcterms:W3CDTF">2022-09-26T04:55:22Z</dcterms:modified>
</cp:coreProperties>
</file>