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3" r:id="rId1"/>
  </p:sldMasterIdLst>
  <p:notesMasterIdLst>
    <p:notesMasterId r:id="rId27"/>
  </p:notesMasterIdLst>
  <p:handoutMasterIdLst>
    <p:handoutMasterId r:id="rId28"/>
  </p:handoutMasterIdLst>
  <p:sldIdLst>
    <p:sldId id="359" r:id="rId2"/>
    <p:sldId id="416" r:id="rId3"/>
    <p:sldId id="432" r:id="rId4"/>
    <p:sldId id="529" r:id="rId5"/>
    <p:sldId id="519" r:id="rId6"/>
    <p:sldId id="520" r:id="rId7"/>
    <p:sldId id="521" r:id="rId8"/>
    <p:sldId id="522" r:id="rId9"/>
    <p:sldId id="524" r:id="rId10"/>
    <p:sldId id="525" r:id="rId11"/>
    <p:sldId id="526" r:id="rId12"/>
    <p:sldId id="527" r:id="rId13"/>
    <p:sldId id="528" r:id="rId14"/>
    <p:sldId id="530" r:id="rId15"/>
    <p:sldId id="531" r:id="rId16"/>
    <p:sldId id="477" r:id="rId17"/>
    <p:sldId id="532" r:id="rId18"/>
    <p:sldId id="540" r:id="rId19"/>
    <p:sldId id="533" r:id="rId20"/>
    <p:sldId id="534" r:id="rId21"/>
    <p:sldId id="535" r:id="rId22"/>
    <p:sldId id="536" r:id="rId23"/>
    <p:sldId id="537" r:id="rId24"/>
    <p:sldId id="538" r:id="rId25"/>
    <p:sldId id="517" r:id="rId26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0D19B48-831F-4E6B-AF3B-4F992F4541F9}">
          <p14:sldIdLst>
            <p14:sldId id="359"/>
            <p14:sldId id="416"/>
            <p14:sldId id="432"/>
            <p14:sldId id="529"/>
            <p14:sldId id="519"/>
            <p14:sldId id="520"/>
            <p14:sldId id="521"/>
            <p14:sldId id="522"/>
            <p14:sldId id="524"/>
            <p14:sldId id="525"/>
            <p14:sldId id="526"/>
            <p14:sldId id="527"/>
            <p14:sldId id="528"/>
            <p14:sldId id="530"/>
            <p14:sldId id="531"/>
            <p14:sldId id="477"/>
            <p14:sldId id="532"/>
            <p14:sldId id="540"/>
            <p14:sldId id="533"/>
            <p14:sldId id="534"/>
            <p14:sldId id="535"/>
            <p14:sldId id="536"/>
            <p14:sldId id="537"/>
            <p14:sldId id="538"/>
            <p14:sldId id="5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0">
          <p15:clr>
            <a:srgbClr val="A4A3A4"/>
          </p15:clr>
        </p15:guide>
        <p15:guide id="2" pos="5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3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1398" y="96"/>
      </p:cViewPr>
      <p:guideLst>
        <p:guide orient="horz" pos="770"/>
        <p:guide pos="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66698023-D9D3-402A-A05D-A6BC1BC77B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017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691063"/>
            <a:ext cx="4987925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fld id="{5FBFA51E-237C-4FFD-AE50-83DCAB7B2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315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09473B1B-9752-4C70-9A68-EEEE781A15AF}" type="slidenum">
              <a:rPr lang="zh-CN" altLang="en-US" sz="1300" smtClean="0"/>
              <a:pPr/>
              <a:t>1</a:t>
            </a:fld>
            <a:endParaRPr lang="en-US" altLang="zh-CN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95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730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542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35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00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81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6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219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874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6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532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ER Model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492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4.png"/><Relationship Id="rId7" Type="http://schemas.openxmlformats.org/officeDocument/2006/relationships/slide" Target="slide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3.xml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10.png"/><Relationship Id="rId7" Type="http://schemas.openxmlformats.org/officeDocument/2006/relationships/slide" Target="slide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3.xml"/><Relationship Id="rId7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slide" Target="slide9.xml"/><Relationship Id="rId4" Type="http://schemas.openxmlformats.org/officeDocument/2006/relationships/slide" Target="slide13.xml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" Target="slide3.xml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slide" Target="slide9.xml"/><Relationship Id="rId10" Type="http://schemas.openxmlformats.org/officeDocument/2006/relationships/image" Target="../media/image12.png"/><Relationship Id="rId4" Type="http://schemas.openxmlformats.org/officeDocument/2006/relationships/slide" Target="slide13.xml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160.png"/><Relationship Id="rId7" Type="http://schemas.openxmlformats.org/officeDocument/2006/relationships/slide" Target="slide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0.png"/><Relationship Id="rId9" Type="http://schemas.openxmlformats.org/officeDocument/2006/relationships/slide" Target="slid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slide" Target="slide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9.png"/><Relationship Id="rId7" Type="http://schemas.openxmlformats.org/officeDocument/2006/relationships/slide" Target="slide1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slide" Target="slid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Lecture 3  Entity-Relationship Model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Constraints</a:t>
            </a: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34CF932D-E41B-45FE-847B-65BB285D2F1D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6DB6E09-5C8C-4770-A4B5-4850459DDCA0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B694B6D3-C1B1-47FD-9884-271308C7057F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94B-3791-470A-80CF-91F15D80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41045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Cardinality Constraints</a:t>
            </a:r>
          </a:p>
          <a:p>
            <a:r>
              <a:rPr lang="en-US" altLang="zh-CN" dirty="0">
                <a:ea typeface="宋体" charset="-122"/>
              </a:rPr>
              <a:t>Participation Constraints</a:t>
            </a:r>
          </a:p>
          <a:p>
            <a:r>
              <a:rPr lang="en-US" altLang="zh-CN" dirty="0">
                <a:ea typeface="宋体" charset="-122"/>
              </a:rPr>
              <a:t>Constraints for Ternary Relationship Sets</a:t>
            </a:r>
          </a:p>
        </p:txBody>
      </p:sp>
      <p:sp>
        <p:nvSpPr>
          <p:cNvPr id="2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057B2245-5DEA-4408-8F75-DAF96D2247D1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17180669-193E-4F97-8C5F-0BCE0550E3C9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F60EF3D4-E3C2-4BBC-B705-997EF32422C5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38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Relationship Constraints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94B-3791-470A-80CF-91F15D80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8387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In most cases, database designers want to include some additional information about relationship sets to answer the questions like: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“how many entities can be associated with one entity at most (or at least)?”</a:t>
            </a:r>
          </a:p>
          <a:p>
            <a:r>
              <a:rPr lang="en-US" dirty="0"/>
              <a:t>For example, we add the relationship set “major” to model “students have majors” in the exercise of the last lecture.</a:t>
            </a:r>
          </a:p>
          <a:p>
            <a:r>
              <a:rPr lang="en-US" dirty="0"/>
              <a:t>But the </a:t>
            </a:r>
            <a:r>
              <a:rPr lang="en-US" altLang="zh-CN" dirty="0"/>
              <a:t>description is not accurate. 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one student have multiple majors?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one program have multiple students?</a:t>
            </a:r>
            <a:endParaRPr lang="en-US" altLang="zh-CN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every student have a major?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every program the major for some students?</a:t>
            </a:r>
          </a:p>
        </p:txBody>
      </p:sp>
      <p:sp>
        <p:nvSpPr>
          <p:cNvPr id="2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8EE78F7E-8546-415D-90BA-017F1F540D36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8278C018-5FA4-4345-9F8C-9E2B7F0A487A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4F5C078F-3139-45C1-92E4-7671818BB5C9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11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AD60-3D0E-4A2B-BFD0-31533266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4569-EE54-4C5F-AE63-9FA1E68B6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40614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To express the answers, ER diagrams have </a:t>
            </a:r>
            <a:r>
              <a:rPr lang="en-US" altLang="zh-CN" b="1" i="1" dirty="0">
                <a:ea typeface="宋体" charset="-122"/>
              </a:rPr>
              <a:t>constraints</a:t>
            </a:r>
            <a:r>
              <a:rPr lang="en-US" altLang="zh-CN" dirty="0">
                <a:ea typeface="宋体" charset="-122"/>
              </a:rPr>
              <a:t> on relationship sets.</a:t>
            </a:r>
          </a:p>
          <a:p>
            <a:r>
              <a:rPr lang="en-US" dirty="0"/>
              <a:t>Constraints indicate some conditions under the </a:t>
            </a:r>
            <a:r>
              <a:rPr lang="en-US" altLang="zh-CN" dirty="0"/>
              <a:t>context of the modeled problem.</a:t>
            </a:r>
          </a:p>
          <a:p>
            <a:r>
              <a:rPr lang="en-US" dirty="0"/>
              <a:t>Two types of constraints</a:t>
            </a:r>
          </a:p>
          <a:p>
            <a:pPr lvl="1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</a:p>
          <a:p>
            <a:pPr lvl="1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/>
              <a:t>“Cardinality” is a term from set theory. It is the number of items in a set.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2AEACFD6-D988-456E-9E6C-4E32595FBDA5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4A3FE596-5674-4C22-8E2A-95180EAA3E30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6B9DDB0B-E6A6-495B-BE36-CD42E261058E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55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4F1A-AD91-4B11-AEE8-C582042C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C50AC-5475-43C9-865C-0676E350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270829"/>
          </a:xfrm>
        </p:spPr>
        <p:txBody>
          <a:bodyPr/>
          <a:lstStyle/>
          <a:p>
            <a:r>
              <a:rPr lang="en-US" dirty="0"/>
              <a:t>First, let’s consider the questions: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Can one student have multiple majors? 		</a:t>
            </a:r>
            <a:endParaRPr lang="en-US" altLang="zh-CN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No, one student can only associate with at most one program as his/her major.	</a:t>
            </a:r>
          </a:p>
          <a:p>
            <a:r>
              <a:rPr lang="en-US" dirty="0"/>
              <a:t>Can one major program have multiple students?		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Yes, one major program can have many students.</a:t>
            </a:r>
          </a:p>
          <a:p>
            <a:r>
              <a:rPr lang="en-US" dirty="0"/>
              <a:t>This “major” relationship set is a </a:t>
            </a:r>
            <a:r>
              <a:rPr lang="en-US" b="1" i="1" dirty="0"/>
              <a:t>many-to-one</a:t>
            </a:r>
            <a:r>
              <a:rPr lang="en-US" dirty="0"/>
              <a:t> relationship set.</a:t>
            </a:r>
          </a:p>
          <a:p>
            <a:r>
              <a:rPr lang="en-US" dirty="0"/>
              <a:t>The entity set “student” is on the many side, while the entity set “program” is on the one side.</a:t>
            </a:r>
          </a:p>
          <a:p>
            <a:r>
              <a:rPr lang="en-US" altLang="zh-CN" dirty="0"/>
              <a:t>This type of constraints is called </a:t>
            </a:r>
            <a:r>
              <a:rPr lang="en-US" altLang="zh-CN" b="1" i="1" dirty="0"/>
              <a:t>cardinality constraint</a:t>
            </a:r>
            <a:r>
              <a:rPr lang="en-US" altLang="zh-CN" dirty="0"/>
              <a:t>.</a:t>
            </a: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CC9C542B-8B37-4F6E-8BD8-4E21BEC75174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55CB5699-69E8-47D5-9CD1-EE506F85317F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D09E81DD-C617-4DAD-9620-0553686C17F4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9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3218-164F-44CE-9705-12B7A640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BE9C2-1191-4C20-AF53-DF7BE9455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721469"/>
              </a:xfrm>
            </p:spPr>
            <p:txBody>
              <a:bodyPr/>
              <a:lstStyle/>
              <a:p>
                <a:r>
                  <a:rPr lang="en-US" dirty="0"/>
                  <a:t>To express the cardinality constraints, ER diagrams use an  </a:t>
                </a:r>
                <a:r>
                  <a:rPr lang="en-US" b="1" i="1" dirty="0"/>
                  <a:t>arrow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) pointing to the one side.</a:t>
                </a:r>
              </a:p>
              <a:p>
                <a:r>
                  <a:rPr lang="en-US" dirty="0"/>
                  <a:t>For the many side, the links simply have no arrow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A</a:t>
                </a:r>
                <a:r>
                  <a:rPr lang="en-US" altLang="zh-CN" b="1" i="1" dirty="0"/>
                  <a:t> one-to-many </a:t>
                </a:r>
                <a:r>
                  <a:rPr lang="en-US" altLang="zh-CN" dirty="0"/>
                  <a:t>relationship is the reverse of many-to-one.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BE9C2-1191-4C20-AF53-DF7BE9455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721469"/>
              </a:xfrm>
              <a:blipFill>
                <a:blip r:embed="rId2"/>
                <a:stretch>
                  <a:fillRect l="-773" t="-1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6E8A8BC-C641-4517-AE3C-A93ECCF556F4}"/>
              </a:ext>
            </a:extLst>
          </p:cNvPr>
          <p:cNvGrpSpPr/>
          <p:nvPr/>
        </p:nvGrpSpPr>
        <p:grpSpPr>
          <a:xfrm>
            <a:off x="2661835" y="2784929"/>
            <a:ext cx="3820329" cy="768596"/>
            <a:chOff x="3160692" y="3044701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3C8E0A47-1B7A-402B-B213-E43495654D1E}"/>
                </a:ext>
              </a:extLst>
            </p:cNvPr>
            <p:cNvSpPr/>
            <p:nvPr/>
          </p:nvSpPr>
          <p:spPr>
            <a:xfrm>
              <a:off x="3160692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3">
              <a:extLst>
                <a:ext uri="{FF2B5EF4-FFF2-40B4-BE49-F238E27FC236}">
                  <a16:creationId xmlns:a16="http://schemas.microsoft.com/office/drawing/2014/main" id="{C87B0594-A57C-43FE-B979-FACE7A7159ED}"/>
                </a:ext>
              </a:extLst>
            </p:cNvPr>
            <p:cNvSpPr/>
            <p:nvPr/>
          </p:nvSpPr>
          <p:spPr>
            <a:xfrm>
              <a:off x="6050238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" name="组合 6">
              <a:extLst>
                <a:ext uri="{FF2B5EF4-FFF2-40B4-BE49-F238E27FC236}">
                  <a16:creationId xmlns:a16="http://schemas.microsoft.com/office/drawing/2014/main" id="{B0B3B059-A549-4C88-A247-0CE68E1343EF}"/>
                </a:ext>
              </a:extLst>
            </p:cNvPr>
            <p:cNvGrpSpPr/>
            <p:nvPr/>
          </p:nvGrpSpPr>
          <p:grpSpPr>
            <a:xfrm>
              <a:off x="4697923" y="3044701"/>
              <a:ext cx="768596" cy="768596"/>
              <a:chOff x="3920969" y="4874243"/>
              <a:chExt cx="824886" cy="824886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EBC13D87-607B-4FDD-810E-0ACB4512F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本框 5">
                <a:extLst>
                  <a:ext uri="{FF2B5EF4-FFF2-40B4-BE49-F238E27FC236}">
                    <a16:creationId xmlns:a16="http://schemas.microsoft.com/office/drawing/2014/main" id="{AD414FAC-4697-4522-ADC3-9F1EC622FAB5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000051-F882-4822-8795-23496FDB1F7F}"/>
                </a:ext>
              </a:extLst>
            </p:cNvPr>
            <p:cNvCxnSpPr>
              <a:stCxn id="5" idx="3"/>
              <a:endCxn id="18" idx="1"/>
            </p:cNvCxnSpPr>
            <p:nvPr/>
          </p:nvCxnSpPr>
          <p:spPr>
            <a:xfrm flipV="1">
              <a:off x="4091475" y="3428999"/>
              <a:ext cx="606448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3BBD8F-E106-41A3-B935-C15774CDD081}"/>
                </a:ext>
              </a:extLst>
            </p:cNvPr>
            <p:cNvCxnSpPr>
              <a:stCxn id="18" idx="3"/>
              <a:endCxn id="16" idx="1"/>
            </p:cNvCxnSpPr>
            <p:nvPr/>
          </p:nvCxnSpPr>
          <p:spPr>
            <a:xfrm>
              <a:off x="5466519" y="3428999"/>
              <a:ext cx="583719" cy="1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29703196-9325-4F12-A034-3906E243AEFF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81E4690E-A06E-4E91-A576-08502F0FE5D7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04F48326-35A3-4995-B6A8-1289BD395F3F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0E4D-9241-4ED7-A637-69C8116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5FAA-4502-45D3-AEAB-C7362B51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One-to-one</a:t>
            </a:r>
            <a:r>
              <a:rPr lang="en-US" dirty="0"/>
              <a:t> relationship: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entity from one entity set is associated with at most one entity from the other entity set and vice versa.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one instructor can be the program director of at most one program, and one program has at most one program director.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538962-F6F1-4161-BF19-4338111E59F5}"/>
              </a:ext>
            </a:extLst>
          </p:cNvPr>
          <p:cNvGrpSpPr/>
          <p:nvPr/>
        </p:nvGrpSpPr>
        <p:grpSpPr>
          <a:xfrm>
            <a:off x="2102284" y="3655854"/>
            <a:ext cx="4939432" cy="1082401"/>
            <a:chOff x="2664737" y="2887799"/>
            <a:chExt cx="4939432" cy="1082401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55B5F51E-A16A-4FD8-BDDD-9E3C444B390B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DC492EC-ADD8-4C55-87DB-7041B6C396A8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58145AF-2408-46DC-BC52-171D7397BEED}"/>
                </a:ext>
              </a:extLst>
            </p:cNvPr>
            <p:cNvGrpSpPr/>
            <p:nvPr/>
          </p:nvGrpSpPr>
          <p:grpSpPr>
            <a:xfrm>
              <a:off x="4640200" y="2887799"/>
              <a:ext cx="1082401" cy="1082401"/>
              <a:chOff x="3859018" y="4705849"/>
              <a:chExt cx="1161673" cy="1161673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6649B6AD-73CF-4FD5-9733-83455D66E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C5371685-D3E8-46FB-B95B-DAA2CD32D91B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E26075-040D-40AC-8F86-E530C2F63CBB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206215-A50B-4280-B4BF-801F510D375C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722601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23F83166-740D-4C00-A392-37740FFB8BCB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1DA04B9F-864A-4C1C-9EC4-73117BA58FC5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B3F5AB5-D3CC-4919-A8E3-8FD728322048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54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0E4D-9241-4ED7-A637-69C8116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5FAA-4502-45D3-AEAB-C7362B51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Many-to-many</a:t>
            </a:r>
            <a:r>
              <a:rPr lang="en-US" dirty="0"/>
              <a:t> relationship: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entity from one entity set can be associated with multiple entities from the other entity set and vice versa.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one student can borrow multiple books, and one book can be borrowed by multiple students.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538962-F6F1-4161-BF19-4338111E59F5}"/>
              </a:ext>
            </a:extLst>
          </p:cNvPr>
          <p:cNvGrpSpPr/>
          <p:nvPr/>
        </p:nvGrpSpPr>
        <p:grpSpPr>
          <a:xfrm>
            <a:off x="2102284" y="3700881"/>
            <a:ext cx="4939432" cy="992348"/>
            <a:chOff x="2664737" y="2932826"/>
            <a:chExt cx="4939432" cy="992348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55B5F51E-A16A-4FD8-BDDD-9E3C444B390B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DC492EC-ADD8-4C55-87DB-7041B6C396A8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58145AF-2408-46DC-BC52-171D7397BEED}"/>
                </a:ext>
              </a:extLst>
            </p:cNvPr>
            <p:cNvGrpSpPr/>
            <p:nvPr/>
          </p:nvGrpSpPr>
          <p:grpSpPr>
            <a:xfrm>
              <a:off x="4640200" y="2932826"/>
              <a:ext cx="992348" cy="992348"/>
              <a:chOff x="3859019" y="4754175"/>
              <a:chExt cx="1065025" cy="1065025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6649B6AD-73CF-4FD5-9733-83455D66E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9" y="4754175"/>
                <a:ext cx="1065025" cy="106502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C5371685-D3E8-46FB-B95B-DAA2CD32D91B}"/>
                  </a:ext>
                </a:extLst>
              </p:cNvPr>
              <p:cNvSpPr txBox="1"/>
              <p:nvPr/>
            </p:nvSpPr>
            <p:spPr>
              <a:xfrm>
                <a:off x="3998421" y="5115635"/>
                <a:ext cx="784848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borrow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E26075-040D-40AC-8F86-E530C2F63CBB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206215-A50B-4280-B4BF-801F510D375C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632548" y="3429000"/>
              <a:ext cx="1040838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B32E4434-D39F-48A3-960D-8F3F9427C726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80B086A8-DF80-45A8-B47C-F57DBDD13992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1CC262B2-831A-428A-9D4B-5986F69FD4F0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95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5A85-E42B-4FA9-A401-1E63F51C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Participation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FA292-A81A-4ADC-93EE-5D2A92CD1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3962400"/>
              </a:xfrm>
            </p:spPr>
            <p:txBody>
              <a:bodyPr/>
              <a:lstStyle/>
              <a:p>
                <a:r>
                  <a:rPr lang="en-US" dirty="0"/>
                  <a:t>To express the answers to the other two questions: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Does every student have a major?	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every program the major for some students?</a:t>
                </a:r>
              </a:p>
              <a:p>
                <a:r>
                  <a:rPr lang="en-US" dirty="0"/>
                  <a:t>ER diagrams have </a:t>
                </a:r>
                <a:r>
                  <a:rPr lang="en-US" b="1" i="1" dirty="0"/>
                  <a:t>participation constraints</a:t>
                </a:r>
                <a:r>
                  <a:rPr lang="en-US" dirty="0"/>
                  <a:t>.</a:t>
                </a:r>
              </a:p>
              <a:p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participation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entity participates a relationship.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link is a </a:t>
                </a:r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double line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Partial participation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are some entities do not participate any relationship.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link is a </a:t>
                </a:r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single line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FA292-A81A-4ADC-93EE-5D2A92CD1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3962400"/>
              </a:xfrm>
              <a:blipFill>
                <a:blip r:embed="rId2"/>
                <a:stretch>
                  <a:fillRect l="-773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277B52A6-6B04-4E85-A25F-250507034FD5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5A24C5F-F9A4-4859-B8DF-AA7D71DBA7D4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1108D5F7-33BF-4558-9F33-9A73C2CD8D75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1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8FB6-B3F1-4D1C-906C-B1C77D04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0E3B5-7363-459E-B317-C22ED595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the example,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student has a major. (Students totally participate in the relationship set.)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program is the major for some students. (Programs also totally participate.)</a:t>
            </a:r>
          </a:p>
          <a:p>
            <a:r>
              <a:rPr lang="en-US" altLang="zh-CN" dirty="0"/>
              <a:t>Combining the cardinality constraints,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201AA7-8A49-4B5F-925F-BDCF5C65D831}"/>
              </a:ext>
            </a:extLst>
          </p:cNvPr>
          <p:cNvGrpSpPr/>
          <p:nvPr/>
        </p:nvGrpSpPr>
        <p:grpSpPr>
          <a:xfrm>
            <a:off x="2661835" y="3969659"/>
            <a:ext cx="3820329" cy="768596"/>
            <a:chOff x="3160692" y="3044701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E761ECB5-9750-4937-B2D0-F2B9DB80FC7A}"/>
                </a:ext>
              </a:extLst>
            </p:cNvPr>
            <p:cNvSpPr/>
            <p:nvPr/>
          </p:nvSpPr>
          <p:spPr>
            <a:xfrm>
              <a:off x="3160692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17768714-CE86-4DC2-9D6C-042043C8544B}"/>
                </a:ext>
              </a:extLst>
            </p:cNvPr>
            <p:cNvSpPr/>
            <p:nvPr/>
          </p:nvSpPr>
          <p:spPr>
            <a:xfrm>
              <a:off x="6050238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88DF001-CA09-44B1-AC00-DF8E2253B2DF}"/>
                </a:ext>
              </a:extLst>
            </p:cNvPr>
            <p:cNvGrpSpPr/>
            <p:nvPr/>
          </p:nvGrpSpPr>
          <p:grpSpPr>
            <a:xfrm>
              <a:off x="4697923" y="3044701"/>
              <a:ext cx="768596" cy="768596"/>
              <a:chOff x="3920969" y="4874243"/>
              <a:chExt cx="824886" cy="824886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82F05A57-DE07-4A57-A0DB-06E0D90547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08A0329E-E715-4459-9E16-58951CC171C8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5F7163-C5CD-4A1D-BDF3-98105515CACA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4091475" y="3428999"/>
              <a:ext cx="606448" cy="1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9E277F-2179-4F32-9134-DB5DC8EB1AEC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5466519" y="3428999"/>
              <a:ext cx="583719" cy="1"/>
            </a:xfrm>
            <a:prstGeom prst="line">
              <a:avLst/>
            </a:prstGeom>
            <a:ln w="34925" cmpd="dbl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D8CC8F30-5798-430F-A3C6-8A1C717F185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B11E13B1-AFEE-4A61-B29C-F286BEA7F0D4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B60CC6BA-B1F0-47D2-AD14-B20B4658AFC7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42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A02F-84D1-4DBF-96D5-9588479B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6C75-5F49-4170-AE46-A13953FF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another example, the relationship set “program director”.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possible that an instructors is not a program director for any program.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every program has a program director.</a:t>
            </a:r>
          </a:p>
          <a:p>
            <a:r>
              <a:rPr lang="en-US" dirty="0"/>
              <a:t>Thus, “instructor” is on the partial side, while “program” is on the total side.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Combining the cardinality constraints,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790DD-CAF2-4DD3-83D4-7FA72D69A785}"/>
              </a:ext>
            </a:extLst>
          </p:cNvPr>
          <p:cNvGrpSpPr/>
          <p:nvPr/>
        </p:nvGrpSpPr>
        <p:grpSpPr>
          <a:xfrm>
            <a:off x="2102284" y="4463574"/>
            <a:ext cx="4939432" cy="1082401"/>
            <a:chOff x="2664737" y="2887799"/>
            <a:chExt cx="4939432" cy="1082401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28E10EFE-50FF-4ACF-BE96-4B922015992D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6A4466D-A961-4299-9A54-ECDA6E42559B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04FD752-CF52-4B6F-8A1E-04FEEAACFA2B}"/>
                </a:ext>
              </a:extLst>
            </p:cNvPr>
            <p:cNvGrpSpPr/>
            <p:nvPr/>
          </p:nvGrpSpPr>
          <p:grpSpPr>
            <a:xfrm>
              <a:off x="4640200" y="2887799"/>
              <a:ext cx="1082401" cy="1082401"/>
              <a:chOff x="3859018" y="4705849"/>
              <a:chExt cx="1161673" cy="1161673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236B342A-82EA-4912-BA34-EE4CEACEB4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5A88743B-3D24-4D76-AF82-207F27144FE4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585A70-A518-4936-8F33-667BCD9D9E70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076769-7F91-49D6-8D99-A75C764107F2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722601" y="3429000"/>
              <a:ext cx="950785" cy="0"/>
            </a:xfrm>
            <a:prstGeom prst="line">
              <a:avLst/>
            </a:prstGeom>
            <a:ln w="34925" cmpd="dbl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7E40F1D6-A58C-4850-A906-CE5225E8D280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13B4DE3C-4578-4C68-BF7F-683A0A8150C7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CFFB70A-188A-4D65-83F2-86DD7D84B1EE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12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A3B-626B-48BC-B343-F2208BE7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 Notations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7752E-3172-475B-A0A1-639500835D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Instead of using lines and arrows, relationship constraints can be expressed by numbers in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besides links.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minimum number of entities associated with.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maximum number of entities associated with.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means multiple.</a:t>
                </a:r>
              </a:p>
              <a:p>
                <a:r>
                  <a:rPr lang="en-US" dirty="0"/>
                  <a:t>For example,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7752E-3172-475B-A0A1-639500835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C9D36F77-2296-445F-8764-7CCD39094113}"/>
              </a:ext>
            </a:extLst>
          </p:cNvPr>
          <p:cNvGrpSpPr/>
          <p:nvPr/>
        </p:nvGrpSpPr>
        <p:grpSpPr>
          <a:xfrm>
            <a:off x="2661835" y="3908699"/>
            <a:ext cx="3820329" cy="768596"/>
            <a:chOff x="2661835" y="3908699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7CB087E3-094E-4720-96BB-69803A67E5F2}"/>
                </a:ext>
              </a:extLst>
            </p:cNvPr>
            <p:cNvSpPr/>
            <p:nvPr/>
          </p:nvSpPr>
          <p:spPr>
            <a:xfrm>
              <a:off x="2661835" y="413910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9D61DD98-4603-4623-B035-CB018A0AA4B3}"/>
                </a:ext>
              </a:extLst>
            </p:cNvPr>
            <p:cNvSpPr/>
            <p:nvPr/>
          </p:nvSpPr>
          <p:spPr>
            <a:xfrm>
              <a:off x="5551381" y="413910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E541B9C-09E5-4A41-9BE2-CA35334F378D}"/>
                </a:ext>
              </a:extLst>
            </p:cNvPr>
            <p:cNvGrpSpPr/>
            <p:nvPr/>
          </p:nvGrpSpPr>
          <p:grpSpPr>
            <a:xfrm>
              <a:off x="4199066" y="3908699"/>
              <a:ext cx="768596" cy="768596"/>
              <a:chOff x="3920969" y="4874243"/>
              <a:chExt cx="824886" cy="824886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2C3380AA-8040-42BC-A5FE-40910D4249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35640C0B-C7B3-4A38-A59A-99888E19C2D0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7DDD26-7A7A-4271-BAFC-220FF9393A81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3592618" y="4292997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48869A-7ECE-4F6E-9803-EFE0EB782D7F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4967662" y="4292997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3DD2BC5-7667-445C-84F0-81C6E08C0244}"/>
                    </a:ext>
                  </a:extLst>
                </p:cNvPr>
                <p:cNvSpPr txBox="1"/>
                <p:nvPr/>
              </p:nvSpPr>
              <p:spPr>
                <a:xfrm>
                  <a:off x="3609579" y="3975591"/>
                  <a:ext cx="566758" cy="30777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sz="1400" b="0" i="1" smtClean="0">
                            <a:latin typeface="Cambria Math" panose="02040503050406030204" pitchFamily="18" charset="0"/>
                          </a:rPr>
                          <m:t>1..1</m:t>
                        </m:r>
                      </m:oMath>
                    </m:oMathPara>
                  </a14:m>
                  <a:endParaRPr kumimoji="1" lang="en-US" sz="14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3DD2BC5-7667-445C-84F0-81C6E08C0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579" y="3975591"/>
                  <a:ext cx="566758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6A702D-2D5E-4346-9920-7AEA153DD404}"/>
                    </a:ext>
                  </a:extLst>
                </p:cNvPr>
                <p:cNvSpPr txBox="1"/>
                <p:nvPr/>
              </p:nvSpPr>
              <p:spPr>
                <a:xfrm>
                  <a:off x="4975304" y="3991296"/>
                  <a:ext cx="523990" cy="30777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sz="1400" b="0" i="1" smtClean="0">
                            <a:latin typeface="Cambria Math" panose="02040503050406030204" pitchFamily="18" charset="0"/>
                          </a:rPr>
                          <m:t>1..∗</m:t>
                        </m:r>
                      </m:oMath>
                    </m:oMathPara>
                  </a14:m>
                  <a:endParaRPr kumimoji="1" lang="en-US" sz="1400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6A702D-2D5E-4346-9920-7AEA153DD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304" y="3991296"/>
                  <a:ext cx="52399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FFD2244-01A0-42AD-954B-850E09945529}"/>
              </a:ext>
            </a:extLst>
          </p:cNvPr>
          <p:cNvGrpSpPr/>
          <p:nvPr/>
        </p:nvGrpSpPr>
        <p:grpSpPr>
          <a:xfrm>
            <a:off x="2102284" y="5061593"/>
            <a:ext cx="4939432" cy="1082401"/>
            <a:chOff x="2102284" y="5061593"/>
            <a:chExt cx="4939432" cy="1082401"/>
          </a:xfrm>
        </p:grpSpPr>
        <p:sp>
          <p:nvSpPr>
            <p:cNvPr id="13" name="矩形 3">
              <a:extLst>
                <a:ext uri="{FF2B5EF4-FFF2-40B4-BE49-F238E27FC236}">
                  <a16:creationId xmlns:a16="http://schemas.microsoft.com/office/drawing/2014/main" id="{BBD26D38-4641-4050-BDBF-CC1BDA58DB7E}"/>
                </a:ext>
              </a:extLst>
            </p:cNvPr>
            <p:cNvSpPr/>
            <p:nvPr/>
          </p:nvSpPr>
          <p:spPr>
            <a:xfrm>
              <a:off x="2102284" y="5448905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3">
              <a:extLst>
                <a:ext uri="{FF2B5EF4-FFF2-40B4-BE49-F238E27FC236}">
                  <a16:creationId xmlns:a16="http://schemas.microsoft.com/office/drawing/2014/main" id="{B99BC87C-E33F-474F-A1E4-4E5DACEA216D}"/>
                </a:ext>
              </a:extLst>
            </p:cNvPr>
            <p:cNvSpPr/>
            <p:nvPr/>
          </p:nvSpPr>
          <p:spPr>
            <a:xfrm>
              <a:off x="6110933" y="5448905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组合 6">
              <a:extLst>
                <a:ext uri="{FF2B5EF4-FFF2-40B4-BE49-F238E27FC236}">
                  <a16:creationId xmlns:a16="http://schemas.microsoft.com/office/drawing/2014/main" id="{E92F18AC-2C4F-4DE8-A60B-3567E74F67EE}"/>
                </a:ext>
              </a:extLst>
            </p:cNvPr>
            <p:cNvGrpSpPr/>
            <p:nvPr/>
          </p:nvGrpSpPr>
          <p:grpSpPr>
            <a:xfrm>
              <a:off x="4077747" y="5061593"/>
              <a:ext cx="1082401" cy="1082401"/>
              <a:chOff x="3859018" y="4705849"/>
              <a:chExt cx="1161673" cy="1161673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CE8AEAFA-F405-42BB-8C43-5EDCD4F6FF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本框 5">
                <a:extLst>
                  <a:ext uri="{FF2B5EF4-FFF2-40B4-BE49-F238E27FC236}">
                    <a16:creationId xmlns:a16="http://schemas.microsoft.com/office/drawing/2014/main" id="{8901CB7E-E379-42A7-8E4B-BE6C145140EC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9EA2A1-7C8A-4308-8047-2AD3E1C122A0}"/>
                </a:ext>
              </a:extLst>
            </p:cNvPr>
            <p:cNvCxnSpPr>
              <a:cxnSpLocks/>
              <a:stCxn id="13" idx="3"/>
              <a:endCxn id="18" idx="1"/>
            </p:cNvCxnSpPr>
            <p:nvPr/>
          </p:nvCxnSpPr>
          <p:spPr>
            <a:xfrm>
              <a:off x="3126962" y="5602794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49C154B-6140-4B5D-B1BD-268888493B1E}"/>
                </a:ext>
              </a:extLst>
            </p:cNvPr>
            <p:cNvCxnSpPr>
              <a:cxnSpLocks/>
              <a:stCxn id="18" idx="3"/>
              <a:endCxn id="14" idx="1"/>
            </p:cNvCxnSpPr>
            <p:nvPr/>
          </p:nvCxnSpPr>
          <p:spPr>
            <a:xfrm>
              <a:off x="5160148" y="5602794"/>
              <a:ext cx="950785" cy="0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E4E775-3630-44CB-B071-875B061FBBEB}"/>
                    </a:ext>
                  </a:extLst>
                </p:cNvPr>
                <p:cNvSpPr txBox="1"/>
                <p:nvPr/>
              </p:nvSpPr>
              <p:spPr>
                <a:xfrm>
                  <a:off x="3308974" y="5303702"/>
                  <a:ext cx="566758" cy="30777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sz="1400" b="0" i="1" smtClean="0">
                            <a:latin typeface="Cambria Math" panose="02040503050406030204" pitchFamily="18" charset="0"/>
                          </a:rPr>
                          <m:t>0..1</m:t>
                        </m:r>
                      </m:oMath>
                    </m:oMathPara>
                  </a14:m>
                  <a:endParaRPr kumimoji="1" lang="en-US" sz="1400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E4E775-3630-44CB-B071-875B061FBB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974" y="5303702"/>
                  <a:ext cx="566758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5D7E4CA-907F-49AA-A14D-290D79D2E21B}"/>
                    </a:ext>
                  </a:extLst>
                </p:cNvPr>
                <p:cNvSpPr txBox="1"/>
                <p:nvPr/>
              </p:nvSpPr>
              <p:spPr>
                <a:xfrm>
                  <a:off x="5353860" y="5291760"/>
                  <a:ext cx="566758" cy="30777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sz="1400" b="0" i="1" smtClean="0">
                            <a:latin typeface="Cambria Math" panose="02040503050406030204" pitchFamily="18" charset="0"/>
                          </a:rPr>
                          <m:t>1..1</m:t>
                        </m:r>
                      </m:oMath>
                    </m:oMathPara>
                  </a14:m>
                  <a:endParaRPr kumimoji="1" lang="en-US" sz="14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5D7E4CA-907F-49AA-A14D-290D79D2E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3860" y="5291760"/>
                  <a:ext cx="566758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8E99C65F-DBE6-47FD-9DCD-27654B54833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2E247F90-E0BA-402C-9BA8-90DAB3A67C3C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4">
            <a:hlinkClick r:id="rId8" action="ppaction://hlinksldjump"/>
            <a:extLst>
              <a:ext uri="{FF2B5EF4-FFF2-40B4-BE49-F238E27FC236}">
                <a16:creationId xmlns:a16="http://schemas.microsoft.com/office/drawing/2014/main" id="{400C1032-CCC8-45E8-982B-1FA29B6B6AE9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76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CE9D-B7C8-486B-89F4-83AED0D6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Constraints for Ternary Relationship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DE61C-A8C8-43DE-9D5E-F6CC1E21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Constraints for ternary relationship sets are not easy.</a:t>
            </a:r>
          </a:p>
          <a:p>
            <a:r>
              <a:rPr lang="en-US" dirty="0"/>
              <a:t>They easily creates </a:t>
            </a:r>
            <a:r>
              <a:rPr lang="en-US" altLang="zh-CN" dirty="0"/>
              <a:t>ambiguous, meaning that an ER diagram can be understood in different ways.</a:t>
            </a:r>
          </a:p>
          <a:p>
            <a:r>
              <a:rPr lang="en-US" altLang="zh-CN" dirty="0"/>
              <a:t>Thus, we </a:t>
            </a:r>
            <a:r>
              <a:rPr lang="en-US" altLang="zh-CN" dirty="0">
                <a:solidFill>
                  <a:srgbClr val="C00000"/>
                </a:solidFill>
              </a:rPr>
              <a:t>usually avoid using constraints </a:t>
            </a:r>
            <a:r>
              <a:rPr lang="en-US" altLang="zh-CN" dirty="0"/>
              <a:t>on ternary relationship sets.</a:t>
            </a:r>
          </a:p>
          <a:p>
            <a:r>
              <a:rPr lang="en-US" altLang="zh-CN" dirty="0"/>
              <a:t>If expressing constraints is important, ternary relationship sets can always be converted into several binary ones.</a:t>
            </a:r>
            <a:endParaRPr lang="en-US" dirty="0"/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C73C52EC-C98F-4274-B008-6615E749014E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4AE600E3-A3E7-4822-9F3E-F6B913E2BDD1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B3018151-7EB0-4044-9EAA-8AD424CE740C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52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2403-0178-4334-8A61-8629B329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for Ternary Relationship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2433-69E8-4D78-8BDC-E48F7AD59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ternary relationship “enroll” associating “student”, “instructor”, and “course”.</a:t>
            </a:r>
          </a:p>
          <a:p>
            <a:r>
              <a:rPr lang="en-US" dirty="0"/>
              <a:t>Assume we want to express that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course is instructed by at most one instructor; and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instructor instructs at most one course at a time. (Let’s just assume this for the example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purpose. Even it is not the real case.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both of </a:t>
            </a:r>
            <a:r>
              <a:rPr lang="en-US" dirty="0"/>
              <a:t>“instructor” and “course” are pointed by arrows.</a:t>
            </a:r>
          </a:p>
          <a:p>
            <a:r>
              <a:rPr lang="en-US" dirty="0"/>
              <a:t>One </a:t>
            </a:r>
            <a:r>
              <a:rPr lang="en-US" altLang="zh-CN" dirty="0"/>
              <a:t>may draw the ER diagram naively as follows.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3AE99F-0ACD-4A47-BE04-9A281690D0B4}"/>
              </a:ext>
            </a:extLst>
          </p:cNvPr>
          <p:cNvGrpSpPr/>
          <p:nvPr/>
        </p:nvGrpSpPr>
        <p:grpSpPr>
          <a:xfrm>
            <a:off x="2661835" y="4546103"/>
            <a:ext cx="3820329" cy="1306782"/>
            <a:chOff x="2661835" y="2122218"/>
            <a:chExt cx="3820329" cy="130678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9738792-F9D2-4C4D-8640-0028E7386B0E}"/>
                </a:ext>
              </a:extLst>
            </p:cNvPr>
            <p:cNvGrpSpPr/>
            <p:nvPr/>
          </p:nvGrpSpPr>
          <p:grpSpPr>
            <a:xfrm>
              <a:off x="2661835" y="2122218"/>
              <a:ext cx="3820329" cy="768596"/>
              <a:chOff x="3160692" y="3044701"/>
              <a:chExt cx="3820329" cy="768596"/>
            </a:xfrm>
          </p:grpSpPr>
          <p:sp>
            <p:nvSpPr>
              <p:cNvPr id="21" name="矩形 3">
                <a:extLst>
                  <a:ext uri="{FF2B5EF4-FFF2-40B4-BE49-F238E27FC236}">
                    <a16:creationId xmlns:a16="http://schemas.microsoft.com/office/drawing/2014/main" id="{B94D4CAE-5D26-424F-AA26-C787551855C2}"/>
                  </a:ext>
                </a:extLst>
              </p:cNvPr>
              <p:cNvSpPr/>
              <p:nvPr/>
            </p:nvSpPr>
            <p:spPr>
              <a:xfrm>
                <a:off x="3160692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矩形 3">
                <a:extLst>
                  <a:ext uri="{FF2B5EF4-FFF2-40B4-BE49-F238E27FC236}">
                    <a16:creationId xmlns:a16="http://schemas.microsoft.com/office/drawing/2014/main" id="{B1A8906E-D2F2-4497-BBD8-998E0BBD6DEA}"/>
                  </a:ext>
                </a:extLst>
              </p:cNvPr>
              <p:cNvSpPr/>
              <p:nvPr/>
            </p:nvSpPr>
            <p:spPr>
              <a:xfrm>
                <a:off x="6050238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" name="组合 6">
                <a:extLst>
                  <a:ext uri="{FF2B5EF4-FFF2-40B4-BE49-F238E27FC236}">
                    <a16:creationId xmlns:a16="http://schemas.microsoft.com/office/drawing/2014/main" id="{78946EED-9EAF-45E8-A504-2512DFFB9F5D}"/>
                  </a:ext>
                </a:extLst>
              </p:cNvPr>
              <p:cNvGrpSpPr/>
              <p:nvPr/>
            </p:nvGrpSpPr>
            <p:grpSpPr>
              <a:xfrm>
                <a:off x="4697923" y="3044701"/>
                <a:ext cx="768596" cy="768596"/>
                <a:chOff x="3920969" y="4874243"/>
                <a:chExt cx="824886" cy="824886"/>
              </a:xfrm>
            </p:grpSpPr>
            <p:sp>
              <p:nvSpPr>
                <p:cNvPr id="26" name="菱形 4">
                  <a:extLst>
                    <a:ext uri="{FF2B5EF4-FFF2-40B4-BE49-F238E27FC236}">
                      <a16:creationId xmlns:a16="http://schemas.microsoft.com/office/drawing/2014/main" id="{2405AEF3-12A0-497B-8E9E-AF33703A95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文本框 5">
                  <a:extLst>
                    <a:ext uri="{FF2B5EF4-FFF2-40B4-BE49-F238E27FC236}">
                      <a16:creationId xmlns:a16="http://schemas.microsoft.com/office/drawing/2014/main" id="{C744155C-E0C7-4876-B76C-C54BFFC212B2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enroll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A43DE7B-0DB0-4F30-9198-2BCA939B49D5}"/>
                  </a:ext>
                </a:extLst>
              </p:cNvPr>
              <p:cNvCxnSpPr>
                <a:stCxn id="21" idx="3"/>
                <a:endCxn id="26" idx="1"/>
              </p:cNvCxnSpPr>
              <p:nvPr/>
            </p:nvCxnSpPr>
            <p:spPr>
              <a:xfrm flipV="1">
                <a:off x="4091475" y="3428999"/>
                <a:ext cx="606448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head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30867DF-3B1F-4CD8-BFBF-C7A73D911F3D}"/>
                  </a:ext>
                </a:extLst>
              </p:cNvPr>
              <p:cNvCxnSpPr>
                <a:stCxn id="26" idx="3"/>
                <a:endCxn id="22" idx="1"/>
              </p:cNvCxnSpPr>
              <p:nvPr/>
            </p:nvCxnSpPr>
            <p:spPr>
              <a:xfrm>
                <a:off x="5466519" y="3428999"/>
                <a:ext cx="583719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矩形 3">
              <a:extLst>
                <a:ext uri="{FF2B5EF4-FFF2-40B4-BE49-F238E27FC236}">
                  <a16:creationId xmlns:a16="http://schemas.microsoft.com/office/drawing/2014/main" id="{F57B348B-DAFB-4542-BFF7-7B952FD8FD22}"/>
                </a:ext>
              </a:extLst>
            </p:cNvPr>
            <p:cNvSpPr/>
            <p:nvPr/>
          </p:nvSpPr>
          <p:spPr>
            <a:xfrm>
              <a:off x="4076348" y="3121223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E2ADD3E-CF6B-4C77-BCAF-20F9CE785F3D}"/>
                </a:ext>
              </a:extLst>
            </p:cNvPr>
            <p:cNvCxnSpPr>
              <a:stCxn id="26" idx="2"/>
              <a:endCxn id="19" idx="0"/>
            </p:cNvCxnSpPr>
            <p:nvPr/>
          </p:nvCxnSpPr>
          <p:spPr>
            <a:xfrm>
              <a:off x="4583364" y="2890814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3218A6C6-E77B-475A-B498-E6ED827DD21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5517B64A-89FB-40CA-884A-70FA76DA8D5A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F33F8442-1E45-4F17-B2CF-3D224727CEE0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99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2403-0178-4334-8A61-8629B329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for Ternary Relationship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2433-69E8-4D78-8BDC-E48F7AD59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91374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However, this ER diagram can be understood in different ways.</a:t>
            </a:r>
          </a:p>
          <a:p>
            <a:r>
              <a:rPr lang="en-US" altLang="zh-CN" dirty="0"/>
              <a:t>Meaning 1: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student is only associated with one combination of a course and an instructor. But, no constraints is between course and instructor.</a:t>
            </a:r>
          </a:p>
          <a:p>
            <a:pPr marL="268288" indent="-268288"/>
            <a:r>
              <a:rPr lang="en-US" dirty="0"/>
              <a:t>Meaning 2: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course is instructed by at most one instructor. 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instructor can instruct at most one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there is no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constraints on students.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8">
                <a:extLst>
                  <a:ext uri="{FF2B5EF4-FFF2-40B4-BE49-F238E27FC236}">
                    <a16:creationId xmlns:a16="http://schemas.microsoft.com/office/drawing/2014/main" id="{C90C9D1E-7DCA-4FBB-B23C-D0ABF02A7D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64483"/>
                  </p:ext>
                </p:extLst>
              </p:nvPr>
            </p:nvGraphicFramePr>
            <p:xfrm>
              <a:off x="1172345" y="4332514"/>
              <a:ext cx="3606165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545504858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1173357141"/>
                        </a:ext>
                      </a:extLst>
                    </a:gridCol>
                  </a:tblGrid>
                  <a:tr h="2223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8">
                <a:extLst>
                  <a:ext uri="{FF2B5EF4-FFF2-40B4-BE49-F238E27FC236}">
                    <a16:creationId xmlns:a16="http://schemas.microsoft.com/office/drawing/2014/main" id="{C90C9D1E-7DCA-4FBB-B23C-D0ABF02A7D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64483"/>
                  </p:ext>
                </p:extLst>
              </p:nvPr>
            </p:nvGraphicFramePr>
            <p:xfrm>
              <a:off x="1172345" y="4332514"/>
              <a:ext cx="3606165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545504858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1173357141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102041" r="-168919" b="-5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202041" r="-168919" b="-4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308333" r="-168919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400000" r="-168919" b="-2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500000" r="-168919" b="-1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0" t="-600000" r="-168919" b="-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2FF26E8-3DCA-42CD-A2E4-2892D3613E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43715" y="4332514"/>
                <a:ext cx="3471635" cy="18505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73050" indent="-2730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800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/>
                  <a:t> are students, instructors, and courses respectively.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2FF26E8-3DCA-42CD-A2E4-2892D3613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715" y="4332514"/>
                <a:ext cx="3471635" cy="1850572"/>
              </a:xfrm>
              <a:prstGeom prst="rect">
                <a:avLst/>
              </a:prstGeom>
              <a:blipFill>
                <a:blip r:embed="rId3"/>
                <a:stretch>
                  <a:fillRect l="-1053" t="-3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6E08B59-1DD6-4B45-B222-E74B39475AA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B43B40F1-EB4F-4848-BBCD-363BE7972546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6CBA3487-6DBB-48C1-BDBA-055754BA112D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0B0549-FDA9-06EC-76EF-E98942F37CCB}"/>
              </a:ext>
            </a:extLst>
          </p:cNvPr>
          <p:cNvGrpSpPr/>
          <p:nvPr/>
        </p:nvGrpSpPr>
        <p:grpSpPr>
          <a:xfrm>
            <a:off x="5043715" y="5160824"/>
            <a:ext cx="3820329" cy="1306782"/>
            <a:chOff x="2661835" y="2122218"/>
            <a:chExt cx="3820329" cy="1306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2CE495-0E66-0417-13ED-1371DF905724}"/>
                </a:ext>
              </a:extLst>
            </p:cNvPr>
            <p:cNvGrpSpPr/>
            <p:nvPr/>
          </p:nvGrpSpPr>
          <p:grpSpPr>
            <a:xfrm>
              <a:off x="2661835" y="2122218"/>
              <a:ext cx="3820329" cy="768596"/>
              <a:chOff x="3160692" y="3044701"/>
              <a:chExt cx="3820329" cy="768596"/>
            </a:xfrm>
          </p:grpSpPr>
          <p:sp>
            <p:nvSpPr>
              <p:cNvPr id="8" name="矩形 3">
                <a:extLst>
                  <a:ext uri="{FF2B5EF4-FFF2-40B4-BE49-F238E27FC236}">
                    <a16:creationId xmlns:a16="http://schemas.microsoft.com/office/drawing/2014/main" id="{A33239EC-BF83-9CA4-411C-21466E7DDCD6}"/>
                  </a:ext>
                </a:extLst>
              </p:cNvPr>
              <p:cNvSpPr/>
              <p:nvPr/>
            </p:nvSpPr>
            <p:spPr>
              <a:xfrm>
                <a:off x="3160692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3">
                <a:extLst>
                  <a:ext uri="{FF2B5EF4-FFF2-40B4-BE49-F238E27FC236}">
                    <a16:creationId xmlns:a16="http://schemas.microsoft.com/office/drawing/2014/main" id="{5936C164-F847-7DDB-DE48-4A6D36AD613A}"/>
                  </a:ext>
                </a:extLst>
              </p:cNvPr>
              <p:cNvSpPr/>
              <p:nvPr/>
            </p:nvSpPr>
            <p:spPr>
              <a:xfrm>
                <a:off x="6050238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" name="组合 6">
                <a:extLst>
                  <a:ext uri="{FF2B5EF4-FFF2-40B4-BE49-F238E27FC236}">
                    <a16:creationId xmlns:a16="http://schemas.microsoft.com/office/drawing/2014/main" id="{1A42B108-F958-F652-2873-10B7275F6C08}"/>
                  </a:ext>
                </a:extLst>
              </p:cNvPr>
              <p:cNvGrpSpPr/>
              <p:nvPr/>
            </p:nvGrpSpPr>
            <p:grpSpPr>
              <a:xfrm>
                <a:off x="4697923" y="3044701"/>
                <a:ext cx="768596" cy="768596"/>
                <a:chOff x="3920969" y="4874243"/>
                <a:chExt cx="824886" cy="824886"/>
              </a:xfrm>
            </p:grpSpPr>
            <p:sp>
              <p:nvSpPr>
                <p:cNvPr id="13" name="菱形 4">
                  <a:extLst>
                    <a:ext uri="{FF2B5EF4-FFF2-40B4-BE49-F238E27FC236}">
                      <a16:creationId xmlns:a16="http://schemas.microsoft.com/office/drawing/2014/main" id="{08827550-EC0D-3070-5A78-01D622643D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文本框 5">
                  <a:extLst>
                    <a:ext uri="{FF2B5EF4-FFF2-40B4-BE49-F238E27FC236}">
                      <a16:creationId xmlns:a16="http://schemas.microsoft.com/office/drawing/2014/main" id="{66B8206B-BD64-5034-C08B-CD91E3502B7D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enroll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1B1E555-4E72-3AF7-333F-BD761C758F16}"/>
                  </a:ext>
                </a:extLst>
              </p:cNvPr>
              <p:cNvCxnSpPr>
                <a:stCxn id="8" idx="3"/>
                <a:endCxn id="13" idx="1"/>
              </p:cNvCxnSpPr>
              <p:nvPr/>
            </p:nvCxnSpPr>
            <p:spPr>
              <a:xfrm flipV="1">
                <a:off x="4091475" y="3428999"/>
                <a:ext cx="606448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head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FB71466-08E6-CDC8-41BD-4B4CB1CACD16}"/>
                  </a:ext>
                </a:extLst>
              </p:cNvPr>
              <p:cNvCxnSpPr>
                <a:stCxn id="13" idx="3"/>
                <a:endCxn id="9" idx="1"/>
              </p:cNvCxnSpPr>
              <p:nvPr/>
            </p:nvCxnSpPr>
            <p:spPr>
              <a:xfrm>
                <a:off x="5466519" y="3428999"/>
                <a:ext cx="583719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CC35248C-F108-547B-5316-99FE66F8FF2F}"/>
                </a:ext>
              </a:extLst>
            </p:cNvPr>
            <p:cNvSpPr/>
            <p:nvPr/>
          </p:nvSpPr>
          <p:spPr>
            <a:xfrm>
              <a:off x="4076348" y="3121223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C6E2918-C7F2-6EB2-E940-AFB5CE85482F}"/>
                </a:ext>
              </a:extLst>
            </p:cNvPr>
            <p:cNvCxnSpPr>
              <a:stCxn id="13" idx="2"/>
              <a:endCxn id="6" idx="0"/>
            </p:cNvCxnSpPr>
            <p:nvPr/>
          </p:nvCxnSpPr>
          <p:spPr>
            <a:xfrm>
              <a:off x="4583364" y="2890814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793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94B-3791-470A-80CF-91F15D80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636811"/>
          </a:xfrm>
        </p:spPr>
        <p:txBody>
          <a:bodyPr>
            <a:normAutofit/>
          </a:bodyPr>
          <a:lstStyle/>
          <a:p>
            <a:r>
              <a:rPr lang="en-US" altLang="zh-CN" dirty="0"/>
              <a:t>To express complex constraints on a ternary relationship, one can always convert the ternary relationship to binary ones by introducing artificial entity sets and relationship sets.</a:t>
            </a:r>
          </a:p>
          <a:p>
            <a:r>
              <a:rPr lang="en-US" altLang="zh-CN" dirty="0"/>
              <a:t>For meaning 1, one entity is associated with at most one combination of two entities.</a:t>
            </a:r>
          </a:p>
          <a:p>
            <a:r>
              <a:rPr lang="en-US" altLang="zh-CN" dirty="0"/>
              <a:t>This type of many-to-one constraints (the many side is a combination of entities) can be converted into</a:t>
            </a:r>
            <a:br>
              <a:rPr lang="en-US" altLang="zh-CN" dirty="0"/>
            </a:br>
            <a:endParaRPr lang="en-US" altLang="zh-CN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E526C58-4FDE-4D60-97BF-6111B7911160}"/>
              </a:ext>
            </a:extLst>
          </p:cNvPr>
          <p:cNvGrpSpPr/>
          <p:nvPr/>
        </p:nvGrpSpPr>
        <p:grpSpPr>
          <a:xfrm>
            <a:off x="873326" y="4237011"/>
            <a:ext cx="4174924" cy="1666070"/>
            <a:chOff x="1971279" y="4237011"/>
            <a:chExt cx="4174924" cy="1666070"/>
          </a:xfrm>
        </p:grpSpPr>
        <p:sp>
          <p:nvSpPr>
            <p:cNvPr id="57" name="矩形 3">
              <a:extLst>
                <a:ext uri="{FF2B5EF4-FFF2-40B4-BE49-F238E27FC236}">
                  <a16:creationId xmlns:a16="http://schemas.microsoft.com/office/drawing/2014/main" id="{C72DECD1-DDE9-47BB-89C6-6866EE7B81B6}"/>
                </a:ext>
              </a:extLst>
            </p:cNvPr>
            <p:cNvSpPr/>
            <p:nvPr/>
          </p:nvSpPr>
          <p:spPr>
            <a:xfrm>
              <a:off x="1971279" y="434947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3">
              <a:extLst>
                <a:ext uri="{FF2B5EF4-FFF2-40B4-BE49-F238E27FC236}">
                  <a16:creationId xmlns:a16="http://schemas.microsoft.com/office/drawing/2014/main" id="{A1591E52-CBC9-4473-9EBA-70AE550DE467}"/>
                </a:ext>
              </a:extLst>
            </p:cNvPr>
            <p:cNvSpPr/>
            <p:nvPr/>
          </p:nvSpPr>
          <p:spPr>
            <a:xfrm>
              <a:off x="5215420" y="434946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" name="组合 6">
              <a:extLst>
                <a:ext uri="{FF2B5EF4-FFF2-40B4-BE49-F238E27FC236}">
                  <a16:creationId xmlns:a16="http://schemas.microsoft.com/office/drawing/2014/main" id="{8A6193B1-1BCE-452A-B827-A8ADA440124A}"/>
                </a:ext>
              </a:extLst>
            </p:cNvPr>
            <p:cNvGrpSpPr/>
            <p:nvPr/>
          </p:nvGrpSpPr>
          <p:grpSpPr>
            <a:xfrm>
              <a:off x="3154946" y="4237011"/>
              <a:ext cx="532695" cy="532695"/>
              <a:chOff x="3920969" y="4956154"/>
              <a:chExt cx="571708" cy="571708"/>
            </a:xfrm>
          </p:grpSpPr>
          <p:sp>
            <p:nvSpPr>
              <p:cNvPr id="62" name="菱形 4">
                <a:extLst>
                  <a:ext uri="{FF2B5EF4-FFF2-40B4-BE49-F238E27FC236}">
                    <a16:creationId xmlns:a16="http://schemas.microsoft.com/office/drawing/2014/main" id="{56C2F454-F9C1-42BE-9C4B-A537334C6A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5">
                    <a:extLst>
                      <a:ext uri="{FF2B5EF4-FFF2-40B4-BE49-F238E27FC236}">
                        <a16:creationId xmlns:a16="http://schemas.microsoft.com/office/drawing/2014/main" id="{6376431E-21CF-4206-8FB9-AF85582E3431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3" name="文本框 5">
                    <a:extLst>
                      <a:ext uri="{FF2B5EF4-FFF2-40B4-BE49-F238E27FC236}">
                        <a16:creationId xmlns:a16="http://schemas.microsoft.com/office/drawing/2014/main" id="{6376431E-21CF-4206-8FB9-AF85582E3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63F601F-1C2F-47B7-A441-3DC697C29E75}"/>
                </a:ext>
              </a:extLst>
            </p:cNvPr>
            <p:cNvCxnSpPr>
              <a:cxnSpLocks/>
              <a:stCxn id="57" idx="3"/>
              <a:endCxn id="62" idx="1"/>
            </p:cNvCxnSpPr>
            <p:nvPr/>
          </p:nvCxnSpPr>
          <p:spPr>
            <a:xfrm flipV="1">
              <a:off x="2902062" y="4503359"/>
              <a:ext cx="252884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3">
              <a:extLst>
                <a:ext uri="{FF2B5EF4-FFF2-40B4-BE49-F238E27FC236}">
                  <a16:creationId xmlns:a16="http://schemas.microsoft.com/office/drawing/2014/main" id="{59BB12B0-5749-499A-9845-9AC490334498}"/>
                </a:ext>
              </a:extLst>
            </p:cNvPr>
            <p:cNvSpPr/>
            <p:nvPr/>
          </p:nvSpPr>
          <p:spPr>
            <a:xfrm>
              <a:off x="3538025" y="5595304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3">
                  <a:extLst>
                    <a:ext uri="{FF2B5EF4-FFF2-40B4-BE49-F238E27FC236}">
                      <a16:creationId xmlns:a16="http://schemas.microsoft.com/office/drawing/2014/main" id="{06EFAC2C-C0A5-4160-8B8F-C21DC9333071}"/>
                    </a:ext>
                  </a:extLst>
                </p:cNvPr>
                <p:cNvSpPr/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矩形 3">
                  <a:extLst>
                    <a:ext uri="{FF2B5EF4-FFF2-40B4-BE49-F238E27FC236}">
                      <a16:creationId xmlns:a16="http://schemas.microsoft.com/office/drawing/2014/main" id="{06EFAC2C-C0A5-4160-8B8F-C21DC93330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组合 6">
              <a:extLst>
                <a:ext uri="{FF2B5EF4-FFF2-40B4-BE49-F238E27FC236}">
                  <a16:creationId xmlns:a16="http://schemas.microsoft.com/office/drawing/2014/main" id="{2C5C7B9B-EB85-45E2-B5DF-6B78D39A1C15}"/>
                </a:ext>
              </a:extLst>
            </p:cNvPr>
            <p:cNvGrpSpPr/>
            <p:nvPr/>
          </p:nvGrpSpPr>
          <p:grpSpPr>
            <a:xfrm>
              <a:off x="4420954" y="4237011"/>
              <a:ext cx="532695" cy="532695"/>
              <a:chOff x="3845481" y="4956154"/>
              <a:chExt cx="571708" cy="571708"/>
            </a:xfrm>
          </p:grpSpPr>
          <p:sp>
            <p:nvSpPr>
              <p:cNvPr id="66" name="菱形 4">
                <a:extLst>
                  <a:ext uri="{FF2B5EF4-FFF2-40B4-BE49-F238E27FC236}">
                    <a16:creationId xmlns:a16="http://schemas.microsoft.com/office/drawing/2014/main" id="{C21CED1D-D3E3-41F8-884D-4494104A9C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45481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5">
                    <a:extLst>
                      <a:ext uri="{FF2B5EF4-FFF2-40B4-BE49-F238E27FC236}">
                        <a16:creationId xmlns:a16="http://schemas.microsoft.com/office/drawing/2014/main" id="{C422D376-8D82-4E72-8FE2-CA46C21479AB}"/>
                      </a:ext>
                    </a:extLst>
                  </p:cNvPr>
                  <p:cNvSpPr txBox="1"/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文本框 5">
                    <a:extLst>
                      <a:ext uri="{FF2B5EF4-FFF2-40B4-BE49-F238E27FC236}">
                        <a16:creationId xmlns:a16="http://schemas.microsoft.com/office/drawing/2014/main" id="{C422D376-8D82-4E72-8FE2-CA46C21479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组合 6">
              <a:extLst>
                <a:ext uri="{FF2B5EF4-FFF2-40B4-BE49-F238E27FC236}">
                  <a16:creationId xmlns:a16="http://schemas.microsoft.com/office/drawing/2014/main" id="{0B114F2E-D794-447F-86D4-B0AFC255E22E}"/>
                </a:ext>
              </a:extLst>
            </p:cNvPr>
            <p:cNvGrpSpPr/>
            <p:nvPr/>
          </p:nvGrpSpPr>
          <p:grpSpPr>
            <a:xfrm>
              <a:off x="3778693" y="4869558"/>
              <a:ext cx="532695" cy="532695"/>
              <a:chOff x="3920969" y="4956154"/>
              <a:chExt cx="571708" cy="571708"/>
            </a:xfrm>
          </p:grpSpPr>
          <p:sp>
            <p:nvSpPr>
              <p:cNvPr id="69" name="菱形 4">
                <a:extLst>
                  <a:ext uri="{FF2B5EF4-FFF2-40B4-BE49-F238E27FC236}">
                    <a16:creationId xmlns:a16="http://schemas.microsoft.com/office/drawing/2014/main" id="{DC7D42C6-ACD3-4395-BCDD-3F14C631AD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本框 5">
                    <a:extLst>
                      <a:ext uri="{FF2B5EF4-FFF2-40B4-BE49-F238E27FC236}">
                        <a16:creationId xmlns:a16="http://schemas.microsoft.com/office/drawing/2014/main" id="{CDD3EE36-05F8-4D02-BCFB-3AAEA4525D7B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文本框 5">
                    <a:extLst>
                      <a:ext uri="{FF2B5EF4-FFF2-40B4-BE49-F238E27FC236}">
                        <a16:creationId xmlns:a16="http://schemas.microsoft.com/office/drawing/2014/main" id="{CDD3EE36-05F8-4D02-BCFB-3AAEA4525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0B2D87B-E9B3-4FAE-B3AE-5A06052AC430}"/>
                </a:ext>
              </a:extLst>
            </p:cNvPr>
            <p:cNvCxnSpPr>
              <a:cxnSpLocks/>
              <a:stCxn id="55" idx="0"/>
              <a:endCxn id="69" idx="2"/>
            </p:cNvCxnSpPr>
            <p:nvPr/>
          </p:nvCxnSpPr>
          <p:spPr>
            <a:xfrm flipV="1">
              <a:off x="4045041" y="5402253"/>
              <a:ext cx="0" cy="19305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D43902-3381-4CD3-B6C8-EF865CEB8412}"/>
                </a:ext>
              </a:extLst>
            </p:cNvPr>
            <p:cNvCxnSpPr>
              <a:cxnSpLocks/>
              <a:stCxn id="64" idx="1"/>
              <a:endCxn id="62" idx="3"/>
            </p:cNvCxnSpPr>
            <p:nvPr/>
          </p:nvCxnSpPr>
          <p:spPr>
            <a:xfrm flipH="1">
              <a:off x="3687641" y="4503359"/>
              <a:ext cx="218114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5B16429-0510-4701-A9B2-8D3BFD408EEE}"/>
                </a:ext>
              </a:extLst>
            </p:cNvPr>
            <p:cNvCxnSpPr>
              <a:cxnSpLocks/>
              <a:stCxn id="64" idx="2"/>
              <a:endCxn id="69" idx="0"/>
            </p:cNvCxnSpPr>
            <p:nvPr/>
          </p:nvCxnSpPr>
          <p:spPr>
            <a:xfrm>
              <a:off x="4045041" y="4657247"/>
              <a:ext cx="0" cy="21231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B74DC61-17B9-4809-8919-07CE203637EF}"/>
                </a:ext>
              </a:extLst>
            </p:cNvPr>
            <p:cNvCxnSpPr>
              <a:cxnSpLocks/>
              <a:stCxn id="64" idx="3"/>
              <a:endCxn id="66" idx="1"/>
            </p:cNvCxnSpPr>
            <p:nvPr/>
          </p:nvCxnSpPr>
          <p:spPr>
            <a:xfrm>
              <a:off x="4184327" y="4503359"/>
              <a:ext cx="236627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768AEA-DC2C-4258-B755-8C3D1A0AC7D6}"/>
                </a:ext>
              </a:extLst>
            </p:cNvPr>
            <p:cNvCxnSpPr>
              <a:cxnSpLocks/>
              <a:stCxn id="58" idx="1"/>
              <a:endCxn id="66" idx="3"/>
            </p:cNvCxnSpPr>
            <p:nvPr/>
          </p:nvCxnSpPr>
          <p:spPr>
            <a:xfrm flipH="1">
              <a:off x="4953649" y="4503358"/>
              <a:ext cx="261771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ontent Placeholder 2">
                <a:extLst>
                  <a:ext uri="{FF2B5EF4-FFF2-40B4-BE49-F238E27FC236}">
                    <a16:creationId xmlns:a16="http://schemas.microsoft.com/office/drawing/2014/main" id="{96714D16-C256-442C-9382-2FD6886F8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6439" y="4218840"/>
                <a:ext cx="2992662" cy="18505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73050" indent="-2730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/>
                  <a:t> is an artificial entity set.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dirty="0"/>
                  <a:t> are artificial relationship sets.</a:t>
                </a:r>
              </a:p>
              <a:p>
                <a:r>
                  <a:rPr lang="en-US" altLang="zh-CN" sz="1800" dirty="0"/>
                  <a:t>Constraints are on the next page.</a:t>
                </a:r>
              </a:p>
            </p:txBody>
          </p:sp>
        </mc:Choice>
        <mc:Fallback xmlns="">
          <p:sp>
            <p:nvSpPr>
              <p:cNvPr id="91" name="Content Placeholder 2">
                <a:extLst>
                  <a:ext uri="{FF2B5EF4-FFF2-40B4-BE49-F238E27FC236}">
                    <a16:creationId xmlns:a16="http://schemas.microsoft.com/office/drawing/2014/main" id="{96714D16-C256-442C-9382-2FD6886F8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439" y="4218840"/>
                <a:ext cx="2992662" cy="1850572"/>
              </a:xfrm>
              <a:prstGeom prst="rect">
                <a:avLst/>
              </a:prstGeom>
              <a:blipFill>
                <a:blip r:embed="rId6"/>
                <a:stretch>
                  <a:fillRect l="-1222" t="-2961" r="-3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41977E81-DE96-4121-B09E-EB8DA65EDAC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矩形 4">
            <a:hlinkClick r:id="rId8" action="ppaction://hlinksldjump"/>
            <a:extLst>
              <a:ext uri="{FF2B5EF4-FFF2-40B4-BE49-F238E27FC236}">
                <a16:creationId xmlns:a16="http://schemas.microsoft.com/office/drawing/2014/main" id="{E82B97F7-CD9D-4B58-A844-732A353C803B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矩形 4">
            <a:hlinkClick r:id="rId9" action="ppaction://hlinksldjump"/>
            <a:extLst>
              <a:ext uri="{FF2B5EF4-FFF2-40B4-BE49-F238E27FC236}">
                <a16:creationId xmlns:a16="http://schemas.microsoft.com/office/drawing/2014/main" id="{E733CE8B-13D2-46A5-8C18-1BEB05851559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9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236B-E977-4511-84CE-5040D1E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37480-03DC-493C-B06E-3CA5A5991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3785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First, for each relationship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“enroll”, the entity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contains an artificial 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Then, to represent the relationship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37480-03DC-493C-B06E-3CA5A5991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378569"/>
              </a:xfrm>
              <a:blipFill>
                <a:blip r:embed="rId2"/>
                <a:stretch>
                  <a:fillRect l="-773" t="-1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5395BEAA-25E5-4DA5-99CB-4CE193AAAC2B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249DBB3-9B9A-46A8-A537-A1AAAB2BFEE1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63442680-2780-4ADF-BD8E-8647BE0C218D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943178-9042-F01E-FD9C-FB888B62BFDB}"/>
              </a:ext>
            </a:extLst>
          </p:cNvPr>
          <p:cNvGrpSpPr/>
          <p:nvPr/>
        </p:nvGrpSpPr>
        <p:grpSpPr>
          <a:xfrm>
            <a:off x="2484538" y="3789484"/>
            <a:ext cx="4174924" cy="1666070"/>
            <a:chOff x="1971279" y="4237011"/>
            <a:chExt cx="4174924" cy="1666070"/>
          </a:xfrm>
        </p:grpSpPr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A66E45A8-6B92-7566-AF52-E14668B7E24D}"/>
                </a:ext>
              </a:extLst>
            </p:cNvPr>
            <p:cNvSpPr/>
            <p:nvPr/>
          </p:nvSpPr>
          <p:spPr>
            <a:xfrm>
              <a:off x="1971279" y="434947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C0136981-A609-7D63-0CE3-B15C985281C2}"/>
                </a:ext>
              </a:extLst>
            </p:cNvPr>
            <p:cNvSpPr/>
            <p:nvPr/>
          </p:nvSpPr>
          <p:spPr>
            <a:xfrm>
              <a:off x="5215420" y="434946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6">
              <a:extLst>
                <a:ext uri="{FF2B5EF4-FFF2-40B4-BE49-F238E27FC236}">
                  <a16:creationId xmlns:a16="http://schemas.microsoft.com/office/drawing/2014/main" id="{544D3A32-7CB9-0A65-7967-935E06C09784}"/>
                </a:ext>
              </a:extLst>
            </p:cNvPr>
            <p:cNvGrpSpPr/>
            <p:nvPr/>
          </p:nvGrpSpPr>
          <p:grpSpPr>
            <a:xfrm>
              <a:off x="3154946" y="4237011"/>
              <a:ext cx="532695" cy="532695"/>
              <a:chOff x="3920969" y="4956154"/>
              <a:chExt cx="571708" cy="571708"/>
            </a:xfrm>
          </p:grpSpPr>
          <p:sp>
            <p:nvSpPr>
              <p:cNvPr id="25" name="菱形 4">
                <a:extLst>
                  <a:ext uri="{FF2B5EF4-FFF2-40B4-BE49-F238E27FC236}">
                    <a16:creationId xmlns:a16="http://schemas.microsoft.com/office/drawing/2014/main" id="{A455761C-3DC4-9F5F-8F4A-CA2E72CA71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5">
                    <a:extLst>
                      <a:ext uri="{FF2B5EF4-FFF2-40B4-BE49-F238E27FC236}">
                        <a16:creationId xmlns:a16="http://schemas.microsoft.com/office/drawing/2014/main" id="{F5C0C54F-6D6B-BE91-F476-89BD327F4243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3" name="文本框 5">
                    <a:extLst>
                      <a:ext uri="{FF2B5EF4-FFF2-40B4-BE49-F238E27FC236}">
                        <a16:creationId xmlns:a16="http://schemas.microsoft.com/office/drawing/2014/main" id="{6376431E-21CF-4206-8FB9-AF85582E3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59AF7A-B3A3-0170-4467-50CAFF173433}"/>
                </a:ext>
              </a:extLst>
            </p:cNvPr>
            <p:cNvCxnSpPr>
              <a:cxnSpLocks/>
              <a:stCxn id="8" idx="3"/>
              <a:endCxn id="25" idx="1"/>
            </p:cNvCxnSpPr>
            <p:nvPr/>
          </p:nvCxnSpPr>
          <p:spPr>
            <a:xfrm flipV="1">
              <a:off x="2902062" y="4503359"/>
              <a:ext cx="252884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3">
              <a:extLst>
                <a:ext uri="{FF2B5EF4-FFF2-40B4-BE49-F238E27FC236}">
                  <a16:creationId xmlns:a16="http://schemas.microsoft.com/office/drawing/2014/main" id="{D439EBD7-DC47-D1FD-4A14-E905B33AE5E0}"/>
                </a:ext>
              </a:extLst>
            </p:cNvPr>
            <p:cNvSpPr/>
            <p:nvPr/>
          </p:nvSpPr>
          <p:spPr>
            <a:xfrm>
              <a:off x="3538025" y="5595304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3">
                  <a:extLst>
                    <a:ext uri="{FF2B5EF4-FFF2-40B4-BE49-F238E27FC236}">
                      <a16:creationId xmlns:a16="http://schemas.microsoft.com/office/drawing/2014/main" id="{4D33650B-34D0-7A9C-1B83-E1AD3F24CABC}"/>
                    </a:ext>
                  </a:extLst>
                </p:cNvPr>
                <p:cNvSpPr/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矩形 3">
                  <a:extLst>
                    <a:ext uri="{FF2B5EF4-FFF2-40B4-BE49-F238E27FC236}">
                      <a16:creationId xmlns:a16="http://schemas.microsoft.com/office/drawing/2014/main" id="{06EFAC2C-C0A5-4160-8B8F-C21DC93330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组合 6">
              <a:extLst>
                <a:ext uri="{FF2B5EF4-FFF2-40B4-BE49-F238E27FC236}">
                  <a16:creationId xmlns:a16="http://schemas.microsoft.com/office/drawing/2014/main" id="{8E28CEBD-8827-B428-ADE7-37F280E26287}"/>
                </a:ext>
              </a:extLst>
            </p:cNvPr>
            <p:cNvGrpSpPr/>
            <p:nvPr/>
          </p:nvGrpSpPr>
          <p:grpSpPr>
            <a:xfrm>
              <a:off x="4420954" y="4237011"/>
              <a:ext cx="532695" cy="532695"/>
              <a:chOff x="3845481" y="4956154"/>
              <a:chExt cx="571708" cy="571708"/>
            </a:xfrm>
          </p:grpSpPr>
          <p:sp>
            <p:nvSpPr>
              <p:cNvPr id="23" name="菱形 4">
                <a:extLst>
                  <a:ext uri="{FF2B5EF4-FFF2-40B4-BE49-F238E27FC236}">
                    <a16:creationId xmlns:a16="http://schemas.microsoft.com/office/drawing/2014/main" id="{6A947B67-DD44-A8F0-63FC-E8E7718AF1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45481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5">
                    <a:extLst>
                      <a:ext uri="{FF2B5EF4-FFF2-40B4-BE49-F238E27FC236}">
                        <a16:creationId xmlns:a16="http://schemas.microsoft.com/office/drawing/2014/main" id="{11062DB5-5EC2-0A10-6108-28896DB726EB}"/>
                      </a:ext>
                    </a:extLst>
                  </p:cNvPr>
                  <p:cNvSpPr txBox="1"/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文本框 5">
                    <a:extLst>
                      <a:ext uri="{FF2B5EF4-FFF2-40B4-BE49-F238E27FC236}">
                        <a16:creationId xmlns:a16="http://schemas.microsoft.com/office/drawing/2014/main" id="{C422D376-8D82-4E72-8FE2-CA46C21479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组合 6">
              <a:extLst>
                <a:ext uri="{FF2B5EF4-FFF2-40B4-BE49-F238E27FC236}">
                  <a16:creationId xmlns:a16="http://schemas.microsoft.com/office/drawing/2014/main" id="{E078361D-3595-952B-B5B5-5B6EAA004AEE}"/>
                </a:ext>
              </a:extLst>
            </p:cNvPr>
            <p:cNvGrpSpPr/>
            <p:nvPr/>
          </p:nvGrpSpPr>
          <p:grpSpPr>
            <a:xfrm>
              <a:off x="3778693" y="4869558"/>
              <a:ext cx="532695" cy="532695"/>
              <a:chOff x="3920969" y="4956154"/>
              <a:chExt cx="571708" cy="571708"/>
            </a:xfrm>
          </p:grpSpPr>
          <p:sp>
            <p:nvSpPr>
              <p:cNvPr id="21" name="菱形 4">
                <a:extLst>
                  <a:ext uri="{FF2B5EF4-FFF2-40B4-BE49-F238E27FC236}">
                    <a16:creationId xmlns:a16="http://schemas.microsoft.com/office/drawing/2014/main" id="{26F3E34D-64C5-BA7A-4277-2F0C748DB5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5">
                    <a:extLst>
                      <a:ext uri="{FF2B5EF4-FFF2-40B4-BE49-F238E27FC236}">
                        <a16:creationId xmlns:a16="http://schemas.microsoft.com/office/drawing/2014/main" id="{2D3C4D58-118E-1BE3-E673-9528BF022481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文本框 5">
                    <a:extLst>
                      <a:ext uri="{FF2B5EF4-FFF2-40B4-BE49-F238E27FC236}">
                        <a16:creationId xmlns:a16="http://schemas.microsoft.com/office/drawing/2014/main" id="{CDD3EE36-05F8-4D02-BCFB-3AAEA4525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F89659-DEB0-F8A8-2FF2-F430F89EF6BF}"/>
                </a:ext>
              </a:extLst>
            </p:cNvPr>
            <p:cNvCxnSpPr>
              <a:cxnSpLocks/>
              <a:stCxn id="12" idx="0"/>
              <a:endCxn id="21" idx="2"/>
            </p:cNvCxnSpPr>
            <p:nvPr/>
          </p:nvCxnSpPr>
          <p:spPr>
            <a:xfrm flipV="1">
              <a:off x="4045041" y="5402253"/>
              <a:ext cx="0" cy="19305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ED620A-A78E-3656-72B9-E1C4656B3037}"/>
                </a:ext>
              </a:extLst>
            </p:cNvPr>
            <p:cNvCxnSpPr>
              <a:cxnSpLocks/>
              <a:stCxn id="13" idx="1"/>
              <a:endCxn id="25" idx="3"/>
            </p:cNvCxnSpPr>
            <p:nvPr/>
          </p:nvCxnSpPr>
          <p:spPr>
            <a:xfrm flipH="1">
              <a:off x="3687641" y="4503359"/>
              <a:ext cx="218114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EDAE4E9-4D12-6908-CB57-679B16D6D642}"/>
                </a:ext>
              </a:extLst>
            </p:cNvPr>
            <p:cNvCxnSpPr>
              <a:cxnSpLocks/>
              <a:stCxn id="13" idx="2"/>
              <a:endCxn id="21" idx="0"/>
            </p:cNvCxnSpPr>
            <p:nvPr/>
          </p:nvCxnSpPr>
          <p:spPr>
            <a:xfrm>
              <a:off x="4045041" y="4657247"/>
              <a:ext cx="0" cy="21231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5FB16A-9C8C-498E-0E86-E1B99D998972}"/>
                </a:ext>
              </a:extLst>
            </p:cNvPr>
            <p:cNvCxnSpPr>
              <a:cxnSpLocks/>
              <a:stCxn id="13" idx="3"/>
              <a:endCxn id="23" idx="1"/>
            </p:cNvCxnSpPr>
            <p:nvPr/>
          </p:nvCxnSpPr>
          <p:spPr>
            <a:xfrm>
              <a:off x="4184327" y="4503359"/>
              <a:ext cx="236627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C0F73B-C46C-56FA-AB8D-34961F9AC46C}"/>
                </a:ext>
              </a:extLst>
            </p:cNvPr>
            <p:cNvCxnSpPr>
              <a:cxnSpLocks/>
              <a:stCxn id="9" idx="1"/>
              <a:endCxn id="23" idx="3"/>
            </p:cNvCxnSpPr>
            <p:nvPr/>
          </p:nvCxnSpPr>
          <p:spPr>
            <a:xfrm flipH="1">
              <a:off x="4953649" y="4503358"/>
              <a:ext cx="261771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466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236B-E977-4511-84CE-5040D1E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37480-03DC-493C-B06E-3CA5A5991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378569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To represent Meaning 1.</a:t>
                </a:r>
              </a:p>
              <a:p>
                <a:endParaRPr lang="en-US" dirty="0"/>
              </a:p>
              <a:p>
                <a:r>
                  <a:rPr lang="en-US" dirty="0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0" dirty="0"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)}</m:t>
                    </m:r>
                  </m:oMath>
                </a14:m>
                <a:endParaRPr lang="en-US" dirty="0"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0" dirty="0"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)}</m:t>
                    </m:r>
                  </m:oMath>
                </a14:m>
                <a:endParaRPr lang="en-US" dirty="0"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0" dirty="0"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)}</m:t>
                    </m:r>
                  </m:oMath>
                </a14:m>
                <a:endParaRPr lang="en-US" dirty="0">
                  <a:cs typeface="Arial" panose="020B0604020202020204" pitchFamily="34" charset="0"/>
                </a:endParaRPr>
              </a:p>
              <a:p>
                <a:r>
                  <a:rPr lang="en-US" dirty="0">
                    <a:cs typeface="Arial" panose="020B0604020202020204" pitchFamily="34" charset="0"/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are one-to-many relationship sets (“</a:t>
                </a:r>
                <a:r>
                  <a:rPr lang="en-US" altLang="zh-CN" dirty="0">
                    <a:cs typeface="Arial" panose="020B0604020202020204" pitchFamily="34" charset="0"/>
                  </a:rPr>
                  <a:t>instructor</a:t>
                </a:r>
                <a:r>
                  <a:rPr lang="en-US" dirty="0">
                    <a:cs typeface="Arial" panose="020B0604020202020204" pitchFamily="34" charset="0"/>
                  </a:rPr>
                  <a:t>” and “course” are on the “one” side.)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is a one-to-one relationship set.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37480-03DC-493C-B06E-3CA5A5991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378569"/>
              </a:xfrm>
              <a:blipFill>
                <a:blip r:embed="rId2"/>
                <a:stretch>
                  <a:fillRect l="-773" t="-1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5395BEAA-25E5-4DA5-99CB-4CE193AAAC2B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249DBB3-9B9A-46A8-A537-A1AAAB2BFEE1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63442680-2780-4ADF-BD8E-8647BE0C218D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18">
                <a:extLst>
                  <a:ext uri="{FF2B5EF4-FFF2-40B4-BE49-F238E27FC236}">
                    <a16:creationId xmlns:a16="http://schemas.microsoft.com/office/drawing/2014/main" id="{D01AD0BB-6016-EDEC-6558-DEBB4E68A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190252"/>
                  </p:ext>
                </p:extLst>
              </p:nvPr>
            </p:nvGraphicFramePr>
            <p:xfrm>
              <a:off x="6120002" y="1600200"/>
              <a:ext cx="2480310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545504858"/>
                        </a:ext>
                      </a:extLst>
                    </a:gridCol>
                  </a:tblGrid>
                  <a:tr h="2223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trike="noStrik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b="0" i="1" strike="noStrik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18">
                <a:extLst>
                  <a:ext uri="{FF2B5EF4-FFF2-40B4-BE49-F238E27FC236}">
                    <a16:creationId xmlns:a16="http://schemas.microsoft.com/office/drawing/2014/main" id="{D01AD0BB-6016-EDEC-6558-DEBB4E68A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190252"/>
                  </p:ext>
                </p:extLst>
              </p:nvPr>
            </p:nvGraphicFramePr>
            <p:xfrm>
              <a:off x="6120002" y="1600200"/>
              <a:ext cx="2480310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545504858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102041" r="-84753" b="-5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202041" r="-84753" b="-4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308333" r="-84753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400000" r="-84753" b="-2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500000" r="-84753" b="-1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48" t="-600000" r="-84753" b="-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1DC8687-8E98-950C-4997-FD3C955476CC}"/>
              </a:ext>
            </a:extLst>
          </p:cNvPr>
          <p:cNvGrpSpPr/>
          <p:nvPr/>
        </p:nvGrpSpPr>
        <p:grpSpPr>
          <a:xfrm>
            <a:off x="2484538" y="4838640"/>
            <a:ext cx="4174924" cy="1666070"/>
            <a:chOff x="1971279" y="4237011"/>
            <a:chExt cx="4174924" cy="1666070"/>
          </a:xfrm>
        </p:grpSpPr>
        <p:sp>
          <p:nvSpPr>
            <p:cNvPr id="29" name="矩形 3">
              <a:extLst>
                <a:ext uri="{FF2B5EF4-FFF2-40B4-BE49-F238E27FC236}">
                  <a16:creationId xmlns:a16="http://schemas.microsoft.com/office/drawing/2014/main" id="{2FEBBA40-CCE6-52AE-BC40-B0FB5F3815D8}"/>
                </a:ext>
              </a:extLst>
            </p:cNvPr>
            <p:cNvSpPr/>
            <p:nvPr/>
          </p:nvSpPr>
          <p:spPr>
            <a:xfrm>
              <a:off x="1971279" y="434947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矩形 3">
              <a:extLst>
                <a:ext uri="{FF2B5EF4-FFF2-40B4-BE49-F238E27FC236}">
                  <a16:creationId xmlns:a16="http://schemas.microsoft.com/office/drawing/2014/main" id="{5B612A5A-0ED5-DD4D-3E23-FF0B06F87197}"/>
                </a:ext>
              </a:extLst>
            </p:cNvPr>
            <p:cNvSpPr/>
            <p:nvPr/>
          </p:nvSpPr>
          <p:spPr>
            <a:xfrm>
              <a:off x="5215420" y="434946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" name="组合 6">
              <a:extLst>
                <a:ext uri="{FF2B5EF4-FFF2-40B4-BE49-F238E27FC236}">
                  <a16:creationId xmlns:a16="http://schemas.microsoft.com/office/drawing/2014/main" id="{4B8F4FF1-AC9E-BAEC-1424-A8F06B01C954}"/>
                </a:ext>
              </a:extLst>
            </p:cNvPr>
            <p:cNvGrpSpPr/>
            <p:nvPr/>
          </p:nvGrpSpPr>
          <p:grpSpPr>
            <a:xfrm>
              <a:off x="3154946" y="4237011"/>
              <a:ext cx="532695" cy="532695"/>
              <a:chOff x="3920969" y="4956154"/>
              <a:chExt cx="571708" cy="571708"/>
            </a:xfrm>
          </p:grpSpPr>
          <p:sp>
            <p:nvSpPr>
              <p:cNvPr id="46" name="菱形 4">
                <a:extLst>
                  <a:ext uri="{FF2B5EF4-FFF2-40B4-BE49-F238E27FC236}">
                    <a16:creationId xmlns:a16="http://schemas.microsoft.com/office/drawing/2014/main" id="{879C5612-3930-57FF-8E79-F25AA55534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5">
                    <a:extLst>
                      <a:ext uri="{FF2B5EF4-FFF2-40B4-BE49-F238E27FC236}">
                        <a16:creationId xmlns:a16="http://schemas.microsoft.com/office/drawing/2014/main" id="{03B1BC06-02C4-572B-9C54-33D71C903313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3" name="文本框 5">
                    <a:extLst>
                      <a:ext uri="{FF2B5EF4-FFF2-40B4-BE49-F238E27FC236}">
                        <a16:creationId xmlns:a16="http://schemas.microsoft.com/office/drawing/2014/main" id="{6376431E-21CF-4206-8FB9-AF85582E3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A8B15A-D432-8C21-D366-62E459299114}"/>
                </a:ext>
              </a:extLst>
            </p:cNvPr>
            <p:cNvCxnSpPr>
              <a:cxnSpLocks/>
              <a:stCxn id="29" idx="3"/>
              <a:endCxn id="46" idx="1"/>
            </p:cNvCxnSpPr>
            <p:nvPr/>
          </p:nvCxnSpPr>
          <p:spPr>
            <a:xfrm flipV="1">
              <a:off x="2902062" y="4503359"/>
              <a:ext cx="252884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">
              <a:extLst>
                <a:ext uri="{FF2B5EF4-FFF2-40B4-BE49-F238E27FC236}">
                  <a16:creationId xmlns:a16="http://schemas.microsoft.com/office/drawing/2014/main" id="{4F71C692-725B-F688-26C9-41A16261EC53}"/>
                </a:ext>
              </a:extLst>
            </p:cNvPr>
            <p:cNvSpPr/>
            <p:nvPr/>
          </p:nvSpPr>
          <p:spPr>
            <a:xfrm>
              <a:off x="3538025" y="5595304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">
                  <a:extLst>
                    <a:ext uri="{FF2B5EF4-FFF2-40B4-BE49-F238E27FC236}">
                      <a16:creationId xmlns:a16="http://schemas.microsoft.com/office/drawing/2014/main" id="{4664D83F-D0F6-5009-A00E-579588D98D06}"/>
                    </a:ext>
                  </a:extLst>
                </p:cNvPr>
                <p:cNvSpPr/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矩形 3">
                  <a:extLst>
                    <a:ext uri="{FF2B5EF4-FFF2-40B4-BE49-F238E27FC236}">
                      <a16:creationId xmlns:a16="http://schemas.microsoft.com/office/drawing/2014/main" id="{06EFAC2C-C0A5-4160-8B8F-C21DC93330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组合 6">
              <a:extLst>
                <a:ext uri="{FF2B5EF4-FFF2-40B4-BE49-F238E27FC236}">
                  <a16:creationId xmlns:a16="http://schemas.microsoft.com/office/drawing/2014/main" id="{BD43F6C9-3421-761A-19C0-C22E1E2B5C23}"/>
                </a:ext>
              </a:extLst>
            </p:cNvPr>
            <p:cNvGrpSpPr/>
            <p:nvPr/>
          </p:nvGrpSpPr>
          <p:grpSpPr>
            <a:xfrm>
              <a:off x="4420954" y="4237011"/>
              <a:ext cx="532695" cy="532695"/>
              <a:chOff x="3845481" y="4956154"/>
              <a:chExt cx="571708" cy="571708"/>
            </a:xfrm>
          </p:grpSpPr>
          <p:sp>
            <p:nvSpPr>
              <p:cNvPr id="44" name="菱形 4">
                <a:extLst>
                  <a:ext uri="{FF2B5EF4-FFF2-40B4-BE49-F238E27FC236}">
                    <a16:creationId xmlns:a16="http://schemas.microsoft.com/office/drawing/2014/main" id="{E562D5CA-F161-7D0F-9BA7-0444601B97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45481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5">
                    <a:extLst>
                      <a:ext uri="{FF2B5EF4-FFF2-40B4-BE49-F238E27FC236}">
                        <a16:creationId xmlns:a16="http://schemas.microsoft.com/office/drawing/2014/main" id="{448758CF-CD94-5B67-047C-36DD46C167AD}"/>
                      </a:ext>
                    </a:extLst>
                  </p:cNvPr>
                  <p:cNvSpPr txBox="1"/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文本框 5">
                    <a:extLst>
                      <a:ext uri="{FF2B5EF4-FFF2-40B4-BE49-F238E27FC236}">
                        <a16:creationId xmlns:a16="http://schemas.microsoft.com/office/drawing/2014/main" id="{C422D376-8D82-4E72-8FE2-CA46C21479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6">
              <a:extLst>
                <a:ext uri="{FF2B5EF4-FFF2-40B4-BE49-F238E27FC236}">
                  <a16:creationId xmlns:a16="http://schemas.microsoft.com/office/drawing/2014/main" id="{AFEE8D41-D645-6DB3-BA36-7433E4638290}"/>
                </a:ext>
              </a:extLst>
            </p:cNvPr>
            <p:cNvGrpSpPr/>
            <p:nvPr/>
          </p:nvGrpSpPr>
          <p:grpSpPr>
            <a:xfrm>
              <a:off x="3778693" y="4869558"/>
              <a:ext cx="532695" cy="532695"/>
              <a:chOff x="3920969" y="4956154"/>
              <a:chExt cx="571708" cy="571708"/>
            </a:xfrm>
          </p:grpSpPr>
          <p:sp>
            <p:nvSpPr>
              <p:cNvPr id="42" name="菱形 4">
                <a:extLst>
                  <a:ext uri="{FF2B5EF4-FFF2-40B4-BE49-F238E27FC236}">
                    <a16:creationId xmlns:a16="http://schemas.microsoft.com/office/drawing/2014/main" id="{FF55D7B1-57BE-73FD-5976-610CB5BB2D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5">
                    <a:extLst>
                      <a:ext uri="{FF2B5EF4-FFF2-40B4-BE49-F238E27FC236}">
                        <a16:creationId xmlns:a16="http://schemas.microsoft.com/office/drawing/2014/main" id="{90025B76-D2BE-D43E-DFED-35002D2603B5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文本框 5">
                    <a:extLst>
                      <a:ext uri="{FF2B5EF4-FFF2-40B4-BE49-F238E27FC236}">
                        <a16:creationId xmlns:a16="http://schemas.microsoft.com/office/drawing/2014/main" id="{CDD3EE36-05F8-4D02-BCFB-3AAEA4525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EC499C1-8E08-C0D7-DC49-4D23138B13AD}"/>
                </a:ext>
              </a:extLst>
            </p:cNvPr>
            <p:cNvCxnSpPr>
              <a:cxnSpLocks/>
              <a:stCxn id="33" idx="0"/>
              <a:endCxn id="42" idx="2"/>
            </p:cNvCxnSpPr>
            <p:nvPr/>
          </p:nvCxnSpPr>
          <p:spPr>
            <a:xfrm flipV="1">
              <a:off x="4045041" y="5402253"/>
              <a:ext cx="0" cy="19305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8B8C96-648C-84CC-DADD-A7E7912D6A7F}"/>
                </a:ext>
              </a:extLst>
            </p:cNvPr>
            <p:cNvCxnSpPr>
              <a:cxnSpLocks/>
              <a:stCxn id="34" idx="1"/>
              <a:endCxn id="46" idx="3"/>
            </p:cNvCxnSpPr>
            <p:nvPr/>
          </p:nvCxnSpPr>
          <p:spPr>
            <a:xfrm flipH="1">
              <a:off x="3687641" y="4503359"/>
              <a:ext cx="218114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542CA0-3FCA-FB22-8B81-2216ED0D9CB9}"/>
                </a:ext>
              </a:extLst>
            </p:cNvPr>
            <p:cNvCxnSpPr>
              <a:cxnSpLocks/>
              <a:stCxn id="34" idx="2"/>
              <a:endCxn id="42" idx="0"/>
            </p:cNvCxnSpPr>
            <p:nvPr/>
          </p:nvCxnSpPr>
          <p:spPr>
            <a:xfrm>
              <a:off x="4045041" y="4657247"/>
              <a:ext cx="0" cy="21231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645CC7-8290-806C-9D74-DBE95F3E5461}"/>
                </a:ext>
              </a:extLst>
            </p:cNvPr>
            <p:cNvCxnSpPr>
              <a:cxnSpLocks/>
              <a:stCxn id="34" idx="3"/>
              <a:endCxn id="44" idx="1"/>
            </p:cNvCxnSpPr>
            <p:nvPr/>
          </p:nvCxnSpPr>
          <p:spPr>
            <a:xfrm>
              <a:off x="4184327" y="4503359"/>
              <a:ext cx="236627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6917BEC-F1C4-F396-95AF-13ABEEB15C88}"/>
                </a:ext>
              </a:extLst>
            </p:cNvPr>
            <p:cNvCxnSpPr>
              <a:cxnSpLocks/>
              <a:stCxn id="30" idx="1"/>
              <a:endCxn id="44" idx="3"/>
            </p:cNvCxnSpPr>
            <p:nvPr/>
          </p:nvCxnSpPr>
          <p:spPr>
            <a:xfrm flipH="1">
              <a:off x="4953649" y="4503358"/>
              <a:ext cx="261771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593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573C-5263-41F0-9A87-A4680B4F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99050-C888-4774-A5DE-6B0BA4E8E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4589585"/>
              </a:xfrm>
            </p:spPr>
            <p:txBody>
              <a:bodyPr/>
              <a:lstStyle/>
              <a:p>
                <a:r>
                  <a:rPr lang="en-US" dirty="0"/>
                  <a:t>Adding the constraints to the ER diagram,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Finally, the entity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has at least one attribute for the key and inherits all attributes from the original relationship set, if any.</a:t>
                </a:r>
              </a:p>
              <a:p>
                <a:r>
                  <a:rPr lang="en-US" dirty="0"/>
                  <a:t>The above conversion can be generalized to all other similar cases.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99050-C888-4774-A5DE-6B0BA4E8E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4589585"/>
              </a:xfrm>
              <a:blipFill>
                <a:blip r:embed="rId2"/>
                <a:stretch>
                  <a:fillRect l="-773" t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588AA17-ACC1-4128-B924-8CE63BA7FE30}"/>
              </a:ext>
            </a:extLst>
          </p:cNvPr>
          <p:cNvGrpSpPr/>
          <p:nvPr/>
        </p:nvGrpSpPr>
        <p:grpSpPr>
          <a:xfrm>
            <a:off x="2484538" y="2012557"/>
            <a:ext cx="4174924" cy="1666070"/>
            <a:chOff x="1971279" y="4237011"/>
            <a:chExt cx="4174924" cy="1666070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6548DA2E-9800-4979-A458-2E6A330B59EC}"/>
                </a:ext>
              </a:extLst>
            </p:cNvPr>
            <p:cNvSpPr/>
            <p:nvPr/>
          </p:nvSpPr>
          <p:spPr>
            <a:xfrm>
              <a:off x="1971279" y="434947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EB8C19F9-D60B-4628-AD81-EBC7C35EBE5B}"/>
                </a:ext>
              </a:extLst>
            </p:cNvPr>
            <p:cNvSpPr/>
            <p:nvPr/>
          </p:nvSpPr>
          <p:spPr>
            <a:xfrm>
              <a:off x="5215420" y="434946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91C031B-6D60-48DE-B4C2-03790A4FBC1D}"/>
                </a:ext>
              </a:extLst>
            </p:cNvPr>
            <p:cNvGrpSpPr/>
            <p:nvPr/>
          </p:nvGrpSpPr>
          <p:grpSpPr>
            <a:xfrm>
              <a:off x="3154946" y="4237011"/>
              <a:ext cx="532695" cy="532695"/>
              <a:chOff x="3920969" y="4956154"/>
              <a:chExt cx="571708" cy="571708"/>
            </a:xfrm>
          </p:grpSpPr>
          <p:sp>
            <p:nvSpPr>
              <p:cNvPr id="22" name="菱形 4">
                <a:extLst>
                  <a:ext uri="{FF2B5EF4-FFF2-40B4-BE49-F238E27FC236}">
                    <a16:creationId xmlns:a16="http://schemas.microsoft.com/office/drawing/2014/main" id="{E7170060-ED24-44FD-8F9B-7BB87BB662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5">
                    <a:extLst>
                      <a:ext uri="{FF2B5EF4-FFF2-40B4-BE49-F238E27FC236}">
                        <a16:creationId xmlns:a16="http://schemas.microsoft.com/office/drawing/2014/main" id="{CE8E0057-16B4-4806-BA0E-EE6D2A6E2AD7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3" name="文本框 5">
                    <a:extLst>
                      <a:ext uri="{FF2B5EF4-FFF2-40B4-BE49-F238E27FC236}">
                        <a16:creationId xmlns:a16="http://schemas.microsoft.com/office/drawing/2014/main" id="{CE8E0057-16B4-4806-BA0E-EE6D2A6E2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4737" cy="33031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E28EB7-76B3-40E5-8048-8BF40F6277D5}"/>
                </a:ext>
              </a:extLst>
            </p:cNvPr>
            <p:cNvCxnSpPr>
              <a:cxnSpLocks/>
              <a:stCxn id="5" idx="3"/>
              <a:endCxn id="22" idx="1"/>
            </p:cNvCxnSpPr>
            <p:nvPr/>
          </p:nvCxnSpPr>
          <p:spPr>
            <a:xfrm flipV="1">
              <a:off x="2902062" y="4503359"/>
              <a:ext cx="252884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67EA1229-13E6-4BFA-BADA-32151667969D}"/>
                </a:ext>
              </a:extLst>
            </p:cNvPr>
            <p:cNvSpPr/>
            <p:nvPr/>
          </p:nvSpPr>
          <p:spPr>
            <a:xfrm>
              <a:off x="3538025" y="5595304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3">
                  <a:extLst>
                    <a:ext uri="{FF2B5EF4-FFF2-40B4-BE49-F238E27FC236}">
                      <a16:creationId xmlns:a16="http://schemas.microsoft.com/office/drawing/2014/main" id="{35AD557C-D031-41EB-B725-1ECBD68ABA55}"/>
                    </a:ext>
                  </a:extLst>
                </p:cNvPr>
                <p:cNvSpPr/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矩形 3">
                  <a:extLst>
                    <a:ext uri="{FF2B5EF4-FFF2-40B4-BE49-F238E27FC236}">
                      <a16:creationId xmlns:a16="http://schemas.microsoft.com/office/drawing/2014/main" id="{35AD557C-D031-41EB-B725-1ECBD68ABA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755" y="4349470"/>
                  <a:ext cx="27857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组合 6">
              <a:extLst>
                <a:ext uri="{FF2B5EF4-FFF2-40B4-BE49-F238E27FC236}">
                  <a16:creationId xmlns:a16="http://schemas.microsoft.com/office/drawing/2014/main" id="{D800E459-10F0-41DB-B8DD-D6A95D50B8E1}"/>
                </a:ext>
              </a:extLst>
            </p:cNvPr>
            <p:cNvGrpSpPr/>
            <p:nvPr/>
          </p:nvGrpSpPr>
          <p:grpSpPr>
            <a:xfrm>
              <a:off x="4420954" y="4237011"/>
              <a:ext cx="532695" cy="532695"/>
              <a:chOff x="3845481" y="4956154"/>
              <a:chExt cx="571708" cy="571708"/>
            </a:xfrm>
          </p:grpSpPr>
          <p:sp>
            <p:nvSpPr>
              <p:cNvPr id="20" name="菱形 4">
                <a:extLst>
                  <a:ext uri="{FF2B5EF4-FFF2-40B4-BE49-F238E27FC236}">
                    <a16:creationId xmlns:a16="http://schemas.microsoft.com/office/drawing/2014/main" id="{85A36A7E-2D75-488C-8153-51CD51CF88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45481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5">
                    <a:extLst>
                      <a:ext uri="{FF2B5EF4-FFF2-40B4-BE49-F238E27FC236}">
                        <a16:creationId xmlns:a16="http://schemas.microsoft.com/office/drawing/2014/main" id="{D0E24BDB-D577-42D7-BBF4-18ADB0BDF5A7}"/>
                      </a:ext>
                    </a:extLst>
                  </p:cNvPr>
                  <p:cNvSpPr txBox="1"/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1" name="文本框 5">
                    <a:extLst>
                      <a:ext uri="{FF2B5EF4-FFF2-40B4-BE49-F238E27FC236}">
                        <a16:creationId xmlns:a16="http://schemas.microsoft.com/office/drawing/2014/main" id="{D0E24BDB-D577-42D7-BBF4-18ADB0BDF5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8810" y="5076848"/>
                    <a:ext cx="459209" cy="33031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组合 6">
              <a:extLst>
                <a:ext uri="{FF2B5EF4-FFF2-40B4-BE49-F238E27FC236}">
                  <a16:creationId xmlns:a16="http://schemas.microsoft.com/office/drawing/2014/main" id="{0A12F6E8-2EF3-47F3-A70E-38ADB9DC4335}"/>
                </a:ext>
              </a:extLst>
            </p:cNvPr>
            <p:cNvGrpSpPr/>
            <p:nvPr/>
          </p:nvGrpSpPr>
          <p:grpSpPr>
            <a:xfrm>
              <a:off x="3778693" y="4869558"/>
              <a:ext cx="532695" cy="532695"/>
              <a:chOff x="3920969" y="4956154"/>
              <a:chExt cx="571708" cy="571708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C9F23288-D70B-4162-A638-3871078EE4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956154"/>
                <a:ext cx="571708" cy="5717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5">
                    <a:extLst>
                      <a:ext uri="{FF2B5EF4-FFF2-40B4-BE49-F238E27FC236}">
                        <a16:creationId xmlns:a16="http://schemas.microsoft.com/office/drawing/2014/main" id="{04DF0DE1-8C57-4EE7-BA76-965DF76998F8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9" name="文本框 5">
                    <a:extLst>
                      <a:ext uri="{FF2B5EF4-FFF2-40B4-BE49-F238E27FC236}">
                        <a16:creationId xmlns:a16="http://schemas.microsoft.com/office/drawing/2014/main" id="{04DF0DE1-8C57-4EE7-BA76-965DF7699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298" y="5076848"/>
                    <a:ext cx="459209" cy="33031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E89FB5-DB46-4B22-B9D9-3504091D70D3}"/>
                </a:ext>
              </a:extLst>
            </p:cNvPr>
            <p:cNvCxnSpPr>
              <a:cxnSpLocks/>
              <a:stCxn id="9" idx="0"/>
              <a:endCxn id="18" idx="2"/>
            </p:cNvCxnSpPr>
            <p:nvPr/>
          </p:nvCxnSpPr>
          <p:spPr>
            <a:xfrm flipV="1">
              <a:off x="4045041" y="5402253"/>
              <a:ext cx="0" cy="19305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20F51C-4CAC-40CF-B8A3-EC9D29CE06C8}"/>
                </a:ext>
              </a:extLst>
            </p:cNvPr>
            <p:cNvCxnSpPr>
              <a:cxnSpLocks/>
              <a:stCxn id="10" idx="1"/>
              <a:endCxn id="22" idx="3"/>
            </p:cNvCxnSpPr>
            <p:nvPr/>
          </p:nvCxnSpPr>
          <p:spPr>
            <a:xfrm flipH="1">
              <a:off x="3687641" y="4503359"/>
              <a:ext cx="218114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373AF8-F5E7-4DBB-AB51-F783EE4C7A7D}"/>
                </a:ext>
              </a:extLst>
            </p:cNvPr>
            <p:cNvCxnSpPr>
              <a:cxnSpLocks/>
              <a:stCxn id="10" idx="2"/>
              <a:endCxn id="18" idx="0"/>
            </p:cNvCxnSpPr>
            <p:nvPr/>
          </p:nvCxnSpPr>
          <p:spPr>
            <a:xfrm>
              <a:off x="4045041" y="4657247"/>
              <a:ext cx="0" cy="21231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71EC725-E394-40BE-9AB6-EC93FF707297}"/>
                </a:ext>
              </a:extLst>
            </p:cNvPr>
            <p:cNvCxnSpPr>
              <a:cxnSpLocks/>
              <a:stCxn id="10" idx="3"/>
              <a:endCxn id="20" idx="1"/>
            </p:cNvCxnSpPr>
            <p:nvPr/>
          </p:nvCxnSpPr>
          <p:spPr>
            <a:xfrm>
              <a:off x="4184327" y="4503359"/>
              <a:ext cx="236627" cy="0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26DDE3-936F-4EC0-A68D-E538B6A24D60}"/>
                </a:ext>
              </a:extLst>
            </p:cNvPr>
            <p:cNvCxnSpPr>
              <a:cxnSpLocks/>
              <a:stCxn id="6" idx="1"/>
              <a:endCxn id="20" idx="3"/>
            </p:cNvCxnSpPr>
            <p:nvPr/>
          </p:nvCxnSpPr>
          <p:spPr>
            <a:xfrm flipH="1">
              <a:off x="4953649" y="4503358"/>
              <a:ext cx="261771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9FF25B8A-0E0D-4391-9516-2029BCD67951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4">
            <a:hlinkClick r:id="rId8" action="ppaction://hlinksldjump"/>
            <a:extLst>
              <a:ext uri="{FF2B5EF4-FFF2-40B4-BE49-F238E27FC236}">
                <a16:creationId xmlns:a16="http://schemas.microsoft.com/office/drawing/2014/main" id="{3BB975CB-89A8-4249-8256-AFC79C531143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4">
            <a:hlinkClick r:id="rId9" action="ppaction://hlinksldjump"/>
            <a:extLst>
              <a:ext uri="{FF2B5EF4-FFF2-40B4-BE49-F238E27FC236}">
                <a16:creationId xmlns:a16="http://schemas.microsoft.com/office/drawing/2014/main" id="{6370E9F5-D715-4E62-A6D9-540C2275691C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095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854E-0B52-49EA-9C9A-8C469677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6920B-6530-42CC-BEC2-E19B35B7B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indent="-268288"/>
            <a:r>
              <a:rPr lang="en-US" dirty="0"/>
              <a:t>Next, we move on to the meaning 2.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course is instructed by at most one instructor. 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instructor can instruct at most one course. 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there is no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constraints on students.</a:t>
            </a:r>
          </a:p>
          <a:p>
            <a:r>
              <a:rPr lang="en-US" dirty="0"/>
              <a:t>However, the above construction does not work for this case. (Please have a try.)</a:t>
            </a:r>
          </a:p>
          <a:p>
            <a:r>
              <a:rPr lang="en-US" dirty="0"/>
              <a:t>This constraint is between two entity sets and free from other entity sets.</a:t>
            </a:r>
          </a:p>
          <a:p>
            <a:r>
              <a:rPr lang="en-US" dirty="0"/>
              <a:t>For this type of constraints, the structure is like this.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54528C-70B6-43F1-A1A7-99D9DA7B25E2}"/>
              </a:ext>
            </a:extLst>
          </p:cNvPr>
          <p:cNvGrpSpPr/>
          <p:nvPr/>
        </p:nvGrpSpPr>
        <p:grpSpPr>
          <a:xfrm>
            <a:off x="973711" y="4856205"/>
            <a:ext cx="3099361" cy="1301290"/>
            <a:chOff x="2661835" y="4856205"/>
            <a:chExt cx="3099361" cy="1301290"/>
          </a:xfrm>
        </p:grpSpPr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67014EB7-0179-46F7-82A7-440D52833490}"/>
                </a:ext>
              </a:extLst>
            </p:cNvPr>
            <p:cNvSpPr/>
            <p:nvPr/>
          </p:nvSpPr>
          <p:spPr>
            <a:xfrm>
              <a:off x="2661835" y="4968665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8D77C0C6-3C18-43FE-8138-6ABFF47D7E7F}"/>
                </a:ext>
              </a:extLst>
            </p:cNvPr>
            <p:cNvSpPr/>
            <p:nvPr/>
          </p:nvSpPr>
          <p:spPr>
            <a:xfrm>
              <a:off x="4830413" y="4968665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0002C3-93FA-4C1E-AA57-5A40E3B871EB}"/>
                </a:ext>
              </a:extLst>
            </p:cNvPr>
            <p:cNvCxnSpPr>
              <a:cxnSpLocks/>
              <a:stCxn id="8" idx="3"/>
              <a:endCxn id="16" idx="1"/>
            </p:cNvCxnSpPr>
            <p:nvPr/>
          </p:nvCxnSpPr>
          <p:spPr>
            <a:xfrm flipV="1">
              <a:off x="3592618" y="5122553"/>
              <a:ext cx="337535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285F2C-01A8-4012-BCCC-397FFB29EA74}"/>
                </a:ext>
              </a:extLst>
            </p:cNvPr>
            <p:cNvCxnSpPr>
              <a:cxnSpLocks/>
              <a:stCxn id="16" idx="3"/>
              <a:endCxn id="9" idx="1"/>
            </p:cNvCxnSpPr>
            <p:nvPr/>
          </p:nvCxnSpPr>
          <p:spPr>
            <a:xfrm>
              <a:off x="4462848" y="5122553"/>
              <a:ext cx="367565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AB1C65BC-EA49-4C7A-A7EB-85DF59148322}"/>
                </a:ext>
              </a:extLst>
            </p:cNvPr>
            <p:cNvSpPr/>
            <p:nvPr/>
          </p:nvSpPr>
          <p:spPr>
            <a:xfrm>
              <a:off x="3689485" y="5737260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0970446-6D2F-480F-AAD8-5E2F0AF827CB}"/>
                </a:ext>
              </a:extLst>
            </p:cNvPr>
            <p:cNvGrpSpPr/>
            <p:nvPr/>
          </p:nvGrpSpPr>
          <p:grpSpPr>
            <a:xfrm>
              <a:off x="3930153" y="4856205"/>
              <a:ext cx="532695" cy="532695"/>
              <a:chOff x="3668205" y="2012557"/>
              <a:chExt cx="532695" cy="532695"/>
            </a:xfrm>
          </p:grpSpPr>
          <p:sp>
            <p:nvSpPr>
              <p:cNvPr id="16" name="菱形 4">
                <a:extLst>
                  <a:ext uri="{FF2B5EF4-FFF2-40B4-BE49-F238E27FC236}">
                    <a16:creationId xmlns:a16="http://schemas.microsoft.com/office/drawing/2014/main" id="{4C0164BB-B2A0-419E-BEEB-DC8FA5CD44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5">
                    <a:extLst>
                      <a:ext uri="{FF2B5EF4-FFF2-40B4-BE49-F238E27FC236}">
                        <a16:creationId xmlns:a16="http://schemas.microsoft.com/office/drawing/2014/main" id="{C087D585-59F3-47F0-88F9-26F9C83D8E94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7" name="文本框 5">
                    <a:extLst>
                      <a:ext uri="{FF2B5EF4-FFF2-40B4-BE49-F238E27FC236}">
                        <a16:creationId xmlns:a16="http://schemas.microsoft.com/office/drawing/2014/main" id="{C087D585-59F3-47F0-88F9-26F9C83D8E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CD7487-0B4B-4928-A521-2018E0093A7D}"/>
                </a:ext>
              </a:extLst>
            </p:cNvPr>
            <p:cNvGrpSpPr/>
            <p:nvPr/>
          </p:nvGrpSpPr>
          <p:grpSpPr>
            <a:xfrm>
              <a:off x="5029456" y="5624800"/>
              <a:ext cx="532695" cy="532695"/>
              <a:chOff x="3668205" y="2012557"/>
              <a:chExt cx="532695" cy="532695"/>
            </a:xfrm>
          </p:grpSpPr>
          <p:sp>
            <p:nvSpPr>
              <p:cNvPr id="20" name="菱形 4">
                <a:extLst>
                  <a:ext uri="{FF2B5EF4-FFF2-40B4-BE49-F238E27FC236}">
                    <a16:creationId xmlns:a16="http://schemas.microsoft.com/office/drawing/2014/main" id="{749D9F96-428F-4FBB-B9C9-684D3846F8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5">
                    <a:extLst>
                      <a:ext uri="{FF2B5EF4-FFF2-40B4-BE49-F238E27FC236}">
                        <a16:creationId xmlns:a16="http://schemas.microsoft.com/office/drawing/2014/main" id="{8EEFE83E-ED3B-41A4-81EC-B0AB447E041A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1" name="文本框 5">
                    <a:extLst>
                      <a:ext uri="{FF2B5EF4-FFF2-40B4-BE49-F238E27FC236}">
                        <a16:creationId xmlns:a16="http://schemas.microsoft.com/office/drawing/2014/main" id="{8EEFE83E-ED3B-41A4-81EC-B0AB447E04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207FCD-D823-4D02-A704-7554986F0818}"/>
                </a:ext>
              </a:extLst>
            </p:cNvPr>
            <p:cNvGrpSpPr/>
            <p:nvPr/>
          </p:nvGrpSpPr>
          <p:grpSpPr>
            <a:xfrm>
              <a:off x="2860882" y="5624800"/>
              <a:ext cx="532695" cy="532695"/>
              <a:chOff x="3668205" y="2012557"/>
              <a:chExt cx="532695" cy="532695"/>
            </a:xfrm>
          </p:grpSpPr>
          <p:sp>
            <p:nvSpPr>
              <p:cNvPr id="23" name="菱形 4">
                <a:extLst>
                  <a:ext uri="{FF2B5EF4-FFF2-40B4-BE49-F238E27FC236}">
                    <a16:creationId xmlns:a16="http://schemas.microsoft.com/office/drawing/2014/main" id="{79DA17C6-EB66-4D0C-9649-75CB067BB7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5">
                    <a:extLst>
                      <a:ext uri="{FF2B5EF4-FFF2-40B4-BE49-F238E27FC236}">
                        <a16:creationId xmlns:a16="http://schemas.microsoft.com/office/drawing/2014/main" id="{4A24D8E2-18C4-47DF-A637-894A0AA6D4A2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3706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文本框 5">
                    <a:extLst>
                      <a:ext uri="{FF2B5EF4-FFF2-40B4-BE49-F238E27FC236}">
                        <a16:creationId xmlns:a16="http://schemas.microsoft.com/office/drawing/2014/main" id="{4A24D8E2-18C4-47DF-A637-894A0AA6D4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3706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9BC428-0487-4312-9A78-00A01E03A035}"/>
                </a:ext>
              </a:extLst>
            </p:cNvPr>
            <p:cNvCxnSpPr>
              <a:cxnSpLocks/>
              <a:stCxn id="8" idx="2"/>
              <a:endCxn id="23" idx="0"/>
            </p:cNvCxnSpPr>
            <p:nvPr/>
          </p:nvCxnSpPr>
          <p:spPr>
            <a:xfrm>
              <a:off x="3127227" y="5276442"/>
              <a:ext cx="3" cy="348358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EBDDF6-58CC-4ED7-AE4D-82BB18DCAEEB}"/>
                </a:ext>
              </a:extLst>
            </p:cNvPr>
            <p:cNvCxnSpPr>
              <a:cxnSpLocks/>
              <a:stCxn id="23" idx="3"/>
              <a:endCxn id="6" idx="1"/>
            </p:cNvCxnSpPr>
            <p:nvPr/>
          </p:nvCxnSpPr>
          <p:spPr>
            <a:xfrm>
              <a:off x="3393577" y="5891148"/>
              <a:ext cx="29590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599DAE3-A2F9-4A7B-9761-924D9E80B6AF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 flipV="1">
              <a:off x="4703517" y="5891148"/>
              <a:ext cx="325939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FD1B81-8BA4-436B-8517-CF4F9E8E60B3}"/>
                </a:ext>
              </a:extLst>
            </p:cNvPr>
            <p:cNvCxnSpPr>
              <a:cxnSpLocks/>
              <a:stCxn id="20" idx="0"/>
              <a:endCxn id="9" idx="2"/>
            </p:cNvCxnSpPr>
            <p:nvPr/>
          </p:nvCxnSpPr>
          <p:spPr>
            <a:xfrm flipV="1">
              <a:off x="5295804" y="5276442"/>
              <a:ext cx="1" cy="348358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D2663904-9150-4B8A-92D0-C6EC4A1D5F12}"/>
              </a:ext>
            </a:extLst>
          </p:cNvPr>
          <p:cNvSpPr txBox="1">
            <a:spLocks/>
          </p:cNvSpPr>
          <p:nvPr/>
        </p:nvSpPr>
        <p:spPr>
          <a:xfrm>
            <a:off x="4872947" y="4856205"/>
            <a:ext cx="2992662" cy="881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Only three relationship sets are added.</a:t>
            </a:r>
          </a:p>
        </p:txBody>
      </p:sp>
      <p:sp>
        <p:nvSpPr>
          <p:cNvPr id="41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DF8276B1-0D9E-4895-8253-9F996A91935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09462A5F-7D9B-4516-BD32-1158EFC09D1E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6E9AD9A2-140B-4D65-8539-AF75462240AC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92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BECD-1D2B-4278-BFC7-4B4C3301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66D6F-4E5B-4D36-9CD9-F272DFE0F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394200"/>
              </a:xfrm>
            </p:spPr>
            <p:txBody>
              <a:bodyPr/>
              <a:lstStyle/>
              <a:p>
                <a:r>
                  <a:rPr lang="en-US" dirty="0"/>
                  <a:t>For each relationship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add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relationship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Thus, Meaning 2 is represented as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)}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one-to-one relationship set.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are many-to-many. (Try more examples, then you will see.)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66D6F-4E5B-4D36-9CD9-F272DFE0F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394200"/>
              </a:xfrm>
              <a:blipFill>
                <a:blip r:embed="rId2"/>
                <a:stretch>
                  <a:fillRect l="-773" t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E6C8FFE-FB25-4D01-A158-EC195C8C9795}"/>
              </a:ext>
            </a:extLst>
          </p:cNvPr>
          <p:cNvGrpSpPr/>
          <p:nvPr/>
        </p:nvGrpSpPr>
        <p:grpSpPr>
          <a:xfrm>
            <a:off x="3020641" y="5118753"/>
            <a:ext cx="3099361" cy="1301290"/>
            <a:chOff x="2661835" y="4856205"/>
            <a:chExt cx="3099361" cy="1301290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E4D47CEE-2DE9-4124-A499-46CDF0EE723C}"/>
                </a:ext>
              </a:extLst>
            </p:cNvPr>
            <p:cNvSpPr/>
            <p:nvPr/>
          </p:nvSpPr>
          <p:spPr>
            <a:xfrm>
              <a:off x="2661835" y="4968665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3728F487-FA88-4623-996C-C3BF1128AEC6}"/>
                </a:ext>
              </a:extLst>
            </p:cNvPr>
            <p:cNvSpPr/>
            <p:nvPr/>
          </p:nvSpPr>
          <p:spPr>
            <a:xfrm>
              <a:off x="4830413" y="4968665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B06909-E9AA-4171-B586-3809D507EAFF}"/>
                </a:ext>
              </a:extLst>
            </p:cNvPr>
            <p:cNvCxnSpPr>
              <a:cxnSpLocks/>
              <a:stCxn id="5" idx="3"/>
              <a:endCxn id="21" idx="1"/>
            </p:cNvCxnSpPr>
            <p:nvPr/>
          </p:nvCxnSpPr>
          <p:spPr>
            <a:xfrm flipV="1">
              <a:off x="3592618" y="5122553"/>
              <a:ext cx="337535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7D01EF-4B9A-4957-9CAB-2616B60E382A}"/>
                </a:ext>
              </a:extLst>
            </p:cNvPr>
            <p:cNvCxnSpPr>
              <a:cxnSpLocks/>
              <a:stCxn id="21" idx="3"/>
              <a:endCxn id="6" idx="1"/>
            </p:cNvCxnSpPr>
            <p:nvPr/>
          </p:nvCxnSpPr>
          <p:spPr>
            <a:xfrm>
              <a:off x="4462848" y="5122553"/>
              <a:ext cx="367565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B75E1D26-BBA2-44E7-A236-603BF3E4877E}"/>
                </a:ext>
              </a:extLst>
            </p:cNvPr>
            <p:cNvSpPr/>
            <p:nvPr/>
          </p:nvSpPr>
          <p:spPr>
            <a:xfrm>
              <a:off x="3689485" y="5737260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1F71DD-49D0-4ED0-A14D-A02667644418}"/>
                </a:ext>
              </a:extLst>
            </p:cNvPr>
            <p:cNvGrpSpPr/>
            <p:nvPr/>
          </p:nvGrpSpPr>
          <p:grpSpPr>
            <a:xfrm>
              <a:off x="3930153" y="4856205"/>
              <a:ext cx="532695" cy="532695"/>
              <a:chOff x="3668205" y="2012557"/>
              <a:chExt cx="532695" cy="532695"/>
            </a:xfrm>
          </p:grpSpPr>
          <p:sp>
            <p:nvSpPr>
              <p:cNvPr id="21" name="菱形 4">
                <a:extLst>
                  <a:ext uri="{FF2B5EF4-FFF2-40B4-BE49-F238E27FC236}">
                    <a16:creationId xmlns:a16="http://schemas.microsoft.com/office/drawing/2014/main" id="{71E9C9AA-AE2F-42CE-92D8-0C3DDA0DE9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5">
                    <a:extLst>
                      <a:ext uri="{FF2B5EF4-FFF2-40B4-BE49-F238E27FC236}">
                        <a16:creationId xmlns:a16="http://schemas.microsoft.com/office/drawing/2014/main" id="{FCCF7906-E5AE-4B67-B77F-36E7B15B1B87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2" name="文本框 5">
                    <a:extLst>
                      <a:ext uri="{FF2B5EF4-FFF2-40B4-BE49-F238E27FC236}">
                        <a16:creationId xmlns:a16="http://schemas.microsoft.com/office/drawing/2014/main" id="{FCCF7906-E5AE-4B67-B77F-36E7B15B1B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F7C36B-B3B7-43D8-A244-A9C950AF9AF9}"/>
                </a:ext>
              </a:extLst>
            </p:cNvPr>
            <p:cNvGrpSpPr/>
            <p:nvPr/>
          </p:nvGrpSpPr>
          <p:grpSpPr>
            <a:xfrm>
              <a:off x="5029456" y="5624800"/>
              <a:ext cx="532695" cy="532695"/>
              <a:chOff x="3668205" y="2012557"/>
              <a:chExt cx="532695" cy="532695"/>
            </a:xfrm>
          </p:grpSpPr>
          <p:sp>
            <p:nvSpPr>
              <p:cNvPr id="19" name="菱形 4">
                <a:extLst>
                  <a:ext uri="{FF2B5EF4-FFF2-40B4-BE49-F238E27FC236}">
                    <a16:creationId xmlns:a16="http://schemas.microsoft.com/office/drawing/2014/main" id="{959F5873-C09B-4654-830C-46F2C2D8E0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5">
                    <a:extLst>
                      <a:ext uri="{FF2B5EF4-FFF2-40B4-BE49-F238E27FC236}">
                        <a16:creationId xmlns:a16="http://schemas.microsoft.com/office/drawing/2014/main" id="{7EFA002D-9A3A-401C-95E3-FE729108BE70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" name="文本框 5">
                    <a:extLst>
                      <a:ext uri="{FF2B5EF4-FFF2-40B4-BE49-F238E27FC236}">
                        <a16:creationId xmlns:a16="http://schemas.microsoft.com/office/drawing/2014/main" id="{7EFA002D-9A3A-401C-95E3-FE729108BE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7873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399F7D6-672B-4BD8-A4CB-C966FB17755B}"/>
                </a:ext>
              </a:extLst>
            </p:cNvPr>
            <p:cNvGrpSpPr/>
            <p:nvPr/>
          </p:nvGrpSpPr>
          <p:grpSpPr>
            <a:xfrm>
              <a:off x="2860882" y="5624800"/>
              <a:ext cx="532695" cy="532695"/>
              <a:chOff x="3668205" y="2012557"/>
              <a:chExt cx="532695" cy="532695"/>
            </a:xfrm>
          </p:grpSpPr>
          <p:sp>
            <p:nvSpPr>
              <p:cNvPr id="17" name="菱形 4">
                <a:extLst>
                  <a:ext uri="{FF2B5EF4-FFF2-40B4-BE49-F238E27FC236}">
                    <a16:creationId xmlns:a16="http://schemas.microsoft.com/office/drawing/2014/main" id="{E60B38F2-F0A0-4278-A6EC-4D610A2CA0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8205" y="2012557"/>
                <a:ext cx="532695" cy="53269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5">
                    <a:extLst>
                      <a:ext uri="{FF2B5EF4-FFF2-40B4-BE49-F238E27FC236}">
                        <a16:creationId xmlns:a16="http://schemas.microsoft.com/office/drawing/2014/main" id="{7166A8B7-7185-4397-A08D-7D2ED023023C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530" y="2125015"/>
                    <a:ext cx="423706" cy="307777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horz" wrap="none" lIns="91440" tIns="45720" rIns="91440" bIns="45720" rtlCol="0" anchor="ctr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1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4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8" name="文本框 5">
                    <a:extLst>
                      <a:ext uri="{FF2B5EF4-FFF2-40B4-BE49-F238E27FC236}">
                        <a16:creationId xmlns:a16="http://schemas.microsoft.com/office/drawing/2014/main" id="{7166A8B7-7185-4397-A08D-7D2ED02302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530" y="2125015"/>
                    <a:ext cx="423706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1F07D6-5CAC-4E05-AC26-82CA666C8F3D}"/>
                </a:ext>
              </a:extLst>
            </p:cNvPr>
            <p:cNvCxnSpPr>
              <a:cxnSpLocks/>
              <a:stCxn id="5" idx="2"/>
              <a:endCxn id="17" idx="0"/>
            </p:cNvCxnSpPr>
            <p:nvPr/>
          </p:nvCxnSpPr>
          <p:spPr>
            <a:xfrm>
              <a:off x="3127227" y="5276442"/>
              <a:ext cx="3" cy="348358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0DB0318-E06D-4B21-8A99-B8FA50CC824E}"/>
                </a:ext>
              </a:extLst>
            </p:cNvPr>
            <p:cNvCxnSpPr>
              <a:cxnSpLocks/>
              <a:stCxn id="17" idx="3"/>
              <a:endCxn id="9" idx="1"/>
            </p:cNvCxnSpPr>
            <p:nvPr/>
          </p:nvCxnSpPr>
          <p:spPr>
            <a:xfrm>
              <a:off x="3393577" y="5891148"/>
              <a:ext cx="29590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6075957-837D-41E4-8D82-0A3692D74B5E}"/>
                </a:ext>
              </a:extLst>
            </p:cNvPr>
            <p:cNvCxnSpPr>
              <a:cxnSpLocks/>
              <a:stCxn id="9" idx="3"/>
              <a:endCxn id="19" idx="1"/>
            </p:cNvCxnSpPr>
            <p:nvPr/>
          </p:nvCxnSpPr>
          <p:spPr>
            <a:xfrm flipV="1">
              <a:off x="4703517" y="5891148"/>
              <a:ext cx="325939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791478-D00D-442B-BE25-A806A49D08A2}"/>
                </a:ext>
              </a:extLst>
            </p:cNvPr>
            <p:cNvCxnSpPr>
              <a:cxnSpLocks/>
              <a:stCxn id="19" idx="0"/>
              <a:endCxn id="6" idx="2"/>
            </p:cNvCxnSpPr>
            <p:nvPr/>
          </p:nvCxnSpPr>
          <p:spPr>
            <a:xfrm flipV="1">
              <a:off x="5295804" y="5276442"/>
              <a:ext cx="1" cy="348358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B7520DAE-104D-40D1-9D39-F5E5529C797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9CAF077E-11C8-48F2-BAFA-1974D3DC469E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4">
            <a:hlinkClick r:id="rId8" action="ppaction://hlinksldjump"/>
            <a:extLst>
              <a:ext uri="{FF2B5EF4-FFF2-40B4-BE49-F238E27FC236}">
                <a16:creationId xmlns:a16="http://schemas.microsoft.com/office/drawing/2014/main" id="{B2AEDEC4-D7C1-4D61-A338-5B5F7498268D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18">
                <a:extLst>
                  <a:ext uri="{FF2B5EF4-FFF2-40B4-BE49-F238E27FC236}">
                    <a16:creationId xmlns:a16="http://schemas.microsoft.com/office/drawing/2014/main" id="{C528B246-D785-2AE2-8891-202FA769ED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5473591"/>
                  </p:ext>
                </p:extLst>
              </p:nvPr>
            </p:nvGraphicFramePr>
            <p:xfrm>
              <a:off x="6030714" y="1606549"/>
              <a:ext cx="2480310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1173357141"/>
                        </a:ext>
                      </a:extLst>
                    </a:gridCol>
                  </a:tblGrid>
                  <a:tr h="2223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trike="noStrik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trike="noStrike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b="0" i="1" strike="noStrike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trike="sngStrike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trike="sngStrik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22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18">
                <a:extLst>
                  <a:ext uri="{FF2B5EF4-FFF2-40B4-BE49-F238E27FC236}">
                    <a16:creationId xmlns:a16="http://schemas.microsoft.com/office/drawing/2014/main" id="{C528B246-D785-2AE2-8891-202FA769ED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5473591"/>
                  </p:ext>
                </p:extLst>
              </p:nvPr>
            </p:nvGraphicFramePr>
            <p:xfrm>
              <a:off x="6030714" y="1606549"/>
              <a:ext cx="2480310" cy="208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455">
                      <a:extLst>
                        <a:ext uri="{9D8B030D-6E8A-4147-A177-3AD203B41FA5}">
                          <a16:colId xmlns:a16="http://schemas.microsoft.com/office/drawing/2014/main" val="1801230311"/>
                        </a:ext>
                      </a:extLst>
                    </a:gridCol>
                    <a:gridCol w="1125855">
                      <a:extLst>
                        <a:ext uri="{9D8B030D-6E8A-4147-A177-3AD203B41FA5}">
                          <a16:colId xmlns:a16="http://schemas.microsoft.com/office/drawing/2014/main" val="1173357141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Relationships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53367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102041" r="-84753" b="-5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288926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202041" r="-84753" b="-4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808516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308333" r="-84753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53441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400000" r="-84753" b="-2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182441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500000" r="-84753" b="-1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trike="sngStrik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Not allowed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83666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48" t="-600000" r="-84753" b="-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9827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8775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2BF7-6A1F-4640-8DA3-597224C4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Converting Non-binary to Binary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7C05-4950-406A-B76D-582F0002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255477"/>
          </a:xfrm>
        </p:spPr>
        <p:txBody>
          <a:bodyPr>
            <a:normAutofit/>
          </a:bodyPr>
          <a:lstStyle/>
          <a:p>
            <a:r>
              <a:rPr lang="en-US" dirty="0"/>
              <a:t>Sometimes more complex constraints is possible in the applications.</a:t>
            </a:r>
          </a:p>
          <a:p>
            <a:r>
              <a:rPr lang="en-US" dirty="0"/>
              <a:t>For example, combining Meaning 1 and 2,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course is instructed by at most one instructor. 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instructor can instruct at most one course.</a:t>
            </a:r>
          </a:p>
          <a:p>
            <a:pPr marL="536575" lvl="1" indent="-19367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student is associated with at most one combination of instructors and courses.</a:t>
            </a:r>
          </a:p>
          <a:p>
            <a:r>
              <a:rPr lang="en-US" dirty="0"/>
              <a:t>The previous </a:t>
            </a:r>
            <a:r>
              <a:rPr lang="en-US" altLang="zh-CN" dirty="0"/>
              <a:t>conversion cannot work. (Please also have a try)</a:t>
            </a:r>
            <a:endParaRPr lang="en-US" dirty="0"/>
          </a:p>
          <a:p>
            <a:r>
              <a:rPr lang="en-US" dirty="0"/>
              <a:t>To handle this case, some </a:t>
            </a:r>
            <a:r>
              <a:rPr lang="en-US" altLang="zh-CN" dirty="0"/>
              <a:t>extended</a:t>
            </a:r>
            <a:r>
              <a:rPr lang="en-US" dirty="0"/>
              <a:t> features will be introduced in the next lecture.</a:t>
            </a:r>
          </a:p>
          <a:p>
            <a:r>
              <a:rPr lang="en-US" dirty="0"/>
              <a:t>We have only discussed cardinality constraints for ternary relationship sets. Participation constraints are actually the same.</a:t>
            </a: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FE04FE67-87EB-4458-B48A-D2DCD22525C7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07EB3116-4277-4556-A397-E55AFF23F9B8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72783910-10AF-44DF-AEFA-1CCAD4A0636B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17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7A01-2F15-4220-A32B-3812C4A6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BEDE-2E39-4CD1-A00D-FA2F6D671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Combining the constraints that we have discussed.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Try to make reasonable constraints on the relationship sets “major” and “PD”.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Add a new entity set “transcript”.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Model some reasonable relationship sets among “student”, “transcript”, and “course”.</a:t>
            </a:r>
          </a:p>
          <a:p>
            <a:endParaRPr lang="en-US" dirty="0"/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E2A1C26E-0A8F-44E6-A32D-E00C132CA4B9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318780EC-97E9-40AA-913E-774E982ADA5A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D052671E-0C72-48A5-AF5F-D585A99A8340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80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7A01-2F15-4220-A32B-3812C4A6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E2A1C26E-0A8F-44E6-A32D-E00C132CA4B9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318780EC-97E9-40AA-913E-774E982ADA5A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D052671E-0C72-48A5-AF5F-D585A99A8340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BB689-69FD-F85A-2CBB-2A233F097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73" y="1413887"/>
            <a:ext cx="8618053" cy="48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2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26D9FB5-867F-4F41-98D0-732B3D975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End of Lecture 3</a:t>
            </a:r>
            <a:endParaRPr lang="zh-CN" altLang="en-US" dirty="0"/>
          </a:p>
        </p:txBody>
      </p:sp>
      <p:sp>
        <p:nvSpPr>
          <p:cNvPr id="13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570B8447-DD79-45B9-A5DA-284DB242EEB3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F89ADC8F-19BD-43CA-A4DD-F80381C22FFE}"/>
              </a:ext>
            </a:extLst>
          </p:cNvPr>
          <p:cNvSpPr/>
          <p:nvPr/>
        </p:nvSpPr>
        <p:spPr>
          <a:xfrm>
            <a:off x="6120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84263DBE-60DF-499F-B18B-2F50249CD661}"/>
              </a:ext>
            </a:extLst>
          </p:cNvPr>
          <p:cNvSpPr/>
          <p:nvPr/>
        </p:nvSpPr>
        <p:spPr>
          <a:xfrm>
            <a:off x="3023999" y="0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254506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25998</TotalTime>
  <Words>1753</Words>
  <Application>Microsoft Office PowerPoint</Application>
  <PresentationFormat>全屏显示(4:3)</PresentationFormat>
  <Paragraphs>351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Adobe Heiti Std R</vt:lpstr>
      <vt:lpstr>Hiragino Sans GB W3</vt:lpstr>
      <vt:lpstr>等线</vt:lpstr>
      <vt:lpstr>宋体</vt:lpstr>
      <vt:lpstr>Microsoft YaHei</vt:lpstr>
      <vt:lpstr>Arial</vt:lpstr>
      <vt:lpstr>Calibri</vt:lpstr>
      <vt:lpstr>Cambria Math</vt:lpstr>
      <vt:lpstr>Helvetica</vt:lpstr>
      <vt:lpstr>Times New Roman</vt:lpstr>
      <vt:lpstr>beamer_like</vt:lpstr>
      <vt:lpstr>Lecture 3  Entity-Relationship Model Constraints</vt:lpstr>
      <vt:lpstr>Outline</vt:lpstr>
      <vt:lpstr>Relationship Constraints</vt:lpstr>
      <vt:lpstr>Relationship Constraints</vt:lpstr>
      <vt:lpstr>Cardinality Constraints</vt:lpstr>
      <vt:lpstr>Cardinality Constraints</vt:lpstr>
      <vt:lpstr>Cardinality Constraints</vt:lpstr>
      <vt:lpstr>Cardinality Constraints</vt:lpstr>
      <vt:lpstr>Participation Constraints</vt:lpstr>
      <vt:lpstr>Participation Constraints</vt:lpstr>
      <vt:lpstr>Participation Constraints</vt:lpstr>
      <vt:lpstr>Alternative Notations</vt:lpstr>
      <vt:lpstr>Constraints for Ternary Relationship Sets</vt:lpstr>
      <vt:lpstr>Constraints for Ternary Relationship Sets</vt:lpstr>
      <vt:lpstr>Constraints for Ternary Relationship Sets</vt:lpstr>
      <vt:lpstr>Converting Non-binary to Binary</vt:lpstr>
      <vt:lpstr>Converting Non-binary to Binary</vt:lpstr>
      <vt:lpstr>Converting Non-binary to Binary</vt:lpstr>
      <vt:lpstr>Converting Non-binary to Binary</vt:lpstr>
      <vt:lpstr>Converting Non-binary to Binary</vt:lpstr>
      <vt:lpstr>Converting Non-binary to Binary</vt:lpstr>
      <vt:lpstr>Converting Non-binary to Binary</vt:lpstr>
      <vt:lpstr>Exercises</vt:lpstr>
      <vt:lpstr>Exercises</vt:lpstr>
      <vt:lpstr>End of Lecture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Goliath Li</cp:lastModifiedBy>
  <cp:revision>364</cp:revision>
  <cp:lastPrinted>1999-06-28T19:27:31Z</cp:lastPrinted>
  <dcterms:created xsi:type="dcterms:W3CDTF">1999-11-04T22:02:40Z</dcterms:created>
  <dcterms:modified xsi:type="dcterms:W3CDTF">2024-10-15T04:52:13Z</dcterms:modified>
</cp:coreProperties>
</file>