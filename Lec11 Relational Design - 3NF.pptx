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9" r:id="rId1"/>
  </p:sldMasterIdLst>
  <p:notesMasterIdLst>
    <p:notesMasterId r:id="rId27"/>
  </p:notesMasterIdLst>
  <p:handoutMasterIdLst>
    <p:handoutMasterId r:id="rId28"/>
  </p:handoutMasterIdLst>
  <p:sldIdLst>
    <p:sldId id="342" r:id="rId2"/>
    <p:sldId id="426" r:id="rId3"/>
    <p:sldId id="463" r:id="rId4"/>
    <p:sldId id="464" r:id="rId5"/>
    <p:sldId id="465" r:id="rId6"/>
    <p:sldId id="466" r:id="rId7"/>
    <p:sldId id="467" r:id="rId8"/>
    <p:sldId id="468" r:id="rId9"/>
    <p:sldId id="469" r:id="rId10"/>
    <p:sldId id="470" r:id="rId11"/>
    <p:sldId id="471" r:id="rId12"/>
    <p:sldId id="472" r:id="rId13"/>
    <p:sldId id="473" r:id="rId14"/>
    <p:sldId id="474" r:id="rId15"/>
    <p:sldId id="475" r:id="rId16"/>
    <p:sldId id="476" r:id="rId17"/>
    <p:sldId id="477" r:id="rId18"/>
    <p:sldId id="478" r:id="rId19"/>
    <p:sldId id="479" r:id="rId20"/>
    <p:sldId id="480" r:id="rId21"/>
    <p:sldId id="481" r:id="rId22"/>
    <p:sldId id="482" r:id="rId23"/>
    <p:sldId id="483" r:id="rId24"/>
    <p:sldId id="484" r:id="rId25"/>
    <p:sldId id="548" r:id="rId26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014A650-3CE4-4397-9886-E919E4BD9485}">
          <p14:sldIdLst>
            <p14:sldId id="342"/>
            <p14:sldId id="426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  <p14:sldId id="5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33">
          <p15:clr>
            <a:srgbClr val="A4A3A4"/>
          </p15:clr>
        </p15:guide>
        <p15:guide id="2" pos="5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93"/>
    <a:srgbClr val="FFCDCD"/>
    <a:srgbClr val="FF66CC"/>
    <a:srgbClr val="E8E8F1"/>
    <a:srgbClr val="FF0000"/>
    <a:srgbClr val="333333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5" autoAdjust="0"/>
    <p:restoredTop sz="85394" autoAdjust="0"/>
  </p:normalViewPr>
  <p:slideViewPr>
    <p:cSldViewPr snapToGrid="0">
      <p:cViewPr varScale="1">
        <p:scale>
          <a:sx n="111" d="100"/>
          <a:sy n="111" d="100"/>
        </p:scale>
        <p:origin x="1530" y="96"/>
      </p:cViewPr>
      <p:guideLst>
        <p:guide orient="horz" pos="733"/>
        <p:guide pos="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3" tIns="47957" rIns="95913" bIns="47957" numCol="1" anchor="t" anchorCtr="0" compatLnSpc="1">
            <a:prstTxWarp prst="textNoShape">
              <a:avLst/>
            </a:prstTxWarp>
          </a:bodyPr>
          <a:lstStyle>
            <a:lvl1pPr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3" tIns="47957" rIns="95913" bIns="47957" numCol="1" anchor="t" anchorCtr="0" compatLnSpc="1">
            <a:prstTxWarp prst="textNoShape">
              <a:avLst/>
            </a:prstTxWarp>
          </a:bodyPr>
          <a:lstStyle>
            <a:lvl1pPr algn="r"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4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3" tIns="47957" rIns="95913" bIns="47957" numCol="1" anchor="b" anchorCtr="0" compatLnSpc="1">
            <a:prstTxWarp prst="textNoShape">
              <a:avLst/>
            </a:prstTxWarp>
          </a:bodyPr>
          <a:lstStyle>
            <a:lvl1pPr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4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3" tIns="47957" rIns="95913" bIns="47957" numCol="1" anchor="b" anchorCtr="0" compatLnSpc="1">
            <a:prstTxWarp prst="textNoShape">
              <a:avLst/>
            </a:prstTxWarp>
          </a:bodyPr>
          <a:lstStyle>
            <a:lvl1pPr algn="r"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F6C23089-699A-4A2D-9070-09F0F0D07B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37967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ctr" anchorCtr="0" compatLnSpc="1">
            <a:prstTxWarp prst="textNoShape">
              <a:avLst/>
            </a:prstTxWarp>
          </a:bodyPr>
          <a:lstStyle>
            <a:lvl1pPr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ctr" anchorCtr="0" compatLnSpc="1">
            <a:prstTxWarp prst="textNoShape">
              <a:avLst/>
            </a:prstTxWarp>
          </a:bodyPr>
          <a:lstStyle>
            <a:lvl1pPr algn="r"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b" anchorCtr="0" compatLnSpc="1">
            <a:prstTxWarp prst="textNoShape">
              <a:avLst/>
            </a:prstTxWarp>
          </a:bodyPr>
          <a:lstStyle>
            <a:lvl1pPr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b" anchorCtr="0" compatLnSpc="1">
            <a:prstTxWarp prst="textNoShape">
              <a:avLst/>
            </a:prstTxWarp>
          </a:bodyPr>
          <a:lstStyle>
            <a:lvl1pPr algn="r"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D48ACB1D-D2AE-467E-AD71-62EA120728C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06001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defTabSz="9588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defTabSz="9588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defTabSz="9588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defTabSz="9588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fld id="{35878111-ADFE-4C86-BBA7-E6E82B0BD3D1}" type="slidenum">
              <a:rPr lang="zh-CN" altLang="en-US" sz="1300">
                <a:latin typeface="Times New Roman" pitchFamily="18" charset="0"/>
              </a:rPr>
              <a:pPr/>
              <a:t>1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i="1" dirty="0">
                <a:ea typeface="宋体" charset="-122"/>
                <a:sym typeface="Greek Symbols" pitchFamily="18" charset="2"/>
              </a:rPr>
              <a:t>Note:  </a:t>
            </a:r>
            <a:r>
              <a:rPr lang="en-US" altLang="zh-CN" dirty="0">
                <a:ea typeface="宋体" charset="-122"/>
                <a:sym typeface="Greek Symbols" pitchFamily="18" charset="2"/>
              </a:rPr>
              <a:t>implication in the opposite direction is trivial in each of the cases above, since a “stronger” functional dependency always implies a weaker one.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3691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861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2251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967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665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3246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6865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6834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77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6655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2471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9594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262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0388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1473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50169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406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4424" y="2983971"/>
            <a:ext cx="6858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609597" y="1402663"/>
            <a:ext cx="7890933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579813"/>
            <a:ext cx="6858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68339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32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26351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D17EA-B5DC-A947-999F-3BA09F29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ACDC9E-5B3C-7649-98A2-66AFDFA0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1674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F0BD946-B5BA-504F-80A8-C6749F61BBD3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5D889-EBC8-A74A-A52D-D35CC5DDD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FE8AAB-A6DD-DE43-B7A5-6297E5B8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BF8700A-EE5B-AA44-845F-A932FCA8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1020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626A19-E0EE-3344-BECF-578F6B3691A1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A3DDF-4F2F-1D45-B4D4-3AC2D1E55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FA0345-A7B5-8143-B23D-3DAF7059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 dirty="0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96A81A-F1A5-2046-B0A4-9C01DF3C2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CB281C-3506-614C-82B8-B117A79C1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CDD2EEB-0526-8546-B03F-B7E03D76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441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294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86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8EEDE-8712-4841-878C-74D5D95B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61616-E9E6-4D4E-ACF0-05C1DFD72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tabLst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2F38AF-4BDF-CF47-9CD7-01E995084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816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45CBF-7695-9841-9E88-FF0507BF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EEF8B0-7BDE-1347-9537-8464E4631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AD815E-FED2-7E46-854F-1D98CB4B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59805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C3A94-BDDD-4E47-AB7A-34C36F28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193800"/>
            <a:ext cx="7886700" cy="4983163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296C5C-EBD2-D143-AC4F-0DB23C2C0559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750240B-728E-0F48-8A04-0C32A05C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931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4BA236-12F6-FF40-9198-D45BCC57C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39872F-0807-7F4C-972A-F69648EDF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945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306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3033000" y="6637867"/>
            <a:ext cx="306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Database Design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6084000" y="6637866"/>
            <a:ext cx="306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8515350" y="6637865"/>
            <a:ext cx="54638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39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">
            <a:extLst>
              <a:ext uri="{FF2B5EF4-FFF2-40B4-BE49-F238E27FC236}">
                <a16:creationId xmlns:a16="http://schemas.microsoft.com/office/drawing/2014/main" id="{225C17E2-D2B1-43C8-9072-55F1AF1C3C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United International College</a:t>
            </a:r>
            <a:endParaRPr lang="zh-CN" altLang="en-US" dirty="0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dirty="0">
                <a:ea typeface="宋体" charset="-122"/>
              </a:rPr>
              <a:t>Lecture 11 Relational Database Design</a:t>
            </a:r>
            <a:br>
              <a:rPr lang="en-US" altLang="zh-CN" dirty="0">
                <a:ea typeface="宋体" charset="-122"/>
              </a:rPr>
            </a:br>
            <a:r>
              <a:rPr lang="en-US" altLang="zh-CN" dirty="0">
                <a:ea typeface="宋体" charset="-122"/>
              </a:rPr>
              <a:t>3</a:t>
            </a:r>
            <a:r>
              <a:rPr lang="en-US" altLang="zh-CN" baseline="30000" dirty="0">
                <a:ea typeface="宋体" charset="-122"/>
              </a:rPr>
              <a:t>rd</a:t>
            </a:r>
            <a:r>
              <a:rPr lang="en-US" altLang="zh-CN" dirty="0">
                <a:ea typeface="宋体" charset="-122"/>
              </a:rPr>
              <a:t> Normal Form</a:t>
            </a:r>
          </a:p>
        </p:txBody>
      </p:sp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E52D3C0D-8E89-4896-A19F-C158622F8CBA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488771B1-A6E1-4C36-A950-D8E788AF4952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BD3C8CEA-4C57-4E11-816C-F20FF97E0F64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30B9512D-F182-45A7-B9C8-2C28FC3CE9DF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39B690A1-FDC7-4277-BC3A-6CCD2C9EF559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hlinkClick r:id="" action="ppaction://noaction"/>
            <a:extLst>
              <a:ext uri="{FF2B5EF4-FFF2-40B4-BE49-F238E27FC236}">
                <a16:creationId xmlns:a16="http://schemas.microsoft.com/office/drawing/2014/main" id="{CB7CF316-3FAD-4F7C-BAB9-89778CAD1EE5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hlinkClick r:id="" action="ppaction://noaction"/>
            <a:extLst>
              <a:ext uri="{FF2B5EF4-FFF2-40B4-BE49-F238E27FC236}">
                <a16:creationId xmlns:a16="http://schemas.microsoft.com/office/drawing/2014/main" id="{AC2767B7-889A-46BA-9E20-89E29DA0B34A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4DBAB-96B1-4654-A956-1674CE94F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Features of Good Relational Design</a:t>
            </a:r>
          </a:p>
          <a:p>
            <a:r>
              <a:rPr lang="en-US" altLang="zh-CN" dirty="0">
                <a:ea typeface="宋体" charset="-122"/>
              </a:rPr>
              <a:t>Atomic Domains and First Normal Form</a:t>
            </a:r>
          </a:p>
          <a:p>
            <a:r>
              <a:rPr lang="en-US" altLang="zh-CN" dirty="0">
                <a:ea typeface="宋体" charset="-122"/>
              </a:rPr>
              <a:t>Functional Dependency Theory</a:t>
            </a:r>
          </a:p>
          <a:p>
            <a:r>
              <a:rPr lang="en-US" altLang="zh-CN" dirty="0">
                <a:ea typeface="宋体" charset="-122"/>
              </a:rPr>
              <a:t>BCNF</a:t>
            </a:r>
          </a:p>
          <a:p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3</a:t>
            </a:r>
            <a:r>
              <a:rPr lang="en-US" altLang="zh-CN" baseline="30000" dirty="0">
                <a:solidFill>
                  <a:srgbClr val="FF0000"/>
                </a:solidFill>
                <a:ea typeface="宋体" charset="-122"/>
              </a:rPr>
              <a:t>rd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 Normal Form</a:t>
            </a:r>
          </a:p>
          <a:p>
            <a:r>
              <a:rPr lang="en-US" altLang="zh-CN" dirty="0">
                <a:ea typeface="宋体" charset="-122"/>
              </a:rPr>
              <a:t>Multivalued Dependencies and Decomposition</a:t>
            </a:r>
          </a:p>
          <a:p>
            <a:r>
              <a:rPr lang="en-US" altLang="zh-CN" dirty="0">
                <a:ea typeface="宋体" charset="-122"/>
              </a:rPr>
              <a:t>Database-Design Process</a:t>
            </a:r>
          </a:p>
        </p:txBody>
      </p:sp>
      <p:sp>
        <p:nvSpPr>
          <p:cNvPr id="4" name="矩形 3">
            <a:hlinkClick r:id="rId2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2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2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2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2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2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074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4DBAB-96B1-4654-A956-1674CE94F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904510"/>
          </a:xfrm>
        </p:spPr>
        <p:txBody>
          <a:bodyPr>
            <a:normAutofit/>
          </a:bodyPr>
          <a:lstStyle/>
          <a:p>
            <a:r>
              <a:rPr lang="en-US" altLang="zh-CN" dirty="0"/>
              <a:t>There are some situations that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BCNF decomposition is not dependency preserving, but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efficiently checking the dependency violation on updates is important.</a:t>
            </a:r>
          </a:p>
          <a:p>
            <a:r>
              <a:rPr lang="en-US" altLang="zh-CN" dirty="0"/>
              <a:t>Thus, we define a weaker normal form called Third Normal Form (3NF).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3NF allows some redundancy (with resultant problems; we will see examples later). 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But functional dependencies can be checked on individual relations without computing a join.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There is always a lossless-join, dependency-preserving decomposition into 3NF. 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zh-CN" dirty="0">
              <a:latin typeface="Arial" panose="020B0604020202020204" pitchFamily="34" charset="0"/>
              <a:ea typeface="宋体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hlinkClick r:id="rId2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2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2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2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2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2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84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Third Normal Form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</p:spPr>
            <p:txBody>
              <a:bodyPr>
                <a:normAutofit/>
              </a:bodyPr>
              <a:lstStyle/>
              <a:p>
                <a:pPr>
                  <a:tabLst>
                    <a:tab pos="2738438" algn="l"/>
                  </a:tabLst>
                </a:pPr>
                <a:r>
                  <a:rPr lang="en-US" altLang="zh-CN" dirty="0"/>
                  <a:t>A relation schema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/>
                  <a:t>is in 3NF with respect to a set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/>
                  <a:t>of</a:t>
                </a:r>
                <a:br>
                  <a:rPr lang="en-US" altLang="zh-CN" dirty="0"/>
                </a:br>
                <a:r>
                  <a:rPr lang="en-US" altLang="zh-CN" dirty="0"/>
                  <a:t>functional dependencies if for all functional dependencies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br>
                  <a:rPr lang="en-US" altLang="zh-CN" dirty="0"/>
                </a:br>
                <a:r>
                  <a:rPr lang="en-US" altLang="zh-CN" dirty="0"/>
                  <a:t>of the form </a:t>
                </a:r>
              </a:p>
              <a:p>
                <a:pPr marL="0" indent="0" algn="ctr">
                  <a:buNone/>
                  <a:tabLst>
                    <a:tab pos="2738438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i="1" dirty="0" smtClean="0">
                          <a:latin typeface="Cambria Math" panose="02040503050406030204" pitchFamily="18" charset="0"/>
                          <a:ea typeface="宋体" charset="-122"/>
                          <a:sym typeface="Symbol" pitchFamily="18" charset="2"/>
                        </a:rPr>
                        <m:t>𝛼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  <a:sym typeface="Symbol" pitchFamily="18" charset="2"/>
                        </a:rPr>
                        <m:t>→</m:t>
                      </m:r>
                      <m:r>
                        <a:rPr lang="el-GR" altLang="zh-CN" i="1" dirty="0">
                          <a:latin typeface="Cambria Math" panose="02040503050406030204" pitchFamily="18" charset="0"/>
                          <a:ea typeface="宋体" charset="-122"/>
                          <a:sym typeface="Symbol" pitchFamily="18" charset="2"/>
                        </a:rPr>
                        <m:t>𝛽</m:t>
                      </m:r>
                    </m:oMath>
                  </m:oMathPara>
                </a14:m>
                <a:endParaRPr lang="en-US" altLang="zh-CN" i="1" dirty="0">
                  <a:ea typeface="宋体" charset="-122"/>
                  <a:sym typeface="Monotype Sorts" pitchFamily="2" charset="2"/>
                </a:endParaRPr>
              </a:p>
              <a:p>
                <a:pPr marL="273600" indent="0">
                  <a:buNone/>
                  <a:tabLst>
                    <a:tab pos="2738438" algn="l"/>
                  </a:tabLst>
                </a:pP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at least one of the following holds:</a:t>
                </a:r>
              </a:p>
              <a:p>
                <a:pPr lvl="1">
                  <a:tabLst>
                    <a:tab pos="2738438" algn="l"/>
                  </a:tabLst>
                </a:pP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is trivial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(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⊆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)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;</a:t>
                </a:r>
              </a:p>
              <a:p>
                <a:pPr lvl="1">
                  <a:tabLst>
                    <a:tab pos="2738438" algn="l"/>
                  </a:tabLst>
                </a:pP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is a </a:t>
                </a:r>
                <a:r>
                  <a:rPr lang="en-US" altLang="zh-CN" dirty="0" err="1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superkey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𝑅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; or</a:t>
                </a:r>
              </a:p>
              <a:p>
                <a:pPr lvl="1">
                  <a:tabLst>
                    <a:tab pos="2738438" algn="l"/>
                  </a:tabLst>
                </a:pPr>
                <a:r>
                  <a:rPr lang="en-US" altLang="zh-CN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each attribute in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  <m:r>
                      <a:rPr lang="zh-CN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∖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is contained in a candidate key for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𝑅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.</a:t>
                </a:r>
              </a:p>
              <a:p>
                <a:pPr lvl="1">
                  <a:buFont typeface="Monotype Sorts" pitchFamily="2" charset="2"/>
                  <a:buNone/>
                  <a:tabLst>
                    <a:tab pos="2738438" algn="l"/>
                  </a:tabLst>
                </a:pP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 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(</a:t>
                </a:r>
                <a:r>
                  <a:rPr lang="en-US" altLang="zh-CN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NOTE</a:t>
                </a: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: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each attribute can be in a different candidate key)</a:t>
                </a:r>
                <a:endParaRPr lang="en-US" altLang="zh-CN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Greek Symbols" pitchFamily="18" charset="2"/>
                </a:endParaRPr>
              </a:p>
              <a:p>
                <a:pPr>
                  <a:tabLst>
                    <a:tab pos="2738438" algn="l"/>
                  </a:tabLst>
                </a:pPr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If a relation is in BCNF it is in 3NF (since in BCNF one of the first two conditions above must hold).</a:t>
                </a:r>
              </a:p>
              <a:p>
                <a:pPr>
                  <a:tabLst>
                    <a:tab pos="2738438" algn="l"/>
                  </a:tabLst>
                </a:pPr>
                <a:r>
                  <a:rPr lang="en-US" altLang="zh-CN" dirty="0">
                    <a:ea typeface="宋体" charset="-122"/>
                  </a:rPr>
                  <a:t>Third condition is a minimal relaxation of BCNF to ensure dependency preservation (will see why later).</a:t>
                </a:r>
              </a:p>
              <a:p>
                <a:pPr>
                  <a:tabLst>
                    <a:tab pos="2738438" algn="l"/>
                  </a:tabLst>
                </a:pPr>
                <a:endParaRPr lang="zh-CN" altLang="en-US" dirty="0">
                  <a:ea typeface="宋体" charset="-122"/>
                  <a:sym typeface="Greek Symbols" pitchFamily="18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  <a:blipFill>
                <a:blip r:embed="rId2"/>
                <a:stretch>
                  <a:fillRect l="-773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3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3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3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3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3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88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3NF Example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</p:spPr>
            <p:txBody>
              <a:bodyPr>
                <a:normAutofit/>
              </a:bodyPr>
              <a:lstStyle/>
              <a:p>
                <a:pPr marL="269875" indent="-269875">
                  <a:tabLst>
                    <a:tab pos="744538" algn="l"/>
                  </a:tabLst>
                </a:pP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Recall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the example 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which shows BCNF is not dependency preserving. Let’s try it in 3NF.</a:t>
                </a: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101600" indent="0">
                  <a:buNone/>
                  <a:tabLst>
                    <a:tab pos="744538" algn="l"/>
                  </a:tabLst>
                </a:pPr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𝐽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101600" indent="0">
                  <a:buNone/>
                  <a:tabLst>
                    <a:tab pos="744538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𝐽𝐾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𝐾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101600" indent="0">
                  <a:buNone/>
                  <a:tabLst>
                    <a:tab pos="268288" algn="l"/>
                  </a:tabLst>
                </a:pP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	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Candidate keys are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𝐽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𝐽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.</a:t>
                </a:r>
              </a:p>
              <a:p>
                <a:pPr>
                  <a:tabLst>
                    <a:tab pos="744538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𝑅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is already in 3NF because</a:t>
                </a:r>
                <a:endParaRPr lang="en-US" altLang="zh-CN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lvl="1">
                  <a:tabLst>
                    <a:tab pos="744538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𝐽𝐾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𝐿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satisfies condition 2.</a:t>
                </a: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𝐽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is a </a:t>
                </a:r>
                <a:r>
                  <a:rPr lang="en-US" altLang="zh-CN" dirty="0" err="1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superkey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.</a:t>
                </a:r>
              </a:p>
              <a:p>
                <a:pPr lvl="1">
                  <a:tabLst>
                    <a:tab pos="744538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𝐾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satisfies condition 3.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}∖{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subset of the candidate key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  <a:blipFill>
                <a:blip r:embed="rId2"/>
                <a:stretch>
                  <a:fillRect l="-773" t="-1617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3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3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3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3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3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33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Redundancy in 3NF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</p:spPr>
            <p:txBody>
              <a:bodyPr>
                <a:normAutofit/>
              </a:bodyPr>
              <a:lstStyle/>
              <a:p>
                <a:pPr>
                  <a:tabLst>
                    <a:tab pos="744538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We allow redundancies in 3NF.</a:t>
                </a:r>
              </a:p>
              <a:p>
                <a:pPr>
                  <a:tabLst>
                    <a:tab pos="744538" algn="l"/>
                  </a:tabLst>
                </a:pP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For example,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𝐽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𝐽𝐾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𝐾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dirty="0">
                  <a:ea typeface="宋体" charset="-122"/>
                  <a:sym typeface="Monotype Sorts" pitchFamily="2" charset="2"/>
                </a:endParaRPr>
              </a:p>
              <a:p>
                <a:pPr>
                  <a:tabLst>
                    <a:tab pos="744538" algn="l"/>
                  </a:tabLst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  <a:blipFill>
                <a:blip r:embed="rId2"/>
                <a:stretch>
                  <a:fillRect l="-773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3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3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3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3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3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FB3A9759-222B-46A4-9668-B7AD71FE8AA6}"/>
              </a:ext>
            </a:extLst>
          </p:cNvPr>
          <p:cNvGraphicFramePr>
            <a:graphicFrameLocks noGrp="1"/>
          </p:cNvGraphicFramePr>
          <p:nvPr/>
        </p:nvGraphicFramePr>
        <p:xfrm>
          <a:off x="3801476" y="2712916"/>
          <a:ext cx="113919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88238884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3929796981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3175221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endParaRPr lang="zh-CN" altLang="en-US" sz="15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zh-CN" altLang="en-US" sz="15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zh-CN" altLang="en-US" sz="15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897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r>
                        <a:rPr lang="en-US" altLang="zh-CN" sz="1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5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US" altLang="zh-CN" sz="1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5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lang="en-US" altLang="zh-CN" sz="1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5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032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r>
                        <a:rPr lang="en-US" altLang="zh-CN" sz="1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5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US" altLang="zh-CN" sz="1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5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lang="en-US" altLang="zh-CN" sz="1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5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508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r>
                        <a:rPr lang="en-US" altLang="zh-CN" sz="1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5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US" altLang="zh-CN" sz="1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5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lang="en-US" altLang="zh-CN" sz="1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5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08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5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US" altLang="zh-CN" sz="1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5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lang="en-US" altLang="zh-CN" sz="15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5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805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163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3NF Decomposition Strategy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4DBAB-96B1-4654-A956-1674CE94F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904510"/>
          </a:xfrm>
        </p:spPr>
        <p:txBody>
          <a:bodyPr>
            <a:normAutofit/>
          </a:bodyPr>
          <a:lstStyle/>
          <a:p>
            <a:pPr>
              <a:tabLst>
                <a:tab pos="744538" algn="l"/>
              </a:tabLst>
            </a:pPr>
            <a:r>
              <a:rPr lang="en-US" altLang="zh-CN" dirty="0"/>
              <a:t>In order to make sure the decomposition is dependency preserving, we decompose the schema by using every functional dependency in an </a:t>
            </a:r>
            <a:r>
              <a:rPr lang="en-US" altLang="zh-CN" b="1" dirty="0"/>
              <a:t>equivalent</a:t>
            </a:r>
            <a:r>
              <a:rPr lang="en-US" altLang="zh-CN" dirty="0"/>
              <a:t> functional dependency set.</a:t>
            </a:r>
          </a:p>
          <a:p>
            <a:pPr>
              <a:tabLst>
                <a:tab pos="744538" algn="l"/>
              </a:tabLst>
            </a:pPr>
            <a:r>
              <a:rPr lang="en-US" altLang="zh-CN" dirty="0"/>
              <a:t>To keep the decomposition simple, we find the “</a:t>
            </a:r>
            <a:r>
              <a:rPr lang="en-US" altLang="zh-CN" b="1" dirty="0"/>
              <a:t>smallest</a:t>
            </a:r>
            <a:r>
              <a:rPr lang="en-US" altLang="zh-CN" dirty="0"/>
              <a:t>” FD set (canonical cover)</a:t>
            </a:r>
          </a:p>
          <a:p>
            <a:pPr>
              <a:tabLst>
                <a:tab pos="744538" algn="l"/>
              </a:tabLst>
            </a:pPr>
            <a:r>
              <a:rPr lang="en-US" altLang="zh-CN" dirty="0"/>
              <a:t>by removing all “</a:t>
            </a:r>
            <a:r>
              <a:rPr lang="en-US" altLang="zh-CN" b="1" dirty="0"/>
              <a:t>useless</a:t>
            </a:r>
            <a:r>
              <a:rPr lang="en-US" altLang="zh-CN" dirty="0"/>
              <a:t>” (extraneous) attributes from each of the FD. </a:t>
            </a:r>
          </a:p>
          <a:p>
            <a:pPr lvl="1">
              <a:tabLst>
                <a:tab pos="744538" algn="l"/>
              </a:tabLst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We have seen “equivalent” FD set, the closures.</a:t>
            </a:r>
          </a:p>
          <a:p>
            <a:pPr lvl="1">
              <a:tabLst>
                <a:tab pos="744538" algn="l"/>
              </a:tabLst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If two FD sets are equivalent, then one can logically infer the other.</a:t>
            </a:r>
          </a:p>
          <a:p>
            <a:pPr lvl="1">
              <a:tabLst>
                <a:tab pos="744538" algn="l"/>
              </a:tabLst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 other words, the constraints presented by one schema is exactly the same as the other.</a:t>
            </a:r>
            <a:br>
              <a:rPr lang="en-US" altLang="zh-CN" dirty="0"/>
            </a:br>
            <a:endParaRPr lang="en-US" altLang="zh-CN" dirty="0">
              <a:latin typeface="Arial" panose="020B0604020202020204" pitchFamily="34" charset="0"/>
              <a:ea typeface="宋体" charset="-122"/>
              <a:cs typeface="Arial" panose="020B0604020202020204" pitchFamily="34" charset="0"/>
              <a:sym typeface="Monotype Sorts" pitchFamily="2" charset="2"/>
            </a:endParaRPr>
          </a:p>
        </p:txBody>
      </p:sp>
      <p:sp>
        <p:nvSpPr>
          <p:cNvPr id="4" name="矩形 3">
            <a:hlinkClick r:id="rId2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2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2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2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2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2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10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Extraneous Attributes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Intuitively, the extraneous attributes are the attributes which can be removed without changing the constraints expressed by the functional dependency set.</a:t>
                </a:r>
              </a:p>
              <a:p>
                <a:r>
                  <a:rPr lang="en-US" altLang="zh-CN" dirty="0">
                    <a:ea typeface="宋体" charset="-122"/>
                  </a:rPr>
                  <a:t>Consider a set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of functional dependencies and the functional dependency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𝐹</m:t>
                    </m:r>
                  </m:oMath>
                </a14:m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.</a:t>
                </a:r>
              </a:p>
              <a:p>
                <a:pPr lvl="1"/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Attribute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∈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𝛼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is </a:t>
                </a:r>
                <a:r>
                  <a:rPr lang="en-US" altLang="zh-CN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extraneous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𝐴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𝐹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logically implies the new functional dependency set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’=(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∖{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})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∪{(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  <m:r>
                      <a:rPr lang="zh-CN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})→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.</a:t>
                </a:r>
              </a:p>
              <a:p>
                <a:pPr lvl="1"/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Attribute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∈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𝛽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is </a:t>
                </a:r>
                <a:r>
                  <a:rPr lang="en-US" altLang="zh-CN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extraneous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𝐴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and the new set of functional dependencies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’=(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∖{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})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∪{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(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  <m:r>
                      <a:rPr lang="zh-CN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})} 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logically implies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𝐹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.</a:t>
                </a:r>
              </a:p>
              <a:p>
                <a:r>
                  <a:rPr lang="en-US" altLang="zh-CN" dirty="0">
                    <a:ea typeface="宋体" charset="-122"/>
                  </a:rPr>
                  <a:t>Example: Given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𝐴𝐵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}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is extraneous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because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logically implies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(I.e. the result of dropping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from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).</a:t>
                </a:r>
              </a:p>
              <a:p>
                <a:r>
                  <a:rPr lang="en-US" altLang="zh-CN" dirty="0">
                    <a:ea typeface="宋体" charset="-122"/>
                  </a:rPr>
                  <a:t>Example:  Given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𝐴𝐵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𝐶𝐷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}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is extraneous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𝐶𝐷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since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can be inferred even after deleting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  <a:blipFill>
                <a:blip r:embed="rId3"/>
                <a:stretch>
                  <a:fillRect l="-773" t="-1617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18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Extraneous Attributes Detection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</p:spPr>
            <p:txBody>
              <a:bodyPr>
                <a:normAutofit/>
              </a:bodyPr>
              <a:lstStyle/>
              <a:p>
                <a:pPr indent="-273600"/>
                <a:r>
                  <a:rPr lang="en-US" altLang="zh-CN" dirty="0">
                    <a:ea typeface="宋体" charset="-122"/>
                  </a:rPr>
                  <a:t>Consider a set of functional dependencies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and the functional dependency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𝐹</m:t>
                    </m:r>
                  </m:oMath>
                </a14:m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.</a:t>
                </a:r>
              </a:p>
              <a:p>
                <a:pPr marL="273600" indent="-273600"/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To test if attribute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∈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is extraneous</a:t>
                </a:r>
                <a:r>
                  <a:rPr lang="en-US" altLang="zh-CN" dirty="0">
                    <a:solidFill>
                      <a:schemeClr val="tx2"/>
                    </a:solidFill>
                    <a:ea typeface="宋体" charset="-122"/>
                    <a:sym typeface="Monotype Sorts" pitchFamily="2" charset="2"/>
                  </a:rPr>
                  <a:t> 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in</a:t>
                </a:r>
                <a:r>
                  <a:rPr lang="en-US" altLang="zh-CN" dirty="0">
                    <a:solidFill>
                      <a:schemeClr val="tx2"/>
                    </a:solidFill>
                    <a:ea typeface="宋体" charset="-122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ea typeface="宋体" charset="-122"/>
                    <a:sym typeface="Monotype Sorts" pitchFamily="2" charset="2"/>
                  </a:rPr>
                  <a:t>,</a:t>
                </a:r>
              </a:p>
              <a:p>
                <a:pPr marL="514800" lvl="2" indent="-273600">
                  <a:spcBef>
                    <a:spcPts val="750"/>
                  </a:spcBef>
                  <a:buFont typeface="Monotype Sorts" pitchFamily="2" charset="2"/>
                  <a:buAutoNum type="arabicPeriod"/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800" i="1" dirty="0" smtClean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Greek Symbols" pitchFamily="18" charset="2"/>
                              </a:rPr>
                            </m:ctrlPr>
                          </m:dPr>
                          <m:e>
                            <m:r>
                              <a:rPr lang="el-GR" altLang="zh-CN" sz="1800" i="1" dirty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Symbol" pitchFamily="18" charset="2"/>
                              </a:rPr>
                              <m:t>𝛼</m:t>
                            </m:r>
                            <m:r>
                              <a:rPr lang="zh-CN" altLang="zh-CN" sz="18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∖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Greek Symbols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  <a:ea typeface="宋体" charset="-122"/>
                                    <a:cs typeface="Arial" panose="020B0604020202020204" pitchFamily="34" charset="0"/>
                                    <a:sym typeface="Greek Symbols" pitchFamily="18" charset="2"/>
                                  </a:rPr>
                                  <m:t>𝐴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 using the dependencies in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𝐹</m:t>
                    </m:r>
                  </m:oMath>
                </a14:m>
                <a:r>
                  <a:rPr lang="en-US" altLang="zh-CN" sz="18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, </a:t>
                </a: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and</a:t>
                </a:r>
                <a:endParaRPr lang="en-US" altLang="zh-CN" sz="18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Symbol" pitchFamily="18" charset="2"/>
                </a:endParaRPr>
              </a:p>
              <a:p>
                <a:pPr marL="514800" lvl="2" indent="-273600">
                  <a:spcBef>
                    <a:spcPts val="750"/>
                  </a:spcBef>
                  <a:buFont typeface="Monotype Sorts" pitchFamily="2" charset="2"/>
                  <a:buAutoNum type="arabicPeriod"/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check that whether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800" i="1" dirty="0" smtClean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Greek Symbols" pitchFamily="18" charset="2"/>
                              </a:rPr>
                            </m:ctrlPr>
                          </m:dPr>
                          <m:e>
                            <m:r>
                              <a:rPr lang="el-GR" altLang="zh-CN" sz="1800" i="1" dirty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Symbol" pitchFamily="18" charset="2"/>
                              </a:rPr>
                              <m:t>𝛼</m:t>
                            </m:r>
                            <m:r>
                              <a:rPr lang="zh-CN" altLang="zh-CN" sz="18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∖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  <a:ea typeface="宋体" charset="-122"/>
                                    <a:cs typeface="Arial" panose="020B0604020202020204" pitchFamily="34" charset="0"/>
                                    <a:sym typeface="Greek Symbols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  <a:ea typeface="宋体" charset="-122"/>
                                    <a:cs typeface="Arial" panose="020B0604020202020204" pitchFamily="34" charset="0"/>
                                    <a:sym typeface="Greek Symbols" pitchFamily="18" charset="2"/>
                                  </a:rPr>
                                  <m:t>𝐴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 contains </a:t>
                </a:r>
                <a14:m>
                  <m:oMath xmlns:m="http://schemas.openxmlformats.org/officeDocument/2006/math">
                    <m:r>
                      <a:rPr lang="el-GR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; if it does,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𝐴</m:t>
                    </m:r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is extraneous </a:t>
                </a: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in</a:t>
                </a:r>
                <a:r>
                  <a:rPr lang="en-US" altLang="zh-CN" sz="1800" dirty="0">
                    <a:solidFill>
                      <a:schemeClr val="tx2"/>
                    </a:solidFill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</m:oMath>
                </a14:m>
                <a:r>
                  <a:rPr lang="en-US" altLang="zh-CN" sz="1800" dirty="0">
                    <a:solidFill>
                      <a:schemeClr val="tx2"/>
                    </a:solidFill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.</a:t>
                </a:r>
                <a:endParaRPr lang="en-US" altLang="zh-CN" sz="18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Greek Symbols" pitchFamily="18" charset="2"/>
                </a:endParaRPr>
              </a:p>
              <a:p>
                <a:pPr marL="273600" indent="-273600"/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To test if attribute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∈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 is extraneous in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altLang="zh-CN" i="1" dirty="0">
                    <a:ea typeface="宋体" charset="-122"/>
                    <a:sym typeface="Symbol" pitchFamily="18" charset="2"/>
                  </a:rPr>
                  <a:t>,</a:t>
                </a:r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 </a:t>
                </a:r>
              </a:p>
              <a:p>
                <a:pPr marL="514800" lvl="2" indent="-273600">
                  <a:spcBef>
                    <a:spcPts val="750"/>
                  </a:spcBef>
                  <a:buFont typeface="Monotype Sorts" pitchFamily="2" charset="2"/>
                  <a:buAutoNum type="arabicPeriod"/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𝛼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using only the dependencies in </a:t>
                </a:r>
              </a:p>
              <a:p>
                <a:pPr marL="342900" lvl="2" indent="0" algn="ctr">
                  <a:spcBef>
                    <a:spcPts val="75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𝐹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’=</m:t>
                    </m:r>
                    <m:d>
                      <m:d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</m:ctrlPr>
                      </m:d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𝐹</m:t>
                        </m:r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∖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800" i="1" dirty="0" smtClean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Greek Symbols" pitchFamily="18" charset="2"/>
                              </a:rPr>
                            </m:ctrlPr>
                          </m:dPr>
                          <m:e>
                            <m:r>
                              <a:rPr lang="el-GR" altLang="zh-CN" sz="1800" i="1" dirty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Symbol" pitchFamily="18" charset="2"/>
                              </a:rPr>
                              <m:t>𝛼</m:t>
                            </m:r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Symbol" pitchFamily="18" charset="2"/>
                              </a:rPr>
                              <m:t>→</m:t>
                            </m:r>
                            <m:r>
                              <a:rPr lang="el-GR" altLang="zh-CN" sz="1800" i="1" dirty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Symbol" pitchFamily="18" charset="2"/>
                              </a:rPr>
                              <m:t>𝛽</m:t>
                            </m:r>
                          </m:e>
                        </m:d>
                      </m:e>
                    </m:d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l-GR" altLang="zh-CN" sz="18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  <m:t>𝛼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  <m:t>→</m:t>
                        </m:r>
                        <m:d>
                          <m:dPr>
                            <m:ctrlPr>
                              <a:rPr lang="en-US" altLang="zh-CN" sz="1800" b="0" i="1" dirty="0" smtClean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Symbol" pitchFamily="18" charset="2"/>
                              </a:rPr>
                            </m:ctrlPr>
                          </m:dPr>
                          <m:e>
                            <m:r>
                              <a:rPr lang="el-GR" altLang="zh-CN" sz="1800" i="1" dirty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Symbol" pitchFamily="18" charset="2"/>
                              </a:rPr>
                              <m:t>𝛽</m:t>
                            </m:r>
                            <m:r>
                              <a:rPr lang="zh-CN" altLang="zh-CN" sz="18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∖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  <a:ea typeface="宋体" charset="-122"/>
                                    <a:cs typeface="Arial" panose="020B0604020202020204" pitchFamily="34" charset="0"/>
                                    <a:sym typeface="Greek Symbols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  <a:ea typeface="宋体" charset="-122"/>
                                    <a:cs typeface="Arial" panose="020B0604020202020204" pitchFamily="34" charset="0"/>
                                    <a:sym typeface="Greek Symbols" pitchFamily="18" charset="2"/>
                                  </a:rPr>
                                  <m:t>𝐴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, and </a:t>
                </a:r>
              </a:p>
              <a:p>
                <a:pPr marL="514800" lvl="2" indent="-273600">
                  <a:spcBef>
                    <a:spcPts val="750"/>
                  </a:spcBef>
                  <a:buFont typeface="+mj-lt"/>
                  <a:buAutoNum type="arabicPeriod" startAt="2"/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check that whether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</m:ctrlPr>
                      </m:sSupPr>
                      <m:e>
                        <m:r>
                          <a:rPr lang="el-GR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  <m:t>𝛼</m:t>
                        </m:r>
                      </m:e>
                      <m:sup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1800" baseline="30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</a:t>
                </a: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contains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𝐴</m:t>
                    </m:r>
                  </m:oMath>
                </a14:m>
                <a:r>
                  <a:rPr lang="en-US" altLang="zh-CN" sz="18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; </a:t>
                </a: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if it does</a:t>
                </a:r>
                <a:r>
                  <a:rPr lang="en-US" altLang="zh-CN" sz="18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𝐴</m:t>
                    </m:r>
                  </m:oMath>
                </a14:m>
                <a:r>
                  <a:rPr lang="en-US" altLang="zh-CN" sz="18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</a:t>
                </a: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is extraneous in </a:t>
                </a:r>
                <a14:m>
                  <m:oMath xmlns:m="http://schemas.openxmlformats.org/officeDocument/2006/math">
                    <m:r>
                      <a:rPr lang="el-GR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altLang="zh-CN" sz="18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.</a:t>
                </a:r>
                <a:endParaRPr lang="en-US" altLang="zh-CN" sz="18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Greek Symbols" pitchFamily="18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904510"/>
              </a:xfrm>
              <a:blipFill>
                <a:blip r:embed="rId3"/>
                <a:stretch>
                  <a:fillRect l="-773" t="-1617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46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Canonical Cover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Intuitively, a </a:t>
                </a:r>
                <a:r>
                  <a:rPr lang="en-US" altLang="zh-CN" b="1" dirty="0">
                    <a:ea typeface="宋体" charset="-122"/>
                    <a:sym typeface="Greek Symbols" pitchFamily="18" charset="2"/>
                  </a:rPr>
                  <a:t>canonical cover</a:t>
                </a:r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 of a set of dependencies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𝐹</m:t>
                    </m:r>
                  </m:oMath>
                </a14:m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 is the “minimal” set of FDs equivalent 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𝐹</m:t>
                    </m:r>
                  </m:oMath>
                </a14:m>
                <a:r>
                  <a:rPr lang="en-US" altLang="zh-CN" i="1" dirty="0">
                    <a:ea typeface="宋体" charset="-122"/>
                    <a:sym typeface="Greek Symbols" pitchFamily="18" charset="2"/>
                  </a:rPr>
                  <a:t>.</a:t>
                </a:r>
              </a:p>
              <a:p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No redundant dependencies or extraneous attributes in any one of the dependencies.</a:t>
                </a:r>
              </a:p>
              <a:p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Formally, A </a:t>
                </a:r>
                <a:r>
                  <a:rPr lang="en-US" altLang="zh-CN" b="1" dirty="0">
                    <a:ea typeface="宋体" charset="-122"/>
                    <a:sym typeface="Greek Symbols" pitchFamily="18" charset="2"/>
                  </a:rPr>
                  <a:t>canonical cover</a:t>
                </a:r>
                <a:r>
                  <a:rPr lang="en-US" altLang="zh-CN" i="1" dirty="0"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𝐹</m:t>
                    </m:r>
                  </m:oMath>
                </a14:m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 is a set of dependencies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i="1" baseline="-25000" dirty="0"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such that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𝐹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logically implies all dependencies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i="1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,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and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logically implies all dependencies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𝐹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,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and</a:t>
                </a:r>
              </a:p>
              <a:p>
                <a:pPr lvl="1"/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No functional dependency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contains an extraneous attribute, and</a:t>
                </a:r>
              </a:p>
              <a:p>
                <a:pPr lvl="1"/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Each left side of functional dependency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20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is unique.</a:t>
                </a:r>
              </a:p>
              <a:p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For example,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𝐷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𝐷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  <a:blipFill>
                <a:blip r:embed="rId3"/>
                <a:stretch>
                  <a:fillRect l="-773" t="-1508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83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Find Canonical Cover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360" y="1605770"/>
                <a:ext cx="78867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</a:rPr>
                  <a:t>Algorithm </a:t>
                </a: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</a:rPr>
                  <a:t>Compute the canonical cover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</m:oMath>
                </a14:m>
                <a:endParaRPr lang="en-US" altLang="zh-CN" sz="1800" b="1" i="1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342900" indent="-3429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𝑐</m:t>
                        </m:r>
                      </m:sub>
                    </m:sSub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</m:oMath>
                </a14:m>
                <a:endParaRPr lang="en-US" altLang="zh-CN" sz="1800" i="1" dirty="0">
                  <a:solidFill>
                    <a:schemeClr val="tx1"/>
                  </a:solidFill>
                  <a:latin typeface="Consolas" panose="020B0609020204030204" pitchFamily="49" charset="0"/>
                  <a:ea typeface="宋体" charset="-122"/>
                </a:endParaRPr>
              </a:p>
              <a:p>
                <a:pPr marL="342900" indent="-3429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</a:rPr>
                  <a:t> 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</a:rPr>
                  <a:t>repeat</a:t>
                </a:r>
              </a:p>
              <a:p>
                <a:pPr marL="342900" indent="-3429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</a:rPr>
                  <a:t>	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</a:rPr>
                  <a:t>if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sSub>
                      <m:sSubPr>
                        <m:ctrlP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sSub>
                      <m:sSubPr>
                        <m:ctrlP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</a:rPr>
                  <a:t> are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𝑐</m:t>
                        </m:r>
                      </m:sub>
                    </m:sSub>
                  </m:oMath>
                </a14:m>
                <a:endParaRPr lang="en-US" altLang="zh-CN" sz="1800" dirty="0">
                  <a:solidFill>
                    <a:schemeClr val="tx1"/>
                  </a:solidFill>
                  <a:latin typeface="Consolas" panose="020B0609020204030204" pitchFamily="49" charset="0"/>
                  <a:ea typeface="宋体" charset="-122"/>
                </a:endParaRPr>
              </a:p>
              <a:p>
                <a:pPr marL="342900" indent="-3429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</a:rPr>
                  <a:t> 		Combine them as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l-GR" altLang="zh-C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𝛼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1</m:t>
                        </m:r>
                      </m:sub>
                    </m:sSub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sSub>
                      <m:sSubPr>
                        <m:ctrlP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l-GR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𝛽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l-GR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𝛽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i="1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using the union rule</a:t>
                </a:r>
                <a:endParaRPr lang="en-US" altLang="zh-CN" sz="1800" b="1" dirty="0">
                  <a:solidFill>
                    <a:schemeClr val="tx1"/>
                  </a:solidFill>
                  <a:latin typeface="Consolas" panose="020B0609020204030204" pitchFamily="49" charset="0"/>
                  <a:ea typeface="宋体" charset="-122"/>
                  <a:sym typeface="Greek Symbols" pitchFamily="18" charset="2"/>
                </a:endParaRPr>
              </a:p>
              <a:p>
                <a:pPr marL="342900" indent="-3429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	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end if</a:t>
                </a:r>
              </a:p>
              <a:p>
                <a:pPr marL="342900" indent="-3429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	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For each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FD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l-GR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  <m:r>
                      <a:rPr lang="en-US" altLang="zh-CN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∈</m:t>
                    </m:r>
                    <m:sSub>
                      <m:sSubPr>
                        <m:ctrlP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</a:p>
              <a:p>
                <a:pPr marL="342900" indent="-3429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		remove extraneous attributes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if there is any</a:t>
                </a:r>
                <a:endParaRPr lang="en-US" altLang="zh-CN" sz="1800" i="1" dirty="0">
                  <a:solidFill>
                    <a:schemeClr val="tx1"/>
                  </a:solidFill>
                  <a:latin typeface="Consolas" panose="020B0609020204030204" pitchFamily="49" charset="0"/>
                  <a:ea typeface="宋体" charset="-122"/>
                  <a:sym typeface="Greek Symbols" pitchFamily="18" charset="2"/>
                </a:endParaRPr>
              </a:p>
              <a:p>
                <a:pPr marL="342900" indent="-3429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	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end for</a:t>
                </a:r>
              </a:p>
              <a:p>
                <a:pPr marL="342900" indent="-3429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until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does not change</a:t>
                </a:r>
              </a:p>
              <a:p>
                <a:pPr marL="342900" indent="-3429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return</a:t>
                </a: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𝑐</m:t>
                        </m:r>
                      </m:sub>
                    </m:sSub>
                  </m:oMath>
                </a14:m>
                <a:endParaRPr lang="en-US" altLang="zh-CN" sz="1800" dirty="0">
                  <a:solidFill>
                    <a:schemeClr val="tx1"/>
                  </a:solidFill>
                  <a:latin typeface="Consolas" panose="020B0609020204030204" pitchFamily="49" charset="0"/>
                  <a:ea typeface="宋体" charset="-122"/>
                  <a:sym typeface="Greek Symbols" pitchFamily="18" charset="2"/>
                </a:endParaRPr>
              </a:p>
              <a:p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Note: Union rule may become applicable after some extraneous attributes have been deleted, so it has to be re-applied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360" y="1605770"/>
                <a:ext cx="7886700" cy="5257800"/>
              </a:xfrm>
              <a:blipFill>
                <a:blip r:embed="rId3"/>
                <a:stretch>
                  <a:fillRect l="-773" t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609D87-D4F6-48C2-A26E-3DD489E7A640}"/>
              </a:ext>
            </a:extLst>
          </p:cNvPr>
          <p:cNvGrpSpPr/>
          <p:nvPr/>
        </p:nvGrpSpPr>
        <p:grpSpPr>
          <a:xfrm>
            <a:off x="629597" y="1605770"/>
            <a:ext cx="7885753" cy="3792192"/>
            <a:chOff x="629597" y="1605770"/>
            <a:chExt cx="7885753" cy="3792192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94AE88E-C426-4EAB-AA2B-D17D9E5147AF}"/>
                </a:ext>
              </a:extLst>
            </p:cNvPr>
            <p:cNvCxnSpPr>
              <a:cxnSpLocks/>
            </p:cNvCxnSpPr>
            <p:nvPr/>
          </p:nvCxnSpPr>
          <p:spPr>
            <a:xfrm>
              <a:off x="629597" y="1957033"/>
              <a:ext cx="78857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4BAE1A6-1155-47E9-A991-7CCCBE98811F}"/>
                </a:ext>
              </a:extLst>
            </p:cNvPr>
            <p:cNvCxnSpPr>
              <a:cxnSpLocks/>
            </p:cNvCxnSpPr>
            <p:nvPr/>
          </p:nvCxnSpPr>
          <p:spPr>
            <a:xfrm>
              <a:off x="629597" y="1605770"/>
              <a:ext cx="788575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A7806941-5042-413D-9734-54C7E893242D}"/>
                </a:ext>
              </a:extLst>
            </p:cNvPr>
            <p:cNvCxnSpPr>
              <a:cxnSpLocks/>
            </p:cNvCxnSpPr>
            <p:nvPr/>
          </p:nvCxnSpPr>
          <p:spPr>
            <a:xfrm>
              <a:off x="629597" y="5397962"/>
              <a:ext cx="788575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2892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Example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</p:spPr>
            <p:txBody>
              <a:bodyPr>
                <a:noAutofit/>
              </a:bodyPr>
              <a:lstStyle/>
              <a:p>
                <a:pPr marL="273600" indent="-273600">
                  <a:tabLst>
                    <a:tab pos="684213" algn="l"/>
                    <a:tab pos="2917825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 = 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},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 = 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 →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 →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 →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 →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dirty="0">
                  <a:ea typeface="宋体" charset="-122"/>
                  <a:sym typeface="Monotype Sorts" pitchFamily="2" charset="2"/>
                </a:endParaRPr>
              </a:p>
              <a:p>
                <a:pPr marL="273600" indent="-273600">
                  <a:tabLst>
                    <a:tab pos="684213" algn="l"/>
                    <a:tab pos="2917825" algn="l"/>
                  </a:tabLst>
                </a:pP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Step 1, combine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𝐵𝐶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into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𝐵𝐶</m:t>
                    </m:r>
                  </m:oMath>
                </a14:m>
                <a:endParaRPr lang="en-US" altLang="zh-CN" i="1" dirty="0">
                  <a:ea typeface="宋体" charset="-122"/>
                  <a:sym typeface="Monotype Sorts" pitchFamily="2" charset="2"/>
                </a:endParaRPr>
              </a:p>
              <a:p>
                <a:pPr marL="273600" lvl="1" indent="0">
                  <a:spcBef>
                    <a:spcPts val="750"/>
                  </a:spcBef>
                  <a:buNone/>
                  <a:tabLst>
                    <a:tab pos="684213" algn="l"/>
                    <a:tab pos="2917825" algn="l"/>
                  </a:tabLst>
                </a:pPr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And,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sz="210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sz="21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𝑐</m:t>
                        </m:r>
                      </m:sub>
                    </m:sSub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𝐵𝐶</m:t>
                    </m:r>
                    <m:r>
                      <a:rPr lang="en-US" altLang="zh-CN" sz="2100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</m:t>
                    </m:r>
                    <m:r>
                      <a:rPr lang="en-US" altLang="zh-CN" sz="2100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𝐴𝐵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sz="21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273600" indent="-273600">
                  <a:tabLst>
                    <a:tab pos="684213" algn="l"/>
                    <a:tab pos="2917825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is extraneous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</m:oMath>
                </a14:m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.</a:t>
                </a:r>
              </a:p>
              <a:p>
                <a:pPr marL="514800" lvl="1" indent="-273600">
                  <a:spcBef>
                    <a:spcPts val="750"/>
                  </a:spcBef>
                  <a:tabLst>
                    <a:tab pos="684213" algn="l"/>
                    <a:tab pos="291782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Check if the result of deleting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from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is implied by the other dependencies.</a:t>
                </a:r>
              </a:p>
              <a:p>
                <a:pPr marL="514800" lvl="1" indent="-273600">
                  <a:spcBef>
                    <a:spcPts val="750"/>
                  </a:spcBef>
                  <a:tabLst>
                    <a:tab pos="684213" algn="l"/>
                    <a:tab pos="2917825" algn="l"/>
                  </a:tabLst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Yes: in fact, 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</m:t>
                    </m:r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is already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presented.</a:t>
                </a:r>
                <a:endParaRPr lang="en-US" altLang="zh-CN" sz="18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514800" lvl="1" indent="-273600">
                  <a:spcBef>
                    <a:spcPts val="750"/>
                  </a:spcBef>
                  <a:tabLst>
                    <a:tab pos="684213" algn="l"/>
                    <a:tab pos="291782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𝐵𝐶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273600" indent="-273600">
                  <a:tabLst>
                    <a:tab pos="684213" algn="l"/>
                    <a:tab pos="2917825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is extraneous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𝐵𝐶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.</a:t>
                </a:r>
              </a:p>
              <a:p>
                <a:pPr marL="622800" lvl="1" indent="-273600">
                  <a:spcBef>
                    <a:spcPts val="750"/>
                  </a:spcBef>
                  <a:tabLst>
                    <a:tab pos="684213" algn="l"/>
                    <a:tab pos="291782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Check 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is logically implied by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and the other dependencies.</a:t>
                </a:r>
                <a:endParaRPr lang="en-US" altLang="zh-CN" sz="15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622800" lvl="1" indent="-273600">
                  <a:spcBef>
                    <a:spcPts val="750"/>
                  </a:spcBef>
                  <a:tabLst>
                    <a:tab pos="684213" algn="l"/>
                    <a:tab pos="2917825" algn="l"/>
                  </a:tabLst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Yes: using transitivity on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</m:t>
                    </m:r>
                  </m:oMath>
                </a14:m>
                <a:r>
                  <a:rPr lang="en-US" altLang="zh-CN" sz="18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and</a:t>
                </a:r>
                <a:r>
                  <a:rPr lang="en-US" altLang="zh-CN" sz="18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</m:t>
                    </m:r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. </a:t>
                </a:r>
              </a:p>
              <a:p>
                <a:pPr marL="622800" lvl="1" indent="-273600">
                  <a:spcBef>
                    <a:spcPts val="750"/>
                  </a:spcBef>
                  <a:tabLst>
                    <a:tab pos="684213" algn="l"/>
                    <a:tab pos="2917825" algn="l"/>
                  </a:tabLst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Can use attribute closure of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</m:t>
                    </m:r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in more complex cases.</a:t>
                </a:r>
              </a:p>
              <a:p>
                <a:pPr marL="273600" indent="-273600">
                  <a:tabLst>
                    <a:tab pos="684213" algn="l"/>
                    <a:tab pos="2917825" algn="l"/>
                  </a:tabLst>
                </a:pP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The canonical cover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  <a:blipFill>
                <a:blip r:embed="rId3"/>
                <a:stretch>
                  <a:fillRect l="-773" t="-1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09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More Examples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i="1" dirty="0"/>
                  <a:t>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dirty="0"/>
              </a:p>
              <a:p>
                <a:pPr>
                  <a:buNone/>
                </a:pPr>
                <a:r>
                  <a:rPr lang="en-US" altLang="zh-TW" i="1" dirty="0"/>
                  <a:t>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𝐸𝐺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𝐶𝐺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𝐴𝐶𝐷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dirty="0"/>
              </a:p>
              <a:p>
                <a:pPr>
                  <a:buNone/>
                </a:pPr>
                <a:endParaRPr lang="en-US" altLang="zh-CN" dirty="0"/>
              </a:p>
              <a:p>
                <a:pPr>
                  <a:buNone/>
                </a:pPr>
                <a:r>
                  <a:rPr lang="en-US" altLang="zh-CN" dirty="0"/>
                  <a:t>First iteration:</a:t>
                </a:r>
              </a:p>
              <a:p>
                <a:r>
                  <a:rPr lang="en-US" altLang="zh-CN" dirty="0"/>
                  <a:t>Union </a:t>
                </a:r>
              </a:p>
              <a:p>
                <a:r>
                  <a:rPr lang="en-US" altLang="zh-CN" dirty="0"/>
                  <a:t>Find a</a:t>
                </a:r>
                <a:r>
                  <a:rPr lang="en-US" altLang="zh-TW" dirty="0"/>
                  <a:t> redundant</a:t>
                </a:r>
                <a:r>
                  <a:rPr lang="en-US" altLang="zh-CN" dirty="0"/>
                  <a:t> (</a:t>
                </a:r>
                <a:r>
                  <a:rPr lang="en-US" altLang="zh-CN" dirty="0">
                    <a:sym typeface="Symbol" pitchFamily="18" charset="2"/>
                  </a:rPr>
                  <a:t>extraneous</a:t>
                </a:r>
                <a:r>
                  <a:rPr lang="en-US" altLang="zh-CN" dirty="0"/>
                  <a:t>)</a:t>
                </a:r>
                <a:r>
                  <a:rPr lang="en-US" altLang="zh-TW" dirty="0"/>
                  <a:t> attribu</a:t>
                </a:r>
                <a:r>
                  <a:rPr lang="en-US" altLang="zh-CN" dirty="0"/>
                  <a:t>te</a:t>
                </a:r>
                <a:endParaRPr lang="en-US" altLang="zh-TW" dirty="0"/>
              </a:p>
              <a:p>
                <a:pPr>
                  <a:buNone/>
                </a:pPr>
                <a:r>
                  <a:rPr lang="en-US" altLang="zh-TW" dirty="0"/>
                  <a:t>	Consider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𝐴𝐶𝐷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i="0" dirty="0"/>
                  <a:t>,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is extraneous</a:t>
                </a:r>
                <a:r>
                  <a:rPr lang="en-US" altLang="zh-TW" dirty="0"/>
                  <a:t>, because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𝐵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imply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𝐴𝐶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i="1" dirty="0"/>
                  <a:t>.</a:t>
                </a:r>
              </a:p>
              <a:p>
                <a:r>
                  <a:rPr lang="en-US" altLang="zh-TW" dirty="0"/>
                  <a:t>So, replace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𝐴𝐶𝐷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/>
                  <a:t> by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/>
                  <a:t> and result</a:t>
                </a:r>
              </a:p>
              <a:p>
                <a:pPr>
                  <a:buNone/>
                </a:pPr>
                <a:r>
                  <a:rPr lang="en-US" altLang="zh-TW" dirty="0"/>
                  <a:t>	</a:t>
                </a:r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𝐶𝐺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>
                  <a:buNone/>
                </a:pPr>
                <a:endParaRPr lang="zh-CN" altLang="en-US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  <a:blipFill>
                <a:blip r:embed="rId3"/>
                <a:stretch>
                  <a:fillRect l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71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More Examples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i="1" dirty="0"/>
                  <a:t>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dirty="0"/>
                  <a:t>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dirty="0"/>
              </a:p>
              <a:p>
                <a:pPr>
                  <a:buNone/>
                </a:pPr>
                <a:r>
                  <a:rPr lang="en-US" altLang="zh-CN" b="0" dirty="0">
                    <a:ea typeface="宋体" charset="-122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𝐶𝐺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>
                  <a:buNone/>
                </a:pPr>
                <a:endParaRPr lang="en-US" altLang="zh-CN" dirty="0"/>
              </a:p>
              <a:p>
                <a:pPr>
                  <a:buNone/>
                </a:pPr>
                <a:r>
                  <a:rPr lang="en-US" altLang="zh-CN" dirty="0"/>
                  <a:t>Second iteration:</a:t>
                </a:r>
              </a:p>
              <a:p>
                <a:r>
                  <a:rPr lang="en-US" altLang="zh-CN" dirty="0"/>
                  <a:t>Union </a:t>
                </a:r>
              </a:p>
              <a:p>
                <a:pPr marL="2736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TW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en-US" altLang="zh-TW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→</m:t>
                      </m:r>
                      <m:r>
                        <a:rPr lang="en-US" altLang="zh-CN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𝐵</m:t>
                      </m:r>
                      <m:r>
                        <a:rPr lang="en-US" altLang="zh-TW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→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→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𝐶𝐺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→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𝐶𝐸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→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𝐴𝐺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Find</a:t>
                </a:r>
                <a:r>
                  <a:rPr lang="en-US" altLang="zh-TW" dirty="0"/>
                  <a:t> </a:t>
                </a:r>
                <a:r>
                  <a:rPr lang="en-US" altLang="zh-CN" dirty="0">
                    <a:sym typeface="Symbol" pitchFamily="18" charset="2"/>
                  </a:rPr>
                  <a:t>extraneous</a:t>
                </a:r>
                <a:r>
                  <a:rPr lang="en-US" altLang="zh-TW" dirty="0"/>
                  <a:t> attribu</a:t>
                </a:r>
                <a:r>
                  <a:rPr lang="en-US" altLang="zh-CN" dirty="0"/>
                  <a:t>tes</a:t>
                </a:r>
                <a:endParaRPr lang="en-US" altLang="zh-TW" dirty="0"/>
              </a:p>
              <a:p>
                <a:pPr indent="-4763">
                  <a:buNone/>
                </a:pPr>
                <a:r>
                  <a:rPr lang="en-US" altLang="zh-CN" dirty="0"/>
                  <a:t>Consider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𝐵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i="0" dirty="0"/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dirty="0"/>
                  <a:t> is extraneous</a:t>
                </a:r>
                <a:r>
                  <a:rPr lang="en-US" altLang="zh-TW" dirty="0"/>
                  <a:t>, because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𝐵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𝐵𝐶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𝐷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𝐸𝐺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imply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𝐺</m:t>
                    </m:r>
                  </m:oMath>
                </a14:m>
                <a:r>
                  <a:rPr lang="en-US" altLang="zh-CN" i="1" dirty="0">
                    <a:sym typeface="Symbol" pitchFamily="18" charset="2"/>
                  </a:rPr>
                  <a:t>.</a:t>
                </a:r>
              </a:p>
              <a:p>
                <a:r>
                  <a:rPr lang="en-US" altLang="zh-TW" dirty="0"/>
                  <a:t>So, replace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𝐵𝐺</m:t>
                    </m:r>
                  </m:oMath>
                </a14:m>
                <a:r>
                  <a:rPr lang="en-US" altLang="zh-TW" dirty="0"/>
                  <a:t> by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/>
                  <a:t> and result</a:t>
                </a:r>
              </a:p>
              <a:p>
                <a:pPr>
                  <a:buNone/>
                </a:pPr>
                <a:r>
                  <a:rPr lang="en-US" altLang="zh-TW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𝐶𝐺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>
                  <a:buNone/>
                </a:pPr>
                <a:endParaRPr lang="zh-CN" altLang="en-US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  <a:blipFill>
                <a:blip r:embed="rId3"/>
                <a:stretch>
                  <a:fillRect l="-927" r="-2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59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More Examples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i="1" dirty="0"/>
                  <a:t>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dirty="0"/>
              </a:p>
              <a:p>
                <a:pPr>
                  <a:buNone/>
                </a:pPr>
                <a:r>
                  <a:rPr lang="en-US" altLang="zh-TW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𝐶𝐺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𝐴𝐺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>
                  <a:buNone/>
                </a:pPr>
                <a:endParaRPr lang="en-US" altLang="zh-CN" dirty="0"/>
              </a:p>
              <a:p>
                <a:pPr>
                  <a:buNone/>
                </a:pPr>
                <a:r>
                  <a:rPr lang="en-US" altLang="zh-CN" dirty="0"/>
                  <a:t>Third iteration:</a:t>
                </a:r>
              </a:p>
              <a:p>
                <a:r>
                  <a:rPr lang="en-US" altLang="zh-CN" dirty="0"/>
                  <a:t>Union </a:t>
                </a:r>
              </a:p>
              <a:p>
                <a:r>
                  <a:rPr lang="en-US" altLang="zh-CN" dirty="0"/>
                  <a:t>Find</a:t>
                </a:r>
                <a:r>
                  <a:rPr lang="en-US" altLang="zh-TW" dirty="0"/>
                  <a:t> </a:t>
                </a:r>
                <a:r>
                  <a:rPr lang="en-US" altLang="zh-CN" dirty="0">
                    <a:sym typeface="Symbol" pitchFamily="18" charset="2"/>
                  </a:rPr>
                  <a:t>extraneous</a:t>
                </a:r>
                <a:r>
                  <a:rPr lang="en-US" altLang="zh-TW" dirty="0"/>
                  <a:t> attribu</a:t>
                </a:r>
                <a:r>
                  <a:rPr lang="en-US" altLang="zh-CN" dirty="0"/>
                  <a:t>tes</a:t>
                </a:r>
              </a:p>
              <a:p>
                <a:pPr marL="268288" indent="0">
                  <a:buNone/>
                </a:pPr>
                <a:r>
                  <a:rPr lang="en-US" altLang="zh-CN" dirty="0"/>
                  <a:t>Consider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𝐶𝐺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CN" i="0" dirty="0"/>
                  <a:t>,</a:t>
                </a:r>
                <a:r>
                  <a:rPr lang="en-US" altLang="zh-CN" i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is extraneous</a:t>
                </a:r>
                <a:r>
                  <a:rPr lang="en-US" altLang="zh-TW" dirty="0"/>
                  <a:t>, because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𝐶𝐺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𝐷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𝐸𝐺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𝐶𝐸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𝐴𝐺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𝐴𝐶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 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imply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𝐶𝐺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𝐶𝐷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𝐶𝐸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𝐴𝐶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𝐵</m:t>
                    </m:r>
                  </m:oMath>
                </a14:m>
                <a:r>
                  <a:rPr lang="en-US" altLang="zh-CN" i="1" dirty="0">
                    <a:sym typeface="Symbol" pitchFamily="18" charset="2"/>
                  </a:rPr>
                  <a:t>.</a:t>
                </a:r>
              </a:p>
              <a:p>
                <a:r>
                  <a:rPr lang="en-US" altLang="zh-CN" dirty="0">
                    <a:sym typeface="Symbol" pitchFamily="18" charset="2"/>
                  </a:rPr>
                  <a:t>So, replace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𝐶𝐺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 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𝐵𝐷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 by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𝐶𝐺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 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𝐷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 and </a:t>
                </a:r>
                <a:r>
                  <a:rPr lang="en-US" altLang="zh-TW" dirty="0"/>
                  <a:t>result</a:t>
                </a:r>
              </a:p>
              <a:p>
                <a:pPr>
                  <a:buNone/>
                </a:pPr>
                <a:r>
                  <a:rPr lang="en-US" altLang="zh-TW" dirty="0"/>
                  <a:t>	</a:t>
                </a:r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𝐶𝐺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>
                  <a:buNone/>
                </a:pPr>
                <a:endParaRPr lang="zh-CN" altLang="en-US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  <a:blipFill>
                <a:blip r:embed="rId3"/>
                <a:stretch>
                  <a:fillRect l="-927" r="-2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78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More Examples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i="1" dirty="0"/>
                  <a:t>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dirty="0"/>
                  <a:t>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dirty="0"/>
              </a:p>
              <a:p>
                <a:pPr>
                  <a:buNone/>
                </a:pPr>
                <a:r>
                  <a:rPr lang="en-US" altLang="zh-TW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𝐶𝐺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>
                  <a:buNone/>
                </a:pPr>
                <a:endParaRPr lang="en-US" altLang="zh-CN" dirty="0"/>
              </a:p>
              <a:p>
                <a:pPr>
                  <a:buNone/>
                </a:pPr>
                <a:r>
                  <a:rPr lang="en-US" altLang="zh-CN" dirty="0"/>
                  <a:t>Fourth iteration:</a:t>
                </a:r>
              </a:p>
              <a:p>
                <a:r>
                  <a:rPr lang="en-US" altLang="zh-CN" dirty="0"/>
                  <a:t>Union </a:t>
                </a:r>
              </a:p>
              <a:p>
                <a:r>
                  <a:rPr lang="en-US" altLang="zh-CN" dirty="0"/>
                  <a:t>Find</a:t>
                </a:r>
                <a:r>
                  <a:rPr lang="en-US" altLang="zh-TW" dirty="0"/>
                  <a:t> </a:t>
                </a:r>
                <a:r>
                  <a:rPr lang="en-US" altLang="zh-CN" dirty="0">
                    <a:sym typeface="Symbol" pitchFamily="18" charset="2"/>
                  </a:rPr>
                  <a:t>extraneous</a:t>
                </a:r>
                <a:r>
                  <a:rPr lang="en-US" altLang="zh-TW" dirty="0"/>
                  <a:t> attribu</a:t>
                </a:r>
                <a:r>
                  <a:rPr lang="en-US" altLang="zh-CN" dirty="0"/>
                  <a:t>tes</a:t>
                </a:r>
                <a:endParaRPr lang="en-US" altLang="zh-TW" dirty="0"/>
              </a:p>
              <a:p>
                <a:pPr>
                  <a:buNone/>
                </a:pPr>
                <a:r>
                  <a:rPr lang="en-US" altLang="zh-TW" dirty="0"/>
                  <a:t>	</a:t>
                </a:r>
                <a:r>
                  <a:rPr lang="en-US" altLang="zh-CN" dirty="0"/>
                  <a:t>Consider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𝐴𝐺</m:t>
                    </m:r>
                  </m:oMath>
                </a14:m>
                <a:r>
                  <a:rPr lang="en-US" altLang="zh-CN" i="0" dirty="0">
                    <a:sym typeface="Symbol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𝐺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 is </a:t>
                </a:r>
                <a:r>
                  <a:rPr lang="en-US" altLang="zh-CN" dirty="0"/>
                  <a:t>extraneous</a:t>
                </a:r>
                <a:r>
                  <a:rPr lang="en-US" altLang="zh-TW" dirty="0"/>
                  <a:t>, because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𝐴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𝐴𝐶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𝐵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𝐵𝐶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𝐷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𝐷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𝐸𝐺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 imply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𝐶𝐸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𝐴𝐶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𝐵𝐶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𝐷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𝐺</m:t>
                    </m:r>
                  </m:oMath>
                </a14:m>
                <a:r>
                  <a:rPr lang="en-US" altLang="zh-CN" i="1" dirty="0">
                    <a:sym typeface="Symbol" pitchFamily="18" charset="2"/>
                  </a:rPr>
                  <a:t>.</a:t>
                </a:r>
              </a:p>
              <a:p>
                <a:r>
                  <a:rPr lang="en-US" altLang="zh-CN" dirty="0">
                    <a:sym typeface="Symbol" pitchFamily="18" charset="2"/>
                  </a:rPr>
                  <a:t>So, replace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𝐶𝐸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𝐴𝐺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 by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𝐶𝐸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𝐴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 and </a:t>
                </a:r>
                <a:r>
                  <a:rPr lang="en-US" altLang="zh-TW" dirty="0"/>
                  <a:t>result</a:t>
                </a:r>
              </a:p>
              <a:p>
                <a:pPr>
                  <a:buNone/>
                </a:pPr>
                <a:r>
                  <a:rPr lang="en-US" altLang="zh-TW" dirty="0"/>
                  <a:t>	</a:t>
                </a:r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𝐶𝐺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>
                  <a:buNone/>
                </a:pPr>
                <a:endParaRPr lang="zh-CN" altLang="en-US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  <a:blipFill>
                <a:blip r:embed="rId3"/>
                <a:stretch>
                  <a:fillRect l="-927" r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24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More Examples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i="1" dirty="0"/>
                  <a:t>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dirty="0"/>
                  <a:t>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dirty="0"/>
              </a:p>
              <a:p>
                <a:pPr>
                  <a:buNone/>
                </a:pPr>
                <a:r>
                  <a:rPr lang="en-US" altLang="zh-TW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𝐶𝐺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No more extraneous attributes.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dirty="0"/>
                  <a:t> is the canonical cover.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  <a:blipFill>
                <a:blip r:embed="rId3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134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宋体" charset="-122"/>
              </a:rPr>
              <a:t>Ununiqueness</a:t>
            </a:r>
            <a:r>
              <a:rPr lang="en-US" altLang="zh-CN" dirty="0">
                <a:ea typeface="宋体" charset="-122"/>
              </a:rPr>
              <a:t> of the Canonical Cover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</p:spPr>
            <p:txBody>
              <a:bodyPr>
                <a:noAutofit/>
              </a:bodyPr>
              <a:lstStyle/>
              <a:p>
                <a:r>
                  <a:rPr lang="en-US" altLang="zh-CN" dirty="0"/>
                  <a:t>Different order in which the extraneous attributes are considered can result in different</a:t>
                </a:r>
                <a:r>
                  <a:rPr lang="en-US" altLang="zh-CN" i="1" dirty="0"/>
                  <a:t> F</a:t>
                </a:r>
                <a:r>
                  <a:rPr lang="en-US" altLang="zh-CN" i="1" baseline="-25000" dirty="0"/>
                  <a:t>c</a:t>
                </a:r>
                <a:r>
                  <a:rPr lang="en-US" altLang="zh-CN" dirty="0"/>
                  <a:t>.</a:t>
                </a:r>
                <a:endParaRPr lang="en-US" altLang="zh-CN" i="1" baseline="-25000" dirty="0"/>
              </a:p>
              <a:p>
                <a:r>
                  <a:rPr lang="en-US" altLang="zh-CN" dirty="0"/>
                  <a:t>For example,</a:t>
                </a:r>
              </a:p>
              <a:p>
                <a:pPr marL="0" indent="0">
                  <a:buNone/>
                </a:pPr>
                <a:r>
                  <a:rPr lang="en-US" altLang="zh-CN" i="1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i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en-US" altLang="zh-CN" dirty="0"/>
                  <a:t>, we find that both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/>
                  <a:t>are extraneous under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However, we cannot remove both. </a:t>
                </a:r>
              </a:p>
              <a:p>
                <a:r>
                  <a:rPr lang="en-US" altLang="zh-CN" dirty="0"/>
                  <a:t>In the end,  all the following are valid canonical covers:</a:t>
                </a:r>
              </a:p>
              <a:p>
                <a:pPr marL="1612900" lvl="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1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10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1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={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𝐵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𝐵</m:t>
                      </m:r>
                      <m:r>
                        <a:rPr lang="en-US" altLang="zh-TW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itchFamily="18" charset="2"/>
                        </a:rPr>
                        <m:t>→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𝐶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𝐶</m:t>
                      </m:r>
                      <m:r>
                        <a:rPr lang="en-US" altLang="zh-TW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itchFamily="18" charset="2"/>
                        </a:rPr>
                        <m:t>→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}</m:t>
                      </m:r>
                    </m:oMath>
                  </m:oMathPara>
                </a14:m>
                <a:endParaRPr lang="en-US" altLang="zh-CN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612900" lvl="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1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10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1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={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𝐵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𝐵</m:t>
                      </m:r>
                      <m:r>
                        <a:rPr lang="en-US" altLang="zh-TW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itchFamily="18" charset="2"/>
                        </a:rPr>
                        <m:t>→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𝐴𝐶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𝐶</m:t>
                      </m:r>
                      <m:r>
                        <a:rPr lang="en-US" altLang="zh-TW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itchFamily="18" charset="2"/>
                        </a:rPr>
                        <m:t>→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𝐵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}</m:t>
                      </m:r>
                    </m:oMath>
                  </m:oMathPara>
                </a14:m>
                <a:endParaRPr lang="en-US" altLang="zh-CN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612900" lvl="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1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10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1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1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{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en-US" altLang="zh-TW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itchFamily="18" charset="2"/>
                        </a:rPr>
                        <m:t>→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𝐶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𝐶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𝐵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𝐵</m:t>
                      </m:r>
                      <m:r>
                        <a:rPr lang="en-US" altLang="zh-TW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itchFamily="18" charset="2"/>
                        </a:rPr>
                        <m:t>→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}</m:t>
                      </m:r>
                    </m:oMath>
                  </m:oMathPara>
                </a14:m>
                <a:endParaRPr lang="en-US" altLang="zh-CN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612900" lvl="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1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10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1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={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en-US" altLang="zh-TW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itchFamily="18" charset="2"/>
                        </a:rPr>
                        <m:t>→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𝐶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𝐵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𝐶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𝐶</m:t>
                      </m:r>
                      <m:r>
                        <a:rPr lang="en-US" altLang="zh-TW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itchFamily="18" charset="2"/>
                        </a:rPr>
                        <m:t>→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𝐴𝐵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  <a:blipFill>
                <a:blip r:embed="rId3"/>
                <a:stretch>
                  <a:fillRect l="-773" t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59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3NF Decomposition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250"/>
                  </a:spcBef>
                  <a:buFont typeface="Monotype Sorts" pitchFamily="2" charset="2"/>
                  <a:buNone/>
                  <a:tabLst>
                    <a:tab pos="461963" algn="l"/>
                    <a:tab pos="1027113" algn="l"/>
                    <a:tab pos="1309688" algn="l"/>
                    <a:tab pos="1711325" algn="l"/>
                  </a:tabLst>
                </a:pP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</a:rPr>
                  <a:t>Algorithm</a:t>
                </a: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</a:rPr>
                  <a:t> 3NF Decomposition</a:t>
                </a:r>
                <a:r>
                  <a:rPr lang="zh-CN" altLang="en-US" sz="1800" dirty="0">
                    <a:latin typeface="Consolas" panose="020B0609020204030204" pitchFamily="49" charset="0"/>
                    <a:ea typeface="宋体" charset="-122"/>
                  </a:rPr>
                  <a:t>	</a:t>
                </a:r>
                <a:endParaRPr lang="en-US" altLang="zh-CN" sz="1800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457200" indent="-457200">
                  <a:spcBef>
                    <a:spcPts val="25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</a:rPr>
                  <a:t>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1800" i="1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</a:rPr>
                  <a:t>be a canonical cover for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</m:oMath>
                </a14:m>
                <a:endParaRPr lang="en-US" altLang="zh-CN" sz="1800" i="1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457200" indent="-457200">
                  <a:spcBef>
                    <a:spcPts val="250"/>
                  </a:spcBef>
                  <a:buClrTx/>
                  <a:buFont typeface="+mj-lt"/>
                  <a:buAutoNum type="arabicPeriod"/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</a:rPr>
                      <m:t>𝑖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=0</m:t>
                    </m:r>
                  </m:oMath>
                </a14:m>
                <a:endParaRPr lang="en-US" altLang="zh-CN" sz="1800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457200" indent="-457200">
                  <a:spcBef>
                    <a:spcPts val="250"/>
                  </a:spcBef>
                  <a:buClrTx/>
                  <a:buFont typeface="+mj-lt"/>
                  <a:buAutoNum type="arabicPeriod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</a:rPr>
                  <a:t> 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</a:rPr>
                  <a:t>for each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</a:rPr>
                  <a:t>functional dependency </a:t>
                </a:r>
                <a14:m>
                  <m:oMath xmlns:m="http://schemas.openxmlformats.org/officeDocument/2006/math">
                    <m:r>
                      <a:rPr lang="el-GR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l-GR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altLang="zh-CN" sz="1800" i="1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1800" i="1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do</a:t>
                </a:r>
              </a:p>
              <a:p>
                <a:pPr marL="457200" indent="-457200" defTabSz="895350">
                  <a:spcBef>
                    <a:spcPts val="250"/>
                  </a:spcBef>
                  <a:buClrTx/>
                  <a:buFont typeface="+mj-lt"/>
                  <a:buAutoNum type="arabicPeriod"/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	</a:t>
                </a: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if </a:t>
                </a: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none of the schemas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,</a:t>
                </a:r>
                <a:r>
                  <a:rPr lang="en-US" altLang="zh-CN" sz="1800" i="1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1</m:t>
                    </m:r>
                    <m:r>
                      <a:rPr lang="zh-CN" altLang="zh-CN" sz="18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𝑗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≤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𝑖</m:t>
                    </m:r>
                  </m:oMath>
                </a14:m>
                <a:r>
                  <a:rPr lang="en-US" altLang="zh-CN" sz="1800" i="1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 </a:t>
                </a: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contains </a:t>
                </a:r>
                <a14:m>
                  <m:oMath xmlns:m="http://schemas.openxmlformats.org/officeDocument/2006/math">
                    <m:r>
                      <a:rPr lang="el-GR" altLang="zh-CN" sz="180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zh-CN" altLang="zh-CN" sz="1800" i="1" dirty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altLang="zh-CN" sz="1800" i="1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then</a:t>
                </a:r>
              </a:p>
              <a:p>
                <a:pPr marL="457200" indent="-457200">
                  <a:spcBef>
                    <a:spcPts val="25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		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𝑖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=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𝑖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+1</m:t>
                    </m:r>
                  </m:oMath>
                </a14:m>
                <a:endParaRPr lang="en-US" altLang="zh-CN" sz="1800" dirty="0">
                  <a:latin typeface="Consolas" panose="020B0609020204030204" pitchFamily="49" charset="0"/>
                  <a:ea typeface="宋体" charset="-122"/>
                  <a:sym typeface="Greek Symbols" pitchFamily="18" charset="2"/>
                </a:endParaRPr>
              </a:p>
              <a:p>
                <a:pPr marL="457200" indent="-457200">
                  <a:spcBef>
                    <a:spcPts val="25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𝑖</m:t>
                        </m:r>
                      </m:sub>
                    </m:sSub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=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zh-CN" altLang="zh-CN" sz="1800" i="1" dirty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</m:oMath>
                </a14:m>
                <a:endParaRPr lang="en-US" altLang="zh-CN" sz="1800" i="1" dirty="0">
                  <a:latin typeface="Consolas" panose="020B0609020204030204" pitchFamily="49" charset="0"/>
                  <a:ea typeface="宋体" charset="-122"/>
                  <a:sym typeface="Greek Symbols" pitchFamily="18" charset="2"/>
                </a:endParaRPr>
              </a:p>
              <a:p>
                <a:pPr marL="457200" indent="-457200">
                  <a:spcBef>
                    <a:spcPts val="250"/>
                  </a:spcBef>
                  <a:buClr>
                    <a:schemeClr val="tx1"/>
                  </a:buClr>
                  <a:buFont typeface="+mj-lt"/>
                  <a:buAutoNum type="arabicPeriod"/>
                  <a:tabLst>
                    <a:tab pos="895350" algn="l"/>
                  </a:tabLst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	</a:t>
                </a: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end if</a:t>
                </a:r>
              </a:p>
              <a:p>
                <a:pPr marL="457200" indent="-457200">
                  <a:spcBef>
                    <a:spcPts val="25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end for</a:t>
                </a:r>
              </a:p>
              <a:p>
                <a:pPr marL="457200" indent="-457200">
                  <a:spcBef>
                    <a:spcPts val="25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if</a:t>
                </a: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none of the schemas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1</m:t>
                    </m:r>
                    <m:r>
                      <a:rPr lang="zh-CN" altLang="zh-CN" sz="18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𝑗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≤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𝑖</m:t>
                    </m:r>
                  </m:oMath>
                </a14:m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 contains a candidate 		key for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𝑅</m:t>
                    </m:r>
                  </m:oMath>
                </a14:m>
                <a:r>
                  <a:rPr lang="en-US" altLang="zh-CN" sz="1800" i="1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 </a:t>
                </a: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then </a:t>
                </a:r>
              </a:p>
              <a:p>
                <a:pPr marL="457200" indent="-457200" defTabSz="895350">
                  <a:spcBef>
                    <a:spcPts val="25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𝑖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=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𝑖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+1</m:t>
                    </m:r>
                  </m:oMath>
                </a14:m>
                <a:endParaRPr lang="en-US" altLang="zh-CN" sz="1800" dirty="0">
                  <a:latin typeface="Consolas" panose="020B0609020204030204" pitchFamily="49" charset="0"/>
                  <a:ea typeface="宋体" charset="-122"/>
                  <a:sym typeface="Symbol" pitchFamily="18" charset="2"/>
                </a:endParaRPr>
              </a:p>
              <a:p>
                <a:pPr marL="457200" indent="-457200" defTabSz="895350">
                  <a:spcBef>
                    <a:spcPts val="25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= any candidate key for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𝑅</m:t>
                    </m:r>
                  </m:oMath>
                </a14:m>
                <a:endParaRPr lang="en-US" altLang="zh-CN" sz="1800" i="1" dirty="0">
                  <a:latin typeface="Consolas" panose="020B0609020204030204" pitchFamily="49" charset="0"/>
                  <a:ea typeface="宋体" charset="-122"/>
                  <a:sym typeface="Symbol" pitchFamily="18" charset="2"/>
                </a:endParaRPr>
              </a:p>
              <a:p>
                <a:pPr marL="457200" indent="-457200">
                  <a:spcBef>
                    <a:spcPts val="25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 </a:t>
                </a: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end if</a:t>
                </a:r>
              </a:p>
              <a:p>
                <a:pPr marL="457200" indent="-457200">
                  <a:spcBef>
                    <a:spcPts val="25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 </a:t>
                </a: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return</a:t>
                </a: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{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𝑅</m:t>
                    </m:r>
                    <m:r>
                      <a:rPr lang="en-US" altLang="zh-CN" sz="1800" i="1" baseline="-25000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1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,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𝑅</m:t>
                    </m:r>
                    <m:r>
                      <a:rPr lang="en-US" altLang="zh-CN" sz="1800" i="1" baseline="-25000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2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, …, 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𝑖</m:t>
                        </m:r>
                      </m:sub>
                    </m:sSub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}</m:t>
                    </m:r>
                  </m:oMath>
                </a14:m>
                <a:r>
                  <a:rPr lang="en-US" altLang="zh-CN" sz="1800" i="1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  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  <a:blipFill>
                <a:blip r:embed="rId3"/>
                <a:stretch>
                  <a:fillRect l="-618" t="-1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B13422B-02BB-475D-82E6-06F53FAC1A6D}"/>
              </a:ext>
            </a:extLst>
          </p:cNvPr>
          <p:cNvGrpSpPr/>
          <p:nvPr/>
        </p:nvGrpSpPr>
        <p:grpSpPr>
          <a:xfrm>
            <a:off x="629597" y="1605770"/>
            <a:ext cx="7885753" cy="4344718"/>
            <a:chOff x="629597" y="1605770"/>
            <a:chExt cx="7885753" cy="4344718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83D31530-1F53-40D9-A1E8-26004B5CDFB4}"/>
                </a:ext>
              </a:extLst>
            </p:cNvPr>
            <p:cNvCxnSpPr>
              <a:cxnSpLocks/>
            </p:cNvCxnSpPr>
            <p:nvPr/>
          </p:nvCxnSpPr>
          <p:spPr>
            <a:xfrm>
              <a:off x="629597" y="1912209"/>
              <a:ext cx="78857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3254498-3AF2-42F6-8019-91CFFD2F4C36}"/>
                </a:ext>
              </a:extLst>
            </p:cNvPr>
            <p:cNvCxnSpPr>
              <a:cxnSpLocks/>
            </p:cNvCxnSpPr>
            <p:nvPr/>
          </p:nvCxnSpPr>
          <p:spPr>
            <a:xfrm>
              <a:off x="629597" y="1605770"/>
              <a:ext cx="788575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D444332-E0E3-405F-801F-549DDC634F13}"/>
                </a:ext>
              </a:extLst>
            </p:cNvPr>
            <p:cNvCxnSpPr>
              <a:cxnSpLocks/>
            </p:cNvCxnSpPr>
            <p:nvPr/>
          </p:nvCxnSpPr>
          <p:spPr>
            <a:xfrm>
              <a:off x="629597" y="5950488"/>
              <a:ext cx="788575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9430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3NF Decomposition Example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</p:spPr>
            <p:txBody>
              <a:bodyPr>
                <a:noAutofit/>
              </a:bodyPr>
              <a:lstStyle/>
              <a:p>
                <a:pPr marL="273600" indent="-273600">
                  <a:spcBef>
                    <a:spcPts val="250"/>
                  </a:spcBef>
                </a:pPr>
                <a:r>
                  <a:rPr lang="en-US" altLang="zh-CN" dirty="0">
                    <a:ea typeface="宋体" charset="-122"/>
                  </a:rPr>
                  <a:t>Relation schema:</a:t>
                </a:r>
              </a:p>
              <a:p>
                <a:pPr marL="273600" indent="0">
                  <a:spcBef>
                    <a:spcPts val="25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𝑐𝑢𝑠𝑡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𝑏𝑎𝑛𝑘𝑒𝑟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𝑏𝑟𝑎𝑛𝑐h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</m:oMath>
                </a14:m>
                <a:r>
                  <a:rPr lang="en-US" altLang="zh-CN" i="1" dirty="0">
                    <a:ea typeface="宋体" charset="-122"/>
                  </a:rPr>
                  <a:t> </a:t>
                </a:r>
              </a:p>
              <a:p>
                <a:pPr marL="273600" indent="0">
                  <a:spcBef>
                    <a:spcPts val="250"/>
                  </a:spcBef>
                  <a:buNone/>
                </a:pPr>
                <a:r>
                  <a:rPr lang="en-US" altLang="zh-CN" dirty="0"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{</m:t>
                    </m:r>
                    <m:bar>
                      <m:bar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宋体" charset="-122"/>
                          </a:rPr>
                          <m:t>𝑐𝑢𝑠𝑡𝑜𝑚𝑒𝑟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宋体" charset="-122"/>
                          </a:rPr>
                          <m:t>𝑖𝑑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, 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宋体" charset="-122"/>
                          </a:rPr>
                          <m:t>𝑒𝑚𝑝𝑙𝑜𝑦𝑒𝑒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宋体" charset="-122"/>
                          </a:rPr>
                          <m:t>𝑖𝑑</m:t>
                        </m:r>
                      </m:e>
                    </m:ba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𝑏𝑟𝑎𝑛𝑐h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𝑡𝑦𝑝𝑒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}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</a:t>
                </a:r>
              </a:p>
              <a:p>
                <a:pPr marL="273600" indent="-273600">
                  <a:spcBef>
                    <a:spcPts val="250"/>
                  </a:spcBef>
                </a:pPr>
                <a:r>
                  <a:rPr lang="en-US" altLang="zh-CN" dirty="0">
                    <a:ea typeface="宋体" charset="-122"/>
                  </a:rPr>
                  <a:t>The functional dependencies for this relation schema are:</a:t>
                </a:r>
              </a:p>
              <a:p>
                <a:pPr marL="616500" lvl="2" indent="-273600">
                  <a:spcBef>
                    <a:spcPts val="250"/>
                  </a:spcBef>
                  <a:buFont typeface="Monotype Sorts" pitchFamily="2" charset="2"/>
                  <a:buAutoNum type="arabicPeriod"/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𝑡𝑦𝑝𝑒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𝑐𝑢𝑠𝑡𝑜𝑚𝑒𝑟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𝑖𝑑</m:t>
                    </m:r>
                  </m:oMath>
                </a14:m>
                <a:endParaRPr lang="en-US" altLang="zh-CN" sz="18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marL="616500" lvl="2" indent="-273600">
                  <a:spcBef>
                    <a:spcPts val="250"/>
                  </a:spcBef>
                  <a:buFont typeface="Monotype Sorts" pitchFamily="2" charset="2"/>
                  <a:buAutoNum type="arabicPeriod"/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𝑐𝑢𝑠𝑡𝑜𝑚𝑒𝑟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𝑖𝑑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𝑒𝑚𝑝𝑙𝑜𝑦𝑒𝑒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𝑖𝑑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𝑏𝑟𝑎𝑛𝑐h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𝑛𝑎𝑚𝑒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𝑡𝑦𝑝𝑒</m:t>
                    </m:r>
                  </m:oMath>
                </a14:m>
                <a:endParaRPr lang="en-US" altLang="zh-CN" sz="18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616500" lvl="2" indent="-273600">
                  <a:spcBef>
                    <a:spcPts val="250"/>
                  </a:spcBef>
                  <a:buFont typeface="Monotype Sorts" pitchFamily="2" charset="2"/>
                  <a:buAutoNum type="arabicPeriod"/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𝑒𝑚𝑝𝑙𝑜𝑦𝑒𝑒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𝑖𝑑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𝑏𝑟𝑎𝑛𝑐h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𝑛𝑎𝑚𝑒</m:t>
                    </m:r>
                  </m:oMath>
                </a14:m>
                <a:endParaRPr lang="en-US" altLang="zh-CN" sz="18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Wingdings" pitchFamily="2" charset="2"/>
                </a:endParaRPr>
              </a:p>
              <a:p>
                <a:pPr marL="273600" indent="-273600">
                  <a:spcBef>
                    <a:spcPts val="250"/>
                  </a:spcBef>
                </a:pPr>
                <a:r>
                  <a:rPr lang="en-US" altLang="zh-CN" b="1" dirty="0">
                    <a:ea typeface="宋体" charset="-122"/>
                    <a:sym typeface="Wingdings" pitchFamily="2" charset="2"/>
                  </a:rPr>
                  <a:t>First step:</a:t>
                </a:r>
                <a:r>
                  <a:rPr lang="en-US" altLang="zh-CN" dirty="0">
                    <a:ea typeface="宋体" charset="-122"/>
                    <a:sym typeface="Wingdings" pitchFamily="2" charset="2"/>
                  </a:rPr>
                  <a:t> compute the canonical cover</a:t>
                </a:r>
              </a:p>
              <a:p>
                <a:pPr marL="616500" lvl="2" indent="-273600">
                  <a:spcBef>
                    <a:spcPts val="250"/>
                  </a:spcBef>
                </a:pP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Wingdings" pitchFamily="2" charset="2"/>
                      </a:rPr>
                      <m:t>𝑏𝑟𝑎𝑛𝑐h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Wingdings" pitchFamily="2" charset="2"/>
                      </a:rPr>
                      <m:t>_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Wingdings" pitchFamily="2" charset="2"/>
                      </a:rPr>
                      <m:t>𝑛𝑎𝑚𝑒</m:t>
                    </m:r>
                  </m:oMath>
                </a14:m>
                <a:r>
                  <a:rPr lang="en-US" altLang="zh-CN" sz="18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 </a:t>
                </a: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is extraneous in the right-hand side of the 2</a:t>
                </a:r>
                <a:r>
                  <a:rPr lang="en-US" altLang="zh-CN" sz="1800" baseline="30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nd</a:t>
                </a: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 dependency.</a:t>
                </a:r>
              </a:p>
              <a:p>
                <a:pPr marL="616500" lvl="2" indent="-273600">
                  <a:spcBef>
                    <a:spcPts val="250"/>
                  </a:spcBef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No other attributes are extraneous, so we get </a:t>
                </a:r>
              </a:p>
              <a:p>
                <a:pPr marL="616500" lvl="2" indent="-273600">
                  <a:spcBef>
                    <a:spcPts val="25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𝑐</m:t>
                        </m:r>
                      </m:sub>
                    </m:sSub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Wingdings" pitchFamily="2" charset="2"/>
                      </a:rPr>
                      <m:t>={</m:t>
                    </m:r>
                  </m:oMath>
                </a14:m>
                <a:r>
                  <a:rPr lang="en-US" altLang="zh-CN" sz="1800" dirty="0"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𝑡𝑦𝑝𝑒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𝑐𝑢𝑠𝑡𝑜𝑚𝑒𝑟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𝑖𝑑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,</m:t>
                    </m:r>
                  </m:oMath>
                </a14:m>
                <a:endParaRPr lang="en-US" altLang="zh-CN" sz="18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Wingdings" pitchFamily="2" charset="2"/>
                </a:endParaRPr>
              </a:p>
              <a:p>
                <a:pPr marL="342900" lvl="2" indent="0">
                  <a:spcBef>
                    <a:spcPts val="250"/>
                  </a:spcBef>
                  <a:buNone/>
                </a:pPr>
                <a:r>
                  <a:rPr lang="en-US" altLang="zh-CN" sz="1800" dirty="0">
                    <a:ea typeface="宋体" charset="-122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𝑐𝑢𝑠𝑡𝑜𝑚𝑒𝑟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𝑖𝑑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𝑒𝑚𝑝𝑙𝑜𝑦𝑒𝑒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𝑖𝑑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𝑡𝑦𝑝𝑒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</m:t>
                    </m:r>
                  </m:oMath>
                </a14:m>
                <a:endParaRPr lang="en-US" altLang="zh-CN" sz="18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342900" lvl="2" indent="0">
                  <a:spcBef>
                    <a:spcPts val="250"/>
                  </a:spcBef>
                  <a:buNone/>
                </a:pPr>
                <a:r>
                  <a:rPr lang="en-US" altLang="zh-CN" sz="1800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𝑒𝑚𝑝𝑙𝑜𝑦𝑒𝑒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𝑖𝑑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𝑏𝑟𝑎𝑛𝑐h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𝑛𝑎𝑚𝑒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Wingdings" pitchFamily="2" charset="2"/>
                      </a:rPr>
                      <m:t>}</m:t>
                    </m:r>
                  </m:oMath>
                </a14:m>
                <a:endParaRPr lang="en-US" altLang="zh-CN" sz="18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Wingdings" pitchFamily="2" charset="2"/>
                </a:endParaRPr>
              </a:p>
              <a:p>
                <a:pPr marL="285750" lvl="1" indent="-285750">
                  <a:spcBef>
                    <a:spcPts val="250"/>
                  </a:spcBef>
                </a:pPr>
                <a:r>
                  <a:rPr lang="en-US" altLang="zh-CN" sz="2100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Note:</a:t>
                </a:r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 this is only an example to show the decomposition. </a:t>
                </a:r>
              </a:p>
              <a:p>
                <a:pPr marL="0" lvl="1" indent="0">
                  <a:spcBef>
                    <a:spcPts val="250"/>
                  </a:spcBef>
                  <a:buNone/>
                </a:pPr>
                <a:r>
                  <a:rPr lang="en-US" altLang="zh-CN" sz="21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	     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𝑡𝑦𝑝𝑒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n-US" altLang="zh-CN" sz="21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𝑐𝑢𝑠𝑡𝑜𝑚𝑒𝑟</m:t>
                    </m:r>
                    <m:r>
                      <a:rPr lang="en-US" altLang="zh-CN" sz="21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_</m:t>
                    </m:r>
                    <m:r>
                      <a:rPr lang="en-US" altLang="zh-CN" sz="21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𝑖𝑑</m:t>
                    </m:r>
                  </m:oMath>
                </a14:m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 cannot be true in real cases.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  <a:blipFill>
                <a:blip r:embed="rId3"/>
                <a:stretch>
                  <a:fillRect l="-773" t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52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3NF Decomposition Example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</p:spPr>
            <p:txBody>
              <a:bodyPr>
                <a:noAutofit/>
              </a:bodyPr>
              <a:lstStyle/>
              <a:p>
                <a:pPr marL="273600" indent="-273600">
                  <a:spcBef>
                    <a:spcPts val="250"/>
                  </a:spcBef>
                </a:pPr>
                <a:r>
                  <a:rPr lang="en-US" altLang="zh-CN" dirty="0">
                    <a:ea typeface="宋体" charset="-122"/>
                  </a:rPr>
                  <a:t>Relation schema: </a:t>
                </a:r>
              </a:p>
              <a:p>
                <a:pPr marL="273600" indent="0">
                  <a:spcBef>
                    <a:spcPts val="25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𝑐𝑢𝑠𝑡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𝑏𝑎𝑛𝑘𝑒𝑟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𝑏𝑟𝑎𝑛𝑐h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</m:oMath>
                </a14:m>
                <a:r>
                  <a:rPr lang="en-US" altLang="zh-CN" i="1" dirty="0">
                    <a:ea typeface="宋体" charset="-122"/>
                  </a:rPr>
                  <a:t> </a:t>
                </a:r>
              </a:p>
              <a:p>
                <a:pPr marL="273600" indent="0">
                  <a:spcBef>
                    <a:spcPts val="25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{</m:t>
                      </m:r>
                      <m:bar>
                        <m:bar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barPr>
                        <m:e>
                          <m:r>
                            <a:rPr lang="en-US" altLang="zh-CN" i="1" dirty="0" err="1">
                              <a:latin typeface="Cambria Math" panose="02040503050406030204" pitchFamily="18" charset="0"/>
                              <a:ea typeface="宋体" charset="-122"/>
                            </a:rPr>
                            <m:t>𝑐𝑢𝑠𝑡𝑜𝑚𝑒𝑟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_</m:t>
                          </m:r>
                          <m:r>
                            <a:rPr lang="en-US" altLang="zh-CN" i="1" dirty="0" err="1">
                              <a:latin typeface="Cambria Math" panose="02040503050406030204" pitchFamily="18" charset="0"/>
                              <a:ea typeface="宋体" charset="-122"/>
                            </a:rPr>
                            <m:t>𝑖𝑑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宋体" charset="-122"/>
                            </a:rPr>
                            <m:t>, </m:t>
                          </m:r>
                          <m:r>
                            <a:rPr lang="en-US" altLang="zh-CN" i="1" dirty="0" err="1">
                              <a:latin typeface="Cambria Math" panose="02040503050406030204" pitchFamily="18" charset="0"/>
                              <a:ea typeface="宋体" charset="-122"/>
                            </a:rPr>
                            <m:t>𝑒𝑚𝑝𝑙𝑜𝑦𝑒𝑒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_</m:t>
                          </m:r>
                          <m:r>
                            <a:rPr lang="en-US" altLang="zh-CN" i="1" dirty="0" err="1">
                              <a:latin typeface="Cambria Math" panose="02040503050406030204" pitchFamily="18" charset="0"/>
                              <a:ea typeface="宋体" charset="-122"/>
                            </a:rPr>
                            <m:t>𝑖𝑑</m:t>
                          </m:r>
                        </m:e>
                      </m:bar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</a:rPr>
                        <m:t>, 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  <a:ea typeface="宋体" charset="-122"/>
                        </a:rPr>
                        <m:t>𝑏𝑟𝑎𝑛𝑐h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  <a:ea typeface="宋体" charset="-122"/>
                        </a:rPr>
                        <m:t>_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  <a:ea typeface="宋体" charset="-122"/>
                        </a:rPr>
                        <m:t>𝑛𝑎𝑚𝑒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</a:rPr>
                        <m:t>,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</a:rPr>
                        <m:t>𝑡𝑦𝑝𝑒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</a:rPr>
                        <m:t>}</m:t>
                      </m:r>
                    </m:oMath>
                  </m:oMathPara>
                </a14:m>
                <a:endParaRPr lang="en-US" altLang="zh-CN" dirty="0">
                  <a:ea typeface="宋体" charset="-122"/>
                </a:endParaRPr>
              </a:p>
              <a:p>
                <a:pPr marL="273600" indent="-273600">
                  <a:spcBef>
                    <a:spcPts val="250"/>
                  </a:spcBef>
                </a:pPr>
                <a:r>
                  <a:rPr lang="en-US" altLang="zh-CN" dirty="0">
                    <a:ea typeface="宋体" charset="-122"/>
                  </a:rPr>
                  <a:t>The canonical cover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𝑐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marL="616500" lvl="2" indent="-273600">
                  <a:spcBef>
                    <a:spcPts val="250"/>
                  </a:spcBef>
                  <a:buFont typeface="Monotype Sorts" pitchFamily="2" charset="2"/>
                  <a:buAutoNum type="arabicPeriod"/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𝑡𝑦𝑝𝑒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 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𝑐𝑢𝑠𝑡𝑜𝑚𝑒𝑟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𝑖𝑑</m:t>
                    </m:r>
                  </m:oMath>
                </a14:m>
                <a:endParaRPr lang="en-US" altLang="zh-CN" sz="18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marL="616500" lvl="2" indent="-273600">
                  <a:spcBef>
                    <a:spcPts val="250"/>
                  </a:spcBef>
                  <a:buFont typeface="Monotype Sorts" pitchFamily="2" charset="2"/>
                  <a:buAutoNum type="arabicPeriod"/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𝑐𝑢𝑠𝑡𝑜𝑚𝑒𝑟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𝑖𝑑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𝑒𝑚𝑝𝑙𝑜𝑦𝑒𝑒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𝑖𝑑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𝑡𝑦𝑝𝑒</m:t>
                    </m:r>
                  </m:oMath>
                </a14:m>
                <a:endParaRPr lang="en-US" altLang="zh-CN" sz="18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616500" lvl="2" indent="-273600">
                  <a:spcBef>
                    <a:spcPts val="250"/>
                  </a:spcBef>
                  <a:buFont typeface="Monotype Sorts" pitchFamily="2" charset="2"/>
                  <a:buAutoNum type="arabicPeriod"/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𝑒𝑚𝑝𝑙𝑜𝑦𝑒𝑒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𝑖𝑑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𝑏𝑟𝑎𝑛𝑐h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𝑛𝑎𝑚𝑒</m:t>
                    </m:r>
                  </m:oMath>
                </a14:m>
                <a:endParaRPr lang="en-US" altLang="zh-CN" sz="18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Wingdings" pitchFamily="2" charset="2"/>
                </a:endParaRPr>
              </a:p>
              <a:p>
                <a:pPr marL="273600" indent="-273600">
                  <a:spcBef>
                    <a:spcPts val="250"/>
                  </a:spcBef>
                </a:pPr>
                <a:r>
                  <a:rPr lang="en-US" altLang="zh-CN" b="1" dirty="0">
                    <a:ea typeface="宋体" charset="-122"/>
                    <a:sym typeface="Wingdings" pitchFamily="2" charset="2"/>
                  </a:rPr>
                  <a:t>Second step:</a:t>
                </a:r>
                <a:r>
                  <a:rPr lang="en-US" altLang="zh-CN" dirty="0">
                    <a:ea typeface="宋体" charset="-122"/>
                    <a:sym typeface="Wingdings" pitchFamily="2" charset="2"/>
                  </a:rPr>
                  <a:t> decompose the schema using every FD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𝑐</m:t>
                        </m:r>
                      </m:sub>
                    </m:sSub>
                  </m:oMath>
                </a14:m>
                <a:endParaRPr lang="en-US" altLang="zh-CN" dirty="0">
                  <a:ea typeface="宋体" charset="-122"/>
                  <a:sym typeface="Wingdings" pitchFamily="2" charset="2"/>
                </a:endParaRPr>
              </a:p>
              <a:p>
                <a:pPr marL="616500" lvl="2" indent="-273600">
                  <a:spcBef>
                    <a:spcPts val="25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Wingdings" pitchFamily="2" charset="2"/>
                      </a:rPr>
                      <m:t>={</m:t>
                    </m:r>
                    <m:bar>
                      <m:bar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bar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𝑡𝑦𝑝𝑒</m:t>
                        </m:r>
                      </m:e>
                    </m:ba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, 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𝑐𝑢𝑠𝑡𝑜𝑚𝑒𝑟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𝑖𝑑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}</m:t>
                    </m:r>
                  </m:oMath>
                </a14:m>
                <a:endParaRPr lang="en-US" altLang="zh-CN" sz="18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Symbol" pitchFamily="18" charset="2"/>
                </a:endParaRPr>
              </a:p>
              <a:p>
                <a:pPr marL="616500" lvl="2" indent="-273600">
                  <a:spcBef>
                    <a:spcPts val="25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Wingdings" pitchFamily="2" charset="2"/>
                      </a:rPr>
                      <m:t>={</m:t>
                    </m:r>
                    <m:bar>
                      <m:bar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barPr>
                      <m:e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𝑐</m:t>
                        </m:r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𝑢𝑠𝑡𝑜𝑚𝑒𝑟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𝑖𝑑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𝑒𝑚𝑝𝑙𝑜𝑦𝑒𝑒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𝑖𝑑</m:t>
                        </m:r>
                      </m:e>
                    </m:ba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𝑡𝑦𝑝𝑒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sz="18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616500" lvl="2" indent="-273600">
                  <a:spcBef>
                    <a:spcPts val="25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3</m:t>
                        </m:r>
                      </m:sub>
                    </m:sSub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bar>
                      <m:bar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barPr>
                      <m:e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𝑒𝑚𝑝𝑙𝑜𝑦𝑒𝑒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_</m:t>
                        </m:r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𝑖𝑑</m:t>
                        </m:r>
                      </m:e>
                    </m:ba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 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𝑏𝑟𝑎𝑛𝑐h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𝑛𝑎𝑚𝑒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Wingdings" pitchFamily="2" charset="2"/>
                      </a:rPr>
                      <m:t>}</m:t>
                    </m:r>
                  </m:oMath>
                </a14:m>
                <a:endParaRPr lang="en-US" altLang="zh-CN" sz="18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Wingdings" pitchFamily="2" charset="2"/>
                </a:endParaRPr>
              </a:p>
              <a:p>
                <a:pPr marL="285750" lvl="1" indent="-285750">
                  <a:spcBef>
                    <a:spcPts val="25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zh-CN" sz="210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sz="21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100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 </a:t>
                </a:r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contains a candidate key of the original schema, so no further relation schema is required.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  <a:blipFill>
                <a:blip r:embed="rId3"/>
                <a:stretch>
                  <a:fillRect l="-773" t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469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3NF Decomposition Example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</p:spPr>
            <p:txBody>
              <a:bodyPr>
                <a:noAutofit/>
              </a:bodyPr>
              <a:lstStyle/>
              <a:p>
                <a:pPr marL="273600" indent="-273600">
                  <a:spcBef>
                    <a:spcPts val="250"/>
                  </a:spcBef>
                </a:pPr>
                <a:r>
                  <a:rPr lang="en-US" altLang="zh-CN" dirty="0">
                    <a:ea typeface="宋体" charset="-122"/>
                  </a:rPr>
                  <a:t>Relation schema: </a:t>
                </a:r>
              </a:p>
              <a:p>
                <a:pPr marL="273600" indent="0">
                  <a:spcBef>
                    <a:spcPts val="25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𝑐𝑢𝑠𝑡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𝑏𝑎𝑛𝑘𝑒𝑟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𝑏𝑟𝑎𝑛𝑐h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</m:oMath>
                </a14:m>
                <a:r>
                  <a:rPr lang="en-US" altLang="zh-CN" i="1" dirty="0">
                    <a:ea typeface="宋体" charset="-122"/>
                  </a:rPr>
                  <a:t> </a:t>
                </a:r>
              </a:p>
              <a:p>
                <a:pPr marL="273600" indent="0">
                  <a:spcBef>
                    <a:spcPts val="25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{</m:t>
                      </m:r>
                      <m:bar>
                        <m:bar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barPr>
                        <m:e>
                          <m:r>
                            <a:rPr lang="en-US" altLang="zh-CN" i="1" dirty="0" err="1">
                              <a:latin typeface="Cambria Math" panose="02040503050406030204" pitchFamily="18" charset="0"/>
                              <a:ea typeface="宋体" charset="-122"/>
                            </a:rPr>
                            <m:t>𝑐𝑢𝑠𝑡𝑜𝑚𝑒𝑟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_</m:t>
                          </m:r>
                          <m:r>
                            <a:rPr lang="en-US" altLang="zh-CN" i="1" dirty="0" err="1">
                              <a:latin typeface="Cambria Math" panose="02040503050406030204" pitchFamily="18" charset="0"/>
                              <a:ea typeface="宋体" charset="-122"/>
                            </a:rPr>
                            <m:t>𝑖𝑑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宋体" charset="-122"/>
                            </a:rPr>
                            <m:t>, </m:t>
                          </m:r>
                          <m:r>
                            <a:rPr lang="en-US" altLang="zh-CN" i="1" dirty="0" err="1">
                              <a:latin typeface="Cambria Math" panose="02040503050406030204" pitchFamily="18" charset="0"/>
                              <a:ea typeface="宋体" charset="-122"/>
                            </a:rPr>
                            <m:t>𝑒𝑚𝑝𝑙𝑜𝑦𝑒𝑒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_</m:t>
                          </m:r>
                          <m:r>
                            <a:rPr lang="en-US" altLang="zh-CN" i="1" dirty="0" err="1">
                              <a:latin typeface="Cambria Math" panose="02040503050406030204" pitchFamily="18" charset="0"/>
                              <a:ea typeface="宋体" charset="-122"/>
                            </a:rPr>
                            <m:t>𝑖𝑑</m:t>
                          </m:r>
                        </m:e>
                      </m:bar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</a:rPr>
                        <m:t>, 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  <a:ea typeface="宋体" charset="-122"/>
                        </a:rPr>
                        <m:t>𝑏𝑟𝑎𝑛𝑐h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  <a:ea typeface="宋体" charset="-122"/>
                        </a:rPr>
                        <m:t>_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  <a:ea typeface="宋体" charset="-122"/>
                        </a:rPr>
                        <m:t>𝑛𝑎𝑚𝑒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</a:rPr>
                        <m:t>,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</a:rPr>
                        <m:t>𝑡𝑦𝑝𝑒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</a:rPr>
                        <m:t>}</m:t>
                      </m:r>
                    </m:oMath>
                  </m:oMathPara>
                </a14:m>
                <a:endParaRPr lang="en-US" altLang="zh-CN" dirty="0">
                  <a:ea typeface="宋体" charset="-122"/>
                </a:endParaRPr>
              </a:p>
              <a:p>
                <a:pPr marL="273600" indent="-273600">
                  <a:spcBef>
                    <a:spcPts val="250"/>
                  </a:spcBef>
                </a:pPr>
                <a:r>
                  <a:rPr lang="en-US" altLang="zh-CN" dirty="0">
                    <a:ea typeface="宋体" charset="-122"/>
                  </a:rPr>
                  <a:t>The canonical cover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marL="616500" lvl="2" indent="-273600">
                  <a:spcBef>
                    <a:spcPts val="250"/>
                  </a:spcBef>
                  <a:buFont typeface="Monotype Sorts" pitchFamily="2" charset="2"/>
                  <a:buAutoNum type="arabicPeriod"/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𝑡𝑦𝑝𝑒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 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𝑐𝑢𝑠𝑡𝑜𝑚𝑒𝑟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𝑖𝑑</m:t>
                    </m:r>
                  </m:oMath>
                </a14:m>
                <a:endParaRPr lang="en-US" altLang="zh-CN" sz="18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marL="616500" lvl="2" indent="-273600">
                  <a:spcBef>
                    <a:spcPts val="250"/>
                  </a:spcBef>
                  <a:buFont typeface="Monotype Sorts" pitchFamily="2" charset="2"/>
                  <a:buAutoNum type="arabicPeriod"/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𝑐𝑢𝑠𝑡𝑜𝑚𝑒𝑟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𝑖𝑑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𝑒𝑚𝑝𝑙𝑜𝑦𝑒𝑒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𝑖𝑑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𝑡𝑦𝑝𝑒</m:t>
                    </m:r>
                  </m:oMath>
                </a14:m>
                <a:endParaRPr lang="en-US" altLang="zh-CN" sz="18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616500" lvl="2" indent="-273600">
                  <a:spcBef>
                    <a:spcPts val="250"/>
                  </a:spcBef>
                  <a:buFont typeface="Monotype Sorts" pitchFamily="2" charset="2"/>
                  <a:buAutoNum type="arabicPeriod"/>
                </a:pPr>
                <a:r>
                  <a:rPr lang="en-US" altLang="zh-CN" sz="18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𝑒𝑚𝑝𝑙𝑜𝑦𝑒𝑒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𝑖𝑑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𝑏𝑟𝑎𝑛𝑐h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𝑛𝑎𝑚𝑒</m:t>
                    </m:r>
                  </m:oMath>
                </a14:m>
                <a:endParaRPr lang="en-US" altLang="zh-CN" sz="18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Wingdings" pitchFamily="2" charset="2"/>
                </a:endParaRPr>
              </a:p>
              <a:p>
                <a:pPr marL="273600" indent="-273600">
                  <a:spcBef>
                    <a:spcPts val="250"/>
                  </a:spcBef>
                </a:pPr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Considering F</a:t>
                </a:r>
                <a:r>
                  <a:rPr lang="en-US" altLang="zh-CN" dirty="0">
                    <a:ea typeface="宋体" charset="-122"/>
                    <a:sym typeface="Wingdings" pitchFamily="2" charset="2"/>
                  </a:rPr>
                  <a:t>Ds in different order may result in different decompositions.</a:t>
                </a:r>
              </a:p>
              <a:p>
                <a:pPr marL="273600" indent="-273600">
                  <a:spcBef>
                    <a:spcPts val="250"/>
                  </a:spcBef>
                </a:pPr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If we consider FD2 before FD1, the result will be </a:t>
                </a:r>
              </a:p>
              <a:p>
                <a:pPr marL="616500" lvl="2" indent="-273600">
                  <a:spcBef>
                    <a:spcPts val="250"/>
                  </a:spcBef>
                </a:pP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Wingdings" pitchFamily="2" charset="2"/>
                      </a:rPr>
                      <m:t>𝑅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’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Wingdings" pitchFamily="2" charset="2"/>
                      </a:rPr>
                      <m:t>={</m:t>
                    </m:r>
                    <m:bar>
                      <m:bar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barPr>
                      <m:e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𝑐</m:t>
                        </m:r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𝑢𝑠𝑡𝑜𝑚𝑒𝑟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𝑖𝑑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𝑒𝑚𝑝𝑙𝑜𝑦𝑒𝑒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𝑖𝑑</m:t>
                        </m:r>
                      </m:e>
                    </m:ba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𝑡𝑦𝑝𝑒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sz="18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616500" lvl="2" indent="-273600">
                  <a:spcBef>
                    <a:spcPts val="250"/>
                  </a:spcBef>
                </a:pP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𝑅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’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bar>
                      <m:bar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barPr>
                      <m:e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𝑒𝑚𝑝𝑙𝑜𝑦𝑒𝑒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_</m:t>
                        </m:r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𝑖𝑑</m:t>
                        </m:r>
                      </m:e>
                    </m:ba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 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𝑏𝑟𝑎𝑛𝑐h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𝑛𝑎𝑚𝑒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Wingdings" pitchFamily="2" charset="2"/>
                      </a:rPr>
                      <m:t>}</m:t>
                    </m:r>
                  </m:oMath>
                </a14:m>
                <a:endParaRPr lang="en-US" altLang="zh-CN" sz="18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Wingdings" pitchFamily="2" charset="2"/>
                </a:endParaRPr>
              </a:p>
              <a:p>
                <a:pPr marL="241300" lvl="1" indent="0">
                  <a:spcBef>
                    <a:spcPts val="250"/>
                  </a:spcBef>
                  <a:buNone/>
                </a:pPr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because 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Wingdings" pitchFamily="2" charset="2"/>
                      </a:rPr>
                      <m:t>{</m:t>
                    </m:r>
                    <m:bar>
                      <m:barPr>
                        <m:ctrlPr>
                          <a:rPr lang="en-US" altLang="zh-CN" sz="21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barPr>
                      <m:e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𝑡𝑦𝑝𝑒</m:t>
                        </m:r>
                      </m:e>
                    </m:ba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, </m:t>
                    </m:r>
                    <m:r>
                      <a:rPr lang="en-US" altLang="zh-CN" sz="21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𝑐𝑢𝑠𝑡𝑜𝑚𝑒𝑟</m:t>
                    </m:r>
                    <m:r>
                      <a:rPr lang="en-US" altLang="zh-CN" sz="21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_</m:t>
                    </m:r>
                    <m:r>
                      <a:rPr lang="en-US" altLang="zh-CN" sz="2100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𝑖𝑑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}</m:t>
                    </m:r>
                  </m:oMath>
                </a14:m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 is a subset of </a:t>
                </a:r>
              </a:p>
              <a:p>
                <a:pPr marL="241300" lvl="1" indent="0">
                  <a:spcBef>
                    <a:spcPts val="25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sz="210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Wingdings" pitchFamily="2" charset="2"/>
                      </a:rPr>
                      <m:t>{</m:t>
                    </m:r>
                    <m:bar>
                      <m:barPr>
                        <m:ctrlPr>
                          <a:rPr lang="en-US" altLang="zh-CN" sz="21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barPr>
                      <m:e>
                        <m:r>
                          <a:rPr lang="en-US" altLang="zh-CN" sz="21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𝑐</m:t>
                        </m:r>
                        <m:r>
                          <a:rPr lang="en-US" altLang="zh-CN" sz="21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𝑢𝑠𝑡𝑜𝑚𝑒𝑟</m:t>
                        </m:r>
                        <m:r>
                          <a:rPr lang="en-US" altLang="zh-CN" sz="21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zh-CN" sz="21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𝑖𝑑</m:t>
                        </m:r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altLang="zh-CN" sz="21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𝑒𝑚𝑝𝑙𝑜𝑦𝑒𝑒</m:t>
                        </m:r>
                        <m:r>
                          <a:rPr lang="en-US" altLang="zh-CN" sz="2100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zh-CN" sz="2100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𝑖𝑑</m:t>
                        </m:r>
                      </m:e>
                    </m:ba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𝑡𝑦𝑝𝑒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.</a:t>
                </a:r>
                <a:endParaRPr lang="en-US" altLang="zh-CN" sz="21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241300" lvl="1" indent="0">
                  <a:spcBef>
                    <a:spcPts val="250"/>
                  </a:spcBef>
                  <a:buNone/>
                </a:pPr>
                <a:endParaRPr lang="en-US" altLang="zh-CN" sz="24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Symbol" pitchFamily="18" charset="2"/>
                </a:endParaRPr>
              </a:p>
              <a:p>
                <a:pPr marL="241300" lvl="1" indent="0">
                  <a:spcBef>
                    <a:spcPts val="250"/>
                  </a:spcBef>
                  <a:buNone/>
                </a:pPr>
                <a:endParaRPr lang="en-US" altLang="zh-CN" sz="21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  <a:blipFill>
                <a:blip r:embed="rId3"/>
                <a:stretch>
                  <a:fillRect l="-773" t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097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3NF Decomposition Example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</p:spPr>
            <p:txBody>
              <a:bodyPr>
                <a:no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Minor extension of the 3NF decomposition algorithm: at end of the for loop, detect and delete schemas, such as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{</m:t>
                    </m:r>
                    <m:bar>
                      <m:bar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bar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𝑡𝑦𝑝𝑒</m:t>
                        </m:r>
                      </m:e>
                    </m:ba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𝑐𝑢𝑠𝑡𝑜𝑚𝑒𝑟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_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𝑖𝑑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, </a:t>
                </a:r>
                <a:r>
                  <a:rPr lang="en-US" altLang="zh-CN" dirty="0">
                    <a:ea typeface="宋体" charset="-122"/>
                  </a:rPr>
                  <a:t>which are subsets of other schemas.</a:t>
                </a:r>
                <a:endParaRPr lang="en-US" altLang="zh-CN" sz="1800" dirty="0">
                  <a:latin typeface="+mn-lt"/>
                  <a:ea typeface="宋体" charset="-122"/>
                  <a:cs typeface="+mn-cs"/>
                </a:endParaRPr>
              </a:p>
              <a:p>
                <a:r>
                  <a:rPr lang="en-US" altLang="zh-CN" sz="21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Then, the result will not depend on the order in which FDs are considered.</a:t>
                </a:r>
              </a:p>
              <a:p>
                <a:r>
                  <a:rPr lang="en-US" altLang="zh-CN" dirty="0">
                    <a:ea typeface="宋体" charset="-122"/>
                  </a:rPr>
                  <a:t>The resultant simplified 3NF schema is:</a:t>
                </a:r>
              </a:p>
              <a:p>
                <a:pPr>
                  <a:buFont typeface="Monotype Sorts" pitchFamily="2" charset="2"/>
                  <a:buNone/>
                </a:pP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={</m:t>
                    </m:r>
                    <m:bar>
                      <m:bar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bar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宋体" charset="-122"/>
                          </a:rPr>
                          <m:t>𝑐𝑢𝑠𝑡𝑜𝑚𝑒𝑟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宋体" charset="-122"/>
                          </a:rPr>
                          <m:t>𝑖𝑑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, 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宋体" charset="-122"/>
                          </a:rPr>
                          <m:t>𝑒𝑚𝑝𝑙𝑜𝑦𝑒𝑒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宋体" charset="-122"/>
                          </a:rPr>
                          <m:t>𝑖𝑑</m:t>
                        </m:r>
                      </m:e>
                    </m:ba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𝑡𝑦𝑝𝑒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}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>
                  <a:buFont typeface="Monotype Sorts" pitchFamily="2" charset="2"/>
                  <a:buNone/>
                </a:pPr>
                <a:r>
                  <a:rPr lang="en-US" altLang="zh-CN" dirty="0">
                    <a:ea typeface="宋体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={</m:t>
                    </m:r>
                    <m:bar>
                      <m:bar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宋体" charset="-122"/>
                          </a:rPr>
                          <m:t>𝑒𝑚𝑝𝑙𝑜𝑦𝑒𝑒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宋体" charset="-122"/>
                          </a:rPr>
                          <m:t>𝑖𝑑</m:t>
                        </m:r>
                      </m:e>
                    </m:ba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𝑏𝑟𝑎𝑛𝑐h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}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marL="241300" lvl="1" indent="0">
                  <a:spcBef>
                    <a:spcPts val="250"/>
                  </a:spcBef>
                  <a:buNone/>
                </a:pPr>
                <a:endParaRPr lang="en-US" altLang="zh-CN" sz="2100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Symbol" pitchFamily="18" charset="2"/>
                </a:endParaRPr>
              </a:p>
              <a:p>
                <a:pPr marL="241300" lvl="1" indent="0">
                  <a:spcBef>
                    <a:spcPts val="250"/>
                  </a:spcBef>
                  <a:buNone/>
                </a:pPr>
                <a:endParaRPr lang="en-US" altLang="zh-CN" sz="21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5257800"/>
              </a:xfrm>
              <a:blipFill>
                <a:blip r:embed="rId3"/>
                <a:stretch>
                  <a:fillRect l="-773" t="-1508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21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Comparison of BCNF and 3NF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4DBAB-96B1-4654-A956-1674CE94F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5257800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宋体" charset="-122"/>
              </a:rPr>
              <a:t>It is always possible to decompose a relation into a set of  relations that are in 3NF such that: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the decomposition is lossless.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the dependencies are preserved.</a:t>
            </a:r>
          </a:p>
          <a:p>
            <a:r>
              <a:rPr lang="en-US" altLang="zh-CN" dirty="0">
                <a:ea typeface="宋体" charset="-122"/>
              </a:rPr>
              <a:t>It is always possible to decompose a relation into a set of relations that are in BCNF such that: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the decomposition is lossless.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it may not be possible to preserve dependencies.</a:t>
            </a:r>
          </a:p>
        </p:txBody>
      </p:sp>
      <p:sp>
        <p:nvSpPr>
          <p:cNvPr id="4" name="矩形 3">
            <a:hlinkClick r:id="rId3" action="ppaction://hlinksldjump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rId3" action="ppaction://hlinksldjump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rId3" action="ppaction://hlinksldjump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rId3" action="ppaction://hlinksldjump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rId3" action="ppaction://hlinksldjump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58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0C92D0-2944-449E-881E-BE7E0F32F6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Lecture 11</a:t>
            </a:r>
          </a:p>
        </p:txBody>
      </p:sp>
      <p:sp>
        <p:nvSpPr>
          <p:cNvPr id="8" name="矩形 3">
            <a:hlinkClick r:id="" action="ppaction://noaction"/>
            <a:extLst>
              <a:ext uri="{FF2B5EF4-FFF2-40B4-BE49-F238E27FC236}">
                <a16:creationId xmlns:a16="http://schemas.microsoft.com/office/drawing/2014/main" id="{C8A1331B-D210-F2FA-3C83-1103B9FDC699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4">
            <a:hlinkClick r:id="" action="ppaction://noaction"/>
            <a:extLst>
              <a:ext uri="{FF2B5EF4-FFF2-40B4-BE49-F238E27FC236}">
                <a16:creationId xmlns:a16="http://schemas.microsoft.com/office/drawing/2014/main" id="{8512FA8B-F184-4E70-2AFB-677315B48088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5">
            <a:hlinkClick r:id="" action="ppaction://noaction"/>
            <a:extLst>
              <a:ext uri="{FF2B5EF4-FFF2-40B4-BE49-F238E27FC236}">
                <a16:creationId xmlns:a16="http://schemas.microsoft.com/office/drawing/2014/main" id="{3CFCE13A-DE64-0158-F939-A2CCCC1AC096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6">
            <a:hlinkClick r:id="" action="ppaction://noaction"/>
            <a:extLst>
              <a:ext uri="{FF2B5EF4-FFF2-40B4-BE49-F238E27FC236}">
                <a16:creationId xmlns:a16="http://schemas.microsoft.com/office/drawing/2014/main" id="{3F63196A-FE5D-39F3-EC44-77342973874D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7">
            <a:hlinkClick r:id="" action="ppaction://noaction"/>
            <a:extLst>
              <a:ext uri="{FF2B5EF4-FFF2-40B4-BE49-F238E27FC236}">
                <a16:creationId xmlns:a16="http://schemas.microsoft.com/office/drawing/2014/main" id="{7E05AFF4-8C77-078A-4E29-220E4F0A5FB4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8">
            <a:hlinkClick r:id="" action="ppaction://noaction"/>
            <a:extLst>
              <a:ext uri="{FF2B5EF4-FFF2-40B4-BE49-F238E27FC236}">
                <a16:creationId xmlns:a16="http://schemas.microsoft.com/office/drawing/2014/main" id="{EEE7B8F6-AD45-6761-C219-EDD196148FA9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9">
            <a:hlinkClick r:id="" action="ppaction://noaction"/>
            <a:extLst>
              <a:ext uri="{FF2B5EF4-FFF2-40B4-BE49-F238E27FC236}">
                <a16:creationId xmlns:a16="http://schemas.microsoft.com/office/drawing/2014/main" id="{5C87793B-7667-9AA0-E38A-989B243440C2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943937"/>
      </p:ext>
    </p:extLst>
  </p:cSld>
  <p:clrMapOvr>
    <a:masterClrMapping/>
  </p:clrMapOvr>
</p:sld>
</file>

<file path=ppt/theme/theme1.xml><?xml version="1.0" encoding="utf-8"?>
<a:theme xmlns:a="http://schemas.openxmlformats.org/drawingml/2006/main" name="beamer_like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amer_like" id="{20F149E5-FEF3-4710-82AE-E763CD58F1C4}" vid="{D2B214A1-1DDD-42F1-A099-CF5F82819267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beamer_like</Template>
  <TotalTime>9273</TotalTime>
  <Words>1599</Words>
  <Application>Microsoft Office PowerPoint</Application>
  <PresentationFormat>全屏显示(4:3)</PresentationFormat>
  <Paragraphs>440</Paragraphs>
  <Slides>25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1" baseType="lpstr">
      <vt:lpstr>Adobe Heiti Std R</vt:lpstr>
      <vt:lpstr>Greek Symbols</vt:lpstr>
      <vt:lpstr>Hiragino Sans GB W3</vt:lpstr>
      <vt:lpstr>Monotype Sorts</vt:lpstr>
      <vt:lpstr>新細明體</vt:lpstr>
      <vt:lpstr>等线</vt:lpstr>
      <vt:lpstr>等线 Light</vt:lpstr>
      <vt:lpstr>宋体</vt:lpstr>
      <vt:lpstr>Microsoft YaHei</vt:lpstr>
      <vt:lpstr>Arial</vt:lpstr>
      <vt:lpstr>Cambria Math</vt:lpstr>
      <vt:lpstr>Consolas</vt:lpstr>
      <vt:lpstr>Symbol</vt:lpstr>
      <vt:lpstr>Times New Roman</vt:lpstr>
      <vt:lpstr>Wingdings</vt:lpstr>
      <vt:lpstr>beamer_like</vt:lpstr>
      <vt:lpstr>Lecture 11 Relational Database Design 3rd Normal Form</vt:lpstr>
      <vt:lpstr>Outline</vt:lpstr>
      <vt:lpstr>Motivation</vt:lpstr>
      <vt:lpstr>Third Normal Form</vt:lpstr>
      <vt:lpstr>3NF Example</vt:lpstr>
      <vt:lpstr>Redundancy in 3NF</vt:lpstr>
      <vt:lpstr>3NF Decomposition Strategy</vt:lpstr>
      <vt:lpstr>Extraneous Attributes</vt:lpstr>
      <vt:lpstr>Extraneous Attributes Detection</vt:lpstr>
      <vt:lpstr>Canonical Cover</vt:lpstr>
      <vt:lpstr>Find Canonical Cover</vt:lpstr>
      <vt:lpstr>Example</vt:lpstr>
      <vt:lpstr>More Examples</vt:lpstr>
      <vt:lpstr>More Examples</vt:lpstr>
      <vt:lpstr>More Examples</vt:lpstr>
      <vt:lpstr>More Examples</vt:lpstr>
      <vt:lpstr>More Examples</vt:lpstr>
      <vt:lpstr>Ununiqueness of the Canonical Cover</vt:lpstr>
      <vt:lpstr>3NF Decomposition</vt:lpstr>
      <vt:lpstr>3NF Decomposition Example</vt:lpstr>
      <vt:lpstr>3NF Decomposition Example</vt:lpstr>
      <vt:lpstr>3NF Decomposition Example</vt:lpstr>
      <vt:lpstr>3NF Decomposition Example</vt:lpstr>
      <vt:lpstr>Comparison of BCNF and 3NF</vt:lpstr>
      <vt:lpstr>End of Lecture 11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Goliath Li</cp:lastModifiedBy>
  <cp:revision>293</cp:revision>
  <cp:lastPrinted>1999-06-28T19:27:31Z</cp:lastPrinted>
  <dcterms:created xsi:type="dcterms:W3CDTF">2000-02-23T18:58:38Z</dcterms:created>
  <dcterms:modified xsi:type="dcterms:W3CDTF">2023-12-05T07:34:03Z</dcterms:modified>
</cp:coreProperties>
</file>