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9" r:id="rId1"/>
  </p:sldMasterIdLst>
  <p:notesMasterIdLst>
    <p:notesMasterId r:id="rId16"/>
  </p:notesMasterIdLst>
  <p:handoutMasterIdLst>
    <p:handoutMasterId r:id="rId17"/>
  </p:handoutMasterIdLst>
  <p:sldIdLst>
    <p:sldId id="342" r:id="rId2"/>
    <p:sldId id="423" r:id="rId3"/>
    <p:sldId id="451" r:id="rId4"/>
    <p:sldId id="452" r:id="rId5"/>
    <p:sldId id="453" r:id="rId6"/>
    <p:sldId id="454" r:id="rId7"/>
    <p:sldId id="455" r:id="rId8"/>
    <p:sldId id="456" r:id="rId9"/>
    <p:sldId id="457" r:id="rId10"/>
    <p:sldId id="458" r:id="rId11"/>
    <p:sldId id="459" r:id="rId12"/>
    <p:sldId id="460" r:id="rId13"/>
    <p:sldId id="462" r:id="rId14"/>
    <p:sldId id="548" r:id="rId15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014A650-3CE4-4397-9886-E919E4BD9485}">
          <p14:sldIdLst>
            <p14:sldId id="342"/>
            <p14:sldId id="423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2"/>
            <p14:sldId id="5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33">
          <p15:clr>
            <a:srgbClr val="A4A3A4"/>
          </p15:clr>
        </p15:guide>
        <p15:guide id="2" pos="5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93"/>
    <a:srgbClr val="FFCDCD"/>
    <a:srgbClr val="FF66CC"/>
    <a:srgbClr val="E8E8F1"/>
    <a:srgbClr val="FF0000"/>
    <a:srgbClr val="333333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5" autoAdjust="0"/>
    <p:restoredTop sz="85394" autoAdjust="0"/>
  </p:normalViewPr>
  <p:slideViewPr>
    <p:cSldViewPr snapToGrid="0">
      <p:cViewPr varScale="1">
        <p:scale>
          <a:sx n="107" d="100"/>
          <a:sy n="107" d="100"/>
        </p:scale>
        <p:origin x="1650" y="78"/>
      </p:cViewPr>
      <p:guideLst>
        <p:guide orient="horz" pos="733"/>
        <p:guide pos="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3" tIns="47957" rIns="95913" bIns="47957" numCol="1" anchor="t" anchorCtr="0" compatLnSpc="1">
            <a:prstTxWarp prst="textNoShape">
              <a:avLst/>
            </a:prstTxWarp>
          </a:bodyPr>
          <a:lstStyle>
            <a:lvl1pPr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3" tIns="47957" rIns="95913" bIns="47957" numCol="1" anchor="t" anchorCtr="0" compatLnSpc="1">
            <a:prstTxWarp prst="textNoShape">
              <a:avLst/>
            </a:prstTxWarp>
          </a:bodyPr>
          <a:lstStyle>
            <a:lvl1pPr algn="r"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4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3" tIns="47957" rIns="95913" bIns="47957" numCol="1" anchor="b" anchorCtr="0" compatLnSpc="1">
            <a:prstTxWarp prst="textNoShape">
              <a:avLst/>
            </a:prstTxWarp>
          </a:bodyPr>
          <a:lstStyle>
            <a:lvl1pPr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4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3" tIns="47957" rIns="95913" bIns="47957" numCol="1" anchor="b" anchorCtr="0" compatLnSpc="1">
            <a:prstTxWarp prst="textNoShape">
              <a:avLst/>
            </a:prstTxWarp>
          </a:bodyPr>
          <a:lstStyle>
            <a:lvl1pPr algn="r"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F6C23089-699A-4A2D-9070-09F0F0D07B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37967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ctr" anchorCtr="0" compatLnSpc="1">
            <a:prstTxWarp prst="textNoShape">
              <a:avLst/>
            </a:prstTxWarp>
          </a:bodyPr>
          <a:lstStyle>
            <a:lvl1pPr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ctr" anchorCtr="0" compatLnSpc="1">
            <a:prstTxWarp prst="textNoShape">
              <a:avLst/>
            </a:prstTxWarp>
          </a:bodyPr>
          <a:lstStyle>
            <a:lvl1pPr algn="r"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b" anchorCtr="0" compatLnSpc="1">
            <a:prstTxWarp prst="textNoShape">
              <a:avLst/>
            </a:prstTxWarp>
          </a:bodyPr>
          <a:lstStyle>
            <a:lvl1pPr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913" tIns="47957" rIns="95913" bIns="47957" numCol="1" anchor="b" anchorCtr="0" compatLnSpc="1">
            <a:prstTxWarp prst="textNoShape">
              <a:avLst/>
            </a:prstTxWarp>
          </a:bodyPr>
          <a:lstStyle>
            <a:lvl1pPr algn="r" defTabSz="95885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D48ACB1D-D2AE-467E-AD71-62EA120728C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06001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 defTabSz="95885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defTabSz="9588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defTabSz="9588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defTabSz="9588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defTabSz="9588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fld id="{35878111-ADFE-4C86-BBA7-E6E82B0BD3D1}" type="slidenum">
              <a:rPr lang="zh-CN" altLang="en-US" sz="1300">
                <a:latin typeface="Times New Roman" pitchFamily="18" charset="0"/>
              </a:rPr>
              <a:pPr/>
              <a:t>1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Step 6 &amp; 8 are computing the restriction of D to R</a:t>
            </a:r>
            <a:r>
              <a:rPr lang="en-US" altLang="zh-CN" baseline="-25000" dirty="0"/>
              <a:t>i</a:t>
            </a:r>
            <a:r>
              <a:rPr lang="en-US" altLang="zh-CN" baseline="0" dirty="0"/>
              <a:t> referred to </a:t>
            </a:r>
            <a:r>
              <a:rPr lang="en-US" altLang="zh-CN" baseline="0" dirty="0" err="1"/>
              <a:t>pg</a:t>
            </a:r>
            <a:r>
              <a:rPr lang="en-US" altLang="zh-CN" baseline="0" dirty="0"/>
              <a:t> 71.</a:t>
            </a:r>
            <a:endParaRPr lang="zh-CN" altLang="en-US" baseline="-25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8ACB1D-D2AE-467E-AD71-62EA120728C5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1978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4424" y="2983971"/>
            <a:ext cx="6858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609597" y="1402663"/>
            <a:ext cx="7890933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579813"/>
            <a:ext cx="6858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68339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32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26351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D17EA-B5DC-A947-999F-3BA09F29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CDC9E-5B3C-7649-98A2-66AFDFA0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1674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F0BD946-B5BA-504F-80A8-C6749F61BBD3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5D889-EBC8-A74A-A52D-D35CC5DD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FE8AAB-A6DD-DE43-B7A5-6297E5B8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BF8700A-EE5B-AA44-845F-A932FCA8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1020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626A19-E0EE-3344-BECF-578F6B3691A1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A3DDF-4F2F-1D45-B4D4-3AC2D1E55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FA0345-A7B5-8143-B23D-3DAF7059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96A81A-F1A5-2046-B0A4-9C01DF3C2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CB281C-3506-614C-82B8-B117A79C1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CDD2EEB-0526-8546-B03F-B7E03D76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441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294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86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8EEDE-8712-4841-878C-74D5D95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61616-E9E6-4D4E-ACF0-05C1DFD7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tabLst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2F38AF-4BDF-CF47-9CD7-01E995084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816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45CBF-7695-9841-9E88-FF0507BF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EEF8B0-7BDE-1347-9537-8464E4631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AD815E-FED2-7E46-854F-1D98CB4B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59805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C3A94-BDDD-4E47-AB7A-34C36F28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193800"/>
            <a:ext cx="7886700" cy="4983163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296C5C-EBD2-D143-AC4F-0DB23C2C055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750240B-728E-0F48-8A04-0C32A05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931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4BA236-12F6-FF40-9198-D45BCC57C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39872F-0807-7F4C-972A-F69648EDF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945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306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3033000" y="6637867"/>
            <a:ext cx="306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Database Design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6084000" y="6637866"/>
            <a:ext cx="306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8515350" y="6637865"/>
            <a:ext cx="54638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39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>
            <a:extLst>
              <a:ext uri="{FF2B5EF4-FFF2-40B4-BE49-F238E27FC236}">
                <a16:creationId xmlns:a16="http://schemas.microsoft.com/office/drawing/2014/main" id="{225C17E2-D2B1-43C8-9072-55F1AF1C3C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United International College</a:t>
            </a:r>
            <a:endParaRPr lang="zh-CN" altLang="en-US" dirty="0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dirty="0">
                <a:ea typeface="宋体" charset="-122"/>
              </a:rPr>
              <a:t>Lecture 10 Relational Database Design</a:t>
            </a:r>
            <a:br>
              <a:rPr lang="en-US" altLang="zh-CN" dirty="0">
                <a:ea typeface="宋体" charset="-122"/>
              </a:rPr>
            </a:br>
            <a:r>
              <a:rPr lang="en-US" altLang="zh-CN" dirty="0">
                <a:ea typeface="宋体" charset="-122"/>
              </a:rPr>
              <a:t>BCNF</a:t>
            </a:r>
          </a:p>
        </p:txBody>
      </p:sp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E52D3C0D-8E89-4896-A19F-C158622F8CBA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488771B1-A6E1-4C36-A950-D8E788AF4952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BD3C8CEA-4C57-4E11-816C-F20FF97E0F64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30B9512D-F182-45A7-B9C8-2C28FC3CE9DF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39B690A1-FDC7-4277-BC3A-6CCD2C9EF559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hlinkClick r:id="" action="ppaction://noaction"/>
            <a:extLst>
              <a:ext uri="{FF2B5EF4-FFF2-40B4-BE49-F238E27FC236}">
                <a16:creationId xmlns:a16="http://schemas.microsoft.com/office/drawing/2014/main" id="{CB7CF316-3FAD-4F7C-BAB9-89778CAD1EE5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hlinkClick r:id="" action="ppaction://noaction"/>
            <a:extLst>
              <a:ext uri="{FF2B5EF4-FFF2-40B4-BE49-F238E27FC236}">
                <a16:creationId xmlns:a16="http://schemas.microsoft.com/office/drawing/2014/main" id="{AC2767B7-889A-46BA-9E20-89E29DA0B34A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4DBAB-96B1-4654-A956-1674CE94F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Features of Good Relational Design</a:t>
            </a:r>
          </a:p>
          <a:p>
            <a:r>
              <a:rPr lang="en-US" altLang="zh-CN" dirty="0">
                <a:ea typeface="宋体" charset="-122"/>
              </a:rPr>
              <a:t>Atomic Domains and First Normal Form</a:t>
            </a:r>
          </a:p>
          <a:p>
            <a:r>
              <a:rPr lang="en-US" altLang="zh-CN" dirty="0">
                <a:ea typeface="宋体" charset="-122"/>
              </a:rPr>
              <a:t>Functional Dependency Theory</a:t>
            </a:r>
          </a:p>
          <a:p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BCNF</a:t>
            </a:r>
          </a:p>
          <a:p>
            <a:r>
              <a:rPr lang="en-US" altLang="zh-CN" dirty="0">
                <a:ea typeface="宋体" charset="-122"/>
              </a:rPr>
              <a:t>3</a:t>
            </a:r>
            <a:r>
              <a:rPr lang="en-US" altLang="zh-CN" baseline="30000" dirty="0">
                <a:ea typeface="宋体" charset="-122"/>
              </a:rPr>
              <a:t>rd</a:t>
            </a:r>
            <a:r>
              <a:rPr lang="en-US" altLang="zh-CN" dirty="0">
                <a:ea typeface="宋体" charset="-122"/>
              </a:rPr>
              <a:t> Normal Form</a:t>
            </a:r>
          </a:p>
          <a:p>
            <a:r>
              <a:rPr lang="en-US" altLang="zh-CN" dirty="0">
                <a:ea typeface="宋体" charset="-122"/>
              </a:rPr>
              <a:t>Multivalued Dependencies and Decomposition</a:t>
            </a:r>
          </a:p>
          <a:p>
            <a:r>
              <a:rPr lang="en-US" altLang="zh-CN" dirty="0">
                <a:ea typeface="宋体" charset="-122"/>
              </a:rPr>
              <a:t>Database-Design Process</a:t>
            </a:r>
          </a:p>
        </p:txBody>
      </p:sp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401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Motivation of Decompositions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4DBAB-96B1-4654-A956-1674CE94F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 remove the redundancy in the database, we intend to decompose the schema into normal forms.</a:t>
            </a:r>
          </a:p>
          <a:p>
            <a:r>
              <a:rPr lang="en-US" altLang="zh-CN" dirty="0"/>
              <a:t>The ideal decomposition satisfies the following conditions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redundancy is minimized (recall the example given in the section “Good Design”);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decomposition is lossless; and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dependencies are preserved. </a:t>
            </a:r>
            <a:br>
              <a:rPr lang="en-US" altLang="zh-CN" dirty="0"/>
            </a:br>
            <a:endParaRPr lang="en-US" altLang="zh-CN" dirty="0">
              <a:ea typeface="宋体" charset="-122"/>
            </a:endParaRPr>
          </a:p>
        </p:txBody>
      </p:sp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72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Lossless-join Decomposition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tabLst>
                    <a:tab pos="2292350" algn="l"/>
                    <a:tab pos="2976563" algn="l"/>
                  </a:tabLst>
                </a:pPr>
                <a:r>
                  <a:rPr lang="en-US" altLang="zh-CN" dirty="0">
                    <a:ea typeface="宋体" charset="-122"/>
                  </a:rPr>
                  <a:t>For the case of</a:t>
                </a:r>
                <a:r>
                  <a:rPr lang="en-US" altLang="zh-CN" i="1" dirty="0"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zh-CN" altLang="zh-CN" sz="1800" i="1" dirty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i="1" dirty="0">
                    <a:ea typeface="宋体" charset="-122"/>
                  </a:rPr>
                  <a:t>,</a:t>
                </a:r>
                <a:r>
                  <a:rPr lang="en-US" altLang="zh-CN" dirty="0">
                    <a:ea typeface="宋体" charset="-122"/>
                  </a:rPr>
                  <a:t> a decomposition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is lossless join if and only if </a:t>
                </a:r>
                <a:r>
                  <a:rPr lang="en-US" altLang="zh-CN" b="1" dirty="0">
                    <a:ea typeface="宋体" charset="-122"/>
                  </a:rPr>
                  <a:t>at least one </a:t>
                </a:r>
                <a:r>
                  <a:rPr lang="en-US" altLang="zh-CN" dirty="0">
                    <a:ea typeface="宋体" charset="-122"/>
                  </a:rPr>
                  <a:t>of the following dependencies is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ea typeface="宋体" charset="-122"/>
                  </a:rPr>
                  <a:t>:</a:t>
                </a:r>
              </a:p>
              <a:p>
                <a:pPr lvl="1">
                  <a:tabLst>
                    <a:tab pos="2292350" algn="l"/>
                    <a:tab pos="29765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∩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b="0" i="1" dirty="0">
                  <a:latin typeface="Cambria Math" panose="02040503050406030204" pitchFamily="18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tabLst>
                    <a:tab pos="2292350" algn="l"/>
                    <a:tab pos="29765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∩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08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Dependency Preservation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397584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dirty="0">
                    <a:ea typeface="宋体" charset="-122"/>
                  </a:rPr>
                  <a:t>Let the schema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is decomposed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,⋯,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zh-CN" dirty="0">
                    <a:ea typeface="宋体" charset="-122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i="1" dirty="0">
                    <a:ea typeface="宋体" charset="-122"/>
                  </a:rPr>
                  <a:t> </a:t>
                </a:r>
                <a:r>
                  <a:rPr lang="en-US" altLang="zh-CN" dirty="0">
                    <a:ea typeface="宋体" charset="-122"/>
                  </a:rPr>
                  <a:t>be the subset of dependencies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ea typeface="宋体" charset="-122"/>
                  </a:rPr>
                  <a:t> that only includes attributes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i="1" dirty="0">
                    <a:ea typeface="宋体" charset="-122"/>
                  </a:rPr>
                  <a:t> </a:t>
                </a:r>
                <a:r>
                  <a:rPr lang="en-US" altLang="zh-CN" dirty="0">
                    <a:ea typeface="宋体" charset="-122"/>
                  </a:rPr>
                  <a:t>for</a:t>
                </a:r>
                <a:r>
                  <a:rPr lang="en-US" altLang="zh-CN" i="1" dirty="0"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.</a:t>
                </a:r>
                <a:endParaRPr lang="en-US" altLang="zh-CN" i="1" dirty="0">
                  <a:ea typeface="宋体" charset="-122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The decomposition is </a:t>
                </a:r>
                <a:r>
                  <a:rPr lang="en-US" altLang="zh-CN" b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dependency preserving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,  if</a:t>
                </a:r>
              </a:p>
              <a:p>
                <a:pPr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Symbol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宋体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宋体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  <a:ea typeface="宋体" charset="-122"/>
                                      <a:cs typeface="Arial" panose="020B0604020202020204" pitchFamily="34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宋体" charset="-122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宋体" charset="-122"/>
                                      <a:cs typeface="Arial" panose="020B0604020202020204" pitchFamily="34" charset="0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宋体" charset="-122"/>
                                      <a:cs typeface="Arial" panose="020B0604020202020204" pitchFamily="34" charset="0"/>
                                      <a:sym typeface="Symbol" pitchFamily="18" charset="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宋体" charset="-122"/>
                                      <a:cs typeface="Arial" panose="020B0604020202020204" pitchFamily="34" charset="0"/>
                                      <a:sym typeface="Symbol" pitchFamily="18" charset="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宋体" charset="-122"/>
                                  <a:cs typeface="Arial" panose="020B0604020202020204" pitchFamily="34" charset="0"/>
                                  <a:sym typeface="Symbol" pitchFamily="18" charset="2"/>
                                </a:rPr>
                                <m:t>…</m:t>
                              </m:r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宋体" charset="-122"/>
                                      <a:cs typeface="Arial" panose="020B0604020202020204" pitchFamily="34" charset="0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  <a:ea typeface="宋体" charset="-122"/>
                                      <a:cs typeface="Arial" panose="020B0604020202020204" pitchFamily="34" charset="0"/>
                                      <a:sym typeface="Symbol" pitchFamily="18" charset="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宋体" charset="-122"/>
                                      <a:cs typeface="Arial" panose="020B0604020202020204" pitchFamily="34" charset="0"/>
                                      <a:sym typeface="Symbol" pitchFamily="18" charset="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Symbol" pitchFamily="18" charset="2"/>
                            </a:rPr>
                            <m:t>+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Symbol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Symbol" pitchFamily="18" charset="2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Symbol" pitchFamily="18" charset="2"/>
                            </a:rPr>
                            <m:t>𝐹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Symbol" pitchFamily="18" charset="2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altLang="zh-CN" sz="2600" i="1" baseline="300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Symbol" pitchFamily="18" charset="2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If the decomposition is not dependency preserving, then checking updates for violation of functional dependencies may require computing joins, which is expensive.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3975847"/>
              </a:xfrm>
              <a:blipFill>
                <a:blip r:embed="rId2"/>
                <a:stretch>
                  <a:fillRect l="-773" t="-1074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97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Example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7113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  <a:tabLst>
                    <a:tab pos="2054225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}</m:t>
                    </m:r>
                  </m:oMath>
                </a14:m>
                <a:r>
                  <a:rPr lang="en-US" altLang="zh-CN" i="1" dirty="0">
                    <a:latin typeface="Cambria Math" panose="02040503050406030204" pitchFamily="18" charset="0"/>
                    <a:ea typeface="宋体" charset="-122"/>
                  </a:rPr>
                  <a:t> </a:t>
                </a:r>
                <a:br>
                  <a:rPr lang="en-US" altLang="zh-CN" i="1" dirty="0">
                    <a:latin typeface="Cambria Math" panose="02040503050406030204" pitchFamily="18" charset="0"/>
                    <a:ea typeface="宋体" charset="-122"/>
                  </a:rPr>
                </a:b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</a:t>
                </a:r>
              </a:p>
              <a:p>
                <a:pPr marL="0" indent="0">
                  <a:buNone/>
                  <a:tabLst>
                    <a:tab pos="205422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Can be decomposed in two different ways</a:t>
                </a:r>
              </a:p>
              <a:p>
                <a:pPr>
                  <a:tabLst>
                    <a:tab pos="205422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i="0" dirty="0">
                    <a:ea typeface="宋体" charset="-122"/>
                    <a:sym typeface="Monotype Sorts" pitchFamily="2" charset="2"/>
                  </a:rPr>
                  <a:t>,</a:t>
                </a:r>
                <a:r>
                  <a:rPr lang="en-US" altLang="zh-CN" i="0" dirty="0">
                    <a:latin typeface="+mj-lt"/>
                    <a:ea typeface="宋体" charset="-122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i="1" dirty="0">
                  <a:ea typeface="宋体" charset="-122"/>
                  <a:sym typeface="Monotype Sorts" pitchFamily="2" charset="2"/>
                </a:endParaRPr>
              </a:p>
              <a:p>
                <a:pPr lvl="1">
                  <a:tabLst>
                    <a:tab pos="205422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Lossless-join decomposition</a:t>
                </a:r>
              </a:p>
              <a:p>
                <a:pPr lvl="1">
                  <a:buFont typeface="Monotype Sorts" pitchFamily="2" charset="2"/>
                  <a:buNone/>
                  <a:tabLst>
                    <a:tab pos="205422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∩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𝐵𝐶</m:t>
                    </m:r>
                  </m:oMath>
                </a14:m>
                <a:endParaRPr lang="en-US" altLang="zh-CN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lvl="1">
                  <a:tabLst>
                    <a:tab pos="205422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Dependency preserving</a:t>
                </a:r>
              </a:p>
              <a:p>
                <a:pPr>
                  <a:tabLst>
                    <a:tab pos="205422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</a:t>
                </a:r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i="1" dirty="0">
                  <a:ea typeface="宋体" charset="-122"/>
                  <a:sym typeface="Monotype Sorts" pitchFamily="2" charset="2"/>
                </a:endParaRPr>
              </a:p>
              <a:p>
                <a:pPr lvl="1">
                  <a:tabLst>
                    <a:tab pos="205422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Lossless-join decomposition</a:t>
                </a:r>
              </a:p>
              <a:p>
                <a:pPr lvl="1">
                  <a:buFont typeface="Monotype Sorts" pitchFamily="2" charset="2"/>
                  <a:buNone/>
                  <a:tabLst>
                    <a:tab pos="205422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∩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𝐴𝐵</m:t>
                    </m:r>
                  </m:oMath>
                </a14:m>
                <a:endParaRPr lang="en-US" altLang="zh-CN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lvl="1">
                  <a:tabLst>
                    <a:tab pos="2054225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Not dependency preserving </a:t>
                </a:r>
                <a:b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</a:b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(cannot check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without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⨝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)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711390"/>
              </a:xfrm>
              <a:blipFill>
                <a:blip r:embed="rId2"/>
                <a:stretch>
                  <a:fillRect l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89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Boyce-Codd Normal Form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711390"/>
              </a:xfrm>
            </p:spPr>
            <p:txBody>
              <a:bodyPr>
                <a:no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A relation schema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is in </a:t>
                </a:r>
                <a:r>
                  <a:rPr lang="en-US" altLang="zh-CN" b="1" dirty="0">
                    <a:ea typeface="宋体" charset="-122"/>
                  </a:rPr>
                  <a:t>BCNF</a:t>
                </a:r>
                <a:r>
                  <a:rPr lang="en-US" altLang="zh-CN" dirty="0">
                    <a:ea typeface="宋体" charset="-122"/>
                  </a:rPr>
                  <a:t> with respect to a set of functional dependencies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if for all functional dependencies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ea typeface="宋体" charset="-122"/>
                  </a:rPr>
                  <a:t> of the form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i="1" dirty="0" smtClean="0">
                          <a:latin typeface="Cambria Math" panose="02040503050406030204" pitchFamily="18" charset="0"/>
                          <a:ea typeface="宋体" charset="-122"/>
                          <a:sym typeface="Symbol" pitchFamily="18" charset="2"/>
                        </a:rPr>
                        <m:t>𝛼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宋体" charset="-122"/>
                          <a:sym typeface="Symbol" pitchFamily="18" charset="2"/>
                        </a:rPr>
                        <m:t>→</m:t>
                      </m:r>
                      <m:r>
                        <a:rPr lang="el-GR" altLang="zh-CN" i="1" dirty="0">
                          <a:latin typeface="Cambria Math" panose="02040503050406030204" pitchFamily="18" charset="0"/>
                          <a:ea typeface="宋体" charset="-122"/>
                          <a:sym typeface="Symbol" pitchFamily="18" charset="2"/>
                        </a:rPr>
                        <m:t>𝛽</m:t>
                      </m:r>
                    </m:oMath>
                  </m:oMathPara>
                </a14:m>
                <a:endParaRPr lang="en-US" altLang="zh-CN" i="1" dirty="0">
                  <a:ea typeface="宋体" charset="-122"/>
                  <a:sym typeface="Greek Symbols" pitchFamily="18" charset="2"/>
                </a:endParaRPr>
              </a:p>
              <a:p>
                <a:pPr marL="273600" indent="0">
                  <a:buNone/>
                </a:pP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where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⊆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𝑅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⊆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𝑅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,</a:t>
                </a:r>
                <a:r>
                  <a:rPr lang="en-US" altLang="zh-CN" i="1" dirty="0">
                    <a:ea typeface="宋体" charset="-122"/>
                    <a:sym typeface="Symbol" pitchFamily="18" charset="2"/>
                  </a:rPr>
                  <a:t> </a:t>
                </a:r>
                <a:r>
                  <a:rPr lang="en-US" altLang="zh-CN" dirty="0">
                    <a:ea typeface="宋体" charset="-122"/>
                    <a:sym typeface="Symbol" pitchFamily="18" charset="2"/>
                  </a:rPr>
                  <a:t>at least one of the following holds:</a:t>
                </a:r>
              </a:p>
              <a:p>
                <a:pPr marL="685800" lvl="1" indent="-342900">
                  <a:buFont typeface="+mj-lt"/>
                  <a:buAutoNum type="arabicPeriod"/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zh-CN" altLang="en-US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is trivial (i.e.,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⊆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);</a:t>
                </a:r>
              </a:p>
              <a:p>
                <a:pPr marL="685800" lvl="1" indent="-342900">
                  <a:buFont typeface="+mj-lt"/>
                  <a:buAutoNum type="arabicPeriod"/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is a </a:t>
                </a:r>
                <a:r>
                  <a:rPr lang="en-US" altLang="zh-CN" dirty="0" err="1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superkey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𝑅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.</a:t>
                </a:r>
              </a:p>
              <a:p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/>
                  <a:t>is not in BCNF because of the functional dependency     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dirty="0"/>
                  <a:t>, we say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dirty="0"/>
                  <a:t> 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b="1" dirty="0"/>
                  <a:t>violates </a:t>
                </a:r>
                <a:r>
                  <a:rPr lang="en-US" altLang="zh-CN" dirty="0"/>
                  <a:t>BCNF. </a:t>
                </a:r>
                <a:endParaRPr lang="en-US" altLang="zh-CN" dirty="0">
                  <a:ea typeface="宋体" charset="-122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zh-CN" dirty="0">
                    <a:ea typeface="宋体" charset="-122"/>
                  </a:rPr>
                  <a:t>Example schema </a:t>
                </a:r>
                <a:r>
                  <a:rPr lang="en-US" altLang="zh-CN" i="1" dirty="0">
                    <a:ea typeface="宋体" charset="-122"/>
                  </a:rPr>
                  <a:t>not</a:t>
                </a:r>
                <a:r>
                  <a:rPr lang="en-US" altLang="zh-CN" dirty="0">
                    <a:ea typeface="宋体" charset="-122"/>
                  </a:rPr>
                  <a:t> in BCNF: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𝑐𝑜𝑢𝑟𝑠𝑒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_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𝑖𝑛𝑓𝑜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(</m:t>
                      </m:r>
                      <m:bar>
                        <m:bar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bar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𝑐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_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𝑛𝑎𝑚𝑒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,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𝑝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_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𝑐𝑜𝑑𝑒</m:t>
                          </m:r>
                        </m:e>
                      </m:ba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𝑐𝑟𝑒𝑑𝑖𝑡𝑠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𝑑𝑜𝑚𝑎𝑖𝑛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𝑐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_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</a:rPr>
                        <m:t>𝑛𝑢𝑚𝑏𝑒𝑟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ea typeface="宋体" charset="-122"/>
                </a:endParaRPr>
              </a:p>
              <a:p>
                <a:pPr marL="273600" indent="0">
                  <a:lnSpc>
                    <a:spcPct val="100000"/>
                  </a:lnSpc>
                  <a:buNone/>
                </a:pPr>
                <a:r>
                  <a:rPr lang="en-US" altLang="zh-CN" dirty="0">
                    <a:ea typeface="宋体" charset="-122"/>
                  </a:rPr>
                  <a:t>because 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𝑐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_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𝑛𝑎𝑚𝑒</m:t>
                    </m:r>
                    <m:r>
                      <a:rPr kumimoji="1"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𝑐𝑟𝑒𝑑𝑖𝑡𝑠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,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𝑑𝑜𝑚𝑎𝑖𝑛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,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𝑐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_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𝑛𝑢𝑚𝑏𝑒𝑟</m:t>
                    </m:r>
                  </m:oMath>
                </a14:m>
                <a:r>
                  <a:rPr kumimoji="1" lang="en-US" altLang="zh-CN" dirty="0">
                    <a:ea typeface="宋体" charset="-122"/>
                    <a:sym typeface="Monotype Sorts" pitchFamily="2" charset="2"/>
                  </a:rPr>
                  <a:t> holds on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𝑐𝑜𝑢𝑟𝑠𝑒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_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𝑖𝑛𝑓𝑜</m:t>
                    </m:r>
                  </m:oMath>
                </a14:m>
                <a:r>
                  <a:rPr kumimoji="1" lang="en-US" altLang="zh-CN" dirty="0">
                    <a:ea typeface="宋体" charset="-122"/>
                    <a:sym typeface="Monotype Sorts" pitchFamily="2" charset="2"/>
                  </a:rPr>
                  <a:t> but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𝑐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_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𝑛𝑎𝑚𝑒</m:t>
                    </m:r>
                  </m:oMath>
                </a14:m>
                <a:r>
                  <a:rPr kumimoji="1" lang="en-US" altLang="zh-CN" dirty="0">
                    <a:ea typeface="宋体" charset="-122"/>
                    <a:sym typeface="Monotype Sorts" pitchFamily="2" charset="2"/>
                  </a:rPr>
                  <a:t> is not a </a:t>
                </a:r>
                <a:r>
                  <a:rPr kumimoji="1" lang="en-US" altLang="zh-CN" dirty="0" err="1">
                    <a:ea typeface="宋体" charset="-122"/>
                    <a:sym typeface="Monotype Sorts" pitchFamily="2" charset="2"/>
                  </a:rPr>
                  <a:t>superkey</a:t>
                </a:r>
                <a:r>
                  <a:rPr kumimoji="1" lang="en-US" altLang="zh-CN" dirty="0">
                    <a:ea typeface="宋体" charset="-122"/>
                    <a:sym typeface="Monotype Sorts" pitchFamily="2" charset="2"/>
                  </a:rPr>
                  <a:t>.</a:t>
                </a:r>
              </a:p>
              <a:p>
                <a:endParaRPr lang="en-US" altLang="zh-CN" dirty="0">
                  <a:ea typeface="宋体" charset="-122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711390"/>
              </a:xfrm>
              <a:blipFill>
                <a:blip r:embed="rId2"/>
                <a:stretch>
                  <a:fillRect l="-773" t="-1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26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Example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200"/>
                <a:ext cx="7886700" cy="471139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  <a:tabLst>
                    <a:tab pos="744538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𝐴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, 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𝐵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, 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altLang="zh-CN" i="1" dirty="0">
                    <a:ea typeface="宋体" charset="-122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  <a:tabLst>
                    <a:tab pos="744538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 </a:t>
                </a:r>
                <a:br>
                  <a:rPr lang="en-US" altLang="zh-CN" i="1" dirty="0">
                    <a:ea typeface="宋体" charset="-122"/>
                    <a:sym typeface="Monotype Sorts" pitchFamily="2" charset="2"/>
                  </a:rPr>
                </a:b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𝐾𝑒𝑦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</a:t>
                </a:r>
              </a:p>
              <a:p>
                <a:pPr>
                  <a:lnSpc>
                    <a:spcPct val="100000"/>
                  </a:lnSpc>
                  <a:tabLst>
                    <a:tab pos="744538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𝑅</m:t>
                    </m:r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is not in BCNF because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</m:oMath>
                </a14:m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 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violates BCNF.</a:t>
                </a:r>
              </a:p>
              <a:p>
                <a:pPr>
                  <a:lnSpc>
                    <a:spcPct val="100000"/>
                  </a:lnSpc>
                  <a:tabLst>
                    <a:tab pos="744538" algn="l"/>
                  </a:tabLst>
                </a:pP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Decomposition </a:t>
                </a:r>
              </a:p>
              <a:p>
                <a:pPr marL="273600" indent="0">
                  <a:lnSpc>
                    <a:spcPct val="100000"/>
                  </a:lnSpc>
                  <a:buNone/>
                  <a:tabLst>
                    <a:tab pos="744538" algn="l"/>
                  </a:tabLst>
                </a:pPr>
                <a:r>
                  <a:rPr lang="en-US" altLang="zh-CN" b="0" dirty="0">
                    <a:ea typeface="宋体" charset="-122"/>
                    <a:sym typeface="Monotype Sorts" pitchFamily="2" charset="2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𝐴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,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CN" i="0" dirty="0">
                    <a:ea typeface="宋体" charset="-122"/>
                    <a:sym typeface="Monotype Sort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𝐴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𝐵</m:t>
                        </m:r>
                      </m:e>
                    </m:d>
                  </m:oMath>
                </a14:m>
                <a:endParaRPr lang="en-GB" altLang="zh-CN" i="1" dirty="0">
                  <a:ea typeface="宋体" charset="-122"/>
                  <a:sym typeface="Monotype Sorts" pitchFamily="2" charset="2"/>
                </a:endParaRPr>
              </a:p>
              <a:p>
                <a:pPr marL="273600" indent="0">
                  <a:lnSpc>
                    <a:spcPct val="100000"/>
                  </a:lnSpc>
                  <a:buNone/>
                  <a:tabLst>
                    <a:tab pos="744538" algn="l"/>
                  </a:tabLst>
                </a:pPr>
                <a:r>
                  <a:rPr lang="en-US" altLang="zh-CN" b="0" dirty="0">
                    <a:ea typeface="宋体" charset="-122"/>
                    <a:sym typeface="Monotype Sorts" pitchFamily="2" charset="2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i="0" dirty="0">
                    <a:ea typeface="宋体" charset="-122"/>
                    <a:sym typeface="Monotype Sort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i="1" dirty="0">
                  <a:ea typeface="宋体" charset="-122"/>
                  <a:sym typeface="Monotype Sorts" pitchFamily="2" charset="2"/>
                </a:endParaRPr>
              </a:p>
              <a:p>
                <a:pPr lvl="1">
                  <a:lnSpc>
                    <a:spcPct val="100000"/>
                  </a:lnSpc>
                  <a:tabLst>
                    <a:tab pos="7445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i="1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are in BCNF. The decomposition is</a:t>
                </a:r>
              </a:p>
              <a:p>
                <a:pPr lvl="1">
                  <a:lnSpc>
                    <a:spcPct val="100000"/>
                  </a:lnSpc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lossless-join decomposition and</a:t>
                </a:r>
              </a:p>
              <a:p>
                <a:pPr lvl="1">
                  <a:lnSpc>
                    <a:spcPct val="100000"/>
                  </a:lnSpc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dependency preserving.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7886700" cy="4711390"/>
              </a:xfrm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77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BCNF Decomposition Algorithm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199"/>
                <a:ext cx="7886700" cy="504592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buFont typeface="Monotype Sorts" pitchFamily="2" charset="2"/>
                  <a:buNone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</a:rPr>
                  <a:t>Algorithm</a:t>
                </a: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</a:rPr>
                  <a:t> Decompose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</m:oMath>
                </a14:m>
                <a:r>
                  <a:rPr lang="en-US" altLang="zh-CN" sz="1800" i="1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</a:rPr>
                  <a:t>in BCNF</a:t>
                </a:r>
                <a:r>
                  <a:rPr lang="zh-CN" altLang="en-US" sz="1800" i="1" dirty="0">
                    <a:latin typeface="Consolas" panose="020B0609020204030204" pitchFamily="49" charset="0"/>
                    <a:ea typeface="宋体" charset="-122"/>
                  </a:rPr>
                  <a:t>	</a:t>
                </a:r>
                <a:endParaRPr lang="en-US" altLang="zh-CN" sz="1800" i="1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273600" indent="-273600">
                  <a:lnSpc>
                    <a:spcPct val="100000"/>
                  </a:lnSpc>
                  <a:spcBef>
                    <a:spcPts val="0"/>
                  </a:spcBef>
                  <a:buClrTx/>
                  <a:buFont typeface="+mj-lt"/>
                  <a:buAutoNum type="arabicPeriod"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</a:rPr>
                      <m:t>𝑟𝑒𝑠𝑢𝑙𝑡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</a:rPr>
                      <m:t>={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US" altLang="zh-CN" sz="1800" i="1" baseline="-25000" dirty="0">
                        <a:latin typeface="Cambria Math" panose="02040503050406030204" pitchFamily="18" charset="0"/>
                        <a:ea typeface="宋体" charset="-122"/>
                      </a:rPr>
                      <m:t>0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}={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}</m:t>
                    </m:r>
                  </m:oMath>
                </a14:m>
                <a:endParaRPr lang="en-US" altLang="zh-CN" sz="1800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273600" indent="-273600">
                  <a:lnSpc>
                    <a:spcPct val="100000"/>
                  </a:lnSpc>
                  <a:spcBef>
                    <a:spcPts val="0"/>
                  </a:spcBef>
                  <a:buClrTx/>
                  <a:buFont typeface="+mj-lt"/>
                  <a:buAutoNum type="arabicPeriod"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</a:rPr>
                      <m:t>𝑖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=0</m:t>
                    </m:r>
                  </m:oMath>
                </a14:m>
                <a:endParaRPr lang="en-US" altLang="zh-CN" sz="1800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273600" indent="-273600">
                  <a:lnSpc>
                    <a:spcPct val="100000"/>
                  </a:lnSpc>
                  <a:spcBef>
                    <a:spcPts val="0"/>
                  </a:spcBef>
                  <a:buClrTx/>
                  <a:buFont typeface="+mj-lt"/>
                  <a:buAutoNum type="arabicPeriod"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</a:rPr>
                  <a:t>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𝐹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</m:sup>
                    </m:sSup>
                  </m:oMath>
                </a14:m>
                <a:endParaRPr lang="en-US" altLang="zh-CN" sz="1800" baseline="30000" dirty="0">
                  <a:latin typeface="Consolas" panose="020B0609020204030204" pitchFamily="49" charset="0"/>
                  <a:ea typeface="宋体" charset="-122"/>
                </a:endParaRPr>
              </a:p>
              <a:p>
                <a:pPr marL="273600" indent="-273600">
                  <a:lnSpc>
                    <a:spcPct val="100000"/>
                  </a:lnSpc>
                  <a:spcBef>
                    <a:spcPts val="0"/>
                  </a:spcBef>
                  <a:buClrTx/>
                  <a:buFont typeface="+mj-lt"/>
                  <a:buAutoNum type="arabicPeriod"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</a:rPr>
                  <a:t> </a:t>
                </a: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</a:rPr>
                  <a:t>while </a:t>
                </a:r>
                <a14:m>
                  <m:oMath xmlns:m="http://schemas.openxmlformats.org/officeDocument/2006/math">
                    <m:r>
                      <a:rPr lang="el-GR" altLang="zh-CN" sz="180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∈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𝑗</m:t>
                        </m:r>
                      </m:sub>
                    </m:sSub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∈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𝑟𝑒𝑠𝑢𝑙𝑡</m:t>
                    </m:r>
                  </m:oMath>
                </a14:m>
                <a:r>
                  <a:rPr lang="en-US" altLang="zh-CN" sz="1800" i="1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 </a:t>
                </a: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violates BCNF for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0</m:t>
                    </m:r>
                    <m:r>
                      <a:rPr lang="zh-CN" altLang="zh-CN" sz="18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zh-CN" altLang="zh-CN" sz="18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1800" i="1" dirty="0" err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1800" i="1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</a:rPr>
                  <a:t>do</a:t>
                </a:r>
              </a:p>
              <a:p>
                <a:pPr marL="273600" indent="-273600">
                  <a:lnSpc>
                    <a:spcPct val="100000"/>
                  </a:lnSpc>
                  <a:spcBef>
                    <a:spcPts val="0"/>
                  </a:spcBef>
                  <a:buClrTx/>
                  <a:buFont typeface="+mj-lt"/>
                  <a:buAutoNum type="arabicPeriod"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𝑖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+1</m:t>
                        </m:r>
                      </m:sub>
                    </m:sSub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=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∪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</m:oMath>
                </a14:m>
                <a:endParaRPr lang="en-US" altLang="zh-CN" sz="1800" dirty="0">
                  <a:latin typeface="Consolas" panose="020B0609020204030204" pitchFamily="49" charset="0"/>
                  <a:ea typeface="宋体" charset="-122"/>
                  <a:sym typeface="Symbol" pitchFamily="18" charset="2"/>
                </a:endParaRPr>
              </a:p>
              <a:p>
                <a:pPr marL="273600" indent="-273600">
                  <a:lnSpc>
                    <a:spcPct val="100000"/>
                  </a:lnSpc>
                  <a:spcBef>
                    <a:spcPts val="0"/>
                  </a:spcBef>
                  <a:buClrTx/>
                  <a:buFont typeface="+mj-lt"/>
                  <a:buAutoNum type="arabicPeriod"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GB" altLang="zh-CN" sz="1800" b="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𝑖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+1</m:t>
                        </m:r>
                      </m:sub>
                    </m:sSub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={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|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∈</m:t>
                    </m:r>
                    <m:sSup>
                      <m:sSup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p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1800" i="0" dirty="0">
                    <a:latin typeface="Consolas" panose="020B0609020204030204" pitchFamily="49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,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⊆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𝑖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+1</m:t>
                        </m:r>
                      </m:sub>
                    </m:sSub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}</m:t>
                    </m:r>
                  </m:oMath>
                </a14:m>
                <a:endParaRPr lang="en-US" altLang="zh-CN" sz="1800" dirty="0">
                  <a:latin typeface="Consolas" panose="020B0609020204030204" pitchFamily="49" charset="0"/>
                  <a:ea typeface="宋体" charset="-122"/>
                  <a:sym typeface="Greek Symbols" pitchFamily="18" charset="2"/>
                </a:endParaRPr>
              </a:p>
              <a:p>
                <a:pPr marL="273600" indent="-273600">
                  <a:lnSpc>
                    <a:spcPct val="100000"/>
                  </a:lnSpc>
                  <a:spcBef>
                    <a:spcPts val="0"/>
                  </a:spcBef>
                  <a:buClrTx/>
                  <a:buFont typeface="+mj-lt"/>
                  <a:buAutoNum type="arabicPeriod"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</a:rPr>
                  <a:t>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𝑖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+2</m:t>
                        </m:r>
                      </m:sub>
                    </m:sSub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 err="1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𝑗</m:t>
                        </m:r>
                      </m:sub>
                    </m:sSub>
                    <m:r>
                      <a:rPr lang="zh-CN" altLang="zh-CN" sz="1800" i="1" dirty="0"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(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  <m:r>
                      <a:rPr lang="zh-CN" altLang="zh-CN" sz="1800" i="1" dirty="0">
                        <a:latin typeface="Cambria Math" panose="02040503050406030204" pitchFamily="18" charset="0"/>
                      </a:rPr>
                      <m:t>∖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)</m:t>
                    </m:r>
                  </m:oMath>
                </a14:m>
                <a:endParaRPr lang="en-US" altLang="zh-CN" sz="1800" dirty="0">
                  <a:latin typeface="Consolas" panose="020B0609020204030204" pitchFamily="49" charset="0"/>
                  <a:ea typeface="宋体" charset="-122"/>
                  <a:sym typeface="Symbol" pitchFamily="18" charset="2"/>
                </a:endParaRPr>
              </a:p>
              <a:p>
                <a:pPr marL="273600" indent="-273600">
                  <a:lnSpc>
                    <a:spcPct val="100000"/>
                  </a:lnSpc>
                  <a:spcBef>
                    <a:spcPts val="0"/>
                  </a:spcBef>
                  <a:buClrTx/>
                  <a:buFont typeface="+mj-lt"/>
                  <a:buAutoNum type="arabicPeriod"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𝐹</m:t>
                        </m:r>
                      </m:e>
                      <m:sub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𝑖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+2</m:t>
                        </m:r>
                      </m:sub>
                    </m:sSub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={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|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  <m:r>
                      <a:rPr lang="zh-CN" altLang="zh-CN" sz="1800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p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1800" i="0" dirty="0">
                    <a:latin typeface="Consolas" panose="020B0609020204030204" pitchFamily="49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 </m:t>
                    </m:r>
                    <m:r>
                      <a:rPr lang="el-GR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⊆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𝑖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+2</m:t>
                        </m:r>
                      </m:sub>
                    </m:sSub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}</m:t>
                    </m:r>
                  </m:oMath>
                </a14:m>
                <a:endParaRPr lang="en-US" altLang="zh-CN" sz="1800" dirty="0">
                  <a:latin typeface="Consolas" panose="020B0609020204030204" pitchFamily="49" charset="0"/>
                  <a:ea typeface="宋体" charset="-122"/>
                  <a:sym typeface="Symbol" pitchFamily="18" charset="2"/>
                </a:endParaRPr>
              </a:p>
              <a:p>
                <a:pPr marL="273600" indent="-273600">
                  <a:lnSpc>
                    <a:spcPct val="100000"/>
                  </a:lnSpc>
                  <a:spcBef>
                    <a:spcPts val="0"/>
                  </a:spcBef>
                  <a:buClrTx/>
                  <a:buFont typeface="+mj-lt"/>
                  <a:buAutoNum type="arabicPeriod"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Symbol" pitchFamily="18" charset="2"/>
                  </a:rPr>
                  <a:t> 		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𝑟𝑒𝑠𝑢𝑙𝑡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=</m:t>
                    </m:r>
                    <m:d>
                      <m:d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𝑟𝑒𝑠𝑢𝑙𝑡</m:t>
                        </m:r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∖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800" i="1" dirty="0" smtClean="0">
                                <a:latin typeface="Cambria Math" panose="02040503050406030204" pitchFamily="18" charset="0"/>
                                <a:ea typeface="宋体" charset="-122"/>
                                <a:sym typeface="Symbol" pitchFamily="18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 dirty="0" err="1">
                                    <a:latin typeface="Cambria Math" panose="02040503050406030204" pitchFamily="18" charset="0"/>
                                    <a:ea typeface="宋体" charset="-122"/>
                                    <a:sym typeface="Symbol" pitchFamily="18" charset="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  <a:sym typeface="Symbol" pitchFamily="18" charset="2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800" b="0" i="1" dirty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 dirty="0" smtClean="0">
                                <a:latin typeface="Cambria Math" panose="02040503050406030204" pitchFamily="18" charset="0"/>
                                <a:ea typeface="宋体" charset="-122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ea typeface="宋体" charset="-122"/>
                                <a:sym typeface="Symbol" pitchFamily="18" charset="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ea typeface="宋体" charset="-122"/>
                                <a:sym typeface="Symbol" pitchFamily="18" charset="2"/>
                              </a:rPr>
                              <m:t>𝑖</m:t>
                            </m:r>
                            <m:r>
                              <a:rPr lang="en-US" altLang="zh-CN" sz="1800" b="0" i="1" dirty="0" smtClean="0">
                                <a:latin typeface="Cambria Math" panose="02040503050406030204" pitchFamily="18" charset="0"/>
                                <a:ea typeface="宋体" charset="-122"/>
                                <a:sym typeface="Symbol" pitchFamily="18" charset="2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∪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{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𝑖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+2</m:t>
                        </m:r>
                      </m:sub>
                    </m:sSub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}</m:t>
                    </m:r>
                  </m:oMath>
                </a14:m>
                <a:endParaRPr lang="en-US" altLang="zh-CN" sz="1800" dirty="0">
                  <a:latin typeface="Consolas" panose="020B0609020204030204" pitchFamily="49" charset="0"/>
                  <a:ea typeface="宋体" charset="-122"/>
                  <a:sym typeface="Greek Symbols" pitchFamily="18" charset="2"/>
                </a:endParaRPr>
              </a:p>
              <a:p>
                <a:pPr marL="273600" indent="-273600">
                  <a:lnSpc>
                    <a:spcPct val="100000"/>
                  </a:lnSpc>
                  <a:spcBef>
                    <a:spcPts val="0"/>
                  </a:spcBef>
                  <a:buClrTx/>
                  <a:buFont typeface="+mj-lt"/>
                  <a:buAutoNum type="arabicPeriod"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		</a:t>
                </a:r>
                <a14:m>
                  <m:oMath xmlns:m="http://schemas.openxmlformats.org/officeDocument/2006/math">
                    <m:r>
                      <a:rPr lang="en-US" altLang="zh-CN" sz="1800" i="1" dirty="0" err="1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𝑖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=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𝑖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+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2</m:t>
                    </m:r>
                  </m:oMath>
                </a14:m>
                <a:endParaRPr lang="en-US" altLang="zh-CN" sz="1800" dirty="0">
                  <a:latin typeface="Consolas" panose="020B0609020204030204" pitchFamily="49" charset="0"/>
                  <a:ea typeface="宋体" charset="-122"/>
                  <a:sym typeface="Greek Symbols" pitchFamily="18" charset="2"/>
                </a:endParaRPr>
              </a:p>
              <a:p>
                <a:pPr marL="273600" indent="-273600">
                  <a:lnSpc>
                    <a:spcPct val="100000"/>
                  </a:lnSpc>
                  <a:spcBef>
                    <a:spcPts val="0"/>
                  </a:spcBef>
                  <a:buClrTx/>
                  <a:buFont typeface="+mj-lt"/>
                  <a:buAutoNum type="arabicPeriod"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end while</a:t>
                </a:r>
              </a:p>
              <a:p>
                <a:pPr marL="273600" indent="-273600">
                  <a:lnSpc>
                    <a:spcPct val="100000"/>
                  </a:lnSpc>
                  <a:spcBef>
                    <a:spcPts val="0"/>
                  </a:spcBef>
                  <a:buClrTx/>
                  <a:buFont typeface="+mj-lt"/>
                  <a:buAutoNum type="arabicPeriod"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 </a:t>
                </a:r>
                <a:r>
                  <a:rPr lang="en-US" altLang="zh-CN" sz="1800" b="1" dirty="0">
                    <a:latin typeface="Consolas" panose="020B0609020204030204" pitchFamily="49" charset="0"/>
                    <a:ea typeface="宋体" charset="-122"/>
                    <a:sym typeface="Greek Symbols" pitchFamily="18" charset="2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𝑟𝑒𝑠𝑢𝑙𝑡</m:t>
                    </m:r>
                  </m:oMath>
                </a14:m>
                <a:endParaRPr lang="en-US" altLang="zh-CN" sz="1800" dirty="0">
                  <a:latin typeface="Consolas" panose="020B0609020204030204" pitchFamily="49" charset="0"/>
                  <a:ea typeface="宋体" charset="-122"/>
                  <a:sym typeface="Greek Symbols" pitchFamily="18" charset="2"/>
                </a:endParaRPr>
              </a:p>
              <a:p>
                <a:pPr>
                  <a:buClrTx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dirty="0">
                    <a:ea typeface="宋体" charset="-122"/>
                    <a:sym typeface="Greek Symbols" pitchFamily="18" charset="2"/>
                  </a:rPr>
                  <a:t>“</a:t>
                </a:r>
                <a:r>
                  <a:rPr lang="zh-CN" altLang="zh-CN" sz="1800" dirty="0"/>
                  <a:t>∖</a:t>
                </a:r>
                <a:r>
                  <a:rPr lang="en-US" altLang="zh-CN" sz="1800" dirty="0">
                    <a:ea typeface="宋体" charset="-122"/>
                    <a:sym typeface="Greek Symbols" pitchFamily="18" charset="2"/>
                  </a:rPr>
                  <a:t>” is set minus, same as “exclude” or “except”.</a:t>
                </a:r>
              </a:p>
              <a:p>
                <a:pPr>
                  <a:buClrTx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𝑟𝑒𝑠𝑢𝑙𝑡</m:t>
                    </m:r>
                  </m:oMath>
                </a14:m>
                <a:r>
                  <a:rPr lang="en-US" altLang="zh-CN" sz="1800" dirty="0">
                    <a:ea typeface="宋体" charset="-122"/>
                    <a:sym typeface="Greek Symbols" pitchFamily="18" charset="2"/>
                  </a:rPr>
                  <a:t> is a set of schemas, not only one schema.</a:t>
                </a:r>
              </a:p>
              <a:p>
                <a:pPr>
                  <a:buClrTx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sz="1800" dirty="0">
                    <a:ea typeface="宋体" charset="-122"/>
                    <a:sym typeface="Greek Symbols" pitchFamily="18" charset="2"/>
                  </a:rPr>
                  <a:t>The loop on line 4 is executed if a schema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>
                    <a:ea typeface="宋体" charset="-122"/>
                    <a:sym typeface="Greek Symbols" pitchFamily="18" charset="2"/>
                  </a:rPr>
                  <a:t> with a FD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𝛼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→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宋体" charset="-122"/>
                        <a:sym typeface="Greek Symbols" pitchFamily="18" charset="2"/>
                      </a:rPr>
                      <m:t>𝛽</m:t>
                    </m:r>
                  </m:oMath>
                </a14:m>
                <a:r>
                  <a:rPr lang="en-US" altLang="zh-CN" sz="1800" dirty="0">
                    <a:ea typeface="宋体" charset="-122"/>
                    <a:sym typeface="Greek Symbols" pitchFamily="18" charset="2"/>
                  </a:rPr>
                  <a:t> violates BCNF.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199"/>
                <a:ext cx="7886700" cy="5045927"/>
              </a:xfrm>
              <a:blipFill>
                <a:blip r:embed="rId3"/>
                <a:stretch>
                  <a:fillRect l="-618" t="-604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5F0AF7D-9720-4FC5-9208-E9B34FD4F201}"/>
              </a:ext>
            </a:extLst>
          </p:cNvPr>
          <p:cNvGrpSpPr/>
          <p:nvPr/>
        </p:nvGrpSpPr>
        <p:grpSpPr>
          <a:xfrm>
            <a:off x="629597" y="1600199"/>
            <a:ext cx="7885753" cy="3718928"/>
            <a:chOff x="629597" y="1605770"/>
            <a:chExt cx="7885753" cy="3718928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67DD2656-3562-4C5E-8F99-568F271C343E}"/>
                </a:ext>
              </a:extLst>
            </p:cNvPr>
            <p:cNvCxnSpPr>
              <a:cxnSpLocks/>
            </p:cNvCxnSpPr>
            <p:nvPr/>
          </p:nvCxnSpPr>
          <p:spPr>
            <a:xfrm>
              <a:off x="629597" y="1957033"/>
              <a:ext cx="78857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E064784-1296-4C4D-B9D9-F662D68D2024}"/>
                </a:ext>
              </a:extLst>
            </p:cNvPr>
            <p:cNvCxnSpPr>
              <a:cxnSpLocks/>
            </p:cNvCxnSpPr>
            <p:nvPr/>
          </p:nvCxnSpPr>
          <p:spPr>
            <a:xfrm>
              <a:off x="629597" y="1605770"/>
              <a:ext cx="788575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76E060D-841D-4F85-B317-8B4037604237}"/>
                </a:ext>
              </a:extLst>
            </p:cNvPr>
            <p:cNvCxnSpPr>
              <a:cxnSpLocks/>
            </p:cNvCxnSpPr>
            <p:nvPr/>
          </p:nvCxnSpPr>
          <p:spPr>
            <a:xfrm>
              <a:off x="629597" y="5324698"/>
              <a:ext cx="788575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5419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BCNF Decomposition Algorithm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199"/>
                <a:ext cx="7886700" cy="504592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This is the decomposition algorithm in a high-level language.</a:t>
                </a:r>
              </a:p>
              <a:p>
                <a:pPr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The return of the algorithm is always a set of schemas. Initially, the set has only one schema, </a:t>
                </a:r>
                <a:r>
                  <a:rPr lang="en-US" altLang="zh-CN" i="1" dirty="0">
                    <a:ea typeface="宋体" charset="-122"/>
                    <a:sym typeface="Greek Symbols" pitchFamily="18" charset="2"/>
                  </a:rPr>
                  <a:t>R</a:t>
                </a: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 itself.</a:t>
                </a:r>
              </a:p>
              <a:p>
                <a:pPr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dirty="0">
                    <a:ea typeface="宋体" charset="-122"/>
                    <a:sym typeface="Greek Symbols" pitchFamily="18" charset="2"/>
                  </a:rPr>
                  <a:t>In each iteration, if there is a functional dependency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altLang="zh-CN" i="1" dirty="0">
                    <a:ea typeface="宋体" charset="-122"/>
                    <a:sym typeface="Symbol" pitchFamily="18" charset="2"/>
                  </a:rPr>
                  <a:t> </a:t>
                </a:r>
                <a:r>
                  <a:rPr lang="en-US" altLang="zh-CN" dirty="0">
                    <a:ea typeface="宋体" charset="-122"/>
                    <a:sym typeface="Symbol" pitchFamily="18" charset="2"/>
                  </a:rPr>
                  <a:t>makes the schema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sym typeface="Symbol" pitchFamily="18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i="1" dirty="0">
                    <a:ea typeface="宋体" charset="-122"/>
                    <a:sym typeface="Symbol" pitchFamily="18" charset="2"/>
                  </a:rPr>
                  <a:t> </a:t>
                </a:r>
                <a:r>
                  <a:rPr lang="en-US" altLang="zh-CN" dirty="0">
                    <a:ea typeface="宋体" charset="-122"/>
                    <a:sym typeface="Symbol" pitchFamily="18" charset="2"/>
                  </a:rPr>
                  <a:t>not in BCNF,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decompose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into </a:t>
                </a:r>
              </a:p>
              <a:p>
                <a:pPr lvl="1"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the new schema 1:</a:t>
                </a:r>
              </a:p>
              <a:p>
                <a:pPr marL="342900" lvl="1" indent="0" algn="ctr">
                  <a:buNone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Greek Symbols" pitchFamily="18" charset="2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Greek Symbols" pitchFamily="18" charset="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Greek Symbols" pitchFamily="18" charset="2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Greek Symbols" pitchFamily="18" charset="2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Greek Symbols" pitchFamily="18" charset="2"/>
                        </a:rPr>
                        <m:t>=</m:t>
                      </m:r>
                      <m:r>
                        <a:rPr lang="el-GR" altLang="zh-CN" i="1" dirty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Symbol" pitchFamily="18" charset="2"/>
                        </a:rPr>
                        <m:t>𝛼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Symbol" pitchFamily="18" charset="2"/>
                        </a:rPr>
                        <m:t>∪</m:t>
                      </m:r>
                      <m:r>
                        <a:rPr lang="el-GR" altLang="zh-CN" i="1" dirty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Symbol" pitchFamily="18" charset="2"/>
                        </a:rPr>
                        <m:t>𝛽</m:t>
                      </m:r>
                    </m:oMath>
                  </m:oMathPara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Symbol" pitchFamily="18" charset="2"/>
                </a:endParaRPr>
              </a:p>
              <a:p>
                <a:pPr lvl="1"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and the new schema 2:</a:t>
                </a:r>
              </a:p>
              <a:p>
                <a:pPr marL="342900" lvl="1" indent="0" algn="ctr">
                  <a:buNone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Greek Symbols" pitchFamily="18" charset="2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Greek Symbols" pitchFamily="18" charset="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Greek Symbols" pitchFamily="18" charset="2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Greek Symbols" pitchFamily="18" charset="2"/>
                            </a:rPr>
                            <m:t>+2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Greek Symbols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Greek Symbols" pitchFamily="18" charset="2"/>
                            </a:rPr>
                          </m:ctrlPr>
                        </m:sSubPr>
                        <m:e>
                          <m:r>
                            <a:rPr lang="en-US" altLang="zh-CN" i="1" dirty="0" err="1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Greek Symbols" pitchFamily="18" charset="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charset="-122"/>
                              <a:cs typeface="Arial" panose="020B0604020202020204" pitchFamily="34" charset="0"/>
                              <a:sym typeface="Greek Symbols" pitchFamily="18" charset="2"/>
                            </a:rPr>
                            <m:t>𝑗</m:t>
                          </m:r>
                        </m:sub>
                      </m:sSub>
                      <m:r>
                        <a:rPr lang="zh-CN" altLang="zh-CN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Monotype Sorts" pitchFamily="2" charset="2"/>
                        </a:rPr>
                        <m:t>(</m:t>
                      </m:r>
                      <m:r>
                        <a:rPr lang="el-GR" altLang="zh-CN" i="1" dirty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Symbol" pitchFamily="18" charset="2"/>
                        </a:rPr>
                        <m:t>𝛽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Symbol" pitchFamily="18" charset="2"/>
                        </a:rPr>
                        <m:t>−</m:t>
                      </m:r>
                      <m:r>
                        <a:rPr lang="el-GR" altLang="zh-CN" i="1" dirty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Symbol" pitchFamily="18" charset="2"/>
                        </a:rPr>
                        <m:t>𝛼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宋体" charset="-122"/>
                          <a:cs typeface="Arial" panose="020B0604020202020204" pitchFamily="34" charset="0"/>
                          <a:sym typeface="Symbol" pitchFamily="18" charset="2"/>
                        </a:rPr>
                        <m:t>)</m:t>
                      </m:r>
                    </m:oMath>
                  </m:oMathPara>
                </a14:m>
                <a:endParaRPr lang="en-US" altLang="zh-CN" i="1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Symbol" pitchFamily="18" charset="2"/>
                </a:endParaRPr>
              </a:p>
              <a:p>
                <a:pPr lvl="1"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The functional dependency set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consist of the functional dependencies with both sides all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Greek Symbols" pitchFamily="18" charset="2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altLang="zh-CN" i="1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respectively.</a:t>
                </a: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Symbol" pitchFamily="18" charset="2"/>
                </a:endParaRPr>
              </a:p>
              <a:p>
                <a:pPr lvl="1"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Replace the old schema by the two new schemas.</a:t>
                </a: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Symbol" pitchFamily="18" charset="2"/>
                </a:endParaRPr>
              </a:p>
              <a:p>
                <a:pPr marL="342900" lvl="1" indent="0">
                  <a:buNone/>
                  <a:tabLst>
                    <a:tab pos="565150" algn="l"/>
                    <a:tab pos="803275" algn="l"/>
                    <a:tab pos="1489075" algn="l"/>
                    <a:tab pos="1771650" algn="l"/>
                  </a:tabLst>
                </a:pPr>
                <a:endParaRPr lang="en-US" altLang="zh-CN" baseline="-250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Greek Symbols" pitchFamily="18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199"/>
                <a:ext cx="7886700" cy="5045927"/>
              </a:xfrm>
              <a:blipFill>
                <a:blip r:embed="rId2"/>
                <a:stretch>
                  <a:fillRect l="-927" t="-1449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61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BCNF Example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199"/>
                <a:ext cx="7886700" cy="504592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744538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={</m:t>
                    </m:r>
                    <m:bar>
                      <m:bar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𝑝𝑒𝑟𝑠𝑜𝑛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𝑖𝑑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𝐼𝑆𝐵𝑁</m:t>
                        </m:r>
                      </m:e>
                    </m:ba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𝑝𝑒𝑟𝑠𝑜𝑛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𝑏𝑜𝑜𝑘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𝑡𝑖𝑡𝑙𝑒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𝑎𝑢𝑡h𝑜𝑟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}</m:t>
                    </m:r>
                  </m:oMath>
                </a14:m>
                <a:br>
                  <a:rPr lang="en-US" altLang="zh-CN" i="1" dirty="0">
                    <a:latin typeface="Cambria Math" panose="02040503050406030204" pitchFamily="18" charset="0"/>
                    <a:ea typeface="宋体" charset="-122"/>
                  </a:rPr>
                </a:b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={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𝑝𝑒𝑟𝑠𝑜𝑛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𝑖𝑑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𝑝𝑒𝑟𝑠𝑜𝑛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</m:oMath>
                </a14:m>
                <a:r>
                  <a:rPr lang="en-US" altLang="zh-CN" i="1" dirty="0">
                    <a:ea typeface="宋体" charset="-122"/>
                  </a:rPr>
                  <a:t>,</a:t>
                </a:r>
              </a:p>
              <a:p>
                <a:pPr marL="273600" indent="0">
                  <a:lnSpc>
                    <a:spcPct val="100000"/>
                  </a:lnSpc>
                  <a:buNone/>
                  <a:tabLst>
                    <a:tab pos="744538" algn="l"/>
                  </a:tabLst>
                </a:pPr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𝐼𝑆𝐵𝑁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𝑏𝑜𝑜𝑘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𝑡𝑖𝑡𝑙𝑒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𝑎𝑢𝑡h𝑜𝑟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dirty="0">
                  <a:ea typeface="宋体" charset="-122"/>
                  <a:sym typeface="Monotype Sorts" pitchFamily="2" charset="2"/>
                </a:endParaRPr>
              </a:p>
              <a:p>
                <a:pPr>
                  <a:lnSpc>
                    <a:spcPct val="100000"/>
                  </a:lnSpc>
                  <a:tabLst>
                    <a:tab pos="744538" algn="l"/>
                  </a:tabLst>
                </a:pP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Iteration 1: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𝑝𝑒𝑟𝑠𝑜𝑛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𝑖𝑑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𝑝𝑒𝑟𝑠𝑜𝑛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𝑛𝑎𝑚𝑒</m:t>
                    </m:r>
                  </m:oMath>
                </a14:m>
                <a:r>
                  <a:rPr lang="en-US" altLang="zh-CN" i="1" dirty="0">
                    <a:ea typeface="宋体" charset="-122"/>
                  </a:rPr>
                  <a:t> </a:t>
                </a:r>
                <a:r>
                  <a:rPr lang="en-US" altLang="zh-CN" dirty="0">
                    <a:ea typeface="宋体" charset="-122"/>
                  </a:rPr>
                  <a:t>violates BCNF. Decompose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</m:oMath>
                </a14:m>
                <a:r>
                  <a:rPr lang="en-US" altLang="zh-CN" i="1" dirty="0">
                    <a:ea typeface="宋体" charset="-122"/>
                  </a:rPr>
                  <a:t> </a:t>
                </a:r>
                <a:r>
                  <a:rPr lang="en-US" altLang="zh-CN" dirty="0">
                    <a:ea typeface="宋体" charset="-122"/>
                  </a:rPr>
                  <a:t>into</a:t>
                </a:r>
              </a:p>
              <a:p>
                <a:pPr lvl="1">
                  <a:lnSpc>
                    <a:spcPct val="100000"/>
                  </a:lnSpc>
                  <a:tabLst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bar>
                      <m:bar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bar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𝑝𝑒𝑟𝑠𝑜𝑛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_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𝑖𝑑</m:t>
                        </m:r>
                      </m:e>
                    </m:ba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𝑝𝑒𝑟𝑠𝑜𝑛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𝑛𝑎𝑚𝑒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514800" lvl="1" indent="0">
                  <a:lnSpc>
                    <a:spcPct val="100000"/>
                  </a:lnSpc>
                  <a:buNone/>
                  <a:tabLst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𝑝𝑒𝑟𝑠𝑜𝑛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𝑖𝑑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𝑝𝑒𝑟𝑠𝑜𝑛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lvl="1">
                  <a:lnSpc>
                    <a:spcPct val="100000"/>
                  </a:lnSpc>
                  <a:tabLst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bar>
                      <m:bar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bar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𝑝𝑒𝑟𝑠𝑜𝑛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_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𝑖𝑑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𝐼𝑆𝐵𝑁</m:t>
                        </m:r>
                      </m:e>
                    </m:ba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𝑏𝑜𝑜𝑘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𝑡𝑖𝑡𝑙𝑒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𝑎𝑢𝑡h𝑜𝑟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514800" lvl="1" indent="0">
                  <a:lnSpc>
                    <a:spcPct val="100000"/>
                  </a:lnSpc>
                  <a:buNone/>
                  <a:tabLst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𝐼𝑆𝐵𝑁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𝑏𝑜𝑜𝑘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𝑡𝑖𝑡𝑙𝑒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𝑎𝑢𝑡h𝑜𝑟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dirty="0">
                  <a:ea typeface="宋体" charset="-122"/>
                  <a:sym typeface="Monotype Sorts" pitchFamily="2" charset="2"/>
                </a:endParaRPr>
              </a:p>
              <a:p>
                <a:pPr lvl="1">
                  <a:buFont typeface="Monotype Sorts" pitchFamily="2" charset="2"/>
                  <a:buNone/>
                  <a:tabLst>
                    <a:tab pos="744538" algn="l"/>
                  </a:tabLst>
                </a:pPr>
                <a:endParaRPr lang="zh-CN" altLang="en-US" dirty="0">
                  <a:ea typeface="宋体" charset="-122"/>
                  <a:sym typeface="Monotype Sorts" pitchFamily="2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199"/>
                <a:ext cx="7886700" cy="5045927"/>
              </a:xfrm>
              <a:blipFill>
                <a:blip r:embed="rId2"/>
                <a:stretch>
                  <a:fillRect l="-773" t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865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BCNF Example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199"/>
                <a:ext cx="7886700" cy="5045927"/>
              </a:xfrm>
            </p:spPr>
            <p:txBody>
              <a:bodyPr>
                <a:noAutofit/>
              </a:bodyPr>
              <a:lstStyle/>
              <a:p>
                <a:pPr lvl="1">
                  <a:lnSpc>
                    <a:spcPct val="100000"/>
                  </a:lnSpc>
                  <a:tabLst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100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bar>
                      <m:barPr>
                        <m:ctrlP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barPr>
                      <m:e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𝑝𝑒𝑟𝑠𝑜𝑛</m:t>
                        </m:r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_</m:t>
                        </m:r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𝑖𝑑</m:t>
                        </m:r>
                      </m:e>
                    </m:ba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 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𝑝𝑒𝑟𝑠𝑜𝑛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𝑛𝑎𝑚𝑒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sz="21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514800" lvl="1" indent="0">
                  <a:lnSpc>
                    <a:spcPct val="100000"/>
                  </a:lnSpc>
                  <a:buNone/>
                  <a:tabLst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100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</a:rPr>
                      <m:t>𝑝𝑒𝑟𝑠𝑜𝑛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</a:rPr>
                      <m:t>𝑖𝑑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</a:rPr>
                      <m:t>𝑝𝑒𝑟𝑠𝑜𝑛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sz="21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lvl="1">
                  <a:lnSpc>
                    <a:spcPct val="100000"/>
                  </a:lnSpc>
                  <a:tabLst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100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bar>
                      <m:barPr>
                        <m:ctrlP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barPr>
                      <m:e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𝑝𝑒𝑟𝑠𝑜𝑛</m:t>
                        </m:r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_</m:t>
                        </m:r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𝑖𝑑</m:t>
                        </m:r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,</m:t>
                        </m:r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𝐼𝑆𝐵𝑁</m:t>
                        </m:r>
                      </m:e>
                    </m:ba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𝑏𝑜𝑜𝑘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𝑡𝑖𝑡𝑙𝑒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𝑎𝑢𝑡h𝑜𝑟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altLang="zh-CN" sz="2100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514800" lvl="1" indent="0">
                  <a:lnSpc>
                    <a:spcPct val="100000"/>
                  </a:lnSpc>
                  <a:buNone/>
                  <a:tabLst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sz="2100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100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𝐼𝑆𝐵𝑁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𝑏𝑜𝑜𝑘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𝑡𝑖𝑡𝑙𝑒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𝑎𝑢𝑡h𝑜𝑟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sz="2100" dirty="0">
                  <a:ea typeface="宋体" charset="-122"/>
                  <a:sym typeface="Monotype Sorts" pitchFamily="2" charset="2"/>
                </a:endParaRPr>
              </a:p>
              <a:p>
                <a:pPr>
                  <a:lnSpc>
                    <a:spcPct val="100000"/>
                  </a:lnSpc>
                  <a:tabLst>
                    <a:tab pos="717550" algn="l"/>
                  </a:tabLst>
                </a:pP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Iteration 2: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𝐼𝑆𝐵𝑁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𝑏𝑜𝑜𝑘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𝑡𝑖𝑡𝑙𝑒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𝑎𝑢𝑡h𝑜𝑟</m:t>
                    </m:r>
                  </m:oMath>
                </a14:m>
                <a:r>
                  <a:rPr lang="en-US" altLang="zh-CN" i="1" dirty="0">
                    <a:ea typeface="宋体" charset="-122"/>
                    <a:sym typeface="Monotype Sorts" pitchFamily="2" charset="2"/>
                  </a:rPr>
                  <a:t> </a:t>
                </a:r>
                <a:r>
                  <a:rPr lang="en-US" altLang="zh-CN" dirty="0">
                    <a:ea typeface="宋体" charset="-122"/>
                  </a:rPr>
                  <a:t>violates BCNF. Decompose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i="1" dirty="0">
                    <a:ea typeface="宋体" charset="-122"/>
                  </a:rPr>
                  <a:t> </a:t>
                </a:r>
                <a:r>
                  <a:rPr lang="en-US" altLang="zh-CN" dirty="0">
                    <a:ea typeface="宋体" charset="-122"/>
                  </a:rPr>
                  <a:t>into</a:t>
                </a:r>
              </a:p>
              <a:p>
                <a:pPr lvl="1">
                  <a:lnSpc>
                    <a:spcPct val="100000"/>
                  </a:lnSpc>
                  <a:tabLst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bar>
                      <m:bar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bar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𝐼𝑆𝐵𝑁</m:t>
                        </m:r>
                      </m:e>
                    </m:ba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𝑏𝑜𝑜𝑘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𝑡𝑖𝑡𝑙𝑒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𝑎𝑢𝑡h𝑜𝑟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514800" lvl="1" indent="0">
                  <a:lnSpc>
                    <a:spcPct val="100000"/>
                  </a:lnSpc>
                  <a:buNone/>
                  <a:tabLst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𝐼𝑆𝐵𝑁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𝑏𝑜𝑜𝑘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𝑡𝑖𝑡𝑙𝑒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𝑎𝑢𝑡h𝑜𝑟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</a:p>
              <a:p>
                <a:pPr lvl="1">
                  <a:lnSpc>
                    <a:spcPct val="100000"/>
                  </a:lnSpc>
                  <a:tabLst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{</m:t>
                    </m:r>
                    <m:bar>
                      <m:bar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bar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𝑝𝑒𝑟𝑠𝑜𝑛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_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𝑖𝑑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𝐼𝑆𝐵𝑁</m:t>
                        </m:r>
                      </m:e>
                    </m:ba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514800" lvl="1" indent="0">
                  <a:lnSpc>
                    <a:spcPct val="100000"/>
                  </a:lnSpc>
                  <a:buNone/>
                  <a:tabLst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onotype Sorts" pitchFamily="2" charset="2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  <a:tabLst>
                    <a:tab pos="744538" algn="l"/>
                  </a:tabLst>
                </a:pPr>
                <a:endParaRPr lang="en-US" altLang="zh-CN" dirty="0">
                  <a:ea typeface="宋体" charset="-122"/>
                  <a:sym typeface="Monotype Sorts" pitchFamily="2" charset="2"/>
                </a:endParaRPr>
              </a:p>
              <a:p>
                <a:pPr>
                  <a:lnSpc>
                    <a:spcPct val="100000"/>
                  </a:lnSpc>
                  <a:tabLst>
                    <a:tab pos="744538" algn="l"/>
                  </a:tabLst>
                </a:pP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Result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  <a:sym typeface="Monotype Sorts" pitchFamily="2" charset="2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.</a:t>
                </a:r>
                <a:endParaRPr lang="zh-CN" altLang="en-US" dirty="0">
                  <a:ea typeface="宋体" charset="-122"/>
                  <a:sym typeface="Monotype Sorts" pitchFamily="2" charset="2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199"/>
                <a:ext cx="7886700" cy="5045927"/>
              </a:xfrm>
              <a:blipFill>
                <a:blip r:embed="rId2"/>
                <a:stretch>
                  <a:fillRect l="-773" t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534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Pros and Cons of BCNF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0199"/>
                <a:ext cx="7886700" cy="5045927"/>
              </a:xfrm>
            </p:spPr>
            <p:txBody>
              <a:bodyPr>
                <a:noAutofit/>
              </a:bodyPr>
              <a:lstStyle/>
              <a:p>
                <a:pPr>
                  <a:tabLst>
                    <a:tab pos="744538" algn="l"/>
                  </a:tabLst>
                </a:pP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Advantages:</a:t>
                </a:r>
              </a:p>
              <a:p>
                <a:pPr lvl="1"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Redundancies are minimized.</a:t>
                </a:r>
              </a:p>
              <a:p>
                <a:pPr lvl="1"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BCNF decomposition is a lossless-join decomposition. </a:t>
                </a:r>
              </a:p>
              <a:p>
                <a:pPr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Disadvantage:</a:t>
                </a:r>
              </a:p>
              <a:p>
                <a:pPr lvl="1"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The decomposition is not always dependency preserving.</a:t>
                </a:r>
              </a:p>
              <a:p>
                <a:pPr lvl="1"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For example,</a:t>
                </a:r>
              </a:p>
              <a:p>
                <a:pPr marL="342900" lvl="1" indent="0">
                  <a:buNone/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𝐽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342900" lvl="1" indent="0">
                  <a:buNone/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𝐽𝐾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𝐾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marL="342900" lvl="1" indent="0">
                  <a:buNone/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	Candidate keys are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𝐽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𝐽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.</a:t>
                </a:r>
              </a:p>
              <a:p>
                <a:pPr lvl="1">
                  <a:tabLst>
                    <a:tab pos="744538" algn="l"/>
                  </a:tabLst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𝑅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is not in BCNF because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 →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𝐾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.</a:t>
                </a:r>
              </a:p>
              <a:p>
                <a:pPr lvl="1"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The algorithm decomposes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𝑅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into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𝐽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which fails to preserve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𝐽𝐾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.</a:t>
                </a:r>
              </a:p>
              <a:p>
                <a:pPr lvl="1">
                  <a:tabLst>
                    <a:tab pos="744538" algn="l"/>
                  </a:tabLst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Testing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𝐽𝐾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𝐿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requires a join.</a:t>
                </a:r>
              </a:p>
              <a:p>
                <a:pPr lvl="1">
                  <a:tabLst>
                    <a:tab pos="744538" algn="l"/>
                  </a:tabLst>
                </a:pPr>
                <a:endParaRPr lang="zh-CN" altLang="en-US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199"/>
                <a:ext cx="7886700" cy="5045927"/>
              </a:xfrm>
              <a:blipFill>
                <a:blip r:embed="rId2"/>
                <a:stretch>
                  <a:fillRect l="-773" t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73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0C92D0-2944-449E-881E-BE7E0F32F6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Lecture 10</a:t>
            </a:r>
          </a:p>
        </p:txBody>
      </p:sp>
      <p:sp>
        <p:nvSpPr>
          <p:cNvPr id="8" name="矩形 3">
            <a:hlinkClick r:id="" action="ppaction://noaction"/>
            <a:extLst>
              <a:ext uri="{FF2B5EF4-FFF2-40B4-BE49-F238E27FC236}">
                <a16:creationId xmlns:a16="http://schemas.microsoft.com/office/drawing/2014/main" id="{C8A1331B-D210-F2FA-3C83-1103B9FDC699}"/>
              </a:ext>
            </a:extLst>
          </p:cNvPr>
          <p:cNvSpPr/>
          <p:nvPr/>
        </p:nvSpPr>
        <p:spPr>
          <a:xfrm>
            <a:off x="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4">
            <a:hlinkClick r:id="" action="ppaction://noaction"/>
            <a:extLst>
              <a:ext uri="{FF2B5EF4-FFF2-40B4-BE49-F238E27FC236}">
                <a16:creationId xmlns:a16="http://schemas.microsoft.com/office/drawing/2014/main" id="{8512FA8B-F184-4E70-2AFB-677315B48088}"/>
              </a:ext>
            </a:extLst>
          </p:cNvPr>
          <p:cNvSpPr/>
          <p:nvPr/>
        </p:nvSpPr>
        <p:spPr>
          <a:xfrm>
            <a:off x="1311564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5">
            <a:hlinkClick r:id="" action="ppaction://noaction"/>
            <a:extLst>
              <a:ext uri="{FF2B5EF4-FFF2-40B4-BE49-F238E27FC236}">
                <a16:creationId xmlns:a16="http://schemas.microsoft.com/office/drawing/2014/main" id="{3CFCE13A-DE64-0158-F939-A2CCCC1AC096}"/>
              </a:ext>
            </a:extLst>
          </p:cNvPr>
          <p:cNvSpPr/>
          <p:nvPr/>
        </p:nvSpPr>
        <p:spPr>
          <a:xfrm>
            <a:off x="2623128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6">
            <a:hlinkClick r:id="" action="ppaction://noaction"/>
            <a:extLst>
              <a:ext uri="{FF2B5EF4-FFF2-40B4-BE49-F238E27FC236}">
                <a16:creationId xmlns:a16="http://schemas.microsoft.com/office/drawing/2014/main" id="{3F63196A-FE5D-39F3-EC44-77342973874D}"/>
              </a:ext>
            </a:extLst>
          </p:cNvPr>
          <p:cNvSpPr/>
          <p:nvPr/>
        </p:nvSpPr>
        <p:spPr>
          <a:xfrm>
            <a:off x="3934692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7">
            <a:hlinkClick r:id="" action="ppaction://noaction"/>
            <a:extLst>
              <a:ext uri="{FF2B5EF4-FFF2-40B4-BE49-F238E27FC236}">
                <a16:creationId xmlns:a16="http://schemas.microsoft.com/office/drawing/2014/main" id="{7E05AFF4-8C77-078A-4E29-220E4F0A5FB4}"/>
              </a:ext>
            </a:extLst>
          </p:cNvPr>
          <p:cNvSpPr/>
          <p:nvPr/>
        </p:nvSpPr>
        <p:spPr>
          <a:xfrm>
            <a:off x="5246256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8">
            <a:hlinkClick r:id="" action="ppaction://noaction"/>
            <a:extLst>
              <a:ext uri="{FF2B5EF4-FFF2-40B4-BE49-F238E27FC236}">
                <a16:creationId xmlns:a16="http://schemas.microsoft.com/office/drawing/2014/main" id="{EEE7B8F6-AD45-6761-C219-EDD196148FA9}"/>
              </a:ext>
            </a:extLst>
          </p:cNvPr>
          <p:cNvSpPr/>
          <p:nvPr/>
        </p:nvSpPr>
        <p:spPr>
          <a:xfrm>
            <a:off x="6557820" y="0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9">
            <a:hlinkClick r:id="" action="ppaction://noaction"/>
            <a:extLst>
              <a:ext uri="{FF2B5EF4-FFF2-40B4-BE49-F238E27FC236}">
                <a16:creationId xmlns:a16="http://schemas.microsoft.com/office/drawing/2014/main" id="{5C87793B-7667-9AA0-E38A-989B243440C2}"/>
              </a:ext>
            </a:extLst>
          </p:cNvPr>
          <p:cNvSpPr/>
          <p:nvPr/>
        </p:nvSpPr>
        <p:spPr>
          <a:xfrm>
            <a:off x="7869384" y="0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943937"/>
      </p:ext>
    </p:extLst>
  </p:cSld>
  <p:clrMapOvr>
    <a:masterClrMapping/>
  </p:clrMapOvr>
</p:sld>
</file>

<file path=ppt/theme/theme1.xml><?xml version="1.0" encoding="utf-8"?>
<a:theme xmlns:a="http://schemas.openxmlformats.org/drawingml/2006/main" name="beamer_like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amer_like" id="{20F149E5-FEF3-4710-82AE-E763CD58F1C4}" vid="{D2B214A1-1DDD-42F1-A099-CF5F82819267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beamer_like</Template>
  <TotalTime>8808</TotalTime>
  <Words>1303</Words>
  <Application>Microsoft Office PowerPoint</Application>
  <PresentationFormat>On-screen Show (4:3)</PresentationFormat>
  <Paragraphs>219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Adobe Heiti Std R</vt:lpstr>
      <vt:lpstr>Hiragino Sans GB W3</vt:lpstr>
      <vt:lpstr>Monotype Sorts</vt:lpstr>
      <vt:lpstr>等线</vt:lpstr>
      <vt:lpstr>等线 Light</vt:lpstr>
      <vt:lpstr>Arial</vt:lpstr>
      <vt:lpstr>Cambria Math</vt:lpstr>
      <vt:lpstr>Consolas</vt:lpstr>
      <vt:lpstr>Times New Roman</vt:lpstr>
      <vt:lpstr>beamer_like</vt:lpstr>
      <vt:lpstr>Lecture 10 Relational Database Design BCNF</vt:lpstr>
      <vt:lpstr>Outline</vt:lpstr>
      <vt:lpstr>Motivation of Decompositions</vt:lpstr>
      <vt:lpstr>Lossless-join Decomposition</vt:lpstr>
      <vt:lpstr>Dependency Preservation</vt:lpstr>
      <vt:lpstr>Example</vt:lpstr>
      <vt:lpstr>Boyce-Codd Normal Form</vt:lpstr>
      <vt:lpstr>Example</vt:lpstr>
      <vt:lpstr>BCNF Decomposition Algorithm</vt:lpstr>
      <vt:lpstr>BCNF Decomposition Algorithm</vt:lpstr>
      <vt:lpstr>BCNF Example</vt:lpstr>
      <vt:lpstr>BCNF Example</vt:lpstr>
      <vt:lpstr>Pros and Cons of BCNF</vt:lpstr>
      <vt:lpstr>End of Lecture 10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Zhiyuan Li</cp:lastModifiedBy>
  <cp:revision>289</cp:revision>
  <cp:lastPrinted>1999-06-28T19:27:31Z</cp:lastPrinted>
  <dcterms:created xsi:type="dcterms:W3CDTF">2000-02-23T18:58:38Z</dcterms:created>
  <dcterms:modified xsi:type="dcterms:W3CDTF">2022-11-21T08:59:49Z</dcterms:modified>
</cp:coreProperties>
</file>