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0DA52-CA3D-4931-8098-7F9B761885E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92070-8372-448B-A356-343B6ADA6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1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6. select </a:t>
            </a:r>
            <a:r>
              <a:rPr lang="en-US" dirty="0" smtClean="0"/>
              <a:t>distinct </a:t>
            </a:r>
            <a:r>
              <a:rPr lang="en-US" dirty="0" err="1" smtClean="0"/>
              <a:t>customer_id</a:t>
            </a:r>
            <a:r>
              <a:rPr lang="en-US" dirty="0" smtClean="0"/>
              <a:t> from payment where </a:t>
            </a:r>
            <a:r>
              <a:rPr lang="en-US" dirty="0" err="1" smtClean="0"/>
              <a:t>payment_date</a:t>
            </a:r>
            <a:r>
              <a:rPr lang="en-US" dirty="0" smtClean="0"/>
              <a:t> BETWEEN '2005-05-25' and '2005-05-26' and amount &lt;=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C491C7-60DA-4654-B1D5-796999ECF7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91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78A1-437F-4007-A6BA-9580271CCFA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EE33-48D2-4B06-9097-16561A3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1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78A1-437F-4007-A6BA-9580271CCFA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EE33-48D2-4B06-9097-16561A3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01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78A1-437F-4007-A6BA-9580271CCFA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EE33-48D2-4B06-9097-16561A3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84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78A1-437F-4007-A6BA-9580271CCFA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EE33-48D2-4B06-9097-16561A3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83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78A1-437F-4007-A6BA-9580271CCFA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EE33-48D2-4B06-9097-16561A3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0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78A1-437F-4007-A6BA-9580271CCFA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EE33-48D2-4B06-9097-16561A3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11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78A1-437F-4007-A6BA-9580271CCFA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EE33-48D2-4B06-9097-16561A3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16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78A1-437F-4007-A6BA-9580271CCFA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EE33-48D2-4B06-9097-16561A3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67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78A1-437F-4007-A6BA-9580271CCFA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EE33-48D2-4B06-9097-16561A3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72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78A1-437F-4007-A6BA-9580271CCFA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EE33-48D2-4B06-9097-16561A3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2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378A1-437F-4007-A6BA-9580271CCFA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BEE33-48D2-4B06-9097-16561A3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51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109224B-0794-E08D-6281-2C77DC2F62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2078"/>
            <a:ext cx="10515600" cy="3260846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3630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378A1-437F-4007-A6BA-9580271CCFA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BEE33-48D2-4B06-9097-16561A385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12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7713AFE-C6C5-4574-2930-F787ED9BF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altLang="zh-CN" dirty="0"/>
              <a:t>COMP3013 </a:t>
            </a:r>
            <a:r>
              <a:rPr lang="en-US" altLang="zh-CN" dirty="0" smtClean="0"/>
              <a:t>Tutorial01 Exercise Solution</a:t>
            </a:r>
            <a:endParaRPr lang="zh-CN" alt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B7F0857-C65F-F673-AA53-8F3F6150C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altLang="zh-CN" dirty="0" smtClean="0"/>
              <a:t>2025 </a:t>
            </a:r>
            <a:r>
              <a:rPr lang="en-US" altLang="zh-CN" dirty="0"/>
              <a:t>Fall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3847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4BB35-A775-E57F-B182-F16BCB8FF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F98F1-8A7F-B593-AB74-B0C84F401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0385"/>
            <a:ext cx="10515600" cy="1725018"/>
          </a:xfrm>
        </p:spPr>
        <p:txBody>
          <a:bodyPr>
            <a:normAutofit/>
          </a:bodyPr>
          <a:lstStyle/>
          <a:p>
            <a:r>
              <a:rPr lang="en-US" dirty="0"/>
              <a:t>To write a good query, you need to pay attention to three things.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Which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used?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the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are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the result?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2024A4-8867-48D4-6CA9-B6F0C7F06B37}"/>
              </a:ext>
            </a:extLst>
          </p:cNvPr>
          <p:cNvSpPr txBox="1"/>
          <p:nvPr/>
        </p:nvSpPr>
        <p:spPr>
          <a:xfrm>
            <a:off x="379828" y="2785403"/>
            <a:ext cx="117043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Find the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actors </a:t>
            </a:r>
            <a:r>
              <a:rPr lang="en-US" altLang="zh-CN" sz="2400" dirty="0"/>
              <a:t>whose 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name is Russell</a:t>
            </a:r>
            <a:r>
              <a:rPr lang="en-US" altLang="zh-CN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Find the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actors </a:t>
            </a:r>
            <a:r>
              <a:rPr lang="en-US" altLang="zh-CN" sz="2400" dirty="0"/>
              <a:t>whose 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name is Russell and last name is Close</a:t>
            </a:r>
            <a:r>
              <a:rPr lang="en-US" altLang="zh-CN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Find the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lang="en-US" altLang="zh-CN" sz="2400" dirty="0"/>
              <a:t> of 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  <a:r>
              <a:rPr lang="en-US" altLang="zh-CN" sz="2400" dirty="0"/>
              <a:t> whose 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name is Harry and active is 0</a:t>
            </a:r>
            <a:r>
              <a:rPr lang="en-US" altLang="zh-CN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Find the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name</a:t>
            </a:r>
            <a:r>
              <a:rPr lang="en-US" altLang="zh-CN" sz="2400" dirty="0"/>
              <a:t> of the 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</a:t>
            </a:r>
            <a:r>
              <a:rPr lang="en-US" altLang="zh-CN" sz="2400" dirty="0"/>
              <a:t> whose 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 is 99</a:t>
            </a:r>
            <a:r>
              <a:rPr lang="en-US" altLang="zh-CN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Find the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and special features</a:t>
            </a:r>
            <a:r>
              <a:rPr lang="en-US" altLang="zh-CN" sz="2400" dirty="0"/>
              <a:t> of the 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films</a:t>
            </a:r>
            <a:r>
              <a:rPr lang="en-US" altLang="zh-CN" sz="2400" dirty="0"/>
              <a:t> whose 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replacement cost is lower than 20 and rental rate is higher than 4.0</a:t>
            </a:r>
            <a:r>
              <a:rPr lang="en-US" altLang="zh-CN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Find the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id</a:t>
            </a:r>
            <a:r>
              <a:rPr lang="en-US" altLang="zh-CN" sz="2400" dirty="0"/>
              <a:t> of the customers who have made a 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payment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2005-05-25 but the amount does not exceed 3</a:t>
            </a:r>
            <a:r>
              <a:rPr lang="en-US" altLang="zh-C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9901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sakila</a:t>
            </a:r>
            <a:r>
              <a:rPr lang="en-US" altLang="zh-CN" dirty="0" smtClean="0"/>
              <a:t> tables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04" y="1111127"/>
            <a:ext cx="14859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6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1. Find </a:t>
            </a:r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information</a:t>
            </a:r>
            <a:r>
              <a:rPr lang="en-US" altLang="zh-CN" dirty="0">
                <a:solidFill>
                  <a:srgbClr val="0070C0"/>
                </a:solidFill>
              </a:rPr>
              <a:t> of actors </a:t>
            </a:r>
            <a:r>
              <a:rPr lang="en-US" altLang="zh-CN" dirty="0"/>
              <a:t>whose </a:t>
            </a:r>
            <a:r>
              <a:rPr lang="en-US" altLang="zh-CN" dirty="0">
                <a:solidFill>
                  <a:srgbClr val="00B050"/>
                </a:solidFill>
              </a:rPr>
              <a:t>first name is Russell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r>
              <a:rPr lang="en-US" dirty="0" smtClean="0"/>
              <a:t>SELECT * FROM ACTOR WHERE </a:t>
            </a:r>
            <a:r>
              <a:rPr lang="en-US" dirty="0"/>
              <a:t>FIRST_NAME=</a:t>
            </a:r>
            <a:r>
              <a:rPr lang="en-US" dirty="0" smtClean="0"/>
              <a:t>'RUSSELL</a:t>
            </a:r>
            <a:r>
              <a:rPr lang="en-US" dirty="0"/>
              <a:t>'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677" y="2926373"/>
            <a:ext cx="2590800" cy="1409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3223" y="4672924"/>
            <a:ext cx="1245870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05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2. Find </a:t>
            </a:r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information</a:t>
            </a:r>
            <a:r>
              <a:rPr lang="en-US" altLang="zh-CN" dirty="0">
                <a:solidFill>
                  <a:srgbClr val="0070C0"/>
                </a:solidFill>
              </a:rPr>
              <a:t> of actors </a:t>
            </a:r>
            <a:r>
              <a:rPr lang="en-US" altLang="zh-CN" dirty="0"/>
              <a:t>whose </a:t>
            </a:r>
            <a:r>
              <a:rPr lang="en-US" altLang="zh-CN" dirty="0">
                <a:solidFill>
                  <a:srgbClr val="00B050"/>
                </a:solidFill>
              </a:rPr>
              <a:t>first name is Russell and last name is </a:t>
            </a:r>
            <a:r>
              <a:rPr lang="en-US" altLang="zh-CN" dirty="0" smtClean="0">
                <a:solidFill>
                  <a:srgbClr val="00B050"/>
                </a:solidFill>
              </a:rPr>
              <a:t>Close</a:t>
            </a:r>
          </a:p>
          <a:p>
            <a:pPr marL="0" indent="0">
              <a:buNone/>
            </a:pPr>
            <a:r>
              <a:rPr lang="en-US" dirty="0"/>
              <a:t>SELECT * FROM ACTOR </a:t>
            </a:r>
          </a:p>
          <a:p>
            <a:pPr marL="0" indent="0">
              <a:buNone/>
            </a:pPr>
            <a:r>
              <a:rPr lang="en-US" dirty="0"/>
              <a:t>WHERE</a:t>
            </a:r>
          </a:p>
          <a:p>
            <a:pPr marL="0" indent="0">
              <a:buNone/>
            </a:pPr>
            <a:r>
              <a:rPr lang="en-US" dirty="0"/>
              <a:t>FIRST_NAME='RUSSELL'</a:t>
            </a:r>
          </a:p>
          <a:p>
            <a:pPr marL="0" indent="0">
              <a:buNone/>
            </a:pPr>
            <a:r>
              <a:rPr lang="en-US" dirty="0"/>
              <a:t>AND</a:t>
            </a:r>
          </a:p>
          <a:p>
            <a:pPr marL="0" indent="0">
              <a:buNone/>
            </a:pPr>
            <a:r>
              <a:rPr lang="en-US" dirty="0"/>
              <a:t>LAST_NAME='CLOSE'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1246" y="2073520"/>
            <a:ext cx="2590800" cy="1409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66068"/>
            <a:ext cx="69342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014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3. Find </a:t>
            </a:r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email</a:t>
            </a:r>
            <a:r>
              <a:rPr lang="en-US" altLang="zh-CN" dirty="0"/>
              <a:t> of </a:t>
            </a:r>
            <a:r>
              <a:rPr lang="en-US" altLang="zh-CN" dirty="0">
                <a:solidFill>
                  <a:srgbClr val="0070C0"/>
                </a:solidFill>
              </a:rPr>
              <a:t>customers</a:t>
            </a:r>
            <a:r>
              <a:rPr lang="en-US" altLang="zh-CN" dirty="0"/>
              <a:t> whose </a:t>
            </a:r>
            <a:r>
              <a:rPr lang="en-US" altLang="zh-CN" dirty="0">
                <a:solidFill>
                  <a:srgbClr val="00B050"/>
                </a:solidFill>
              </a:rPr>
              <a:t>first name is Harry and active is 0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r>
              <a:rPr lang="en-US" dirty="0" smtClean="0"/>
              <a:t>SELECT EMAIL FROM CUSTOMER</a:t>
            </a:r>
          </a:p>
          <a:p>
            <a:pPr marL="0" indent="0">
              <a:buNone/>
            </a:pPr>
            <a:r>
              <a:rPr lang="en-US" dirty="0" smtClean="0"/>
              <a:t>WHERE </a:t>
            </a:r>
          </a:p>
          <a:p>
            <a:pPr marL="0" indent="0">
              <a:buNone/>
            </a:pPr>
            <a:r>
              <a:rPr lang="en-US" dirty="0" smtClean="0"/>
              <a:t>FIRST_NAME='HARRY</a:t>
            </a:r>
            <a:r>
              <a:rPr lang="en-US" dirty="0"/>
              <a:t>'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AND</a:t>
            </a:r>
          </a:p>
          <a:p>
            <a:pPr marL="0" indent="0">
              <a:buNone/>
            </a:pPr>
            <a:r>
              <a:rPr lang="en-US" dirty="0" smtClean="0"/>
              <a:t>ACTIVE=0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4118" y="2060331"/>
            <a:ext cx="2486025" cy="2438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402" y="5016012"/>
            <a:ext cx="202882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61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 smtClean="0"/>
              <a:t>4. Find </a:t>
            </a:r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full name</a:t>
            </a:r>
            <a:r>
              <a:rPr lang="en-US" altLang="zh-CN" dirty="0"/>
              <a:t> of the </a:t>
            </a:r>
            <a:r>
              <a:rPr lang="en-US" altLang="zh-CN" dirty="0">
                <a:solidFill>
                  <a:srgbClr val="0070C0"/>
                </a:solidFill>
              </a:rPr>
              <a:t>actor</a:t>
            </a:r>
            <a:r>
              <a:rPr lang="en-US" altLang="zh-CN" dirty="0"/>
              <a:t> whose </a:t>
            </a:r>
            <a:r>
              <a:rPr lang="en-US" altLang="zh-CN" dirty="0">
                <a:solidFill>
                  <a:srgbClr val="00B050"/>
                </a:solidFill>
              </a:rPr>
              <a:t>id is 99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r>
              <a:rPr lang="en-US" dirty="0" smtClean="0"/>
              <a:t>SELECT FIRST_NAME, LAST_NAME</a:t>
            </a:r>
          </a:p>
          <a:p>
            <a:pPr marL="0" indent="0">
              <a:buNone/>
            </a:pPr>
            <a:r>
              <a:rPr lang="en-US" dirty="0" smtClean="0"/>
              <a:t>FROM ACTOR</a:t>
            </a:r>
          </a:p>
          <a:p>
            <a:pPr marL="0" indent="0">
              <a:buNone/>
            </a:pPr>
            <a:r>
              <a:rPr lang="en-US" dirty="0" smtClean="0"/>
              <a:t>WHERE ACTOR_ID=99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SELECT CONCAT(FIRST_NAME, </a:t>
            </a:r>
            <a:r>
              <a:rPr lang="en-US" dirty="0"/>
              <a:t>'</a:t>
            </a:r>
            <a:r>
              <a:rPr lang="en-US" dirty="0" smtClean="0"/>
              <a:t> ', LAST_NAME) AS 'FULL NAME'</a:t>
            </a:r>
          </a:p>
          <a:p>
            <a:pPr marL="0" indent="0">
              <a:buNone/>
            </a:pPr>
            <a:r>
              <a:rPr lang="en-US" dirty="0" smtClean="0"/>
              <a:t>FROM ACTOR</a:t>
            </a:r>
          </a:p>
          <a:p>
            <a:pPr marL="0" indent="0">
              <a:buNone/>
            </a:pPr>
            <a:r>
              <a:rPr lang="en-US" dirty="0" smtClean="0"/>
              <a:t>WHERE ACTOR_ID=99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1246" y="2073520"/>
            <a:ext cx="2590800" cy="1409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031" y="2073520"/>
            <a:ext cx="4410075" cy="514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313" y="4041163"/>
            <a:ext cx="933450" cy="428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976" y="3847508"/>
            <a:ext cx="5383823" cy="271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1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 smtClean="0"/>
              <a:t>5. Find </a:t>
            </a:r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title and special features</a:t>
            </a:r>
            <a:r>
              <a:rPr lang="en-US" altLang="zh-CN" dirty="0"/>
              <a:t> of the </a:t>
            </a:r>
            <a:r>
              <a:rPr lang="en-US" altLang="zh-CN" dirty="0">
                <a:solidFill>
                  <a:srgbClr val="0070C0"/>
                </a:solidFill>
              </a:rPr>
              <a:t>films</a:t>
            </a:r>
            <a:r>
              <a:rPr lang="en-US" altLang="zh-CN" dirty="0"/>
              <a:t> whose </a:t>
            </a:r>
            <a:r>
              <a:rPr lang="en-US" altLang="zh-CN" dirty="0">
                <a:solidFill>
                  <a:srgbClr val="00B050"/>
                </a:solidFill>
              </a:rPr>
              <a:t>replacement cost is lower than 20 and rental rate is higher than 4.0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r>
              <a:rPr lang="en-US" dirty="0" smtClean="0"/>
              <a:t>SELECT TITLE, SPECIAL_FEATURES</a:t>
            </a:r>
          </a:p>
          <a:p>
            <a:pPr marL="0" indent="0">
              <a:buNone/>
            </a:pPr>
            <a:r>
              <a:rPr lang="en-US" dirty="0" smtClean="0"/>
              <a:t>FROM FILM</a:t>
            </a:r>
          </a:p>
          <a:p>
            <a:pPr marL="0" indent="0">
              <a:buNone/>
            </a:pPr>
            <a:r>
              <a:rPr lang="en-US" dirty="0" smtClean="0"/>
              <a:t>WHERE </a:t>
            </a:r>
          </a:p>
          <a:p>
            <a:pPr marL="0" indent="0">
              <a:buNone/>
            </a:pPr>
            <a:r>
              <a:rPr lang="en-US" dirty="0" smtClean="0"/>
              <a:t>REPLACEMENT_COST&lt;20</a:t>
            </a:r>
          </a:p>
          <a:p>
            <a:pPr marL="0" indent="0">
              <a:buNone/>
            </a:pPr>
            <a:r>
              <a:rPr lang="en-US" dirty="0" smtClean="0"/>
              <a:t>AND</a:t>
            </a:r>
          </a:p>
          <a:p>
            <a:pPr marL="0" indent="0">
              <a:buNone/>
            </a:pPr>
            <a:r>
              <a:rPr lang="en-US" dirty="0" smtClean="0"/>
              <a:t>RENTAL_RATE&gt;4.0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713" y="1872761"/>
            <a:ext cx="3159287" cy="30164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876" y="2776528"/>
            <a:ext cx="3786920" cy="379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27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 smtClean="0"/>
              <a:t>6. Find </a:t>
            </a:r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customer id</a:t>
            </a:r>
            <a:r>
              <a:rPr lang="en-US" altLang="zh-CN" dirty="0"/>
              <a:t> of the customers who have made a </a:t>
            </a:r>
            <a:r>
              <a:rPr lang="en-US" altLang="zh-CN" dirty="0">
                <a:solidFill>
                  <a:srgbClr val="0070C0"/>
                </a:solidFill>
              </a:rPr>
              <a:t>payment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on 2005-05-25 but the amount does not exceed 3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r>
              <a:rPr lang="en-US" dirty="0" smtClean="0"/>
              <a:t>SELECT CUSTOMER_ID</a:t>
            </a:r>
          </a:p>
          <a:p>
            <a:pPr marL="0" indent="0">
              <a:buNone/>
            </a:pPr>
            <a:r>
              <a:rPr lang="en-US" dirty="0" smtClean="0"/>
              <a:t>FROM PAYMENT</a:t>
            </a:r>
          </a:p>
          <a:p>
            <a:pPr marL="0" indent="0">
              <a:buNone/>
            </a:pPr>
            <a:r>
              <a:rPr lang="en-US" dirty="0" smtClean="0"/>
              <a:t>WHERE</a:t>
            </a:r>
          </a:p>
          <a:p>
            <a:pPr marL="0" indent="0">
              <a:buNone/>
            </a:pPr>
            <a:r>
              <a:rPr lang="en-US" dirty="0" smtClean="0"/>
              <a:t>PAYMENT_DATE='2005-05-25'</a:t>
            </a:r>
          </a:p>
          <a:p>
            <a:pPr marL="0" indent="0">
              <a:buNone/>
            </a:pPr>
            <a:r>
              <a:rPr lang="en-US" dirty="0" smtClean="0"/>
              <a:t>AND </a:t>
            </a:r>
          </a:p>
          <a:p>
            <a:pPr marL="0" indent="0">
              <a:buNone/>
            </a:pPr>
            <a:r>
              <a:rPr lang="en-US" dirty="0" smtClean="0"/>
              <a:t>AMOUNT&lt;=3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520" y="2433637"/>
            <a:ext cx="2552700" cy="1990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231" y="4548554"/>
            <a:ext cx="5105400" cy="1752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69918" y="4963189"/>
            <a:ext cx="18277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Why?</a:t>
            </a:r>
            <a:endParaRPr 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28609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54459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6. Find </a:t>
            </a:r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customer id</a:t>
            </a:r>
            <a:r>
              <a:rPr lang="en-US" altLang="zh-CN" dirty="0"/>
              <a:t> of the customers who have made a </a:t>
            </a:r>
            <a:r>
              <a:rPr lang="en-US" altLang="zh-CN" dirty="0">
                <a:solidFill>
                  <a:srgbClr val="0070C0"/>
                </a:solidFill>
              </a:rPr>
              <a:t>payment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on 2005-05-25 but the amount does not exceed 3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r>
              <a:rPr lang="en-US" dirty="0" smtClean="0"/>
              <a:t>SELECT CUSTOMER_ID</a:t>
            </a:r>
          </a:p>
          <a:p>
            <a:pPr marL="0" indent="0">
              <a:buNone/>
            </a:pPr>
            <a:r>
              <a:rPr lang="en-US" dirty="0" smtClean="0"/>
              <a:t>FROM PAYMENT</a:t>
            </a:r>
          </a:p>
          <a:p>
            <a:pPr marL="0" indent="0">
              <a:buNone/>
            </a:pPr>
            <a:r>
              <a:rPr lang="en-US" dirty="0" smtClean="0"/>
              <a:t>WHERE</a:t>
            </a:r>
          </a:p>
          <a:p>
            <a:pPr marL="0" indent="0">
              <a:buNone/>
            </a:pPr>
            <a:r>
              <a:rPr lang="en-US" dirty="0" smtClean="0"/>
              <a:t>PAYMENT_DATE='2005-05-25'</a:t>
            </a:r>
          </a:p>
          <a:p>
            <a:pPr marL="0" indent="0">
              <a:buNone/>
            </a:pPr>
            <a:r>
              <a:rPr lang="en-US" dirty="0" smtClean="0"/>
              <a:t>AND </a:t>
            </a:r>
          </a:p>
          <a:p>
            <a:pPr marL="0" indent="0">
              <a:buNone/>
            </a:pPr>
            <a:r>
              <a:rPr lang="en-US" dirty="0" smtClean="0"/>
              <a:t>AMOUNT&lt;=3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SELECT PAYMENT_DATE</a:t>
            </a:r>
          </a:p>
          <a:p>
            <a:pPr marL="0" indent="0">
              <a:buNone/>
            </a:pPr>
            <a:r>
              <a:rPr lang="en-US" dirty="0" smtClean="0"/>
              <a:t>FROM PAYMENT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520" y="2433637"/>
            <a:ext cx="2552700" cy="1990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247" y="2175920"/>
            <a:ext cx="3650273" cy="12530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26614" y="3269511"/>
            <a:ext cx="18277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Why?</a:t>
            </a:r>
            <a:endParaRPr 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247" y="5086350"/>
            <a:ext cx="1638300" cy="17716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82965" y="5156088"/>
            <a:ext cx="460094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data in </a:t>
            </a:r>
            <a:r>
              <a:rPr lang="en-US" dirty="0" err="1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payment_date</a:t>
            </a:r>
            <a:r>
              <a:rPr lang="en-US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includes </a:t>
            </a:r>
          </a:p>
          <a:p>
            <a:r>
              <a:rPr lang="en-US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 only the date but also the payment time,</a:t>
            </a:r>
            <a:endParaRPr lang="en-US" dirty="0" smtClean="0"/>
          </a:p>
          <a:p>
            <a:r>
              <a:rPr lang="en-US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need to use time range to select out the </a:t>
            </a:r>
          </a:p>
          <a:p>
            <a:r>
              <a:rPr lang="en-US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965952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5445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 smtClean="0"/>
              <a:t>6. Find </a:t>
            </a:r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customer id</a:t>
            </a:r>
            <a:r>
              <a:rPr lang="en-US" altLang="zh-CN" dirty="0"/>
              <a:t> of the customers who have made a </a:t>
            </a:r>
            <a:r>
              <a:rPr lang="en-US" altLang="zh-CN" dirty="0">
                <a:solidFill>
                  <a:srgbClr val="0070C0"/>
                </a:solidFill>
              </a:rPr>
              <a:t>payment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on 2005-05-25 but the amount does not exceed 3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r>
              <a:rPr lang="en-US" dirty="0" smtClean="0"/>
              <a:t>SELECT *</a:t>
            </a:r>
          </a:p>
          <a:p>
            <a:pPr marL="0" indent="0">
              <a:buNone/>
            </a:pPr>
            <a:r>
              <a:rPr lang="en-US" dirty="0" smtClean="0"/>
              <a:t>FROM PAYMENT</a:t>
            </a:r>
          </a:p>
          <a:p>
            <a:pPr marL="0" indent="0">
              <a:buNone/>
            </a:pPr>
            <a:r>
              <a:rPr lang="en-US" dirty="0" smtClean="0"/>
              <a:t>WHERE</a:t>
            </a:r>
          </a:p>
          <a:p>
            <a:pPr marL="0" indent="0">
              <a:buNone/>
            </a:pPr>
            <a:r>
              <a:rPr lang="en-US" dirty="0" smtClean="0"/>
              <a:t>PAYMENT_DATE </a:t>
            </a:r>
          </a:p>
          <a:p>
            <a:pPr marL="0" indent="0">
              <a:buNone/>
            </a:pPr>
            <a:r>
              <a:rPr lang="en-US" dirty="0" smtClean="0"/>
              <a:t>BETWEEN '2005-05-25' AND '2005-05-26'</a:t>
            </a:r>
          </a:p>
          <a:p>
            <a:pPr marL="0" indent="0">
              <a:buNone/>
            </a:pPr>
            <a:r>
              <a:rPr lang="en-US" dirty="0" smtClean="0"/>
              <a:t>AND </a:t>
            </a:r>
          </a:p>
          <a:p>
            <a:pPr marL="0" indent="0">
              <a:buNone/>
            </a:pPr>
            <a:r>
              <a:rPr lang="en-US" dirty="0" smtClean="0"/>
              <a:t>AMOUNT&lt;=3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520" y="2433637"/>
            <a:ext cx="2552700" cy="19907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035" y="4770624"/>
            <a:ext cx="86868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21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5445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 smtClean="0"/>
              <a:t>6. Find </a:t>
            </a:r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customer id</a:t>
            </a:r>
            <a:r>
              <a:rPr lang="en-US" altLang="zh-CN" dirty="0"/>
              <a:t> of the customers who have made a </a:t>
            </a:r>
            <a:r>
              <a:rPr lang="en-US" altLang="zh-CN" dirty="0">
                <a:solidFill>
                  <a:srgbClr val="0070C0"/>
                </a:solidFill>
              </a:rPr>
              <a:t>payment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on 2005-05-25 but the amount does not exceed 3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r>
              <a:rPr lang="en-US" dirty="0" smtClean="0"/>
              <a:t>SELECT CUSTOMER_ID</a:t>
            </a:r>
          </a:p>
          <a:p>
            <a:pPr marL="0" indent="0">
              <a:buNone/>
            </a:pPr>
            <a:r>
              <a:rPr lang="en-US" dirty="0" smtClean="0"/>
              <a:t>FROM PAYMENT</a:t>
            </a:r>
          </a:p>
          <a:p>
            <a:pPr marL="0" indent="0">
              <a:buNone/>
            </a:pPr>
            <a:r>
              <a:rPr lang="en-US" dirty="0" smtClean="0"/>
              <a:t>WHERE</a:t>
            </a:r>
          </a:p>
          <a:p>
            <a:pPr marL="0" indent="0">
              <a:buNone/>
            </a:pPr>
            <a:r>
              <a:rPr lang="en-US" dirty="0" smtClean="0"/>
              <a:t>PAYMENT_DATE </a:t>
            </a:r>
          </a:p>
          <a:p>
            <a:pPr marL="0" indent="0">
              <a:buNone/>
            </a:pPr>
            <a:r>
              <a:rPr lang="en-US" dirty="0" smtClean="0"/>
              <a:t>BETWEEN '2005-05-25' AND '2005-05-26'</a:t>
            </a:r>
          </a:p>
          <a:p>
            <a:pPr marL="0" indent="0">
              <a:buNone/>
            </a:pPr>
            <a:r>
              <a:rPr lang="en-US" dirty="0" smtClean="0"/>
              <a:t>AND </a:t>
            </a:r>
          </a:p>
          <a:p>
            <a:pPr marL="0" indent="0">
              <a:buNone/>
            </a:pPr>
            <a:r>
              <a:rPr lang="en-US" dirty="0" smtClean="0"/>
              <a:t>AMOUNT&lt;=3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520" y="2433637"/>
            <a:ext cx="2552700" cy="19907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909" y="2294792"/>
            <a:ext cx="1297428" cy="489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42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5445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 smtClean="0"/>
              <a:t>6. Find </a:t>
            </a:r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customer id</a:t>
            </a:r>
            <a:r>
              <a:rPr lang="en-US" altLang="zh-CN" dirty="0"/>
              <a:t> of the customers who have made a </a:t>
            </a:r>
            <a:r>
              <a:rPr lang="en-US" altLang="zh-CN" dirty="0">
                <a:solidFill>
                  <a:srgbClr val="0070C0"/>
                </a:solidFill>
              </a:rPr>
              <a:t>payment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on 2005-05-25 but the amount does not exceed 3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b="1" u="sng" dirty="0" smtClean="0"/>
              <a:t>DISTINCT</a:t>
            </a:r>
            <a:r>
              <a:rPr lang="en-US" dirty="0" smtClean="0"/>
              <a:t> CUSTOMER_ID</a:t>
            </a:r>
          </a:p>
          <a:p>
            <a:pPr marL="0" indent="0">
              <a:buNone/>
            </a:pPr>
            <a:r>
              <a:rPr lang="en-US" dirty="0" smtClean="0"/>
              <a:t>FROM PAYMENT</a:t>
            </a:r>
          </a:p>
          <a:p>
            <a:pPr marL="0" indent="0">
              <a:buNone/>
            </a:pPr>
            <a:r>
              <a:rPr lang="en-US" dirty="0" smtClean="0"/>
              <a:t>WHERE</a:t>
            </a:r>
          </a:p>
          <a:p>
            <a:pPr marL="0" indent="0">
              <a:buNone/>
            </a:pPr>
            <a:r>
              <a:rPr lang="en-US" dirty="0" smtClean="0"/>
              <a:t>PAYMENT_DATE </a:t>
            </a:r>
          </a:p>
          <a:p>
            <a:pPr marL="0" indent="0">
              <a:buNone/>
            </a:pPr>
            <a:r>
              <a:rPr lang="en-US" dirty="0" smtClean="0"/>
              <a:t>BETWEEN '2005-05-25' AND '2005-05-26'</a:t>
            </a:r>
          </a:p>
          <a:p>
            <a:pPr marL="0" indent="0">
              <a:buNone/>
            </a:pPr>
            <a:r>
              <a:rPr lang="en-US" dirty="0" smtClean="0"/>
              <a:t>AND </a:t>
            </a:r>
          </a:p>
          <a:p>
            <a:pPr marL="0" indent="0">
              <a:buNone/>
            </a:pPr>
            <a:r>
              <a:rPr lang="en-US" dirty="0" smtClean="0"/>
              <a:t>AMOUNT&lt;=3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020" y="2363298"/>
            <a:ext cx="2552700" cy="1990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8064" y="471054"/>
            <a:ext cx="1057275" cy="6191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44620" y="5305243"/>
            <a:ext cx="3802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</a:t>
            </a:r>
            <a:r>
              <a:rPr lang="en-US" altLang="zh-CN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 DISTINCT to remove duplication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829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5445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 smtClean="0"/>
              <a:t>6. Find </a:t>
            </a:r>
            <a:r>
              <a:rPr lang="en-US" altLang="zh-CN" dirty="0"/>
              <a:t>the </a:t>
            </a:r>
            <a:r>
              <a:rPr lang="en-US" altLang="zh-CN" dirty="0">
                <a:solidFill>
                  <a:srgbClr val="FF0000"/>
                </a:solidFill>
              </a:rPr>
              <a:t>customer id</a:t>
            </a:r>
            <a:r>
              <a:rPr lang="en-US" altLang="zh-CN" dirty="0"/>
              <a:t> of the customers who have made a </a:t>
            </a:r>
            <a:r>
              <a:rPr lang="en-US" altLang="zh-CN" dirty="0">
                <a:solidFill>
                  <a:srgbClr val="0070C0"/>
                </a:solidFill>
              </a:rPr>
              <a:t>payment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on 2005-05-25 but the amount does not exceed 3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b="1" u="sng" dirty="0" smtClean="0"/>
              <a:t>DISTINCT</a:t>
            </a:r>
            <a:r>
              <a:rPr lang="en-US" dirty="0" smtClean="0"/>
              <a:t> CUSTOMER_ID</a:t>
            </a:r>
          </a:p>
          <a:p>
            <a:pPr marL="0" indent="0">
              <a:buNone/>
            </a:pPr>
            <a:r>
              <a:rPr lang="en-US" dirty="0" smtClean="0"/>
              <a:t>FROM PAYMENT</a:t>
            </a:r>
          </a:p>
          <a:p>
            <a:pPr marL="0" indent="0">
              <a:buNone/>
            </a:pPr>
            <a:r>
              <a:rPr lang="en-US" dirty="0" smtClean="0"/>
              <a:t>WHERE</a:t>
            </a:r>
          </a:p>
          <a:p>
            <a:pPr marL="0" indent="0">
              <a:buNone/>
            </a:pPr>
            <a:r>
              <a:rPr lang="en-US" dirty="0" smtClean="0"/>
              <a:t>DATE(PAYMENT_DATE) = '2005-05-25</a:t>
            </a:r>
          </a:p>
          <a:p>
            <a:pPr marL="0" indent="0">
              <a:buNone/>
            </a:pPr>
            <a:r>
              <a:rPr lang="en-US" dirty="0" smtClean="0"/>
              <a:t>AND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AMOUNT&lt;=3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344620" y="5305243"/>
            <a:ext cx="3802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</a:t>
            </a:r>
            <a:r>
              <a:rPr lang="en-US" altLang="zh-CN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 DISTINCT to remove duplication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269" y="2152636"/>
            <a:ext cx="3723731" cy="315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986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593</Words>
  <Application>Microsoft Office PowerPoint</Application>
  <PresentationFormat>Widescreen</PresentationFormat>
  <Paragraphs>102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等线</vt:lpstr>
      <vt:lpstr>等线 Light</vt:lpstr>
      <vt:lpstr>Arial</vt:lpstr>
      <vt:lpstr>Calibri</vt:lpstr>
      <vt:lpstr>Calibri Light</vt:lpstr>
      <vt:lpstr>Office Theme</vt:lpstr>
      <vt:lpstr>COMP3013 Tutorial01 Exercise Solution</vt:lpstr>
      <vt:lpstr>Exercises</vt:lpstr>
      <vt:lpstr>sakila 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COMP3013 Tutorial01 Exercise Solution</dc:title>
  <dc:creator>UIC</dc:creator>
  <cp:lastModifiedBy>UIC</cp:lastModifiedBy>
  <cp:revision>3</cp:revision>
  <dcterms:created xsi:type="dcterms:W3CDTF">2024-09-18T01:55:55Z</dcterms:created>
  <dcterms:modified xsi:type="dcterms:W3CDTF">2025-09-25T00:36:15Z</dcterms:modified>
</cp:coreProperties>
</file>