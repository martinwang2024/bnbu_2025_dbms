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2" r:id="rId3"/>
    <p:sldId id="285" r:id="rId4"/>
    <p:sldId id="286" r:id="rId5"/>
    <p:sldId id="287" r:id="rId6"/>
    <p:sldId id="290" r:id="rId7"/>
    <p:sldId id="288" r:id="rId8"/>
    <p:sldId id="289" r:id="rId9"/>
    <p:sldId id="292" r:id="rId10"/>
    <p:sldId id="293" r:id="rId11"/>
    <p:sldId id="294" r:id="rId12"/>
    <p:sldId id="291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755" autoAdjust="0"/>
    <p:restoredTop sz="94660"/>
  </p:normalViewPr>
  <p:slideViewPr>
    <p:cSldViewPr snapToGrid="0">
      <p:cViewPr>
        <p:scale>
          <a:sx n="60" d="100"/>
          <a:sy n="60" d="100"/>
        </p:scale>
        <p:origin x="-17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标题 2">
            <a:extLst>
              <a:ext uri="{FF2B5EF4-FFF2-40B4-BE49-F238E27FC236}">
                <a16:creationId xmlns:a16="http://schemas.microsoft.com/office/drawing/2014/main" id="{F9612BDE-E61E-8D40-84CC-20E6FC2B20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85899" y="2983971"/>
            <a:ext cx="9144000" cy="111389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z="1800" dirty="0">
                <a:latin typeface="Adobe Heiti Std R" panose="020B0400000000000000" pitchFamily="34" charset="-128"/>
                <a:ea typeface="Adobe Heiti Std R" panose="020B0400000000000000" pitchFamily="34" charset="-128"/>
              </a:rPr>
              <a:t>单击此处编辑母版作者信息样式</a:t>
            </a:r>
            <a:endParaRPr lang="en-US" altLang="zh-CN" sz="1800" dirty="0"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  <a:p>
            <a:endParaRPr lang="zh-CN" altLang="en-US" sz="1800" dirty="0">
              <a:effectLst/>
              <a:latin typeface="Adobe Heiti Std R" panose="020B0400000000000000" pitchFamily="34" charset="-128"/>
              <a:ea typeface="Adobe Heiti Std R" panose="020B0400000000000000" pitchFamily="34" charset="-128"/>
            </a:endParaRP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950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EFF11A6-A4E9-FC40-BA49-5AB35E591369}"/>
              </a:ext>
            </a:extLst>
          </p:cNvPr>
          <p:cNvSpPr/>
          <p:nvPr/>
        </p:nvSpPr>
        <p:spPr>
          <a:xfrm>
            <a:off x="0" y="1"/>
            <a:ext cx="12192000" cy="942109"/>
          </a:xfrm>
          <a:prstGeom prst="rect">
            <a:avLst/>
          </a:prstGeom>
          <a:gradFill flip="none" rotWithShape="1">
            <a:gsLst>
              <a:gs pos="40000">
                <a:srgbClr val="2C2DA9"/>
              </a:gs>
              <a:gs pos="13000">
                <a:srgbClr val="2C2DA9"/>
              </a:gs>
              <a:gs pos="0">
                <a:schemeClr val="bg1"/>
              </a:gs>
            </a:gsLst>
            <a:lin ang="16200000" scaled="1"/>
            <a:tileRect/>
          </a:gra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4E12615-0D3B-D24B-BE3C-E10640151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491"/>
            <a:ext cx="10515600" cy="845127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/>
              <a:t>Click to edit Master title style</a:t>
            </a:r>
            <a:endParaRPr kumimoji="1"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109224B-0794-E08D-6281-2C77DC2F62F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12078"/>
            <a:ext cx="10515600" cy="3260846"/>
          </a:xfrm>
        </p:spPr>
        <p:txBody>
          <a:bodyPr/>
          <a:lstStyle>
            <a:lvl1pPr marL="273050" indent="-273050">
              <a:buFont typeface="Arial" panose="020B0604020202020204" pitchFamily="34" charset="0"/>
              <a:buChar char="•"/>
              <a:tabLst/>
              <a:defRPr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207369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extLst>
              <a:ext uri="{FF2B5EF4-FFF2-40B4-BE49-F238E27FC236}">
                <a16:creationId xmlns:a16="http://schemas.microsoft.com/office/drawing/2014/main" id="{C18AEC02-5D85-474A-AEAD-FDF12F6D499A}"/>
              </a:ext>
            </a:extLst>
          </p:cNvPr>
          <p:cNvSpPr/>
          <p:nvPr/>
        </p:nvSpPr>
        <p:spPr>
          <a:xfrm>
            <a:off x="812797" y="1402663"/>
            <a:ext cx="10521244" cy="1058334"/>
          </a:xfrm>
          <a:prstGeom prst="roundRect">
            <a:avLst/>
          </a:prstGeom>
          <a:solidFill>
            <a:srgbClr val="3138AC"/>
          </a:solidFill>
          <a:effectLst>
            <a:outerShdw blurRad="50800" dist="38100" dir="6540000" sx="101000" sy="101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55DDCC-95E7-C241-8F16-FF95178C85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79813"/>
            <a:ext cx="9144000" cy="848376"/>
          </a:xfrm>
        </p:spPr>
        <p:txBody>
          <a:bodyPr anchor="ctr">
            <a:normAutofit/>
          </a:bodyPr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0660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5F5D26-44A1-CA4B-894C-E92F940BE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C3252C-A6BE-3D4F-B214-1E438BBDB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zh-CN" altLang="en-US" dirty="0"/>
              <a:t>编辑母版文本样式
第二级
第三级
第四级
第五级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E4E0D4-0A9E-B44F-8E15-1D2F726BFCC2}"/>
              </a:ext>
            </a:extLst>
          </p:cNvPr>
          <p:cNvSpPr/>
          <p:nvPr/>
        </p:nvSpPr>
        <p:spPr>
          <a:xfrm>
            <a:off x="0" y="6637866"/>
            <a:ext cx="4080000" cy="220134"/>
          </a:xfrm>
          <a:prstGeom prst="rect">
            <a:avLst/>
          </a:prstGeom>
          <a:solidFill>
            <a:srgbClr val="1619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COMP3013</a:t>
            </a:r>
            <a:endParaRPr kumimoji="1"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880C11-3EB2-7C44-915C-0A735C8415A3}"/>
              </a:ext>
            </a:extLst>
          </p:cNvPr>
          <p:cNvSpPr/>
          <p:nvPr/>
        </p:nvSpPr>
        <p:spPr>
          <a:xfrm>
            <a:off x="4044000" y="6637868"/>
            <a:ext cx="4080000" cy="220133"/>
          </a:xfrm>
          <a:prstGeom prst="rect">
            <a:avLst/>
          </a:prstGeom>
          <a:solidFill>
            <a:srgbClr val="2125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bg1"/>
                </a:solidFill>
              </a:rPr>
              <a:t>Lab6</a:t>
            </a:r>
            <a:r>
              <a:rPr kumimoji="1" lang="en-US" altLang="zh-CN" sz="1200" baseline="0" dirty="0">
                <a:solidFill>
                  <a:schemeClr val="bg1"/>
                </a:solidFill>
              </a:rPr>
              <a:t> Data Definition</a:t>
            </a:r>
            <a:endParaRPr kumimoji="1"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0F64495-06B2-9846-A8DD-066D25B765BE}"/>
              </a:ext>
            </a:extLst>
          </p:cNvPr>
          <p:cNvSpPr/>
          <p:nvPr/>
        </p:nvSpPr>
        <p:spPr>
          <a:xfrm>
            <a:off x="8112000" y="6637866"/>
            <a:ext cx="4080000" cy="220134"/>
          </a:xfrm>
          <a:prstGeom prst="rect">
            <a:avLst/>
          </a:prstGeom>
          <a:solidFill>
            <a:srgbClr val="2B3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5" name="日期占位符 3">
            <a:extLst>
              <a:ext uri="{FF2B5EF4-FFF2-40B4-BE49-F238E27FC236}">
                <a16:creationId xmlns:a16="http://schemas.microsoft.com/office/drawing/2014/main" id="{97BAED3B-53C8-7041-817F-696DE6D8D146}"/>
              </a:ext>
            </a:extLst>
          </p:cNvPr>
          <p:cNvSpPr txBox="1">
            <a:spLocks/>
          </p:cNvSpPr>
          <p:nvPr/>
        </p:nvSpPr>
        <p:spPr>
          <a:xfrm>
            <a:off x="9770773" y="6637866"/>
            <a:ext cx="1362187" cy="2201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6" name="日期占位符 3">
            <a:extLst>
              <a:ext uri="{FF2B5EF4-FFF2-40B4-BE49-F238E27FC236}">
                <a16:creationId xmlns:a16="http://schemas.microsoft.com/office/drawing/2014/main" id="{57D2C8FA-DD5C-BF4B-BBB3-42D100B8A34B}"/>
              </a:ext>
            </a:extLst>
          </p:cNvPr>
          <p:cNvSpPr txBox="1">
            <a:spLocks/>
          </p:cNvSpPr>
          <p:nvPr/>
        </p:nvSpPr>
        <p:spPr>
          <a:xfrm>
            <a:off x="11353800" y="6637866"/>
            <a:ext cx="728507" cy="2201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F42B4B9-4F4F-DC40-8BF5-0036F3636617}" type="slidenum">
              <a:rPr lang="en-US" sz="1000" smtClean="0">
                <a:solidFill>
                  <a:schemeClr val="bg1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pPr/>
              <a:t>‹#›</a:t>
            </a:fld>
            <a:endParaRPr lang="en-US" sz="1000" dirty="0">
              <a:solidFill>
                <a:schemeClr val="bg1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15141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273050" indent="-273050" algn="l" defTabSz="685800" rtl="0" eaLnBrk="1" latinLnBrk="0" hangingPunct="1">
        <a:lnSpc>
          <a:spcPct val="90000"/>
        </a:lnSpc>
        <a:spcBef>
          <a:spcPts val="750"/>
        </a:spcBef>
        <a:buClr>
          <a:schemeClr val="accent1"/>
        </a:buClr>
        <a:buFont typeface="Arial" panose="020B0604020202020204" pitchFamily="34" charset="0"/>
        <a:buChar char="•"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EAA6743-3346-CC98-D269-622453F94A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United International College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C4CC72-5680-51D7-FFFB-9A601CA1D4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COMP3013 DBMS Lab 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50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F7D2A-8F81-CD32-3AC8-547474B81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45299E-9D73-D6C6-04E4-5A98211AD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369597"/>
          </a:xfrm>
        </p:spPr>
        <p:txBody>
          <a:bodyPr>
            <a:norm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lectures, we have introduced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conceptual designs (ER diagrams) and logical designs (schemas).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this lab, we will implement the logical design in MySQL.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Data definition language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defines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Databases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Tables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Attributes and their types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</p:txBody>
      </p:sp>
    </p:spTree>
    <p:extLst>
      <p:ext uri="{BB962C8B-B14F-4D97-AF65-F5344CB8AC3E}">
        <p14:creationId xmlns:p14="http://schemas.microsoft.com/office/powerpoint/2010/main" val="238966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A4089-F951-16D8-021B-6A867D0850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3C83BE-8A65-BDF6-D583-46216D8DC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  <a:cs typeface="Arial" panose="020B0604020202020204" pitchFamily="34" charset="0"/>
              </a:rPr>
              <a:t>CREATE DATABASE </a:t>
            </a:r>
            <a:r>
              <a:rPr lang="en-US" dirty="0" err="1">
                <a:latin typeface="Consolas" panose="020B0609020204030204" pitchFamily="49" charset="0"/>
                <a:cs typeface="Arial" panose="020B0604020202020204" pitchFamily="34" charset="0"/>
              </a:rPr>
              <a:t>uic_example</a:t>
            </a:r>
            <a:endParaRPr lang="en-US" dirty="0">
              <a:latin typeface="Consolas" panose="020B0609020204030204" pitchFamily="49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Suppose the database is called “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uic_example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”.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Execute the query. Then, the new database will appear in the database list.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200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F9707-2ABD-806D-9282-53FC291DA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Create Tables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D83D5-7E7B-C6A6-DE01-6333CC9AA1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8"/>
                <a:ext cx="10515600" cy="4702972"/>
              </a:xfrm>
            </p:spPr>
            <p:txBody>
              <a:bodyPr>
                <a:norm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Before creating tables, let’s look at the schemas from Lecture 6.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𝑝𝑟𝑜𝑔𝑟𝑎𝑚𝑠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𝑐𝑜𝑑𝑒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𝑑𝑖𝑣𝑖𝑠𝑖𝑜𝑛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𝑑𝑖𝑟𝑒𝑐𝑡𝑜𝑟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𝑐𝑜𝑢𝑟𝑠𝑒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𝑛𝑎𝑚𝑒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𝑐𝑟𝑒𝑑𝑖𝑡𝑠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𝑑𝑜𝑚𝑎𝑖𝑛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𝑜𝑓𝑓𝑒𝑟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𝑐𝑜𝑑𝑒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𝑛𝑎𝑚𝑒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𝑠𝑒𝑐𝑡𝑖𝑜𝑛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500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𝑠𝑒𝑚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𝑣𝑒𝑛𝑢𝑒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𝑖𝑛𝑠𝑡𝑟𝑢𝑐𝑡𝑜𝑟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500" b="0" i="1" smtClean="0">
                        <a:latin typeface="Cambria Math" panose="02040503050406030204" pitchFamily="18" charset="0"/>
                      </a:rPr>
                      <m:t>𝑖𝑑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𝑒𝑛𝑟𝑜𝑙𝑙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𝑛𝑎𝑚𝑒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𝑠𝑒𝑚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𝑔𝑟𝑎𝑑𝑒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𝑠𝑡𝑢𝑑𝑒𝑛𝑡𝑠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𝑦𝑒𝑎𝑟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𝑔𝑝𝑎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𝑚𝑎𝑗𝑜𝑟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𝑖𝑛𝑠𝑡𝑟𝑢𝑐𝑡𝑜𝑟𝑠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𝑖𝑑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𝑛𝑎𝑚𝑒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𝑡𝑖𝑡𝑙𝑒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𝑠𝑎𝑙𝑎𝑟𝑦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𝑝𝑟𝑜𝑔𝑟𝑎𝑚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𝑐𝑜𝑛𝑡𝑎𝑐𝑡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𝑝h𝑜𝑛𝑒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𝑏𝑜𝑜𝑘𝑠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𝐼𝑆𝐵𝑁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𝑡𝑖𝑡𝑙𝑒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𝑎𝑢𝑡h𝑜𝑟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241300" lvl="1" indent="0">
                  <a:buNone/>
                </a:pP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𝑏𝑜𝑟𝑟𝑜𝑤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=(</m:t>
                    </m:r>
                    <m:bar>
                      <m:barPr>
                        <m:ctrlPr>
                          <a:rPr lang="en-US" sz="1500" i="1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𝑖𝑑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1500" i="1">
                            <a:latin typeface="Cambria Math" panose="02040503050406030204" pitchFamily="18" charset="0"/>
                          </a:rPr>
                          <m:t>𝐼𝑆𝐵𝑁</m:t>
                        </m:r>
                      </m:e>
                    </m:ba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𝑟𝑒𝑡𝑢𝑟𝑛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𝑏𝑜𝑟𝑟𝑜𝑤</m:t>
                    </m:r>
                    <m:r>
                      <a:rPr lang="en-US" sz="15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500" dirty="0"/>
                  <a:t> </a:t>
                </a:r>
              </a:p>
              <a:p>
                <a:pPr marL="0" indent="0">
                  <a:buNone/>
                </a:pPr>
                <a:endParaRPr lang="en-US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4D83D5-7E7B-C6A6-DE01-6333CC9AA1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8"/>
                <a:ext cx="10515600" cy="4702972"/>
              </a:xfrm>
              <a:blipFill>
                <a:blip r:embed="rId2"/>
                <a:stretch>
                  <a:fillRect l="-580" t="-16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9871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2EEA-BF2A-D77E-0699-ADFEB2206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2A17D-E107-D333-5DA0-B6A00B5DF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5121727"/>
          </a:xfrm>
        </p:spPr>
        <p:txBody>
          <a:bodyPr/>
          <a:lstStyle/>
          <a:p>
            <a:r>
              <a:rPr lang="en-US" dirty="0"/>
              <a:t>To create tables, we use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</a:t>
            </a:r>
            <a:r>
              <a:rPr lang="en-US" sz="1800" b="1" dirty="0">
                <a:latin typeface="Consolas" panose="020B0609020204030204" pitchFamily="49" charset="0"/>
              </a:rPr>
              <a:t>CREATE TABLE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table_name</a:t>
            </a:r>
            <a:r>
              <a:rPr lang="en-US" sz="1800" dirty="0">
                <a:latin typeface="Consolas" panose="020B0609020204030204" pitchFamily="49" charset="0"/>
              </a:rPr>
              <a:t> (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attribute1	type1,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attribute2	type2,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…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constraint1,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constraint2,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	…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				)</a:t>
            </a:r>
          </a:p>
          <a:p>
            <a:r>
              <a:rPr lang="en-US" dirty="0"/>
              <a:t>“</a:t>
            </a:r>
            <a:r>
              <a:rPr lang="en-US" dirty="0" err="1">
                <a:latin typeface="Consolas" panose="020B0609020204030204" pitchFamily="49" charset="0"/>
              </a:rPr>
              <a:t>table_name</a:t>
            </a:r>
            <a:r>
              <a:rPr lang="en-US" dirty="0"/>
              <a:t>” is the name of the table.</a:t>
            </a:r>
          </a:p>
          <a:p>
            <a:r>
              <a:rPr lang="en-US" dirty="0"/>
              <a:t>“</a:t>
            </a:r>
            <a:r>
              <a:rPr lang="en-US" dirty="0">
                <a:latin typeface="Consolas" panose="020B0609020204030204" pitchFamily="49" charset="0"/>
              </a:rPr>
              <a:t>attribute</a:t>
            </a:r>
            <a:r>
              <a:rPr lang="en-US" dirty="0"/>
              <a:t>” is the name of the attribute.</a:t>
            </a:r>
          </a:p>
          <a:p>
            <a:r>
              <a:rPr lang="en-US" dirty="0"/>
              <a:t>“type” is the data type for the attribute.</a:t>
            </a:r>
          </a:p>
          <a:p>
            <a:r>
              <a:rPr lang="en-US" dirty="0"/>
              <a:t>“constraint” is a condition on the table. If users try to insert some data </a:t>
            </a:r>
            <a:r>
              <a:rPr lang="en-US" altLang="zh-CN" dirty="0"/>
              <a:t>violating the condition, the system will give a warning.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1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58AEC-C2D9-636C-487F-398002D17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93FA3-6B59-7B93-94B4-17239C56C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6"/>
            <a:ext cx="10515600" cy="505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				</a:t>
            </a: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CREATE TABLE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book</a:t>
            </a:r>
            <a:r>
              <a:rPr lang="en-US" dirty="0">
                <a:latin typeface="Consolas" panose="020B0609020204030204" pitchFamily="49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ISBN</a:t>
            </a:r>
            <a:r>
              <a:rPr lang="en-US" dirty="0">
                <a:latin typeface="Consolas" panose="020B0609020204030204" pitchFamily="49" charset="0"/>
              </a:rPr>
              <a:t>		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	</a:t>
            </a:r>
            <a:r>
              <a:rPr lang="en-US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b_title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VARCHAR(40)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NOT NULL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	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author</a:t>
            </a: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VARCHAR(20)</a:t>
            </a:r>
            <a:r>
              <a:rPr lang="en-US" dirty="0">
                <a:latin typeface="Consolas" panose="020B0609020204030204" pitchFamily="49" charset="0"/>
              </a:rPr>
              <a:t>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	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PRIMARY KEY (ISBN)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Remember to select the database “UIC” before </a:t>
            </a:r>
            <a:r>
              <a:rPr lang="en-US" altLang="zh-CN" dirty="0"/>
              <a:t>executing the query.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D38A9C-0D15-25C0-F005-1000D110E621}"/>
              </a:ext>
            </a:extLst>
          </p:cNvPr>
          <p:cNvSpPr txBox="1"/>
          <p:nvPr/>
        </p:nvSpPr>
        <p:spPr>
          <a:xfrm>
            <a:off x="1381125" y="1412077"/>
            <a:ext cx="1573444" cy="41549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sz="21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Table name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2B749-D403-2F5A-0E8B-E56D8CD28B71}"/>
              </a:ext>
            </a:extLst>
          </p:cNvPr>
          <p:cNvSpPr txBox="1"/>
          <p:nvPr/>
        </p:nvSpPr>
        <p:spPr>
          <a:xfrm>
            <a:off x="1381125" y="2929682"/>
            <a:ext cx="1933543" cy="41549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sz="21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2A2C9D-C038-B9B8-AA29-48D7F99075D7}"/>
              </a:ext>
            </a:extLst>
          </p:cNvPr>
          <p:cNvSpPr txBox="1"/>
          <p:nvPr/>
        </p:nvSpPr>
        <p:spPr>
          <a:xfrm>
            <a:off x="5819775" y="4728578"/>
            <a:ext cx="1470274" cy="41549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sz="2100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0F5D7C-9B91-2882-D889-CE3F089C28A4}"/>
              </a:ext>
            </a:extLst>
          </p:cNvPr>
          <p:cNvSpPr txBox="1"/>
          <p:nvPr/>
        </p:nvSpPr>
        <p:spPr>
          <a:xfrm>
            <a:off x="7724775" y="4728578"/>
            <a:ext cx="1544012" cy="415498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/>
          <a:p>
            <a:pPr algn="l"/>
            <a:r>
              <a:rPr kumimoji="1" lang="en-US" altLang="zh-CN" sz="2100" dirty="0">
                <a:solidFill>
                  <a:schemeClr val="accent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  <a:endParaRPr kumimoji="1" lang="en-US" sz="2100" dirty="0">
              <a:solidFill>
                <a:schemeClr val="accent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32903B5-AEF4-DA16-4937-9304A8AB5F12}"/>
              </a:ext>
            </a:extLst>
          </p:cNvPr>
          <p:cNvSpPr/>
          <p:nvPr/>
        </p:nvSpPr>
        <p:spPr>
          <a:xfrm>
            <a:off x="5567265" y="2216150"/>
            <a:ext cx="606837" cy="309184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61D82140-7D68-3054-6947-E6AA41F998E9}"/>
              </a:ext>
            </a:extLst>
          </p:cNvPr>
          <p:cNvCxnSpPr>
            <a:stCxn id="4" idx="3"/>
            <a:endCxn id="20" idx="0"/>
          </p:cNvCxnSpPr>
          <p:nvPr/>
        </p:nvCxnSpPr>
        <p:spPr>
          <a:xfrm>
            <a:off x="2954569" y="1619826"/>
            <a:ext cx="2916115" cy="596324"/>
          </a:xfrm>
          <a:prstGeom prst="bentConnector2">
            <a:avLst/>
          </a:prstGeom>
          <a:ln w="158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CD086A7C-8878-F06A-3A5D-7363CDB9514C}"/>
              </a:ext>
            </a:extLst>
          </p:cNvPr>
          <p:cNvSpPr/>
          <p:nvPr/>
        </p:nvSpPr>
        <p:spPr>
          <a:xfrm>
            <a:off x="4308060" y="2580016"/>
            <a:ext cx="1132620" cy="1115683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1340F51-DA34-58D4-68BB-3331B6364D58}"/>
              </a:ext>
            </a:extLst>
          </p:cNvPr>
          <p:cNvCxnSpPr>
            <a:stCxn id="5" idx="3"/>
            <a:endCxn id="23" idx="1"/>
          </p:cNvCxnSpPr>
          <p:nvPr/>
        </p:nvCxnSpPr>
        <p:spPr>
          <a:xfrm>
            <a:off x="3314668" y="3137431"/>
            <a:ext cx="993392" cy="427"/>
          </a:xfrm>
          <a:prstGeom prst="straightConnector1">
            <a:avLst/>
          </a:prstGeom>
          <a:ln w="1587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88D93CF1-E4D3-C916-4F3A-A81CACFE1B7D}"/>
              </a:ext>
            </a:extLst>
          </p:cNvPr>
          <p:cNvSpPr/>
          <p:nvPr/>
        </p:nvSpPr>
        <p:spPr>
          <a:xfrm>
            <a:off x="5618702" y="2587301"/>
            <a:ext cx="1785398" cy="1115683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981797C0-3F70-741A-94D2-8D463723D1D4}"/>
              </a:ext>
            </a:extLst>
          </p:cNvPr>
          <p:cNvSpPr/>
          <p:nvPr/>
        </p:nvSpPr>
        <p:spPr>
          <a:xfrm>
            <a:off x="7105650" y="3765550"/>
            <a:ext cx="95639" cy="1041400"/>
          </a:xfrm>
          <a:custGeom>
            <a:avLst/>
            <a:gdLst>
              <a:gd name="connsiteX0" fmla="*/ 25400 w 95581"/>
              <a:gd name="connsiteY0" fmla="*/ 1041400 h 1041400"/>
              <a:gd name="connsiteX1" fmla="*/ 95250 w 95581"/>
              <a:gd name="connsiteY1" fmla="*/ 546100 h 1041400"/>
              <a:gd name="connsiteX2" fmla="*/ 0 w 95581"/>
              <a:gd name="connsiteY2" fmla="*/ 0 h 1041400"/>
              <a:gd name="connsiteX0" fmla="*/ 25400 w 95639"/>
              <a:gd name="connsiteY0" fmla="*/ 1041400 h 1041400"/>
              <a:gd name="connsiteX1" fmla="*/ 95250 w 95639"/>
              <a:gd name="connsiteY1" fmla="*/ 546100 h 1041400"/>
              <a:gd name="connsiteX2" fmla="*/ 0 w 95639"/>
              <a:gd name="connsiteY2" fmla="*/ 0 h 1041400"/>
              <a:gd name="connsiteX0" fmla="*/ 25400 w 95639"/>
              <a:gd name="connsiteY0" fmla="*/ 1041400 h 1041400"/>
              <a:gd name="connsiteX1" fmla="*/ 95250 w 95639"/>
              <a:gd name="connsiteY1" fmla="*/ 546100 h 1041400"/>
              <a:gd name="connsiteX2" fmla="*/ 0 w 95639"/>
              <a:gd name="connsiteY2" fmla="*/ 0 h 1041400"/>
              <a:gd name="connsiteX0" fmla="*/ 25400 w 95639"/>
              <a:gd name="connsiteY0" fmla="*/ 1041400 h 1041400"/>
              <a:gd name="connsiteX1" fmla="*/ 95250 w 95639"/>
              <a:gd name="connsiteY1" fmla="*/ 546100 h 1041400"/>
              <a:gd name="connsiteX2" fmla="*/ 0 w 95639"/>
              <a:gd name="connsiteY2" fmla="*/ 0 h 1041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639" h="1041400">
                <a:moveTo>
                  <a:pt x="25400" y="1041400"/>
                </a:moveTo>
                <a:cubicBezTo>
                  <a:pt x="68791" y="950383"/>
                  <a:pt x="99483" y="719667"/>
                  <a:pt x="95250" y="546100"/>
                </a:cubicBezTo>
                <a:cubicBezTo>
                  <a:pt x="97367" y="397933"/>
                  <a:pt x="26458" y="84666"/>
                  <a:pt x="0" y="0"/>
                </a:cubicBezTo>
              </a:path>
            </a:pathLst>
          </a:custGeom>
          <a:noFill/>
          <a:ln w="15875">
            <a:solidFill>
              <a:schemeClr val="accent5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6E25A3-0AB1-1714-BB8D-307F8136946E}"/>
              </a:ext>
            </a:extLst>
          </p:cNvPr>
          <p:cNvSpPr/>
          <p:nvPr/>
        </p:nvSpPr>
        <p:spPr>
          <a:xfrm>
            <a:off x="7724774" y="2929682"/>
            <a:ext cx="1363787" cy="415498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24C2F4D-8DFD-349D-2857-E81AAC93D1BF}"/>
              </a:ext>
            </a:extLst>
          </p:cNvPr>
          <p:cNvSpPr/>
          <p:nvPr/>
        </p:nvSpPr>
        <p:spPr>
          <a:xfrm>
            <a:off x="4308060" y="3757667"/>
            <a:ext cx="2708830" cy="343220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BDD346A-5D09-5011-B67C-3EB0CEC543F1}"/>
              </a:ext>
            </a:extLst>
          </p:cNvPr>
          <p:cNvCxnSpPr>
            <a:cxnSpLocks/>
            <a:stCxn id="7" idx="0"/>
            <a:endCxn id="33" idx="2"/>
          </p:cNvCxnSpPr>
          <p:nvPr/>
        </p:nvCxnSpPr>
        <p:spPr>
          <a:xfrm flipH="1" flipV="1">
            <a:off x="8406668" y="3345180"/>
            <a:ext cx="90113" cy="1383398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4F90316F-F820-FFFC-355C-118E8A812DE5}"/>
              </a:ext>
            </a:extLst>
          </p:cNvPr>
          <p:cNvCxnSpPr>
            <a:cxnSpLocks/>
          </p:cNvCxnSpPr>
          <p:nvPr/>
        </p:nvCxnSpPr>
        <p:spPr>
          <a:xfrm flipH="1" flipV="1">
            <a:off x="6993013" y="4100887"/>
            <a:ext cx="1039276" cy="627691"/>
          </a:xfrm>
          <a:prstGeom prst="straightConnector1">
            <a:avLst/>
          </a:prstGeom>
          <a:ln w="158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86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20" grpId="0" animBg="1"/>
      <p:bldP spid="23" grpId="0" animBg="1"/>
      <p:bldP spid="26" grpId="0" animBg="1"/>
      <p:bldP spid="32" grpId="0" animBg="1"/>
      <p:bldP spid="33" grpId="0" animBg="1"/>
      <p:bldP spid="3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728D3-5C0A-8CE0-3F2E-4AA896154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Types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29E73-D2B6-8D8D-0B8B-5334870FE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412077"/>
                <a:ext cx="10887076" cy="5036347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char(n)</a:t>
                </a:r>
                <a:r>
                  <a:rPr lang="en-US" altLang="zh-CN" dirty="0">
                    <a:ea typeface="宋体" charset="-122"/>
                  </a:rPr>
                  <a:t> 		fixed length character string of at most length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.</a:t>
                </a:r>
                <a:endParaRPr lang="en-US" altLang="zh-CN" dirty="0">
                  <a:ea typeface="宋体" charset="-122"/>
                </a:endParaRP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varchar(n)</a:t>
                </a:r>
                <a:r>
                  <a:rPr lang="en-US" altLang="zh-CN" b="1" dirty="0">
                    <a:ea typeface="宋体" charset="-122"/>
                  </a:rPr>
                  <a:t>	</a:t>
                </a:r>
                <a:r>
                  <a:rPr lang="en-US" altLang="zh-CN" dirty="0">
                    <a:ea typeface="宋体" charset="-122"/>
                  </a:rPr>
                  <a:t>variable length character string of at most length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i="1" dirty="0">
                    <a:ea typeface="宋体" charset="-122"/>
                  </a:rPr>
                  <a:t>.</a:t>
                </a: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int</a:t>
                </a:r>
                <a:r>
                  <a:rPr lang="en-US" altLang="zh-CN" b="1" dirty="0">
                    <a:ea typeface="宋体" charset="-122"/>
                  </a:rPr>
                  <a:t> 		</a:t>
                </a:r>
                <a:r>
                  <a:rPr lang="en-US" altLang="zh-CN" dirty="0">
                    <a:ea typeface="宋体" charset="-122"/>
                  </a:rPr>
                  <a:t>integer (a finite subset of the integers that is machine-dependent).</a:t>
                </a:r>
              </a:p>
              <a:p>
                <a:pPr defTabSz="688975"/>
                <a:r>
                  <a:rPr lang="en-US" altLang="zh-CN" b="1" dirty="0" err="1">
                    <a:latin typeface="Consolas" panose="020B0609020204030204" pitchFamily="49" charset="0"/>
                    <a:ea typeface="宋体" charset="-122"/>
                  </a:rPr>
                  <a:t>smallint</a:t>
                </a:r>
                <a:r>
                  <a:rPr lang="en-US" altLang="zh-CN" dirty="0">
                    <a:ea typeface="宋体" charset="-122"/>
                  </a:rPr>
                  <a:t> 	small integer (a machine-dependent subset of the integer domain type).</a:t>
                </a:r>
              </a:p>
              <a:p>
                <a:pPr>
                  <a:tabLst>
                    <a:tab pos="542925" algn="l"/>
                  </a:tabLst>
                </a:pP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numeric(</a:t>
                </a:r>
                <a:r>
                  <a:rPr lang="en-US" altLang="zh-CN" b="1" dirty="0" err="1">
                    <a:latin typeface="Consolas" panose="020B0609020204030204" pitchFamily="49" charset="0"/>
                    <a:ea typeface="宋体" charset="-122"/>
                  </a:rPr>
                  <a:t>p,n</a:t>
                </a:r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)	</a:t>
                </a:r>
                <a:r>
                  <a:rPr lang="en-US" altLang="zh-CN" dirty="0">
                    <a:ea typeface="宋体" charset="-122"/>
                  </a:rPr>
                  <a:t>fixed point number, with user-specified precision of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𝑝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digits, and with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				digits to the right of decimal point. </a:t>
                </a: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real</a:t>
                </a:r>
                <a:r>
                  <a:rPr lang="en-US" altLang="zh-CN" dirty="0">
                    <a:ea typeface="宋体" charset="-122"/>
                  </a:rPr>
                  <a:t> 		floating point, with machine-dependent precision.</a:t>
                </a: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float(n)</a:t>
                </a:r>
                <a:r>
                  <a:rPr lang="en-US" altLang="zh-CN" dirty="0">
                    <a:ea typeface="宋体" charset="-122"/>
                  </a:rPr>
                  <a:t> 	floating point number, with user-specified precision of at least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宋体" charset="-122"/>
                      </a:rPr>
                      <m:t>𝑛</m:t>
                    </m:r>
                  </m:oMath>
                </a14:m>
                <a:r>
                  <a:rPr lang="en-US" altLang="zh-CN" dirty="0">
                    <a:ea typeface="宋体" charset="-122"/>
                  </a:rPr>
                  <a:t> digits.</a:t>
                </a: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year		</a:t>
                </a:r>
                <a:r>
                  <a:rPr lang="en-US" altLang="zh-CN" dirty="0">
                    <a:ea typeface="宋体" charset="-122"/>
                  </a:rPr>
                  <a:t>4-digit string or 4-digit number from 1901 to 2155.</a:t>
                </a:r>
                <a:endParaRPr lang="en-US" altLang="zh-CN" b="1" dirty="0">
                  <a:latin typeface="Consolas" panose="020B0609020204030204" pitchFamily="49" charset="0"/>
                  <a:ea typeface="宋体" charset="-122"/>
                </a:endParaRP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date		</a:t>
                </a:r>
                <a:r>
                  <a:rPr lang="en-US" altLang="zh-CN" dirty="0">
                    <a:ea typeface="宋体" charset="-122"/>
                  </a:rPr>
                  <a:t>in ‘YYYY-MM-DD’ format from 1000-01-01 to 9999-12-31.</a:t>
                </a:r>
                <a:endParaRPr lang="en-US" altLang="zh-CN" b="1" dirty="0">
                  <a:latin typeface="Consolas" panose="020B0609020204030204" pitchFamily="49" charset="0"/>
                  <a:ea typeface="宋体" charset="-122"/>
                </a:endParaRP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time		</a:t>
                </a:r>
                <a:r>
                  <a:rPr lang="en-US" altLang="zh-CN" dirty="0">
                    <a:ea typeface="宋体" charset="-122"/>
                  </a:rPr>
                  <a:t>in ‘HH:MM:SS’ format.</a:t>
                </a:r>
                <a:endParaRPr lang="en-US" altLang="zh-CN" b="1" dirty="0">
                  <a:latin typeface="Consolas" panose="020B0609020204030204" pitchFamily="49" charset="0"/>
                  <a:ea typeface="宋体" charset="-122"/>
                </a:endParaRPr>
              </a:p>
              <a:p>
                <a:r>
                  <a:rPr lang="en-US" altLang="zh-CN" b="1" dirty="0">
                    <a:latin typeface="Consolas" panose="020B0609020204030204" pitchFamily="49" charset="0"/>
                    <a:ea typeface="宋体" charset="-122"/>
                  </a:rPr>
                  <a:t>blob</a:t>
                </a:r>
                <a:r>
                  <a:rPr lang="en-US" altLang="zh-CN" dirty="0">
                    <a:ea typeface="宋体" charset="-122"/>
                  </a:rPr>
                  <a:t> 		binary large object, usually for images.</a:t>
                </a:r>
              </a:p>
              <a:p>
                <a:r>
                  <a:rPr lang="en-US" altLang="zh-CN" b="1" dirty="0" err="1">
                    <a:latin typeface="Consolas" panose="020B0609020204030204" pitchFamily="49" charset="0"/>
                    <a:ea typeface="宋体" charset="-122"/>
                  </a:rPr>
                  <a:t>clob</a:t>
                </a:r>
                <a:r>
                  <a:rPr lang="en-US" altLang="zh-CN" dirty="0">
                    <a:ea typeface="宋体" charset="-122"/>
                  </a:rPr>
                  <a:t>		character large object, usually for long text.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1829E73-D2B6-8D8D-0B8B-5334870FE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412077"/>
                <a:ext cx="10887076" cy="5036347"/>
              </a:xfrm>
              <a:blipFill>
                <a:blip r:embed="rId2"/>
                <a:stretch>
                  <a:fillRect l="-504" t="-1695" b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4491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2BA9F-4764-3FBE-930A-F31DA547D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Constraints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DFE54-D281-4B36-0501-37A470BB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483897"/>
          </a:xfrm>
        </p:spPr>
        <p:txBody>
          <a:bodyPr/>
          <a:lstStyle/>
          <a:p>
            <a:r>
              <a:rPr lang="en-US" b="1" dirty="0">
                <a:latin typeface="Consolas" panose="020B0609020204030204" pitchFamily="49" charset="0"/>
              </a:rPr>
              <a:t>PRIMARY KEY (attribute)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One or multiple attribute(s)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Uniquely identify the tuples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Unique for each table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Cannot be a NULL value by default</a:t>
            </a:r>
          </a:p>
          <a:p>
            <a:r>
              <a:rPr lang="en-US" b="1" dirty="0">
                <a:latin typeface="Consolas" panose="020B0609020204030204" pitchFamily="49" charset="0"/>
              </a:rPr>
              <a:t>NOT NULL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value of the attribute cannot be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unknown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condition is checked when rows are inserted into the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62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0F48-CA7B-D6EC-0C3C-A697DF83B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8D4E0-B372-ADC5-9B03-000778A5E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7"/>
            <a:ext cx="10515600" cy="4569623"/>
          </a:xfrm>
        </p:spPr>
        <p:txBody>
          <a:bodyPr>
            <a:normAutofit/>
          </a:bodyPr>
          <a:lstStyle/>
          <a:p>
            <a:r>
              <a:rPr lang="en-US" dirty="0"/>
              <a:t>Define the table for “borrow”.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		</a:t>
            </a:r>
            <a:r>
              <a:rPr lang="en-US" dirty="0">
                <a:latin typeface="Consolas" panose="020B0609020204030204" pitchFamily="49" charset="0"/>
              </a:rPr>
              <a:t>CREATE TABLE borrow(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id			INT 	NOT NULL,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IS</a:t>
            </a:r>
            <a:r>
              <a:rPr lang="en-US" altLang="zh-CN" dirty="0">
                <a:latin typeface="Consolas" panose="020B0609020204030204" pitchFamily="49" charset="0"/>
              </a:rPr>
              <a:t>BN			INT	NOT NULL,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</a:rPr>
              <a:t>return_date</a:t>
            </a:r>
            <a:r>
              <a:rPr lang="en-US" dirty="0">
                <a:latin typeface="Consolas" panose="020B0609020204030204" pitchFamily="49" charset="0"/>
              </a:rPr>
              <a:t>	DATE,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</a:t>
            </a:r>
            <a:r>
              <a:rPr lang="en-US" dirty="0" err="1">
                <a:latin typeface="Consolas" panose="020B0609020204030204" pitchFamily="49" charset="0"/>
              </a:rPr>
              <a:t>borrow_date</a:t>
            </a:r>
            <a:r>
              <a:rPr lang="en-US" dirty="0">
                <a:latin typeface="Consolas" panose="020B0609020204030204" pitchFamily="49" charset="0"/>
              </a:rPr>
              <a:t>	DATE	NOT NULL,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	PRIMARY KEY (id, ISBN)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		)</a:t>
            </a:r>
          </a:p>
        </p:txBody>
      </p:sp>
    </p:spTree>
    <p:extLst>
      <p:ext uri="{BB962C8B-B14F-4D97-AF65-F5344CB8AC3E}">
        <p14:creationId xmlns:p14="http://schemas.microsoft.com/office/powerpoint/2010/main" val="282221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7E52-1EEF-410B-F6D9-AB76919D5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85194-C132-5733-923E-580A0E139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12078"/>
                <a:ext cx="10515600" cy="51125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𝑏𝑜𝑜𝑘</m:t>
                    </m:r>
                    <m:r>
                      <a:rPr lang="en-US" altLang="zh-CN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𝐼𝑆𝐵𝑁</m:t>
                        </m:r>
                      </m:e>
                    </m:ba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𝑏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𝑡𝑖𝑡𝑙𝑒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𝑎𝑢𝑡h𝑜𝑟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altLang="zh-CN" i="1" dirty="0">
                    <a:solidFill>
                      <a:schemeClr val="tx1"/>
                    </a:solidFill>
                    <a:ea typeface="宋体" charset="-122"/>
                  </a:rPr>
                  <a:t>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𝑏𝑜𝑟𝑟𝑜𝑤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=(</m:t>
                    </m:r>
                    <m:bar>
                      <m:barPr>
                        <m:ctrlPr>
                          <a:rPr lang="en-US" altLang="zh-CN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</m:ctrlPr>
                      </m:barPr>
                      <m:e>
                        <m:r>
                          <a:rPr lang="en-US" altLang="zh-CN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𝑖𝑑</m:t>
                        </m:r>
                        <m:r>
                          <a:rPr lang="en-US" altLang="zh-CN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,</m:t>
                        </m:r>
                        <m:r>
                          <a:rPr lang="en-US" altLang="zh-CN" i="1" dirty="0" err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宋体" charset="-122"/>
                          </a:rPr>
                          <m:t>𝐼𝑆𝐵𝑁</m:t>
                        </m:r>
                      </m:e>
                    </m:ba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𝑟𝑒𝑡𝑢𝑟𝑛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𝑑𝑎𝑡𝑒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,</m:t>
                    </m:r>
                    <m:r>
                      <a:rPr lang="en-US" altLang="zh-CN" i="1" dirty="0" err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𝑏𝑜𝑟𝑟𝑜𝑤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_</m:t>
                    </m:r>
                    <m:r>
                      <a:rPr lang="en-US" altLang="zh-CN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𝑑𝑎𝑡𝑒</m:t>
                    </m:r>
                    <m:r>
                      <a:rPr lang="en-US" altLang="zh-CN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宋体" charset="-122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 value of “ISBN” in “borrow” cannot exist if such an ISBN is not in “book”. (How do you borrow a book which does not exist?)</a:t>
                </a:r>
              </a:p>
              <a:p>
                <a:r>
                  <a:rPr lang="en-US" dirty="0"/>
                  <a:t>Thus, “</a:t>
                </a:r>
                <a:r>
                  <a:rPr lang="en-US" dirty="0">
                    <a:solidFill>
                      <a:srgbClr val="C00000"/>
                    </a:solidFill>
                  </a:rPr>
                  <a:t>ISBN</a:t>
                </a:r>
                <a:r>
                  <a:rPr lang="en-US" dirty="0"/>
                  <a:t>” in “</a:t>
                </a:r>
                <a:r>
                  <a:rPr lang="en-US" dirty="0">
                    <a:solidFill>
                      <a:srgbClr val="C00000"/>
                    </a:solidFill>
                  </a:rPr>
                  <a:t>borrow</a:t>
                </a:r>
                <a:r>
                  <a:rPr lang="en-US" dirty="0"/>
                  <a:t>” is a </a:t>
                </a:r>
                <a:r>
                  <a:rPr lang="en-US" dirty="0">
                    <a:solidFill>
                      <a:srgbClr val="C00000"/>
                    </a:solidFill>
                  </a:rPr>
                  <a:t>foreign key referencing</a:t>
                </a:r>
                <a:r>
                  <a:rPr lang="en-US" dirty="0"/>
                  <a:t> to “</a:t>
                </a:r>
                <a:r>
                  <a:rPr lang="en-US" dirty="0">
                    <a:solidFill>
                      <a:srgbClr val="C00000"/>
                    </a:solidFill>
                  </a:rPr>
                  <a:t>ISBN</a:t>
                </a:r>
                <a:r>
                  <a:rPr lang="en-US" dirty="0"/>
                  <a:t>” in “</a:t>
                </a:r>
                <a:r>
                  <a:rPr lang="en-US" dirty="0">
                    <a:solidFill>
                      <a:srgbClr val="C00000"/>
                    </a:solidFill>
                  </a:rPr>
                  <a:t>book</a:t>
                </a:r>
                <a:r>
                  <a:rPr lang="en-US" dirty="0"/>
                  <a:t>”.</a:t>
                </a:r>
              </a:p>
              <a:p>
                <a:r>
                  <a:rPr lang="en-US" dirty="0"/>
                  <a:t>When users try to </a:t>
                </a:r>
                <a:r>
                  <a:rPr lang="en-US" dirty="0">
                    <a:solidFill>
                      <a:srgbClr val="C00000"/>
                    </a:solidFill>
                  </a:rPr>
                  <a:t>borrow</a:t>
                </a:r>
                <a:r>
                  <a:rPr lang="en-US" dirty="0"/>
                  <a:t> a </a:t>
                </a:r>
                <a:r>
                  <a:rPr lang="en-US" dirty="0">
                    <a:solidFill>
                      <a:srgbClr val="C00000"/>
                    </a:solidFill>
                  </a:rPr>
                  <a:t>book</a:t>
                </a:r>
                <a:r>
                  <a:rPr lang="en-US" dirty="0"/>
                  <a:t> (</a:t>
                </a:r>
                <a:r>
                  <a:rPr lang="en-US" dirty="0">
                    <a:solidFill>
                      <a:srgbClr val="C00000"/>
                    </a:solidFill>
                  </a:rPr>
                  <a:t>insert</a:t>
                </a: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a row </a:t>
                </a:r>
                <a:r>
                  <a:rPr lang="en-US" dirty="0"/>
                  <a:t>to table “</a:t>
                </a:r>
                <a:r>
                  <a:rPr lang="en-US" dirty="0">
                    <a:solidFill>
                      <a:srgbClr val="C00000"/>
                    </a:solidFill>
                  </a:rPr>
                  <a:t>borrow</a:t>
                </a:r>
                <a:r>
                  <a:rPr lang="en-US" dirty="0"/>
                  <a:t>”), the </a:t>
                </a:r>
                <a:r>
                  <a:rPr lang="en-US" dirty="0">
                    <a:solidFill>
                      <a:srgbClr val="C00000"/>
                    </a:solidFill>
                  </a:rPr>
                  <a:t>system</a:t>
                </a:r>
                <a:r>
                  <a:rPr lang="en-US" dirty="0"/>
                  <a:t> should </a:t>
                </a:r>
                <a:r>
                  <a:rPr lang="en-US" dirty="0">
                    <a:solidFill>
                      <a:srgbClr val="C00000"/>
                    </a:solidFill>
                  </a:rPr>
                  <a:t>check</a:t>
                </a:r>
                <a:r>
                  <a:rPr lang="en-US" dirty="0"/>
                  <a:t> the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existence</a:t>
                </a:r>
                <a:r>
                  <a:rPr lang="en-US" altLang="zh-CN" dirty="0"/>
                  <a:t>.</a:t>
                </a:r>
              </a:p>
              <a:p>
                <a:endParaRPr lang="en-US" altLang="zh-CN" dirty="0"/>
              </a:p>
              <a:p>
                <a:r>
                  <a:rPr lang="en-US" altLang="zh-CN" b="1" dirty="0">
                    <a:latin typeface="Consolas" panose="020B0609020204030204" pitchFamily="49" charset="0"/>
                  </a:rPr>
                  <a:t>FOREIGN KEY (attribute(s)1) REFERENCES table2(attribute(s)2)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“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attribute(s)1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” in the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current table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and “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attribute(s)2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” in “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table2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” represent the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same piece of information.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“attribute(s)2” is the </a:t>
                </a:r>
                <a:r>
                  <a:rPr lang="en-US" dirty="0">
                    <a:solidFill>
                      <a:srgbClr val="C0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primary key 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for “table2”.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A value of “attribute(s)1” in the current table </a:t>
                </a:r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cannot exist alone</a:t>
                </a:r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lvl="1"/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More will be on this in the following labs.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7085194-C132-5733-923E-580A0E139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12078"/>
                <a:ext cx="10515600" cy="5112548"/>
              </a:xfrm>
              <a:blipFill>
                <a:blip r:embed="rId2"/>
                <a:stretch>
                  <a:fillRect l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5530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6BBBC-713D-B34C-903A-AB111A88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Foreign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60798-4D27-FA2D-5DAA-D556AC5791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741072"/>
          </a:xfrm>
        </p:spPr>
        <p:txBody>
          <a:bodyPr/>
          <a:lstStyle/>
          <a:p>
            <a:r>
              <a:rPr lang="en-US" dirty="0"/>
              <a:t>To add foreign keys to an existing table, we need to change the schema.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C00000"/>
                </a:solidFill>
                <a:latin typeface="Consolas" panose="020B0609020204030204" pitchFamily="49" charset="0"/>
              </a:rPr>
              <a:t>ALTER TABLE </a:t>
            </a:r>
            <a:r>
              <a:rPr lang="en-US" sz="1800" dirty="0">
                <a:latin typeface="Consolas" panose="020B0609020204030204" pitchFamily="49" charset="0"/>
              </a:rPr>
              <a:t>borrow </a:t>
            </a:r>
            <a:r>
              <a:rPr lang="en-US" sz="1800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FOREIGN KEY </a:t>
            </a:r>
            <a:r>
              <a:rPr lang="en-US" sz="1800" dirty="0">
                <a:latin typeface="Consolas" panose="020B0609020204030204" pitchFamily="49" charset="0"/>
              </a:rPr>
              <a:t>(ISBN) </a:t>
            </a:r>
            <a:r>
              <a:rPr lang="en-US" sz="1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REFERENCES</a:t>
            </a:r>
            <a:r>
              <a:rPr lang="en-US" sz="1800" dirty="0">
                <a:latin typeface="Consolas" panose="020B0609020204030204" pitchFamily="49" charset="0"/>
              </a:rPr>
              <a:t> books(ISBN)</a:t>
            </a:r>
          </a:p>
          <a:p>
            <a:endParaRPr lang="en-US" dirty="0"/>
          </a:p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ALTER TABLE</a:t>
            </a:r>
            <a:r>
              <a:rPr lang="en-US" dirty="0"/>
              <a:t>: the keyword to change the schema of a table.</a:t>
            </a:r>
          </a:p>
          <a:p>
            <a:r>
              <a:rPr lang="en-US" dirty="0">
                <a:latin typeface="Consolas" panose="020B0609020204030204" pitchFamily="49" charset="0"/>
              </a:rPr>
              <a:t>borrow</a:t>
            </a:r>
            <a:r>
              <a:rPr lang="en-US" dirty="0"/>
              <a:t>: the table name.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ADD</a:t>
            </a:r>
            <a:r>
              <a:rPr lang="en-US" dirty="0"/>
              <a:t>: to add new attributes or constraints (“</a:t>
            </a:r>
            <a:r>
              <a:rPr lang="en-US" dirty="0">
                <a:latin typeface="Consolas" panose="020B0609020204030204" pitchFamily="49" charset="0"/>
              </a:rPr>
              <a:t>DROP</a:t>
            </a:r>
            <a:r>
              <a:rPr lang="en-US" dirty="0"/>
              <a:t>” to remove attributes or constraints).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</a:rPr>
              <a:t>FOREIGN KEY</a:t>
            </a:r>
            <a:r>
              <a:rPr lang="en-US" dirty="0"/>
              <a:t>: the constraint.</a:t>
            </a:r>
          </a:p>
          <a:p>
            <a:r>
              <a:rPr lang="en-US" dirty="0">
                <a:latin typeface="Consolas" panose="020B0609020204030204" pitchFamily="49" charset="0"/>
              </a:rPr>
              <a:t>(ISBN)</a:t>
            </a:r>
            <a:r>
              <a:rPr lang="en-US" dirty="0"/>
              <a:t>: the foreign key.</a:t>
            </a:r>
          </a:p>
          <a:p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</a:rPr>
              <a:t>REFERENCES</a:t>
            </a:r>
            <a:r>
              <a:rPr lang="en-US" dirty="0"/>
              <a:t>: the keyword to indicate which attribute is the target.</a:t>
            </a:r>
          </a:p>
          <a:p>
            <a:r>
              <a:rPr lang="en-US" dirty="0">
                <a:latin typeface="Consolas" panose="020B0609020204030204" pitchFamily="49" charset="0"/>
              </a:rPr>
              <a:t>books(ISBN)</a:t>
            </a:r>
            <a:r>
              <a:rPr lang="en-US" dirty="0"/>
              <a:t>: the attribute “ISBN” in the table “books” is referenced.</a:t>
            </a:r>
          </a:p>
        </p:txBody>
      </p:sp>
    </p:spTree>
    <p:extLst>
      <p:ext uri="{BB962C8B-B14F-4D97-AF65-F5344CB8AC3E}">
        <p14:creationId xmlns:p14="http://schemas.microsoft.com/office/powerpoint/2010/main" val="14743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94C1-CB74-4CFB-7719-ADB41F916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Exercises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25AF0-D8CB-78D6-EF64-AA6C3AE3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2078"/>
            <a:ext cx="10515600" cy="4150522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Implement the logical design in MySQL</a:t>
            </a:r>
            <a:endParaRPr lang="en-US" dirty="0"/>
          </a:p>
          <a:p>
            <a:r>
              <a:rPr lang="en-US" dirty="0"/>
              <a:t>Create one table for each of the schema.</a:t>
            </a:r>
          </a:p>
          <a:p>
            <a:r>
              <a:rPr lang="en-US" dirty="0"/>
              <a:t>Define the primary key.</a:t>
            </a:r>
          </a:p>
          <a:p>
            <a:r>
              <a:rPr lang="en-US" dirty="0"/>
              <a:t>Define the </a:t>
            </a:r>
            <a:r>
              <a:rPr lang="en-US" altLang="zh-CN" dirty="0"/>
              <a:t>suitable data type for each attribute.</a:t>
            </a:r>
          </a:p>
          <a:p>
            <a:r>
              <a:rPr lang="en-US" dirty="0"/>
              <a:t>Define the foreign keys.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Save your queries in a txt file. Rename it as “COMP3013 Lab6 ###.txt”, where “###” is your student ID. And submit it on iSpace. The DDL is </a:t>
            </a:r>
            <a:r>
              <a:rPr lang="en-US" dirty="0">
                <a:solidFill>
                  <a:srgbClr val="FF0000"/>
                </a:solidFill>
              </a:rPr>
              <a:t>24</a:t>
            </a:r>
            <a:r>
              <a:rPr lang="en-US" dirty="0"/>
              <a:t> hours after the lab.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3751475"/>
      </p:ext>
    </p:extLst>
  </p:cSld>
  <p:clrMapOvr>
    <a:masterClrMapping/>
  </p:clrMapOvr>
</p:sld>
</file>

<file path=ppt/theme/theme1.xml><?xml version="1.0" encoding="utf-8"?>
<a:theme xmlns:a="http://schemas.openxmlformats.org/drawingml/2006/main" name="DBMS latex">
  <a:themeElements>
    <a:clrScheme name="自定义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C2CAA"/>
      </a:accent1>
      <a:accent2>
        <a:srgbClr val="A94F0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 algn="l">
          <a:defRPr kumimoji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BMS latex" id="{C853DD06-80DD-4A92-985C-00F9462CBF3D}" vid="{2DB0D723-8C41-4574-B925-747B267380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5052</TotalTime>
  <Words>1107</Words>
  <Application>Microsoft Office PowerPoint</Application>
  <PresentationFormat>Widescreen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Adobe Heiti Std R</vt:lpstr>
      <vt:lpstr>Hiragino Sans GB W3</vt:lpstr>
      <vt:lpstr>等线</vt:lpstr>
      <vt:lpstr>宋体</vt:lpstr>
      <vt:lpstr>Microsoft YaHei</vt:lpstr>
      <vt:lpstr>Arial</vt:lpstr>
      <vt:lpstr>Cambria Math</vt:lpstr>
      <vt:lpstr>Consolas</vt:lpstr>
      <vt:lpstr>DBMS latex</vt:lpstr>
      <vt:lpstr>COMP3013 DBMS Lab 6</vt:lpstr>
      <vt:lpstr>Data Definition</vt:lpstr>
      <vt:lpstr>Create Database</vt:lpstr>
      <vt:lpstr>Create Tables</vt:lpstr>
      <vt:lpstr>Create Tables</vt:lpstr>
      <vt:lpstr>Example</vt:lpstr>
      <vt:lpstr>Data Types</vt:lpstr>
      <vt:lpstr>Constraints</vt:lpstr>
      <vt:lpstr>Example</vt:lpstr>
      <vt:lpstr>Foreign key</vt:lpstr>
      <vt:lpstr>Foreign key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Zhiyuan Li</dc:creator>
  <cp:lastModifiedBy>UIC</cp:lastModifiedBy>
  <cp:revision>103</cp:revision>
  <dcterms:created xsi:type="dcterms:W3CDTF">2022-06-15T04:17:56Z</dcterms:created>
  <dcterms:modified xsi:type="dcterms:W3CDTF">2025-10-21T08:10:56Z</dcterms:modified>
</cp:coreProperties>
</file>