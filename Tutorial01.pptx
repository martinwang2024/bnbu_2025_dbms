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540" r:id="rId4"/>
    <p:sldId id="542" r:id="rId5"/>
    <p:sldId id="541" r:id="rId6"/>
    <p:sldId id="535" r:id="rId7"/>
    <p:sldId id="536" r:id="rId8"/>
    <p:sldId id="556" r:id="rId9"/>
    <p:sldId id="532" r:id="rId10"/>
    <p:sldId id="543" r:id="rId11"/>
    <p:sldId id="545" r:id="rId12"/>
    <p:sldId id="557" r:id="rId13"/>
    <p:sldId id="547" r:id="rId14"/>
    <p:sldId id="558" r:id="rId15"/>
    <p:sldId id="537" r:id="rId16"/>
    <p:sldId id="549" r:id="rId17"/>
    <p:sldId id="550" r:id="rId18"/>
    <p:sldId id="551" r:id="rId19"/>
    <p:sldId id="559" r:id="rId20"/>
    <p:sldId id="269" r:id="rId21"/>
    <p:sldId id="270" r:id="rId22"/>
    <p:sldId id="272" r:id="rId23"/>
    <p:sldId id="276" r:id="rId24"/>
    <p:sldId id="555" r:id="rId25"/>
  </p:sldIdLst>
  <p:sldSz cx="12192000" cy="6858000"/>
  <p:notesSz cx="6858000" cy="9144000"/>
  <p:embeddedFontLst>
    <p:embeddedFont>
      <p:font typeface="等线 Light" panose="02010600030101010101" pitchFamily="2" charset="-122"/>
      <p:regular r:id="rId26"/>
    </p:embeddedFont>
    <p:embeddedFont>
      <p:font typeface="等线" panose="02010600030101010101" pitchFamily="2" charset="-122"/>
      <p:regular r:id="rId27"/>
      <p:bold r:id="rId28"/>
    </p:embeddedFont>
    <p:embeddedFont>
      <p:font typeface="Cambria Math" panose="02040503050406030204" pitchFamily="18" charset="0"/>
      <p:regular r:id="rId29"/>
    </p:embeddedFont>
    <p:embeddedFont>
      <p:font typeface="Consolas" panose="020B0609020204030204" pitchFamily="49" charset="0"/>
      <p:regular r:id="rId30"/>
      <p:bold r:id="rId31"/>
      <p:italic r:id="rId32"/>
      <p:boldItalic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F0ACF-FCBC-4A3A-A678-DF116B2F318D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89553-89E3-4BEE-A7B6-8CB71B4A26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COMP3013 Tutorial01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2025 Fall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3949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Design Process</a:t>
            </a:r>
          </a:p>
          <a:p>
            <a:pPr lvl="1"/>
            <a:r>
              <a:rPr lang="en-US" altLang="zh-CN" dirty="0"/>
              <a:t>Conceptual-design -&gt; ER diagram</a:t>
            </a:r>
          </a:p>
          <a:p>
            <a:pPr lvl="1"/>
            <a:r>
              <a:rPr lang="en-US" altLang="zh-CN" dirty="0"/>
              <a:t>Logical-design -&gt; logical view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+mn-ea"/>
              </a:rPr>
              <a:t>Relational </a:t>
            </a:r>
            <a:r>
              <a:rPr lang="en-US" altLang="zh-CN" dirty="0">
                <a:sym typeface="+mn-ea"/>
              </a:rPr>
              <a:t>Schema Optimization -&gt; redundancies minimized</a:t>
            </a:r>
            <a:endParaRPr lang="en-US" altLang="zh-CN" dirty="0"/>
          </a:p>
          <a:p>
            <a:pPr lvl="1"/>
            <a:r>
              <a:rPr lang="en-US" altLang="zh-CN" dirty="0"/>
              <a:t>Physical-design -&gt; implementation</a:t>
            </a:r>
          </a:p>
          <a:p>
            <a:r>
              <a:rPr lang="en-US" altLang="zh-CN" dirty="0"/>
              <a:t>Entity Sets</a:t>
            </a:r>
          </a:p>
          <a:p>
            <a:pPr lvl="1"/>
            <a:r>
              <a:rPr lang="en-US" altLang="zh-CN" dirty="0"/>
              <a:t>Entity: A “thing” or “object” in the real world; how to describe? -&gt; attributes</a:t>
            </a:r>
          </a:p>
          <a:p>
            <a:r>
              <a:rPr lang="en-US" altLang="zh-CN" dirty="0"/>
              <a:t>Attributes</a:t>
            </a:r>
          </a:p>
          <a:p>
            <a:pPr lvl="1"/>
            <a:r>
              <a:rPr lang="en-US" altLang="zh-CN" dirty="0"/>
              <a:t>Attributes for different purposes can be different</a:t>
            </a:r>
          </a:p>
          <a:p>
            <a:pPr lvl="1"/>
            <a:r>
              <a:rPr lang="en-US" altLang="zh-CN" dirty="0"/>
              <a:t>Attribute value, domain</a:t>
            </a:r>
          </a:p>
          <a:p>
            <a:pPr lvl="1"/>
            <a:r>
              <a:rPr lang="en-US" altLang="zh-CN" dirty="0"/>
              <a:t>Key: the set of special attribute(s), can uniquely identify the entities</a:t>
            </a:r>
          </a:p>
          <a:p>
            <a:pPr lvl="1"/>
            <a:r>
              <a:rPr lang="en-US" altLang="zh-CN" dirty="0"/>
              <a:t>Basic ER Features</a:t>
            </a:r>
          </a:p>
          <a:p>
            <a:r>
              <a:rPr lang="en-US" altLang="zh-CN" dirty="0"/>
              <a:t>Relationship Sets</a:t>
            </a:r>
          </a:p>
          <a:p>
            <a:r>
              <a:rPr lang="en-US" altLang="zh-CN" dirty="0"/>
              <a:t>Basic SQL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ER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ER diagrams,</a:t>
            </a:r>
          </a:p>
          <a:p>
            <a:pPr lvl="1"/>
            <a:r>
              <a:rPr lang="en-US" altLang="zh-CN" b="1" i="1" dirty="0"/>
              <a:t>rectangles </a:t>
            </a:r>
            <a:r>
              <a:rPr lang="en-US" altLang="zh-CN" dirty="0"/>
              <a:t>represent entity sets;</a:t>
            </a:r>
          </a:p>
          <a:p>
            <a:pPr lvl="1"/>
            <a:r>
              <a:rPr lang="en-US" b="1" i="1" dirty="0"/>
              <a:t>ellipses </a:t>
            </a:r>
            <a:r>
              <a:rPr lang="en-US" dirty="0"/>
              <a:t>represent attributes;</a:t>
            </a:r>
          </a:p>
          <a:p>
            <a:pPr lvl="1"/>
            <a:r>
              <a:rPr lang="en-US" b="1" i="1" dirty="0"/>
              <a:t>keys </a:t>
            </a:r>
            <a:r>
              <a:rPr lang="en-US" dirty="0"/>
              <a:t>are underlined; and</a:t>
            </a:r>
            <a:endParaRPr lang="en-US" b="1" i="1" dirty="0"/>
          </a:p>
          <a:p>
            <a:pPr lvl="1"/>
            <a:r>
              <a:rPr lang="en-US" b="1" i="1" dirty="0"/>
              <a:t>lines </a:t>
            </a:r>
            <a:r>
              <a:rPr lang="en-US" dirty="0"/>
              <a:t>link attributes to entity sets.</a:t>
            </a:r>
          </a:p>
          <a:p>
            <a:r>
              <a:rPr lang="en-US" dirty="0"/>
              <a:t>For example, the student entity set is modeled as follows.</a:t>
            </a:r>
          </a:p>
          <a:p>
            <a:pPr lvl="1"/>
            <a:endParaRPr lang="en-US" b="1" i="1" dirty="0"/>
          </a:p>
        </p:txBody>
      </p:sp>
      <p:sp>
        <p:nvSpPr>
          <p:cNvPr id="82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212102" y="4489874"/>
            <a:ext cx="1767795" cy="2014835"/>
            <a:chOff x="3688102" y="3907873"/>
            <a:chExt cx="1767795" cy="2014835"/>
          </a:xfrm>
        </p:grpSpPr>
        <p:sp>
          <p:nvSpPr>
            <p:cNvPr id="5" name="矩形 3"/>
            <p:cNvSpPr/>
            <p:nvPr/>
          </p:nvSpPr>
          <p:spPr>
            <a:xfrm>
              <a:off x="4098003" y="4618342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770271" y="394966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22"/>
            <p:cNvSpPr/>
            <p:nvPr/>
          </p:nvSpPr>
          <p:spPr>
            <a:xfrm>
              <a:off x="4753912" y="3907873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23"/>
            <p:cNvSpPr/>
            <p:nvPr/>
          </p:nvSpPr>
          <p:spPr>
            <a:xfrm>
              <a:off x="3688102" y="5200676"/>
              <a:ext cx="5583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24"/>
            <p:cNvSpPr/>
            <p:nvPr/>
          </p:nvSpPr>
          <p:spPr>
            <a:xfrm>
              <a:off x="4826995" y="5214564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" name="直接连接符 9"/>
            <p:cNvCxnSpPr>
              <a:stCxn id="8" idx="5"/>
              <a:endCxn id="5" idx="0"/>
            </p:cNvCxnSpPr>
            <p:nvPr/>
          </p:nvCxnSpPr>
          <p:spPr>
            <a:xfrm>
              <a:off x="4177011" y="4251880"/>
              <a:ext cx="386384" cy="3664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1"/>
            <p:cNvCxnSpPr>
              <a:stCxn id="9" idx="3"/>
              <a:endCxn id="5" idx="0"/>
            </p:cNvCxnSpPr>
            <p:nvPr/>
          </p:nvCxnSpPr>
          <p:spPr>
            <a:xfrm flipH="1">
              <a:off x="4563395" y="4210092"/>
              <a:ext cx="282618" cy="4082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28"/>
            <p:cNvCxnSpPr>
              <a:stCxn id="10" idx="0"/>
              <a:endCxn id="5" idx="2"/>
            </p:cNvCxnSpPr>
            <p:nvPr/>
          </p:nvCxnSpPr>
          <p:spPr>
            <a:xfrm flipV="1">
              <a:off x="3967265" y="4926119"/>
              <a:ext cx="596130" cy="274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30"/>
            <p:cNvCxnSpPr>
              <a:stCxn id="11" idx="1"/>
              <a:endCxn id="5" idx="2"/>
            </p:cNvCxnSpPr>
            <p:nvPr/>
          </p:nvCxnSpPr>
          <p:spPr>
            <a:xfrm flipH="1" flipV="1">
              <a:off x="4563395" y="4926119"/>
              <a:ext cx="355701" cy="3402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24"/>
            <p:cNvSpPr/>
            <p:nvPr/>
          </p:nvSpPr>
          <p:spPr>
            <a:xfrm>
              <a:off x="4229598" y="5568636"/>
              <a:ext cx="515474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GPA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直接连接符 30"/>
            <p:cNvCxnSpPr>
              <a:stCxn id="18" idx="0"/>
              <a:endCxn id="5" idx="2"/>
            </p:cNvCxnSpPr>
            <p:nvPr/>
          </p:nvCxnSpPr>
          <p:spPr>
            <a:xfrm flipV="1">
              <a:off x="4487335" y="4926119"/>
              <a:ext cx="76060" cy="64251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Multi-valued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we also want to model students’ phone number.</a:t>
            </a:r>
          </a:p>
          <a:p>
            <a:r>
              <a:rPr lang="en-US" dirty="0"/>
              <a:t>It is possible that one student may have multiple phone numbers.</a:t>
            </a:r>
          </a:p>
          <a:p>
            <a:r>
              <a:rPr lang="en-US" dirty="0"/>
              <a:t>Thus, the phone number of a student is a </a:t>
            </a:r>
            <a:r>
              <a:rPr lang="en-US" b="1" i="1" dirty="0"/>
              <a:t>multi-valued </a:t>
            </a:r>
            <a:r>
              <a:rPr lang="en-US" dirty="0"/>
              <a:t>attribute, denoted by </a:t>
            </a:r>
            <a:r>
              <a:rPr lang="en-US" b="1" i="1" dirty="0"/>
              <a:t>double ellipses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8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379061" y="3907874"/>
            <a:ext cx="2600836" cy="2014835"/>
            <a:chOff x="2855061" y="3907873"/>
            <a:chExt cx="2600836" cy="2014835"/>
          </a:xfrm>
        </p:grpSpPr>
        <p:sp>
          <p:nvSpPr>
            <p:cNvPr id="14" name="椭圆 7"/>
            <p:cNvSpPr/>
            <p:nvPr/>
          </p:nvSpPr>
          <p:spPr>
            <a:xfrm>
              <a:off x="2855061" y="4595603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Straight Connector 14"/>
            <p:cNvCxnSpPr>
              <a:stCxn id="14" idx="6"/>
              <a:endCxn id="23" idx="1"/>
            </p:cNvCxnSpPr>
            <p:nvPr/>
          </p:nvCxnSpPr>
          <p:spPr>
            <a:xfrm flipV="1">
              <a:off x="3672655" y="4772231"/>
              <a:ext cx="425348" cy="40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3"/>
            <p:cNvSpPr/>
            <p:nvPr/>
          </p:nvSpPr>
          <p:spPr>
            <a:xfrm>
              <a:off x="4098003" y="4618342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椭圆 7"/>
            <p:cNvSpPr/>
            <p:nvPr/>
          </p:nvSpPr>
          <p:spPr>
            <a:xfrm>
              <a:off x="3770271" y="394966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椭圆 22"/>
            <p:cNvSpPr/>
            <p:nvPr/>
          </p:nvSpPr>
          <p:spPr>
            <a:xfrm>
              <a:off x="4753912" y="3907873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椭圆 23"/>
            <p:cNvSpPr/>
            <p:nvPr/>
          </p:nvSpPr>
          <p:spPr>
            <a:xfrm>
              <a:off x="3688102" y="5200676"/>
              <a:ext cx="5583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椭圆 24"/>
            <p:cNvSpPr/>
            <p:nvPr/>
          </p:nvSpPr>
          <p:spPr>
            <a:xfrm>
              <a:off x="4826995" y="5214564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直接连接符 9"/>
            <p:cNvCxnSpPr>
              <a:stCxn id="24" idx="5"/>
              <a:endCxn id="23" idx="0"/>
            </p:cNvCxnSpPr>
            <p:nvPr/>
          </p:nvCxnSpPr>
          <p:spPr>
            <a:xfrm>
              <a:off x="4177011" y="4251880"/>
              <a:ext cx="386384" cy="3664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11"/>
            <p:cNvCxnSpPr>
              <a:stCxn id="25" idx="3"/>
              <a:endCxn id="23" idx="0"/>
            </p:cNvCxnSpPr>
            <p:nvPr/>
          </p:nvCxnSpPr>
          <p:spPr>
            <a:xfrm flipH="1">
              <a:off x="4563395" y="4210092"/>
              <a:ext cx="282618" cy="4082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8"/>
            <p:cNvCxnSpPr>
              <a:stCxn id="26" idx="0"/>
              <a:endCxn id="23" idx="2"/>
            </p:cNvCxnSpPr>
            <p:nvPr/>
          </p:nvCxnSpPr>
          <p:spPr>
            <a:xfrm flipV="1">
              <a:off x="3967265" y="4926119"/>
              <a:ext cx="596130" cy="274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stCxn id="27" idx="1"/>
              <a:endCxn id="23" idx="2"/>
            </p:cNvCxnSpPr>
            <p:nvPr/>
          </p:nvCxnSpPr>
          <p:spPr>
            <a:xfrm flipH="1" flipV="1">
              <a:off x="4563395" y="4926119"/>
              <a:ext cx="355701" cy="3402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24"/>
            <p:cNvSpPr/>
            <p:nvPr/>
          </p:nvSpPr>
          <p:spPr>
            <a:xfrm>
              <a:off x="4229598" y="5568636"/>
              <a:ext cx="515474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GPA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直接连接符 30"/>
            <p:cNvCxnSpPr>
              <a:stCxn id="32" idx="0"/>
              <a:endCxn id="23" idx="2"/>
            </p:cNvCxnSpPr>
            <p:nvPr/>
          </p:nvCxnSpPr>
          <p:spPr>
            <a:xfrm flipV="1">
              <a:off x="4487335" y="4926119"/>
              <a:ext cx="76060" cy="64251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more examples, instructors, courses, and books are modeled in the same way.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41043" y="3329933"/>
            <a:ext cx="2208290" cy="1784847"/>
            <a:chOff x="6250393" y="3684462"/>
            <a:chExt cx="2208290" cy="1784847"/>
          </a:xfrm>
        </p:grpSpPr>
        <p:sp>
          <p:nvSpPr>
            <p:cNvPr id="5" name="矩形 21"/>
            <p:cNvSpPr/>
            <p:nvPr/>
          </p:nvSpPr>
          <p:spPr>
            <a:xfrm>
              <a:off x="7299320" y="4430478"/>
              <a:ext cx="66236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25"/>
            <p:cNvSpPr/>
            <p:nvPr/>
          </p:nvSpPr>
          <p:spPr>
            <a:xfrm>
              <a:off x="7439984" y="3684462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ISBN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26"/>
            <p:cNvSpPr/>
            <p:nvPr/>
          </p:nvSpPr>
          <p:spPr>
            <a:xfrm>
              <a:off x="6250393" y="5007934"/>
              <a:ext cx="89244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title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直接连接符 36"/>
            <p:cNvCxnSpPr>
              <a:stCxn id="5" idx="0"/>
              <a:endCxn id="6" idx="4"/>
            </p:cNvCxnSpPr>
            <p:nvPr/>
          </p:nvCxnSpPr>
          <p:spPr>
            <a:xfrm flipV="1">
              <a:off x="7630501" y="4038534"/>
              <a:ext cx="123934" cy="39194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38"/>
            <p:cNvCxnSpPr>
              <a:stCxn id="5" idx="2"/>
              <a:endCxn id="7" idx="7"/>
            </p:cNvCxnSpPr>
            <p:nvPr/>
          </p:nvCxnSpPr>
          <p:spPr>
            <a:xfrm flipH="1">
              <a:off x="7012146" y="4738255"/>
              <a:ext cx="618355" cy="32153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26"/>
            <p:cNvSpPr/>
            <p:nvPr/>
          </p:nvSpPr>
          <p:spPr>
            <a:xfrm>
              <a:off x="7566234" y="5115237"/>
              <a:ext cx="89244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38"/>
            <p:cNvCxnSpPr>
              <a:stCxn id="5" idx="2"/>
              <a:endCxn id="10" idx="0"/>
            </p:cNvCxnSpPr>
            <p:nvPr/>
          </p:nvCxnSpPr>
          <p:spPr>
            <a:xfrm>
              <a:off x="7630501" y="4738255"/>
              <a:ext cx="381958" cy="37698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5184653" y="3329933"/>
            <a:ext cx="2585220" cy="1704533"/>
            <a:chOff x="4867683" y="4170446"/>
            <a:chExt cx="2585220" cy="1704533"/>
          </a:xfrm>
        </p:grpSpPr>
        <p:sp>
          <p:nvSpPr>
            <p:cNvPr id="25" name="矩形 21"/>
            <p:cNvSpPr/>
            <p:nvPr/>
          </p:nvSpPr>
          <p:spPr>
            <a:xfrm>
              <a:off x="5870000" y="4922132"/>
              <a:ext cx="72167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4867683" y="4170446"/>
              <a:ext cx="155168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course_name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288027" y="5520907"/>
              <a:ext cx="155308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course_code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直接连接符 36"/>
            <p:cNvCxnSpPr>
              <a:stCxn id="25" idx="0"/>
              <a:endCxn id="26" idx="4"/>
            </p:cNvCxnSpPr>
            <p:nvPr/>
          </p:nvCxnSpPr>
          <p:spPr>
            <a:xfrm flipH="1" flipV="1">
              <a:off x="5643526" y="4524518"/>
              <a:ext cx="587310" cy="39761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38"/>
            <p:cNvCxnSpPr>
              <a:stCxn id="25" idx="2"/>
              <a:endCxn id="27" idx="0"/>
            </p:cNvCxnSpPr>
            <p:nvPr/>
          </p:nvCxnSpPr>
          <p:spPr>
            <a:xfrm flipH="1">
              <a:off x="6064572" y="5229909"/>
              <a:ext cx="166264" cy="2909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6"/>
            <p:cNvSpPr/>
            <p:nvPr/>
          </p:nvSpPr>
          <p:spPr>
            <a:xfrm>
              <a:off x="6560454" y="4287474"/>
              <a:ext cx="89244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credits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直接连接符 38"/>
            <p:cNvCxnSpPr>
              <a:stCxn id="25" idx="0"/>
              <a:endCxn id="30" idx="3"/>
            </p:cNvCxnSpPr>
            <p:nvPr/>
          </p:nvCxnSpPr>
          <p:spPr>
            <a:xfrm flipV="1">
              <a:off x="6230836" y="4589693"/>
              <a:ext cx="460314" cy="33243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2216246" y="3250991"/>
            <a:ext cx="2679271" cy="2010617"/>
            <a:chOff x="163638" y="3247183"/>
            <a:chExt cx="2679271" cy="2010617"/>
          </a:xfrm>
        </p:grpSpPr>
        <p:sp>
          <p:nvSpPr>
            <p:cNvPr id="13" name="矩形 3"/>
            <p:cNvSpPr/>
            <p:nvPr/>
          </p:nvSpPr>
          <p:spPr>
            <a:xfrm>
              <a:off x="1411257" y="3957652"/>
              <a:ext cx="100454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7"/>
            <p:cNvSpPr/>
            <p:nvPr/>
          </p:nvSpPr>
          <p:spPr>
            <a:xfrm>
              <a:off x="1157283" y="328897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椭圆 22"/>
            <p:cNvSpPr/>
            <p:nvPr/>
          </p:nvSpPr>
          <p:spPr>
            <a:xfrm>
              <a:off x="2140924" y="3247183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23"/>
            <p:cNvSpPr/>
            <p:nvPr/>
          </p:nvSpPr>
          <p:spPr>
            <a:xfrm>
              <a:off x="1075114" y="4539986"/>
              <a:ext cx="5583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title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椭圆 24"/>
            <p:cNvSpPr/>
            <p:nvPr/>
          </p:nvSpPr>
          <p:spPr>
            <a:xfrm>
              <a:off x="2214007" y="4553874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直接连接符 9"/>
            <p:cNvCxnSpPr>
              <a:stCxn id="14" idx="5"/>
              <a:endCxn id="13" idx="0"/>
            </p:cNvCxnSpPr>
            <p:nvPr/>
          </p:nvCxnSpPr>
          <p:spPr>
            <a:xfrm>
              <a:off x="1564023" y="3591190"/>
              <a:ext cx="349505" cy="3664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1"/>
            <p:cNvCxnSpPr>
              <a:stCxn id="15" idx="3"/>
              <a:endCxn id="13" idx="0"/>
            </p:cNvCxnSpPr>
            <p:nvPr/>
          </p:nvCxnSpPr>
          <p:spPr>
            <a:xfrm flipH="1">
              <a:off x="1913528" y="3549402"/>
              <a:ext cx="319497" cy="4082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28"/>
            <p:cNvCxnSpPr>
              <a:stCxn id="16" idx="0"/>
              <a:endCxn id="13" idx="2"/>
            </p:cNvCxnSpPr>
            <p:nvPr/>
          </p:nvCxnSpPr>
          <p:spPr>
            <a:xfrm flipV="1">
              <a:off x="1354277" y="4265429"/>
              <a:ext cx="559251" cy="274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0"/>
            <p:cNvCxnSpPr>
              <a:stCxn id="17" idx="1"/>
              <a:endCxn id="13" idx="2"/>
            </p:cNvCxnSpPr>
            <p:nvPr/>
          </p:nvCxnSpPr>
          <p:spPr>
            <a:xfrm flipH="1" flipV="1">
              <a:off x="1913528" y="4265429"/>
              <a:ext cx="392580" cy="3402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3"/>
            <p:cNvSpPr/>
            <p:nvPr/>
          </p:nvSpPr>
          <p:spPr>
            <a:xfrm>
              <a:off x="1544941" y="4903728"/>
              <a:ext cx="735323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salary</a:t>
              </a:r>
            </a:p>
          </p:txBody>
        </p:sp>
        <p:cxnSp>
          <p:nvCxnSpPr>
            <p:cNvPr id="23" name="直接连接符 11"/>
            <p:cNvCxnSpPr>
              <a:stCxn id="22" idx="0"/>
              <a:endCxn id="13" idx="2"/>
            </p:cNvCxnSpPr>
            <p:nvPr/>
          </p:nvCxnSpPr>
          <p:spPr>
            <a:xfrm flipV="1">
              <a:off x="1912603" y="4265429"/>
              <a:ext cx="925" cy="63829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7"/>
            <p:cNvSpPr/>
            <p:nvPr/>
          </p:nvSpPr>
          <p:spPr>
            <a:xfrm>
              <a:off x="163638" y="3934504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6" name="Straight Connector 35"/>
            <p:cNvCxnSpPr>
              <a:stCxn id="35" idx="6"/>
              <a:endCxn id="13" idx="1"/>
            </p:cNvCxnSpPr>
            <p:nvPr/>
          </p:nvCxnSpPr>
          <p:spPr>
            <a:xfrm>
              <a:off x="981232" y="4111540"/>
              <a:ext cx="430025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Composite Attribute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0"/>
                <a:ext cx="7886700" cy="432070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One may ask “why the course code is not selected as a key?”</a:t>
                </a:r>
              </a:p>
              <a:p>
                <a:r>
                  <a:rPr lang="en-US" dirty="0"/>
                  <a:t>The reason is that a course code is not </a:t>
                </a:r>
                <a:r>
                  <a:rPr lang="en-US" b="1" i="1" dirty="0"/>
                  <a:t>atomic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An attribute is atomic if each value of the attribute has only one unit of information.</a:t>
                </a:r>
              </a:p>
              <a:p>
                <a:r>
                  <a:rPr lang="en-US" dirty="0"/>
                  <a:t>If an attribute is not atomic, it is a </a:t>
                </a:r>
                <a:r>
                  <a:rPr lang="en-US" altLang="zh-CN" b="1" i="1" dirty="0"/>
                  <a:t>composite</a:t>
                </a:r>
                <a:r>
                  <a:rPr lang="en-US" altLang="zh-CN" dirty="0"/>
                  <a:t> </a:t>
                </a:r>
                <a:r>
                  <a:rPr lang="en-US" altLang="zh-CN" b="1" i="1" dirty="0"/>
                  <a:t>attribute</a:t>
                </a:r>
                <a:r>
                  <a:rPr lang="en-US" altLang="zh-CN" dirty="0"/>
                  <a:t>.</a:t>
                </a:r>
                <a:endParaRPr lang="en-US" dirty="0"/>
              </a:p>
              <a:p>
                <a:r>
                  <a:rPr lang="en-US" dirty="0"/>
                  <a:t>For example, the course code for this database course is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𝐶𝑂𝑀𝑃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3013</m:t>
                    </m:r>
                  </m:oMath>
                </a14:m>
                <a:r>
                  <a:rPr lang="en-US" dirty="0"/>
                  <a:t>”. </a:t>
                </a:r>
              </a:p>
              <a:p>
                <a:pPr lvl="1"/>
                <a:r>
                  <a:rPr lang="en-US" dirty="0"/>
                  <a:t>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𝐶𝑂𝑀𝑃</m:t>
                    </m:r>
                  </m:oMath>
                </a14:m>
                <a:r>
                  <a:rPr lang="en-US" dirty="0"/>
                  <a:t>”: the course is in the domain computer science.</a:t>
                </a:r>
              </a:p>
              <a:p>
                <a:pPr lvl="1"/>
                <a:r>
                  <a:rPr lang="en-US" b="0" dirty="0"/>
                  <a:t>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3013</m:t>
                    </m:r>
                  </m:oMath>
                </a14:m>
                <a:r>
                  <a:rPr lang="en-US" dirty="0"/>
                  <a:t>”: the course number.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0"/>
                <a:ext cx="7886700" cy="4320702"/>
              </a:xfrm>
              <a:blipFill rotWithShape="1">
                <a:blip r:embed="rId2"/>
                <a:stretch>
                  <a:fillRect t="-13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12">
            <a:hlinkClick r:id="rId3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12">
            <a:hlinkClick r:id="rId4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12">
            <a:hlinkClick r:id="rId5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12">
            <a:hlinkClick r:id="rId6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Thus, the attribute course code is decomposed into </a:t>
            </a:r>
            <a:r>
              <a:rPr lang="en-US" altLang="zh-CN" dirty="0"/>
              <a:t>offering unit</a:t>
            </a:r>
            <a:r>
              <a:rPr lang="en-US" dirty="0"/>
              <a:t> and course number.</a:t>
            </a:r>
          </a:p>
          <a:p>
            <a:endParaRPr lang="en-US" dirty="0"/>
          </a:p>
        </p:txBody>
      </p:sp>
      <p:grpSp>
        <p:nvGrpSpPr>
          <p:cNvPr id="52" name="Group 51"/>
          <p:cNvGrpSpPr/>
          <p:nvPr/>
        </p:nvGrpSpPr>
        <p:grpSpPr>
          <a:xfrm>
            <a:off x="4378708" y="3041668"/>
            <a:ext cx="3434584" cy="2216133"/>
            <a:chOff x="4042809" y="2461098"/>
            <a:chExt cx="3434584" cy="2216133"/>
          </a:xfrm>
        </p:grpSpPr>
        <p:sp>
          <p:nvSpPr>
            <p:cNvPr id="26" name="椭圆 26"/>
            <p:cNvSpPr/>
            <p:nvPr/>
          </p:nvSpPr>
          <p:spPr>
            <a:xfrm>
              <a:off x="4042809" y="4311838"/>
              <a:ext cx="1442993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734727" y="4323159"/>
              <a:ext cx="174266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course_number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直接连接符 38"/>
            <p:cNvCxnSpPr>
              <a:stCxn id="42" idx="4"/>
              <a:endCxn id="26" idx="7"/>
            </p:cNvCxnSpPr>
            <p:nvPr/>
          </p:nvCxnSpPr>
          <p:spPr>
            <a:xfrm flipH="1">
              <a:off x="5274481" y="4165631"/>
              <a:ext cx="370414" cy="1980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8"/>
            <p:cNvCxnSpPr>
              <a:stCxn id="42" idx="4"/>
              <a:endCxn id="27" idx="1"/>
            </p:cNvCxnSpPr>
            <p:nvPr/>
          </p:nvCxnSpPr>
          <p:spPr>
            <a:xfrm>
              <a:off x="5644895" y="4165631"/>
              <a:ext cx="345040" cy="20938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21"/>
            <p:cNvSpPr/>
            <p:nvPr/>
          </p:nvSpPr>
          <p:spPr>
            <a:xfrm>
              <a:off x="5450323" y="3212784"/>
              <a:ext cx="72167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椭圆 25"/>
            <p:cNvSpPr/>
            <p:nvPr/>
          </p:nvSpPr>
          <p:spPr>
            <a:xfrm>
              <a:off x="4448006" y="2461098"/>
              <a:ext cx="155168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course_name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椭圆 26"/>
            <p:cNvSpPr/>
            <p:nvPr/>
          </p:nvSpPr>
          <p:spPr>
            <a:xfrm>
              <a:off x="4868350" y="3811559"/>
              <a:ext cx="155308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course_code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" name="直接连接符 36"/>
            <p:cNvCxnSpPr>
              <a:stCxn id="40" idx="0"/>
              <a:endCxn id="41" idx="4"/>
            </p:cNvCxnSpPr>
            <p:nvPr/>
          </p:nvCxnSpPr>
          <p:spPr>
            <a:xfrm flipH="1" flipV="1">
              <a:off x="5223849" y="2815170"/>
              <a:ext cx="587310" cy="39761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38"/>
            <p:cNvCxnSpPr>
              <a:stCxn id="40" idx="2"/>
              <a:endCxn id="42" idx="0"/>
            </p:cNvCxnSpPr>
            <p:nvPr/>
          </p:nvCxnSpPr>
          <p:spPr>
            <a:xfrm flipH="1">
              <a:off x="5644895" y="3520561"/>
              <a:ext cx="166264" cy="2909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26"/>
            <p:cNvSpPr/>
            <p:nvPr/>
          </p:nvSpPr>
          <p:spPr>
            <a:xfrm>
              <a:off x="6140777" y="2578126"/>
              <a:ext cx="89244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credits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直接连接符 38"/>
            <p:cNvCxnSpPr>
              <a:stCxn id="40" idx="0"/>
              <a:endCxn id="45" idx="3"/>
            </p:cNvCxnSpPr>
            <p:nvPr/>
          </p:nvCxnSpPr>
          <p:spPr>
            <a:xfrm flipV="1">
              <a:off x="5811159" y="2880345"/>
              <a:ext cx="460314" cy="33243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3949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Design Process</a:t>
            </a:r>
          </a:p>
          <a:p>
            <a:pPr lvl="1"/>
            <a:r>
              <a:rPr lang="en-US" altLang="zh-CN" dirty="0"/>
              <a:t>Conceptual-design -&gt; ER diagram</a:t>
            </a:r>
          </a:p>
          <a:p>
            <a:pPr lvl="1"/>
            <a:r>
              <a:rPr lang="en-US" altLang="zh-CN" dirty="0"/>
              <a:t>Logical-design -&gt; logical view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+mn-ea"/>
              </a:rPr>
              <a:t>Relational </a:t>
            </a:r>
            <a:r>
              <a:rPr lang="en-US" altLang="zh-CN" dirty="0">
                <a:sym typeface="+mn-ea"/>
              </a:rPr>
              <a:t>Schema Optimization -&gt; redundancies minimized</a:t>
            </a:r>
            <a:endParaRPr lang="en-US" altLang="zh-CN" dirty="0"/>
          </a:p>
          <a:p>
            <a:pPr lvl="1"/>
            <a:r>
              <a:rPr lang="en-US" altLang="zh-CN" dirty="0"/>
              <a:t>Physical-design -&gt; implementation</a:t>
            </a:r>
          </a:p>
          <a:p>
            <a:r>
              <a:rPr lang="en-US" altLang="zh-CN" dirty="0"/>
              <a:t>Entity Sets</a:t>
            </a:r>
          </a:p>
          <a:p>
            <a:pPr lvl="1"/>
            <a:r>
              <a:rPr lang="en-US" altLang="zh-CN" dirty="0"/>
              <a:t>Entity: A “thing” or “object” in the real world; how to describe? -&gt; attributes</a:t>
            </a:r>
          </a:p>
          <a:p>
            <a:r>
              <a:rPr lang="en-US" altLang="zh-CN" dirty="0"/>
              <a:t>Attributes</a:t>
            </a:r>
          </a:p>
          <a:p>
            <a:pPr lvl="1"/>
            <a:r>
              <a:rPr lang="en-US" altLang="zh-CN" dirty="0"/>
              <a:t>Attributes for different purposes can be different</a:t>
            </a:r>
          </a:p>
          <a:p>
            <a:pPr lvl="1"/>
            <a:r>
              <a:rPr lang="en-US" altLang="zh-CN" dirty="0"/>
              <a:t>Attribute value, domain</a:t>
            </a:r>
          </a:p>
          <a:p>
            <a:pPr lvl="1"/>
            <a:r>
              <a:rPr lang="en-US" altLang="zh-CN" dirty="0"/>
              <a:t>Key: the set of special attribute(s), can uniquely identify the entities</a:t>
            </a:r>
          </a:p>
          <a:p>
            <a:pPr lvl="1"/>
            <a:r>
              <a:rPr lang="en-US" altLang="zh-CN" dirty="0"/>
              <a:t>Basic ER Features</a:t>
            </a:r>
          </a:p>
          <a:p>
            <a:r>
              <a:rPr lang="en-US" altLang="zh-CN" dirty="0"/>
              <a:t>Relationship Sets</a:t>
            </a:r>
          </a:p>
          <a:p>
            <a:r>
              <a:rPr lang="en-US" altLang="zh-CN" dirty="0"/>
              <a:t>Basic SQL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411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ER diagrams, a relationship set is denoted by a </a:t>
            </a:r>
            <a:r>
              <a:rPr lang="en-US" altLang="zh-CN" b="1" i="1" dirty="0"/>
              <a:t>diamond</a:t>
            </a:r>
            <a:r>
              <a:rPr lang="en-US" altLang="zh-CN" dirty="0"/>
              <a:t>.</a:t>
            </a:r>
            <a:endParaRPr lang="en-US" sz="2000" dirty="0"/>
          </a:p>
          <a:p>
            <a:r>
              <a:rPr lang="en-US" dirty="0"/>
              <a:t>The previous example “students borrow books” can be modeled as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687858" y="3582769"/>
            <a:ext cx="870670" cy="870670"/>
            <a:chOff x="3852000" y="4722469"/>
            <a:chExt cx="1116654" cy="1116655"/>
          </a:xfrm>
        </p:grpSpPr>
        <p:sp>
          <p:nvSpPr>
            <p:cNvPr id="22" name="菱形 4"/>
            <p:cNvSpPr>
              <a:spLocks noChangeAspect="1"/>
            </p:cNvSpPr>
            <p:nvPr/>
          </p:nvSpPr>
          <p:spPr>
            <a:xfrm>
              <a:off x="3852000" y="4722469"/>
              <a:ext cx="1116654" cy="1116655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50000"/>
                </a:lnSpc>
              </a:pP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5"/>
            <p:cNvSpPr txBox="1"/>
            <p:nvPr/>
          </p:nvSpPr>
          <p:spPr>
            <a:xfrm>
              <a:off x="3984399" y="5077614"/>
              <a:ext cx="937896" cy="39473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altLang="zh-CN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borrow</a:t>
              </a:r>
              <a:endParaRPr kumimoji="1" lang="zh-CN" altLang="en-US" sz="14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998355" y="3116946"/>
            <a:ext cx="2208290" cy="1784847"/>
            <a:chOff x="6250393" y="3684462"/>
            <a:chExt cx="2208290" cy="1784847"/>
          </a:xfrm>
        </p:grpSpPr>
        <p:sp>
          <p:nvSpPr>
            <p:cNvPr id="41" name="矩形 21"/>
            <p:cNvSpPr/>
            <p:nvPr/>
          </p:nvSpPr>
          <p:spPr>
            <a:xfrm>
              <a:off x="7299320" y="4430478"/>
              <a:ext cx="66236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椭圆 25"/>
            <p:cNvSpPr/>
            <p:nvPr/>
          </p:nvSpPr>
          <p:spPr>
            <a:xfrm>
              <a:off x="7439984" y="3684462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ISBN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椭圆 26"/>
            <p:cNvSpPr/>
            <p:nvPr/>
          </p:nvSpPr>
          <p:spPr>
            <a:xfrm>
              <a:off x="6250393" y="5007934"/>
              <a:ext cx="89244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title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4" name="直接连接符 36"/>
            <p:cNvCxnSpPr>
              <a:stCxn id="41" idx="0"/>
              <a:endCxn id="42" idx="4"/>
            </p:cNvCxnSpPr>
            <p:nvPr/>
          </p:nvCxnSpPr>
          <p:spPr>
            <a:xfrm flipV="1">
              <a:off x="7630501" y="4038534"/>
              <a:ext cx="123934" cy="39194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38"/>
            <p:cNvCxnSpPr>
              <a:stCxn id="41" idx="2"/>
              <a:endCxn id="43" idx="7"/>
            </p:cNvCxnSpPr>
            <p:nvPr/>
          </p:nvCxnSpPr>
          <p:spPr>
            <a:xfrm flipH="1">
              <a:off x="7012146" y="4738255"/>
              <a:ext cx="618355" cy="32153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26"/>
            <p:cNvSpPr/>
            <p:nvPr/>
          </p:nvSpPr>
          <p:spPr>
            <a:xfrm>
              <a:off x="7566234" y="5115237"/>
              <a:ext cx="89244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7" name="直接连接符 38"/>
            <p:cNvCxnSpPr>
              <a:stCxn id="41" idx="2"/>
              <a:endCxn id="46" idx="0"/>
            </p:cNvCxnSpPr>
            <p:nvPr/>
          </p:nvCxnSpPr>
          <p:spPr>
            <a:xfrm>
              <a:off x="7630501" y="4738255"/>
              <a:ext cx="381958" cy="37698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/>
          <p:cNvCxnSpPr>
            <a:stCxn id="56" idx="3"/>
            <a:endCxn id="22" idx="1"/>
          </p:cNvCxnSpPr>
          <p:nvPr/>
        </p:nvCxnSpPr>
        <p:spPr>
          <a:xfrm>
            <a:off x="4594464" y="4017956"/>
            <a:ext cx="1093394" cy="14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2" idx="3"/>
            <a:endCxn id="41" idx="1"/>
          </p:cNvCxnSpPr>
          <p:nvPr/>
        </p:nvCxnSpPr>
        <p:spPr>
          <a:xfrm flipV="1">
            <a:off x="6558528" y="4016850"/>
            <a:ext cx="1488754" cy="125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2420739" y="3153598"/>
            <a:ext cx="2600836" cy="2014835"/>
            <a:chOff x="2855061" y="3907873"/>
            <a:chExt cx="2600836" cy="2014835"/>
          </a:xfrm>
        </p:grpSpPr>
        <p:sp>
          <p:nvSpPr>
            <p:cNvPr id="50" name="椭圆 7"/>
            <p:cNvSpPr/>
            <p:nvPr/>
          </p:nvSpPr>
          <p:spPr>
            <a:xfrm>
              <a:off x="2855061" y="4595603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Straight Connector 54"/>
            <p:cNvCxnSpPr>
              <a:stCxn id="50" idx="6"/>
              <a:endCxn id="56" idx="1"/>
            </p:cNvCxnSpPr>
            <p:nvPr/>
          </p:nvCxnSpPr>
          <p:spPr>
            <a:xfrm flipV="1">
              <a:off x="3672655" y="4772231"/>
              <a:ext cx="425348" cy="40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3"/>
            <p:cNvSpPr/>
            <p:nvPr/>
          </p:nvSpPr>
          <p:spPr>
            <a:xfrm>
              <a:off x="4098003" y="4618342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椭圆 7"/>
            <p:cNvSpPr/>
            <p:nvPr/>
          </p:nvSpPr>
          <p:spPr>
            <a:xfrm>
              <a:off x="3770271" y="394966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椭圆 22"/>
            <p:cNvSpPr/>
            <p:nvPr/>
          </p:nvSpPr>
          <p:spPr>
            <a:xfrm>
              <a:off x="4753912" y="3907873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椭圆 23"/>
            <p:cNvSpPr/>
            <p:nvPr/>
          </p:nvSpPr>
          <p:spPr>
            <a:xfrm>
              <a:off x="3688102" y="5200676"/>
              <a:ext cx="5583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椭圆 24"/>
            <p:cNvSpPr/>
            <p:nvPr/>
          </p:nvSpPr>
          <p:spPr>
            <a:xfrm>
              <a:off x="4826995" y="5214564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直接连接符 9"/>
            <p:cNvCxnSpPr>
              <a:stCxn id="57" idx="5"/>
              <a:endCxn id="56" idx="0"/>
            </p:cNvCxnSpPr>
            <p:nvPr/>
          </p:nvCxnSpPr>
          <p:spPr>
            <a:xfrm>
              <a:off x="4177011" y="4251880"/>
              <a:ext cx="386384" cy="3664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11"/>
            <p:cNvCxnSpPr>
              <a:stCxn id="58" idx="3"/>
              <a:endCxn id="56" idx="0"/>
            </p:cNvCxnSpPr>
            <p:nvPr/>
          </p:nvCxnSpPr>
          <p:spPr>
            <a:xfrm flipH="1">
              <a:off x="4563395" y="4210092"/>
              <a:ext cx="282618" cy="4082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28"/>
            <p:cNvCxnSpPr>
              <a:stCxn id="59" idx="0"/>
              <a:endCxn id="56" idx="2"/>
            </p:cNvCxnSpPr>
            <p:nvPr/>
          </p:nvCxnSpPr>
          <p:spPr>
            <a:xfrm flipV="1">
              <a:off x="3967265" y="4926119"/>
              <a:ext cx="596130" cy="274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30"/>
            <p:cNvCxnSpPr>
              <a:stCxn id="60" idx="1"/>
              <a:endCxn id="56" idx="2"/>
            </p:cNvCxnSpPr>
            <p:nvPr/>
          </p:nvCxnSpPr>
          <p:spPr>
            <a:xfrm flipH="1" flipV="1">
              <a:off x="4563395" y="4926119"/>
              <a:ext cx="355701" cy="3402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24"/>
            <p:cNvSpPr/>
            <p:nvPr/>
          </p:nvSpPr>
          <p:spPr>
            <a:xfrm>
              <a:off x="4229598" y="5568636"/>
              <a:ext cx="515474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GPA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6" name="直接连接符 30"/>
            <p:cNvCxnSpPr>
              <a:stCxn id="65" idx="0"/>
              <a:endCxn id="56" idx="2"/>
            </p:cNvCxnSpPr>
            <p:nvPr/>
          </p:nvCxnSpPr>
          <p:spPr>
            <a:xfrm flipV="1">
              <a:off x="4487335" y="4926119"/>
              <a:ext cx="76060" cy="64251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</a:t>
            </a:r>
            <a:r>
              <a:rPr lang="en-US" dirty="0" err="1"/>
              <a:t>ary</a:t>
            </a:r>
            <a:r>
              <a:rPr lang="en-US" dirty="0"/>
              <a:t> Relationship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a relationship </a:t>
                </a:r>
                <a:r>
                  <a:rPr lang="en-US" altLang="zh-CN" dirty="0"/>
                  <a:t>associates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entities, this relationship is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b="1" i="1" dirty="0"/>
                  <a:t>-</a:t>
                </a:r>
                <a:r>
                  <a:rPr lang="en-US" altLang="zh-CN" b="1" i="1" dirty="0" err="1"/>
                  <a:t>ary</a:t>
                </a:r>
                <a:r>
                  <a:rPr lang="en-US" altLang="zh-CN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is the </a:t>
                </a:r>
                <a:r>
                  <a:rPr lang="en-US" altLang="zh-CN" b="1" i="1" dirty="0"/>
                  <a:t>degree</a:t>
                </a:r>
                <a:r>
                  <a:rPr lang="en-US" altLang="zh-CN" dirty="0"/>
                  <a:t> of the relationship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, the relationship is </a:t>
                </a:r>
                <a:r>
                  <a:rPr lang="en-US" b="1" i="1" dirty="0"/>
                  <a:t>binary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, the relationship is </a:t>
                </a:r>
                <a:r>
                  <a:rPr lang="en-US" altLang="zh-CN" b="1" i="1" dirty="0"/>
                  <a:t>ternary</a:t>
                </a:r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Theoretically,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can be any positive integer. But i</a:t>
                </a:r>
                <a:r>
                  <a:rPr lang="en-US" dirty="0"/>
                  <a:t>n this course,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矩形 12">
            <a:hlinkClick r:id="rId3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矩形 12">
            <a:hlinkClick r:id="rId4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矩形 12">
            <a:hlinkClick r:id="rId5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矩形 12">
            <a:hlinkClick r:id="rId6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</a:t>
            </a:r>
            <a:r>
              <a:rPr lang="en-US" dirty="0" err="1"/>
              <a:t>ary</a:t>
            </a:r>
            <a:r>
              <a:rPr lang="en-US" dirty="0"/>
              <a:t>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following example, a ternary relationship is reasonable.</a:t>
            </a:r>
          </a:p>
          <a:p>
            <a:r>
              <a:rPr lang="en-US" dirty="0"/>
              <a:t>This example models that some students are enrolled in some courses which are instructed by some teachers.</a:t>
            </a:r>
          </a:p>
        </p:txBody>
      </p:sp>
      <p:grpSp>
        <p:nvGrpSpPr>
          <p:cNvPr id="4" name="组合 6"/>
          <p:cNvGrpSpPr/>
          <p:nvPr/>
        </p:nvGrpSpPr>
        <p:grpSpPr>
          <a:xfrm>
            <a:off x="6135705" y="3398520"/>
            <a:ext cx="767080" cy="767080"/>
            <a:chOff x="3371232" y="4880441"/>
            <a:chExt cx="823259" cy="823260"/>
          </a:xfrm>
        </p:grpSpPr>
        <p:sp>
          <p:nvSpPr>
            <p:cNvPr id="5" name="菱形 4"/>
            <p:cNvSpPr>
              <a:spLocks noChangeAspect="1"/>
            </p:cNvSpPr>
            <p:nvPr/>
          </p:nvSpPr>
          <p:spPr>
            <a:xfrm>
              <a:off x="3371232" y="4880441"/>
              <a:ext cx="823259" cy="823260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50000"/>
                </a:lnSpc>
              </a:pP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448931" y="5115634"/>
              <a:ext cx="667861" cy="330318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altLang="zh-CN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enroll</a:t>
              </a:r>
              <a:endParaRPr kumimoji="1" lang="zh-CN" altLang="en-US" sz="14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7" name="Straight Connector 26"/>
          <p:cNvCxnSpPr>
            <a:stCxn id="77" idx="3"/>
            <a:endCxn id="5" idx="1"/>
          </p:cNvCxnSpPr>
          <p:nvPr/>
        </p:nvCxnSpPr>
        <p:spPr>
          <a:xfrm>
            <a:off x="4954841" y="3781648"/>
            <a:ext cx="1180865" cy="41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5" idx="3"/>
          </p:cNvCxnSpPr>
          <p:nvPr/>
        </p:nvCxnSpPr>
        <p:spPr>
          <a:xfrm flipV="1">
            <a:off x="6902786" y="3779508"/>
            <a:ext cx="1155659" cy="255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/>
          <p:cNvGrpSpPr/>
          <p:nvPr/>
        </p:nvGrpSpPr>
        <p:grpSpPr>
          <a:xfrm>
            <a:off x="4767728" y="4043729"/>
            <a:ext cx="2679271" cy="2010617"/>
            <a:chOff x="163638" y="3247183"/>
            <a:chExt cx="2679271" cy="2010617"/>
          </a:xfrm>
        </p:grpSpPr>
        <p:sp>
          <p:nvSpPr>
            <p:cNvPr id="44" name="矩形 3"/>
            <p:cNvSpPr/>
            <p:nvPr/>
          </p:nvSpPr>
          <p:spPr>
            <a:xfrm>
              <a:off x="1411257" y="3957652"/>
              <a:ext cx="100454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7"/>
            <p:cNvSpPr/>
            <p:nvPr/>
          </p:nvSpPr>
          <p:spPr>
            <a:xfrm>
              <a:off x="1157283" y="328897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22"/>
            <p:cNvSpPr/>
            <p:nvPr/>
          </p:nvSpPr>
          <p:spPr>
            <a:xfrm>
              <a:off x="2140924" y="3247183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23"/>
            <p:cNvSpPr/>
            <p:nvPr/>
          </p:nvSpPr>
          <p:spPr>
            <a:xfrm>
              <a:off x="1075114" y="4539986"/>
              <a:ext cx="5583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title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椭圆 24"/>
            <p:cNvSpPr/>
            <p:nvPr/>
          </p:nvSpPr>
          <p:spPr>
            <a:xfrm>
              <a:off x="2214007" y="4553874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直接连接符 9"/>
            <p:cNvCxnSpPr>
              <a:stCxn id="45" idx="5"/>
              <a:endCxn id="44" idx="0"/>
            </p:cNvCxnSpPr>
            <p:nvPr/>
          </p:nvCxnSpPr>
          <p:spPr>
            <a:xfrm>
              <a:off x="1564023" y="3591190"/>
              <a:ext cx="349505" cy="3664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11"/>
            <p:cNvCxnSpPr>
              <a:stCxn id="46" idx="3"/>
              <a:endCxn id="44" idx="0"/>
            </p:cNvCxnSpPr>
            <p:nvPr/>
          </p:nvCxnSpPr>
          <p:spPr>
            <a:xfrm flipH="1">
              <a:off x="1913528" y="3549402"/>
              <a:ext cx="319497" cy="4082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28"/>
            <p:cNvCxnSpPr>
              <a:stCxn id="47" idx="0"/>
              <a:endCxn id="44" idx="2"/>
            </p:cNvCxnSpPr>
            <p:nvPr/>
          </p:nvCxnSpPr>
          <p:spPr>
            <a:xfrm flipV="1">
              <a:off x="1354277" y="4265429"/>
              <a:ext cx="559251" cy="274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30"/>
            <p:cNvCxnSpPr>
              <a:stCxn id="48" idx="1"/>
              <a:endCxn id="44" idx="2"/>
            </p:cNvCxnSpPr>
            <p:nvPr/>
          </p:nvCxnSpPr>
          <p:spPr>
            <a:xfrm flipH="1" flipV="1">
              <a:off x="1913528" y="4265429"/>
              <a:ext cx="392580" cy="3402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23"/>
            <p:cNvSpPr/>
            <p:nvPr/>
          </p:nvSpPr>
          <p:spPr>
            <a:xfrm>
              <a:off x="1544941" y="4903728"/>
              <a:ext cx="735323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salary</a:t>
              </a:r>
            </a:p>
          </p:txBody>
        </p:sp>
        <p:cxnSp>
          <p:nvCxnSpPr>
            <p:cNvPr id="54" name="直接连接符 11"/>
            <p:cNvCxnSpPr>
              <a:stCxn id="53" idx="0"/>
              <a:endCxn id="44" idx="2"/>
            </p:cNvCxnSpPr>
            <p:nvPr/>
          </p:nvCxnSpPr>
          <p:spPr>
            <a:xfrm flipV="1">
              <a:off x="1912603" y="4265429"/>
              <a:ext cx="925" cy="63829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7"/>
            <p:cNvSpPr/>
            <p:nvPr/>
          </p:nvSpPr>
          <p:spPr>
            <a:xfrm>
              <a:off x="163638" y="3934504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6" name="Straight Connector 55"/>
            <p:cNvCxnSpPr>
              <a:stCxn id="55" idx="6"/>
              <a:endCxn id="44" idx="1"/>
            </p:cNvCxnSpPr>
            <p:nvPr/>
          </p:nvCxnSpPr>
          <p:spPr>
            <a:xfrm>
              <a:off x="981232" y="4111540"/>
              <a:ext cx="430025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/>
          <p:cNvCxnSpPr>
            <a:stCxn id="44" idx="0"/>
            <a:endCxn id="5" idx="2"/>
          </p:cNvCxnSpPr>
          <p:nvPr/>
        </p:nvCxnSpPr>
        <p:spPr>
          <a:xfrm flipV="1">
            <a:off x="6517617" y="4165601"/>
            <a:ext cx="1628" cy="58859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7066943" y="2868989"/>
            <a:ext cx="3294352" cy="2439721"/>
            <a:chOff x="4448006" y="2461098"/>
            <a:chExt cx="3294352" cy="2439721"/>
          </a:xfrm>
        </p:grpSpPr>
        <p:sp>
          <p:nvSpPr>
            <p:cNvPr id="59" name="椭圆 26"/>
            <p:cNvSpPr/>
            <p:nvPr/>
          </p:nvSpPr>
          <p:spPr>
            <a:xfrm>
              <a:off x="4873230" y="4160688"/>
              <a:ext cx="1442993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椭圆 26"/>
            <p:cNvSpPr/>
            <p:nvPr/>
          </p:nvSpPr>
          <p:spPr>
            <a:xfrm>
              <a:off x="5999692" y="4546747"/>
              <a:ext cx="174266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course_number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直接连接符 38"/>
            <p:cNvCxnSpPr>
              <a:stCxn id="65" idx="4"/>
              <a:endCxn id="59" idx="7"/>
            </p:cNvCxnSpPr>
            <p:nvPr/>
          </p:nvCxnSpPr>
          <p:spPr>
            <a:xfrm flipH="1">
              <a:off x="6104902" y="3975637"/>
              <a:ext cx="166571" cy="23690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38"/>
            <p:cNvCxnSpPr>
              <a:stCxn id="65" idx="4"/>
              <a:endCxn id="60" idx="0"/>
            </p:cNvCxnSpPr>
            <p:nvPr/>
          </p:nvCxnSpPr>
          <p:spPr>
            <a:xfrm>
              <a:off x="6271473" y="3975637"/>
              <a:ext cx="599552" cy="57111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矩形 21"/>
            <p:cNvSpPr/>
            <p:nvPr/>
          </p:nvSpPr>
          <p:spPr>
            <a:xfrm>
              <a:off x="5450323" y="3212784"/>
              <a:ext cx="72167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椭圆 25"/>
            <p:cNvSpPr/>
            <p:nvPr/>
          </p:nvSpPr>
          <p:spPr>
            <a:xfrm>
              <a:off x="4448006" y="2461098"/>
              <a:ext cx="155168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course_name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椭圆 26"/>
            <p:cNvSpPr/>
            <p:nvPr/>
          </p:nvSpPr>
          <p:spPr>
            <a:xfrm>
              <a:off x="5494928" y="3621565"/>
              <a:ext cx="155308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course_code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6" name="直接连接符 36"/>
            <p:cNvCxnSpPr>
              <a:stCxn id="63" idx="0"/>
              <a:endCxn id="64" idx="4"/>
            </p:cNvCxnSpPr>
            <p:nvPr/>
          </p:nvCxnSpPr>
          <p:spPr>
            <a:xfrm flipH="1" flipV="1">
              <a:off x="5223849" y="2815170"/>
              <a:ext cx="587310" cy="39761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38"/>
            <p:cNvCxnSpPr>
              <a:stCxn id="63" idx="2"/>
              <a:endCxn id="65" idx="0"/>
            </p:cNvCxnSpPr>
            <p:nvPr/>
          </p:nvCxnSpPr>
          <p:spPr>
            <a:xfrm>
              <a:off x="5811159" y="3520561"/>
              <a:ext cx="460314" cy="10100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椭圆 26"/>
            <p:cNvSpPr/>
            <p:nvPr/>
          </p:nvSpPr>
          <p:spPr>
            <a:xfrm>
              <a:off x="6140777" y="2578126"/>
              <a:ext cx="89244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credits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9" name="直接连接符 38"/>
            <p:cNvCxnSpPr>
              <a:stCxn id="63" idx="0"/>
              <a:endCxn id="68" idx="3"/>
            </p:cNvCxnSpPr>
            <p:nvPr/>
          </p:nvCxnSpPr>
          <p:spPr>
            <a:xfrm flipV="1">
              <a:off x="5811159" y="2880345"/>
              <a:ext cx="460314" cy="33243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2781115" y="2917290"/>
            <a:ext cx="2600836" cy="2014835"/>
            <a:chOff x="2855061" y="3907873"/>
            <a:chExt cx="2600836" cy="2014835"/>
          </a:xfrm>
        </p:grpSpPr>
        <p:sp>
          <p:nvSpPr>
            <p:cNvPr id="75" name="椭圆 7"/>
            <p:cNvSpPr/>
            <p:nvPr/>
          </p:nvSpPr>
          <p:spPr>
            <a:xfrm>
              <a:off x="2855061" y="4595603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" name="Straight Connector 75"/>
            <p:cNvCxnSpPr>
              <a:stCxn id="75" idx="6"/>
              <a:endCxn id="77" idx="1"/>
            </p:cNvCxnSpPr>
            <p:nvPr/>
          </p:nvCxnSpPr>
          <p:spPr>
            <a:xfrm flipV="1">
              <a:off x="3672655" y="4772231"/>
              <a:ext cx="425348" cy="40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3"/>
            <p:cNvSpPr/>
            <p:nvPr/>
          </p:nvSpPr>
          <p:spPr>
            <a:xfrm>
              <a:off x="4098003" y="4618342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椭圆 7"/>
            <p:cNvSpPr/>
            <p:nvPr/>
          </p:nvSpPr>
          <p:spPr>
            <a:xfrm>
              <a:off x="3770271" y="394966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椭圆 22"/>
            <p:cNvSpPr/>
            <p:nvPr/>
          </p:nvSpPr>
          <p:spPr>
            <a:xfrm>
              <a:off x="4753912" y="3907873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椭圆 23"/>
            <p:cNvSpPr/>
            <p:nvPr/>
          </p:nvSpPr>
          <p:spPr>
            <a:xfrm>
              <a:off x="3688102" y="5200676"/>
              <a:ext cx="5583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椭圆 24"/>
            <p:cNvSpPr/>
            <p:nvPr/>
          </p:nvSpPr>
          <p:spPr>
            <a:xfrm>
              <a:off x="4826995" y="5214564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2" name="直接连接符 9"/>
            <p:cNvCxnSpPr>
              <a:stCxn id="78" idx="5"/>
              <a:endCxn id="77" idx="0"/>
            </p:cNvCxnSpPr>
            <p:nvPr/>
          </p:nvCxnSpPr>
          <p:spPr>
            <a:xfrm>
              <a:off x="4177011" y="4251880"/>
              <a:ext cx="386384" cy="3664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11"/>
            <p:cNvCxnSpPr>
              <a:stCxn id="79" idx="3"/>
              <a:endCxn id="77" idx="0"/>
            </p:cNvCxnSpPr>
            <p:nvPr/>
          </p:nvCxnSpPr>
          <p:spPr>
            <a:xfrm flipH="1">
              <a:off x="4563395" y="4210092"/>
              <a:ext cx="282618" cy="4082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28"/>
            <p:cNvCxnSpPr>
              <a:stCxn id="80" idx="0"/>
              <a:endCxn id="77" idx="2"/>
            </p:cNvCxnSpPr>
            <p:nvPr/>
          </p:nvCxnSpPr>
          <p:spPr>
            <a:xfrm flipV="1">
              <a:off x="3967265" y="4926119"/>
              <a:ext cx="596130" cy="274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30"/>
            <p:cNvCxnSpPr>
              <a:stCxn id="81" idx="1"/>
              <a:endCxn id="77" idx="2"/>
            </p:cNvCxnSpPr>
            <p:nvPr/>
          </p:nvCxnSpPr>
          <p:spPr>
            <a:xfrm flipH="1" flipV="1">
              <a:off x="4563395" y="4926119"/>
              <a:ext cx="355701" cy="3402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椭圆 24"/>
            <p:cNvSpPr/>
            <p:nvPr/>
          </p:nvSpPr>
          <p:spPr>
            <a:xfrm>
              <a:off x="4229598" y="5568636"/>
              <a:ext cx="515474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GPA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7" name="直接连接符 30"/>
            <p:cNvCxnSpPr>
              <a:stCxn id="86" idx="0"/>
              <a:endCxn id="77" idx="2"/>
            </p:cNvCxnSpPr>
            <p:nvPr/>
          </p:nvCxnSpPr>
          <p:spPr>
            <a:xfrm flipV="1">
              <a:off x="4487335" y="4926119"/>
              <a:ext cx="76060" cy="64251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3949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Design Process</a:t>
            </a:r>
          </a:p>
          <a:p>
            <a:pPr lvl="1"/>
            <a:r>
              <a:rPr lang="en-US" altLang="zh-CN" dirty="0"/>
              <a:t>Conceptual-design -&gt; ER diagram</a:t>
            </a:r>
          </a:p>
          <a:p>
            <a:pPr lvl="1"/>
            <a:r>
              <a:rPr lang="en-US" altLang="zh-CN" dirty="0"/>
              <a:t>Logical-design -&gt; logical view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+mn-ea"/>
              </a:rPr>
              <a:t>Relational </a:t>
            </a:r>
            <a:r>
              <a:rPr lang="en-US" altLang="zh-CN" dirty="0">
                <a:sym typeface="+mn-ea"/>
              </a:rPr>
              <a:t>Schema Optimization -&gt; redundancies minimized</a:t>
            </a:r>
            <a:endParaRPr lang="en-US" altLang="zh-CN" dirty="0"/>
          </a:p>
          <a:p>
            <a:pPr lvl="1"/>
            <a:r>
              <a:rPr lang="en-US" altLang="zh-CN" dirty="0"/>
              <a:t>Physical-design -&gt; implementation</a:t>
            </a:r>
          </a:p>
          <a:p>
            <a:r>
              <a:rPr lang="en-US" altLang="zh-CN" dirty="0"/>
              <a:t>Entity Sets</a:t>
            </a:r>
          </a:p>
          <a:p>
            <a:pPr lvl="1"/>
            <a:r>
              <a:rPr lang="en-US" altLang="zh-CN" dirty="0"/>
              <a:t>Entity: A “thing” or “object” in the real world; how to describe? -&gt; attributes</a:t>
            </a:r>
          </a:p>
          <a:p>
            <a:r>
              <a:rPr lang="en-US" altLang="zh-CN" dirty="0"/>
              <a:t>Attributes</a:t>
            </a:r>
          </a:p>
          <a:p>
            <a:pPr lvl="1"/>
            <a:r>
              <a:rPr lang="en-US" altLang="zh-CN" dirty="0"/>
              <a:t>Attributes for different purposes can be different</a:t>
            </a:r>
          </a:p>
          <a:p>
            <a:pPr lvl="1"/>
            <a:r>
              <a:rPr lang="en-US" altLang="zh-CN" dirty="0"/>
              <a:t>Attribute value, domain</a:t>
            </a:r>
          </a:p>
          <a:p>
            <a:pPr lvl="1"/>
            <a:r>
              <a:rPr lang="en-US" altLang="zh-CN" dirty="0"/>
              <a:t>Key: the set of special attribute(s), can uniquely identify the entities</a:t>
            </a:r>
          </a:p>
          <a:p>
            <a:pPr lvl="1"/>
            <a:r>
              <a:rPr lang="en-US" altLang="zh-CN" dirty="0"/>
              <a:t>Basic ER Features</a:t>
            </a:r>
          </a:p>
          <a:p>
            <a:r>
              <a:rPr lang="en-US" altLang="zh-CN" dirty="0"/>
              <a:t>Relationship Sets</a:t>
            </a:r>
          </a:p>
          <a:p>
            <a:r>
              <a:rPr lang="en-US" altLang="zh-CN" dirty="0"/>
              <a:t>Basic SQL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4328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910" y="1590516"/>
            <a:ext cx="7886700" cy="4191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Sometimes multiple entities of the same type can </a:t>
            </a:r>
            <a:r>
              <a:rPr lang="en-US" altLang="zh-CN" dirty="0"/>
              <a:t>participate a same relationship.</a:t>
            </a:r>
          </a:p>
          <a:p>
            <a:r>
              <a:rPr lang="en-US" dirty="0"/>
              <a:t>Suppose we want to express “some courses are the </a:t>
            </a:r>
            <a:r>
              <a:rPr lang="en-US" altLang="zh-CN" dirty="0"/>
              <a:t>prerequisite of some other courses</a:t>
            </a:r>
            <a:r>
              <a:rPr lang="en-US" dirty="0"/>
              <a:t>”.</a:t>
            </a:r>
          </a:p>
          <a:p>
            <a:r>
              <a:rPr lang="en-US" dirty="0"/>
              <a:t>For example, before taking the database course, one must pass the C </a:t>
            </a:r>
            <a:r>
              <a:rPr lang="en-US" altLang="zh-CN" dirty="0"/>
              <a:t>program</a:t>
            </a:r>
            <a:r>
              <a:rPr lang="en-US" dirty="0"/>
              <a:t> course.</a:t>
            </a:r>
          </a:p>
          <a:p>
            <a:r>
              <a:rPr lang="en-US" dirty="0"/>
              <a:t>To model this example, ER diagram allows an entity set to link with a relationship set multiple times.</a:t>
            </a:r>
          </a:p>
          <a:p>
            <a:r>
              <a:rPr lang="en-US" altLang="zh-CN" dirty="0"/>
              <a:t>Roles are written in text, </a:t>
            </a:r>
          </a:p>
          <a:p>
            <a:pPr marL="0" indent="0">
              <a:buNone/>
            </a:pPr>
            <a:r>
              <a:rPr lang="en-US" altLang="zh-CN" dirty="0"/>
              <a:t>   to express how the entities </a:t>
            </a:r>
          </a:p>
          <a:p>
            <a:pPr marL="0" indent="0">
              <a:buNone/>
            </a:pPr>
            <a:r>
              <a:rPr lang="en-US" altLang="zh-CN" dirty="0"/>
              <a:t>   are participating the </a:t>
            </a:r>
          </a:p>
          <a:p>
            <a:pPr marL="0" indent="0">
              <a:buNone/>
            </a:pPr>
            <a:r>
              <a:rPr lang="en-US" altLang="zh-CN" dirty="0"/>
              <a:t>   relationship.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37" name="Group 36"/>
          <p:cNvGrpSpPr/>
          <p:nvPr/>
        </p:nvGrpSpPr>
        <p:grpSpPr>
          <a:xfrm>
            <a:off x="5768854" y="4288578"/>
            <a:ext cx="4370619" cy="2216133"/>
            <a:chOff x="3850898" y="4275989"/>
            <a:chExt cx="4370619" cy="2216133"/>
          </a:xfrm>
        </p:grpSpPr>
        <p:grpSp>
          <p:nvGrpSpPr>
            <p:cNvPr id="14" name="组合 6"/>
            <p:cNvGrpSpPr/>
            <p:nvPr/>
          </p:nvGrpSpPr>
          <p:grpSpPr>
            <a:xfrm>
              <a:off x="7253780" y="4694778"/>
              <a:ext cx="967737" cy="967737"/>
              <a:chOff x="3371232" y="4880441"/>
              <a:chExt cx="823259" cy="823260"/>
            </a:xfrm>
          </p:grpSpPr>
          <p:sp>
            <p:nvSpPr>
              <p:cNvPr id="15" name="菱形 4"/>
              <p:cNvSpPr>
                <a:spLocks noChangeAspect="1"/>
              </p:cNvSpPr>
              <p:nvPr/>
            </p:nvSpPr>
            <p:spPr>
              <a:xfrm>
                <a:off x="3371232" y="4880441"/>
                <a:ext cx="823259" cy="823260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本框 5"/>
              <p:cNvSpPr txBox="1"/>
              <p:nvPr/>
            </p:nvSpPr>
            <p:spPr>
              <a:xfrm>
                <a:off x="3442485" y="5161156"/>
                <a:ext cx="680751" cy="26182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pre_req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5987876" y="5265389"/>
              <a:ext cx="135016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987369" y="5093939"/>
              <a:ext cx="135016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5"/>
            <p:cNvSpPr txBox="1"/>
            <p:nvPr/>
          </p:nvSpPr>
          <p:spPr>
            <a:xfrm>
              <a:off x="6148530" y="5232343"/>
              <a:ext cx="1027845" cy="276999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altLang="zh-CN" sz="1200" i="1" dirty="0">
                  <a:latin typeface="Arial" panose="020B0604020202020204" pitchFamily="34" charset="0"/>
                  <a:cs typeface="Arial" panose="020B0604020202020204" pitchFamily="34" charset="0"/>
                </a:rPr>
                <a:t>predecessor</a:t>
              </a:r>
              <a:endParaRPr kumimoji="1" lang="zh-CN" altLang="en-US"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5"/>
            <p:cNvSpPr txBox="1"/>
            <p:nvPr/>
          </p:nvSpPr>
          <p:spPr>
            <a:xfrm>
              <a:off x="6219160" y="4831297"/>
              <a:ext cx="875561" cy="276999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altLang="zh-CN" sz="1200" i="1" dirty="0">
                  <a:latin typeface="Arial" panose="020B0604020202020204" pitchFamily="34" charset="0"/>
                  <a:cs typeface="Arial" panose="020B0604020202020204" pitchFamily="34" charset="0"/>
                </a:rPr>
                <a:t>successor</a:t>
              </a:r>
              <a:endParaRPr kumimoji="1" lang="zh-CN" altLang="en-US"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3850898" y="4275989"/>
              <a:ext cx="3434584" cy="2216133"/>
              <a:chOff x="4042809" y="2461098"/>
              <a:chExt cx="3434584" cy="2216133"/>
            </a:xfrm>
          </p:grpSpPr>
          <p:sp>
            <p:nvSpPr>
              <p:cNvPr id="26" name="椭圆 26"/>
              <p:cNvSpPr/>
              <p:nvPr/>
            </p:nvSpPr>
            <p:spPr>
              <a:xfrm>
                <a:off x="4042809" y="4311838"/>
                <a:ext cx="1442993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domain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5734727" y="4323159"/>
                <a:ext cx="1742666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course_number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8" name="直接连接符 38"/>
              <p:cNvCxnSpPr>
                <a:stCxn id="32" idx="4"/>
                <a:endCxn id="26" idx="7"/>
              </p:cNvCxnSpPr>
              <p:nvPr/>
            </p:nvCxnSpPr>
            <p:spPr>
              <a:xfrm flipH="1">
                <a:off x="5274481" y="4165631"/>
                <a:ext cx="370414" cy="19806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38"/>
              <p:cNvCxnSpPr>
                <a:stCxn id="32" idx="4"/>
                <a:endCxn id="27" idx="1"/>
              </p:cNvCxnSpPr>
              <p:nvPr/>
            </p:nvCxnSpPr>
            <p:spPr>
              <a:xfrm>
                <a:off x="5644895" y="4165631"/>
                <a:ext cx="345040" cy="209381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矩形 21"/>
              <p:cNvSpPr/>
              <p:nvPr/>
            </p:nvSpPr>
            <p:spPr>
              <a:xfrm>
                <a:off x="5450323" y="3212784"/>
                <a:ext cx="72167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椭圆 25"/>
              <p:cNvSpPr/>
              <p:nvPr/>
            </p:nvSpPr>
            <p:spPr>
              <a:xfrm>
                <a:off x="4448006" y="2461098"/>
                <a:ext cx="1551686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u="sng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course_name</a:t>
                </a:r>
                <a:endParaRPr lang="zh-CN" altLang="en-US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椭圆 26"/>
              <p:cNvSpPr/>
              <p:nvPr/>
            </p:nvSpPr>
            <p:spPr>
              <a:xfrm>
                <a:off x="4868350" y="3811559"/>
                <a:ext cx="1553089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course_code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3" name="直接连接符 36"/>
              <p:cNvCxnSpPr>
                <a:stCxn id="30" idx="0"/>
                <a:endCxn id="31" idx="4"/>
              </p:cNvCxnSpPr>
              <p:nvPr/>
            </p:nvCxnSpPr>
            <p:spPr>
              <a:xfrm flipH="1" flipV="1">
                <a:off x="5223849" y="2815170"/>
                <a:ext cx="587310" cy="397614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8"/>
              <p:cNvCxnSpPr>
                <a:stCxn id="30" idx="2"/>
                <a:endCxn id="32" idx="0"/>
              </p:cNvCxnSpPr>
              <p:nvPr/>
            </p:nvCxnSpPr>
            <p:spPr>
              <a:xfrm flipH="1">
                <a:off x="5644895" y="3520561"/>
                <a:ext cx="166264" cy="29099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椭圆 26"/>
              <p:cNvSpPr/>
              <p:nvPr/>
            </p:nvSpPr>
            <p:spPr>
              <a:xfrm>
                <a:off x="6140777" y="2578126"/>
                <a:ext cx="892449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credits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6" name="直接连接符 38"/>
              <p:cNvCxnSpPr>
                <a:stCxn id="30" idx="0"/>
                <a:endCxn id="35" idx="3"/>
              </p:cNvCxnSpPr>
              <p:nvPr/>
            </p:nvCxnSpPr>
            <p:spPr>
              <a:xfrm flipV="1">
                <a:off x="5811159" y="2880345"/>
                <a:ext cx="460314" cy="33243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3949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Design Process</a:t>
            </a:r>
          </a:p>
          <a:p>
            <a:pPr lvl="1"/>
            <a:r>
              <a:rPr lang="en-US" altLang="zh-CN" dirty="0"/>
              <a:t>Conceptual-design -&gt; ER diagram</a:t>
            </a:r>
          </a:p>
          <a:p>
            <a:pPr lvl="1"/>
            <a:r>
              <a:rPr lang="en-US" altLang="zh-CN" dirty="0"/>
              <a:t>Logical-design -&gt; logical view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+mn-ea"/>
              </a:rPr>
              <a:t>Relational </a:t>
            </a:r>
            <a:r>
              <a:rPr lang="en-US" altLang="zh-CN" dirty="0">
                <a:sym typeface="+mn-ea"/>
              </a:rPr>
              <a:t>Schema Optimization -&gt; redundancies minimized</a:t>
            </a:r>
            <a:endParaRPr lang="en-US" altLang="zh-CN" dirty="0"/>
          </a:p>
          <a:p>
            <a:pPr lvl="1"/>
            <a:r>
              <a:rPr lang="en-US" altLang="zh-CN" dirty="0"/>
              <a:t>Physical-design -&gt; implementation</a:t>
            </a:r>
          </a:p>
          <a:p>
            <a:r>
              <a:rPr lang="en-US" altLang="zh-CN" dirty="0"/>
              <a:t>Entity Sets</a:t>
            </a:r>
          </a:p>
          <a:p>
            <a:pPr lvl="1"/>
            <a:r>
              <a:rPr lang="en-US" altLang="zh-CN" dirty="0"/>
              <a:t>Entity: A “thing” or “object” in the real world; how to describe? -&gt; attributes</a:t>
            </a:r>
          </a:p>
          <a:p>
            <a:r>
              <a:rPr lang="en-US" altLang="zh-CN" dirty="0"/>
              <a:t>Attributes</a:t>
            </a:r>
          </a:p>
          <a:p>
            <a:pPr lvl="1"/>
            <a:r>
              <a:rPr lang="en-US" altLang="zh-CN" dirty="0"/>
              <a:t>Attributes for different purposes can be different</a:t>
            </a:r>
          </a:p>
          <a:p>
            <a:pPr lvl="1"/>
            <a:r>
              <a:rPr lang="en-US" altLang="zh-CN" dirty="0"/>
              <a:t>Attribute value, domain</a:t>
            </a:r>
          </a:p>
          <a:p>
            <a:pPr lvl="1"/>
            <a:r>
              <a:rPr lang="en-US" altLang="zh-CN" dirty="0"/>
              <a:t>Key: the set of special attribute(s), can uniquely identify the entities</a:t>
            </a:r>
          </a:p>
          <a:p>
            <a:pPr lvl="1"/>
            <a:r>
              <a:rPr lang="en-US" altLang="zh-CN" dirty="0"/>
              <a:t>Basic ER Features</a:t>
            </a:r>
          </a:p>
          <a:p>
            <a:r>
              <a:rPr lang="en-US" altLang="zh-CN" dirty="0"/>
              <a:t>Relationship Sets</a:t>
            </a:r>
          </a:p>
          <a:p>
            <a:r>
              <a:rPr lang="en-US" altLang="zh-CN" dirty="0"/>
              <a:t>Basic SQL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4625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Attributes for Relationship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900" y="1250269"/>
            <a:ext cx="11638607" cy="4080753"/>
          </a:xfrm>
        </p:spPr>
        <p:txBody>
          <a:bodyPr>
            <a:normAutofit/>
          </a:bodyPr>
          <a:lstStyle/>
          <a:p>
            <a:r>
              <a:rPr lang="en-US" dirty="0"/>
              <a:t>Sometimes people are also interested in some information about relationships.</a:t>
            </a:r>
          </a:p>
          <a:p>
            <a:r>
              <a:rPr lang="en-US" dirty="0"/>
              <a:t>In the “students borrow books” example, we also want to know when the book is borrowed, when the book is returned, and how long the book is kept by the student.</a:t>
            </a:r>
          </a:p>
          <a:p>
            <a:r>
              <a:rPr lang="en-US" dirty="0"/>
              <a:t>This information does not belong to students or books. It is about the association.</a:t>
            </a:r>
          </a:p>
          <a:p>
            <a:r>
              <a:rPr lang="en-US" dirty="0"/>
              <a:t>Thus, in this case, the relationship set can also have some attributes.</a:t>
            </a:r>
          </a:p>
        </p:txBody>
      </p:sp>
      <p:sp>
        <p:nvSpPr>
          <p:cNvPr id="96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658000" y="4707036"/>
            <a:ext cx="7410387" cy="2045159"/>
            <a:chOff x="2224389" y="4510088"/>
            <a:chExt cx="7410387" cy="2045159"/>
          </a:xfrm>
        </p:grpSpPr>
        <p:sp>
          <p:nvSpPr>
            <p:cNvPr id="33" name="矩形 21"/>
            <p:cNvSpPr/>
            <p:nvPr/>
          </p:nvSpPr>
          <p:spPr>
            <a:xfrm>
              <a:off x="8079966" y="5463189"/>
              <a:ext cx="66236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books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椭圆 25"/>
            <p:cNvSpPr/>
            <p:nvPr/>
          </p:nvSpPr>
          <p:spPr>
            <a:xfrm>
              <a:off x="8680712" y="4751354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ISBN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椭圆 26"/>
            <p:cNvSpPr/>
            <p:nvPr/>
          </p:nvSpPr>
          <p:spPr>
            <a:xfrm>
              <a:off x="7684288" y="6149863"/>
              <a:ext cx="89244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title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5" name="直接连接符 32"/>
            <p:cNvCxnSpPr>
              <a:stCxn id="57" idx="3"/>
              <a:endCxn id="54" idx="1"/>
            </p:cNvCxnSpPr>
            <p:nvPr/>
          </p:nvCxnSpPr>
          <p:spPr>
            <a:xfrm>
              <a:off x="4398114" y="5615713"/>
              <a:ext cx="1396348" cy="136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34"/>
            <p:cNvCxnSpPr>
              <a:stCxn id="54" idx="3"/>
              <a:endCxn id="33" idx="1"/>
            </p:cNvCxnSpPr>
            <p:nvPr/>
          </p:nvCxnSpPr>
          <p:spPr>
            <a:xfrm>
              <a:off x="6665133" y="5617075"/>
              <a:ext cx="1414833" cy="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36"/>
            <p:cNvCxnSpPr>
              <a:stCxn id="33" idx="0"/>
              <a:endCxn id="39" idx="4"/>
            </p:cNvCxnSpPr>
            <p:nvPr/>
          </p:nvCxnSpPr>
          <p:spPr>
            <a:xfrm flipV="1">
              <a:off x="8411147" y="5105426"/>
              <a:ext cx="584017" cy="3577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38"/>
            <p:cNvCxnSpPr>
              <a:stCxn id="33" idx="2"/>
              <a:endCxn id="40" idx="0"/>
            </p:cNvCxnSpPr>
            <p:nvPr/>
          </p:nvCxnSpPr>
          <p:spPr>
            <a:xfrm flipH="1">
              <a:off x="8130512" y="5770965"/>
              <a:ext cx="280634" cy="3788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26"/>
            <p:cNvSpPr/>
            <p:nvPr/>
          </p:nvSpPr>
          <p:spPr>
            <a:xfrm>
              <a:off x="8742327" y="5961457"/>
              <a:ext cx="89244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0" name="直接连接符 38"/>
            <p:cNvCxnSpPr>
              <a:stCxn id="33" idx="2"/>
              <a:endCxn id="49" idx="0"/>
            </p:cNvCxnSpPr>
            <p:nvPr/>
          </p:nvCxnSpPr>
          <p:spPr>
            <a:xfrm>
              <a:off x="8411147" y="5770965"/>
              <a:ext cx="777405" cy="19049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椭圆 26"/>
            <p:cNvSpPr/>
            <p:nvPr/>
          </p:nvSpPr>
          <p:spPr>
            <a:xfrm>
              <a:off x="4534897" y="4510088"/>
              <a:ext cx="1753988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date_of_borrow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椭圆 26"/>
            <p:cNvSpPr/>
            <p:nvPr/>
          </p:nvSpPr>
          <p:spPr>
            <a:xfrm>
              <a:off x="6516841" y="4525290"/>
              <a:ext cx="1753988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date_of_return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椭圆 26"/>
            <p:cNvSpPr/>
            <p:nvPr/>
          </p:nvSpPr>
          <p:spPr>
            <a:xfrm>
              <a:off x="4903076" y="6201175"/>
              <a:ext cx="1040454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duration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1" name="直接连接符 11"/>
            <p:cNvCxnSpPr>
              <a:stCxn id="78" idx="5"/>
              <a:endCxn id="54" idx="0"/>
            </p:cNvCxnSpPr>
            <p:nvPr/>
          </p:nvCxnSpPr>
          <p:spPr>
            <a:xfrm>
              <a:off x="6032019" y="4812308"/>
              <a:ext cx="197778" cy="36943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11"/>
            <p:cNvCxnSpPr>
              <a:stCxn id="79" idx="3"/>
              <a:endCxn id="54" idx="0"/>
            </p:cNvCxnSpPr>
            <p:nvPr/>
          </p:nvCxnSpPr>
          <p:spPr>
            <a:xfrm flipH="1">
              <a:off x="6229797" y="4827510"/>
              <a:ext cx="543910" cy="35423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11"/>
            <p:cNvCxnSpPr>
              <a:stCxn id="80" idx="7"/>
              <a:endCxn id="54" idx="2"/>
            </p:cNvCxnSpPr>
            <p:nvPr/>
          </p:nvCxnSpPr>
          <p:spPr>
            <a:xfrm flipV="1">
              <a:off x="5791159" y="6052410"/>
              <a:ext cx="438638" cy="20061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6"/>
            <p:cNvGrpSpPr/>
            <p:nvPr/>
          </p:nvGrpSpPr>
          <p:grpSpPr>
            <a:xfrm>
              <a:off x="5794462" y="5181740"/>
              <a:ext cx="870670" cy="870670"/>
              <a:chOff x="3852000" y="4722469"/>
              <a:chExt cx="1116654" cy="1116655"/>
            </a:xfrm>
          </p:grpSpPr>
          <p:sp>
            <p:nvSpPr>
              <p:cNvPr id="54" name="菱形 4"/>
              <p:cNvSpPr>
                <a:spLocks noChangeAspect="1"/>
              </p:cNvSpPr>
              <p:nvPr/>
            </p:nvSpPr>
            <p:spPr>
              <a:xfrm>
                <a:off x="3852000" y="4722469"/>
                <a:ext cx="1116654" cy="1116655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文本框 5"/>
              <p:cNvSpPr txBox="1"/>
              <p:nvPr/>
            </p:nvSpPr>
            <p:spPr>
              <a:xfrm>
                <a:off x="3984399" y="5077614"/>
                <a:ext cx="937896" cy="394731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borrow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224389" y="4845135"/>
              <a:ext cx="2600836" cy="1577179"/>
              <a:chOff x="2855061" y="4001653"/>
              <a:chExt cx="2600836" cy="1577179"/>
            </a:xfrm>
          </p:grpSpPr>
          <p:sp>
            <p:nvSpPr>
              <p:cNvPr id="52" name="椭圆 7"/>
              <p:cNvSpPr/>
              <p:nvPr/>
            </p:nvSpPr>
            <p:spPr>
              <a:xfrm>
                <a:off x="2855061" y="4595603"/>
                <a:ext cx="817594" cy="354072"/>
              </a:xfrm>
              <a:prstGeom prst="ellipse">
                <a:avLst/>
              </a:prstGeom>
              <a:noFill/>
              <a:ln w="31750" cmpd="dbl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phone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6" name="Straight Connector 55"/>
              <p:cNvCxnSpPr>
                <a:stCxn id="52" idx="6"/>
                <a:endCxn id="57" idx="1"/>
              </p:cNvCxnSpPr>
              <p:nvPr/>
            </p:nvCxnSpPr>
            <p:spPr>
              <a:xfrm flipV="1">
                <a:off x="3672655" y="4772231"/>
                <a:ext cx="425348" cy="40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矩形 3"/>
              <p:cNvSpPr/>
              <p:nvPr/>
            </p:nvSpPr>
            <p:spPr>
              <a:xfrm>
                <a:off x="4098003" y="4618342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students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椭圆 7"/>
              <p:cNvSpPr/>
              <p:nvPr/>
            </p:nvSpPr>
            <p:spPr>
              <a:xfrm>
                <a:off x="3770271" y="4004366"/>
                <a:ext cx="476526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u="sng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</a:t>
                </a:r>
                <a:endParaRPr lang="zh-CN" altLang="en-US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椭圆 22"/>
              <p:cNvSpPr/>
              <p:nvPr/>
            </p:nvSpPr>
            <p:spPr>
              <a:xfrm>
                <a:off x="4753912" y="4001653"/>
                <a:ext cx="628902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椭圆 23"/>
              <p:cNvSpPr/>
              <p:nvPr/>
            </p:nvSpPr>
            <p:spPr>
              <a:xfrm>
                <a:off x="3469271" y="5005294"/>
                <a:ext cx="558326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year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椭圆 24"/>
              <p:cNvSpPr/>
              <p:nvPr/>
            </p:nvSpPr>
            <p:spPr>
              <a:xfrm>
                <a:off x="4826995" y="4995732"/>
                <a:ext cx="628902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major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2" name="直接连接符 9"/>
              <p:cNvCxnSpPr>
                <a:stCxn id="58" idx="5"/>
                <a:endCxn id="57" idx="0"/>
              </p:cNvCxnSpPr>
              <p:nvPr/>
            </p:nvCxnSpPr>
            <p:spPr>
              <a:xfrm>
                <a:off x="4177011" y="4306585"/>
                <a:ext cx="386384" cy="3117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11"/>
              <p:cNvCxnSpPr>
                <a:stCxn id="59" idx="3"/>
                <a:endCxn id="57" idx="0"/>
              </p:cNvCxnSpPr>
              <p:nvPr/>
            </p:nvCxnSpPr>
            <p:spPr>
              <a:xfrm flipH="1">
                <a:off x="4563395" y="4303872"/>
                <a:ext cx="282618" cy="31447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28"/>
              <p:cNvCxnSpPr>
                <a:stCxn id="60" idx="7"/>
                <a:endCxn id="57" idx="2"/>
              </p:cNvCxnSpPr>
              <p:nvPr/>
            </p:nvCxnSpPr>
            <p:spPr>
              <a:xfrm flipV="1">
                <a:off x="3945832" y="4926119"/>
                <a:ext cx="617563" cy="13102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30"/>
              <p:cNvCxnSpPr>
                <a:stCxn id="61" idx="1"/>
                <a:endCxn id="57" idx="2"/>
              </p:cNvCxnSpPr>
              <p:nvPr/>
            </p:nvCxnSpPr>
            <p:spPr>
              <a:xfrm flipH="1" flipV="1">
                <a:off x="4563395" y="4926119"/>
                <a:ext cx="355701" cy="12146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椭圆 24"/>
              <p:cNvSpPr/>
              <p:nvPr/>
            </p:nvSpPr>
            <p:spPr>
              <a:xfrm>
                <a:off x="4206153" y="5224760"/>
                <a:ext cx="515474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GPA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7" name="直接连接符 30"/>
              <p:cNvCxnSpPr>
                <a:stCxn id="66" idx="0"/>
                <a:endCxn id="57" idx="2"/>
              </p:cNvCxnSpPr>
              <p:nvPr/>
            </p:nvCxnSpPr>
            <p:spPr>
              <a:xfrm flipV="1">
                <a:off x="4463890" y="4926119"/>
                <a:ext cx="99505" cy="298641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Derived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previous example, the attribute duration is in a </a:t>
            </a:r>
            <a:r>
              <a:rPr lang="en-US" b="1" i="1" dirty="0"/>
              <a:t>dashed </a:t>
            </a:r>
            <a:r>
              <a:rPr lang="en-US" altLang="zh-CN" b="1" i="1" dirty="0"/>
              <a:t>ellipse</a:t>
            </a:r>
            <a:r>
              <a:rPr lang="en-US" altLang="zh-CN" dirty="0"/>
              <a:t> because it is a </a:t>
            </a:r>
            <a:r>
              <a:rPr lang="en-US" altLang="zh-CN" b="1" i="1" dirty="0"/>
              <a:t>derived attribute</a:t>
            </a:r>
            <a:r>
              <a:rPr lang="en-US" altLang="zh-CN" dirty="0"/>
              <a:t>. </a:t>
            </a:r>
          </a:p>
          <a:p>
            <a:r>
              <a:rPr lang="en-US" dirty="0"/>
              <a:t>If one knows the date of borrow and the date of return, then the duration can be calculated from the two values.</a:t>
            </a:r>
          </a:p>
        </p:txBody>
      </p:sp>
      <p:sp>
        <p:nvSpPr>
          <p:cNvPr id="4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Summarizing the examples.</a:t>
            </a:r>
          </a:p>
          <a:p>
            <a:r>
              <a:rPr lang="en-US" dirty="0"/>
              <a:t>Sometimes designers have to reallocate the positions of some </a:t>
            </a:r>
            <a:r>
              <a:rPr lang="en-US" altLang="zh-CN" dirty="0"/>
              <a:t>components of the ER diagram to make it beautiful.</a:t>
            </a:r>
            <a:endParaRPr lang="en-US" dirty="0"/>
          </a:p>
        </p:txBody>
      </p:sp>
      <p:sp>
        <p:nvSpPr>
          <p:cNvPr id="196" name="矩形 12">
            <a:hlinkClick r:id="rId2" action="ppaction://hlinksldjump"/>
          </p:cNvPr>
          <p:cNvSpPr/>
          <p:nvPr/>
        </p:nvSpPr>
        <p:spPr>
          <a:xfrm>
            <a:off x="1524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矩形 12">
            <a:hlinkClick r:id="rId3" action="ppaction://hlinksldjump"/>
          </p:cNvPr>
          <p:cNvSpPr/>
          <p:nvPr/>
        </p:nvSpPr>
        <p:spPr>
          <a:xfrm>
            <a:off x="8400000" y="1"/>
            <a:ext cx="2268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矩形 12">
            <a:hlinkClick r:id="rId4" action="ppaction://hlinksldjump"/>
          </p:cNvPr>
          <p:cNvSpPr/>
          <p:nvPr/>
        </p:nvSpPr>
        <p:spPr>
          <a:xfrm>
            <a:off x="3792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矩形 12">
            <a:hlinkClick r:id="rId5" action="ppaction://hlinksldjump"/>
          </p:cNvPr>
          <p:cNvSpPr/>
          <p:nvPr/>
        </p:nvSpPr>
        <p:spPr>
          <a:xfrm>
            <a:off x="6096000" y="1"/>
            <a:ext cx="230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0107" y="2952815"/>
            <a:ext cx="7451787" cy="38139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6120" cy="1325563"/>
          </a:xfrm>
        </p:spPr>
        <p:txBody>
          <a:bodyPr/>
          <a:lstStyle/>
          <a:p>
            <a:r>
              <a:rPr lang="en-US" altLang="zh-CN" dirty="0"/>
              <a:t>How did you do for the class exercise? (Q&amp;A)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Based on the ER diagram on the previous page, model the following features.</a:t>
            </a:r>
          </a:p>
          <a:p>
            <a:pPr lvl="1"/>
            <a:r>
              <a:rPr lang="en-US" altLang="zh-CN" dirty="0"/>
              <a:t>Programs, which have program codes, program names, and the division that each program belongs to.</a:t>
            </a:r>
          </a:p>
          <a:p>
            <a:pPr lvl="1"/>
            <a:r>
              <a:rPr lang="en-US" altLang="zh-CN" dirty="0"/>
              <a:t>Students have majors.</a:t>
            </a:r>
          </a:p>
          <a:p>
            <a:pPr lvl="1"/>
            <a:r>
              <a:rPr lang="en-US" altLang="zh-CN" dirty="0"/>
              <a:t>Instructors work for some programs.</a:t>
            </a:r>
          </a:p>
          <a:p>
            <a:pPr lvl="1"/>
            <a:r>
              <a:rPr lang="en-US" altLang="zh-CN" dirty="0"/>
              <a:t>Every program has a program director, who is also an instructor.</a:t>
            </a:r>
          </a:p>
          <a:p>
            <a:pPr lvl="1"/>
            <a:r>
              <a:rPr lang="en-US" altLang="zh-CN" dirty="0"/>
              <a:t>Courses are offered by programs.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3949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Design Process</a:t>
            </a:r>
          </a:p>
          <a:p>
            <a:pPr lvl="1"/>
            <a:r>
              <a:rPr lang="en-US" altLang="zh-CN" dirty="0"/>
              <a:t>Conceptual-design -&gt; ER diagram</a:t>
            </a:r>
          </a:p>
          <a:p>
            <a:pPr lvl="1"/>
            <a:r>
              <a:rPr lang="en-US" altLang="zh-CN" dirty="0"/>
              <a:t>Logical-design -&gt; logical view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+mn-ea"/>
              </a:rPr>
              <a:t>Relational </a:t>
            </a:r>
            <a:r>
              <a:rPr lang="en-US" altLang="zh-CN" dirty="0">
                <a:sym typeface="+mn-ea"/>
              </a:rPr>
              <a:t>Schema Optimization -&gt; redundancies minimized</a:t>
            </a:r>
            <a:endParaRPr lang="en-US" altLang="zh-CN" dirty="0"/>
          </a:p>
          <a:p>
            <a:pPr lvl="1"/>
            <a:r>
              <a:rPr lang="en-US" altLang="zh-CN" dirty="0"/>
              <a:t>Physical-design -&gt; implementation</a:t>
            </a:r>
          </a:p>
          <a:p>
            <a:r>
              <a:rPr lang="en-US" altLang="zh-CN" dirty="0"/>
              <a:t>Entity Sets</a:t>
            </a:r>
          </a:p>
          <a:p>
            <a:pPr lvl="1"/>
            <a:r>
              <a:rPr lang="en-US" altLang="zh-CN" dirty="0"/>
              <a:t>Entity: A “thing” or “object” in the real world; how to describe? -&gt; attributes</a:t>
            </a:r>
          </a:p>
          <a:p>
            <a:r>
              <a:rPr lang="en-US" altLang="zh-CN" dirty="0"/>
              <a:t>Attributes</a:t>
            </a:r>
          </a:p>
          <a:p>
            <a:pPr lvl="1"/>
            <a:r>
              <a:rPr lang="en-US" altLang="zh-CN" dirty="0"/>
              <a:t>Attributes for different purposes can be different</a:t>
            </a:r>
          </a:p>
          <a:p>
            <a:pPr lvl="1"/>
            <a:r>
              <a:rPr lang="en-US" altLang="zh-CN" dirty="0"/>
              <a:t>Attribute value, domain</a:t>
            </a:r>
          </a:p>
          <a:p>
            <a:pPr lvl="1"/>
            <a:r>
              <a:rPr lang="en-US" altLang="zh-CN" dirty="0"/>
              <a:t>Key: the set of special attribute(s), can uniquely identify the entities</a:t>
            </a:r>
          </a:p>
          <a:p>
            <a:pPr lvl="1"/>
            <a:r>
              <a:rPr lang="en-US" altLang="zh-CN" dirty="0"/>
              <a:t>Basic ER Features</a:t>
            </a:r>
          </a:p>
          <a:p>
            <a:r>
              <a:rPr lang="en-US" altLang="zh-CN" dirty="0"/>
              <a:t>Relationship Sets</a:t>
            </a:r>
          </a:p>
          <a:p>
            <a:r>
              <a:rPr lang="en-US" altLang="zh-CN" dirty="0"/>
              <a:t>Basic SQL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1424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52268" y="1412077"/>
                <a:ext cx="10515600" cy="4722023"/>
              </a:xfrm>
            </p:spPr>
            <p:txBody>
              <a:bodyPr/>
              <a:lstStyle/>
              <a:p>
                <a:r>
                  <a:rPr lang="en-US" dirty="0"/>
                  <a:t>The query “</a:t>
                </a:r>
                <a:r>
                  <a:rPr lang="en-US" dirty="0">
                    <a:latin typeface="Consolas" panose="020B0609020204030204" pitchFamily="49" charset="0"/>
                  </a:rPr>
                  <a:t>SELECT * FROM actor WHERE 1</a:t>
                </a:r>
                <a:r>
                  <a:rPr lang="en-US" dirty="0"/>
                  <a:t>” is understood as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</a:t>
                </a:r>
                <a:r>
                  <a:rPr lang="en-US" sz="1800" b="1" dirty="0">
                    <a:latin typeface="Consolas" panose="020B0609020204030204" pitchFamily="49" charset="0"/>
                  </a:rPr>
                  <a:t>for</a:t>
                </a:r>
                <a:r>
                  <a:rPr lang="en-US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in the table actor </a:t>
                </a:r>
                <a:r>
                  <a:rPr lang="en-US" sz="1800" b="1" dirty="0">
                    <a:latin typeface="Consolas" panose="020B0609020204030204" pitchFamily="49" charset="0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:r>
                  <a:rPr lang="en-US" sz="1800" b="1" dirty="0">
                    <a:latin typeface="Consolas" panose="020B0609020204030204" pitchFamily="49" charset="0"/>
                  </a:rPr>
                  <a:t>if</a:t>
                </a:r>
                <a:r>
                  <a:rPr lang="en-US" sz="1800" dirty="0">
                    <a:latin typeface="Consolas" panose="020B0609020204030204" pitchFamily="49" charset="0"/>
                  </a:rPr>
                  <a:t> 1 </a:t>
                </a:r>
                <a:r>
                  <a:rPr lang="en-US" sz="1800" b="1" dirty="0">
                    <a:latin typeface="Consolas" panose="020B0609020204030204" pitchFamily="49" charset="0"/>
                  </a:rPr>
                  <a:t>then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print the values of all attributes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if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</a:p>
              <a:p>
                <a:endParaRPr lang="en-US" dirty="0"/>
              </a:p>
              <a:p>
                <a:r>
                  <a:rPr lang="en-US" dirty="0"/>
                  <a:t>Then, you can see the query simply print everything in the table “actor”.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2268" y="1412077"/>
                <a:ext cx="10515600" cy="4722023"/>
              </a:xfrm>
              <a:blipFill rotWithShape="1">
                <a:blip r:embed="rId2"/>
                <a:stretch>
                  <a:fillRect l="-1" t="-10" r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066758" y="1355805"/>
            <a:ext cx="5273590" cy="2161117"/>
            <a:chOff x="2600325" y="1412077"/>
            <a:chExt cx="5038713" cy="1796795"/>
          </a:xfrm>
        </p:grpSpPr>
        <p:sp>
          <p:nvSpPr>
            <p:cNvPr id="4" name="Rectangle 3"/>
            <p:cNvSpPr/>
            <p:nvPr/>
          </p:nvSpPr>
          <p:spPr>
            <a:xfrm>
              <a:off x="7381863" y="1477914"/>
              <a:ext cx="257175" cy="321473"/>
            </a:xfrm>
            <a:prstGeom prst="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600325" y="2571117"/>
              <a:ext cx="257175" cy="321473"/>
            </a:xfrm>
            <a:prstGeom prst="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139705" y="1477914"/>
              <a:ext cx="1035962" cy="321473"/>
            </a:xfrm>
            <a:prstGeom prst="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73360" y="2267543"/>
              <a:ext cx="742950" cy="321473"/>
            </a:xfrm>
            <a:prstGeom prst="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31808" y="1412077"/>
              <a:ext cx="257175" cy="32147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510849" y="2887399"/>
              <a:ext cx="1793875" cy="32147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endCxn id="9" idx="1"/>
            </p:cNvCxnSpPr>
            <p:nvPr/>
          </p:nvCxnSpPr>
          <p:spPr>
            <a:xfrm>
              <a:off x="3779837" y="1733550"/>
              <a:ext cx="1731013" cy="131458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2"/>
              <a:endCxn id="7" idx="0"/>
            </p:cNvCxnSpPr>
            <p:nvPr/>
          </p:nvCxnSpPr>
          <p:spPr>
            <a:xfrm flipH="1">
              <a:off x="5344835" y="1799387"/>
              <a:ext cx="312852" cy="468156"/>
            </a:xfrm>
            <a:prstGeom prst="straightConnector1">
              <a:avLst/>
            </a:prstGeom>
            <a:ln w="15875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4" idx="2"/>
            </p:cNvCxnSpPr>
            <p:nvPr/>
          </p:nvCxnSpPr>
          <p:spPr>
            <a:xfrm flipH="1">
              <a:off x="2857500" y="1799387"/>
              <a:ext cx="4652951" cy="730290"/>
            </a:xfrm>
            <a:prstGeom prst="straightConnector1">
              <a:avLst/>
            </a:prstGeom>
            <a:ln w="15875">
              <a:solidFill>
                <a:schemeClr val="accent6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see another example.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1800" dirty="0">
                <a:latin typeface="Consolas" panose="020B0609020204030204" pitchFamily="49" charset="0"/>
              </a:rPr>
              <a:t>SELECT </a:t>
            </a:r>
            <a:r>
              <a:rPr lang="en-US" sz="1800" dirty="0" err="1">
                <a:highlight>
                  <a:srgbClr val="00FF00"/>
                </a:highlight>
                <a:latin typeface="Consolas" panose="020B0609020204030204" pitchFamily="49" charset="0"/>
              </a:rPr>
              <a:t>title,release_year</a:t>
            </a:r>
            <a:r>
              <a:rPr lang="en-US" sz="1800" dirty="0">
                <a:latin typeface="Consolas" panose="020B0609020204030204" pitchFamily="49" charset="0"/>
              </a:rPr>
              <a:t> FROM 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</a:rPr>
              <a:t>film</a:t>
            </a:r>
            <a:r>
              <a:rPr lang="en-US" sz="1800" dirty="0">
                <a:latin typeface="Consolas" panose="020B0609020204030204" pitchFamily="49" charset="0"/>
              </a:rPr>
              <a:t> WHERE </a:t>
            </a:r>
            <a:r>
              <a:rPr lang="en-US" sz="1800" dirty="0" err="1">
                <a:highlight>
                  <a:srgbClr val="00FFFF"/>
                </a:highlight>
                <a:latin typeface="Consolas" panose="020B0609020204030204" pitchFamily="49" charset="0"/>
              </a:rPr>
              <a:t>rental_rate</a:t>
            </a:r>
            <a:r>
              <a:rPr lang="en-US" sz="1800" dirty="0">
                <a:highlight>
                  <a:srgbClr val="00FFFF"/>
                </a:highlight>
                <a:latin typeface="Consolas" panose="020B0609020204030204" pitchFamily="49" charset="0"/>
              </a:rPr>
              <a:t>&lt;1</a:t>
            </a:r>
          </a:p>
          <a:p>
            <a:endParaRPr lang="en-US" dirty="0"/>
          </a:p>
          <a:p>
            <a:r>
              <a:rPr lang="en-US" dirty="0"/>
              <a:t>Please try to </a:t>
            </a:r>
            <a:r>
              <a:rPr lang="en-US" altLang="zh-CN" dirty="0"/>
              <a:t>tell the meaning of this query.</a:t>
            </a:r>
          </a:p>
          <a:p>
            <a:r>
              <a:rPr lang="en-US" dirty="0"/>
              <a:t>And execute it in the system to check the outcome.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02788" y="4672924"/>
                <a:ext cx="105156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altLang="zh-CN" sz="1800" b="1" dirty="0">
                    <a:latin typeface="Consolas" panose="020B0609020204030204" pitchFamily="49" charset="0"/>
                  </a:rPr>
                  <a:t>for</a:t>
                </a:r>
                <a:r>
                  <a:rPr lang="en-US" altLang="zh-CN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1800" dirty="0">
                    <a:latin typeface="Consolas" panose="020B0609020204030204" pitchFamily="49" charset="0"/>
                  </a:rPr>
                  <a:t> in the </a:t>
                </a:r>
                <a:r>
                  <a:rPr lang="en-US" altLang="zh-CN" sz="1800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table film </a:t>
                </a:r>
                <a:r>
                  <a:rPr lang="en-US" altLang="zh-CN" sz="1800" b="1" dirty="0">
                    <a:latin typeface="Consolas" panose="020B0609020204030204" pitchFamily="49" charset="0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altLang="zh-CN" b="1" dirty="0">
                    <a:latin typeface="Consolas" panose="020B0609020204030204" pitchFamily="49" charset="0"/>
                  </a:rPr>
                  <a:t>	</a:t>
                </a:r>
                <a:r>
                  <a:rPr lang="en-US" altLang="zh-CN" sz="1800" b="1" dirty="0">
                    <a:latin typeface="Consolas" panose="020B0609020204030204" pitchFamily="49" charset="0"/>
                  </a:rPr>
                  <a:t>if</a:t>
                </a:r>
                <a:r>
                  <a:rPr lang="en-US" altLang="zh-CN" sz="1800" dirty="0">
                    <a:latin typeface="Consolas" panose="020B0609020204030204" pitchFamily="49" charset="0"/>
                  </a:rPr>
                  <a:t> </a:t>
                </a:r>
                <a:r>
                  <a:rPr lang="en-US" altLang="zh-CN" sz="1800" dirty="0" err="1">
                    <a:highlight>
                      <a:srgbClr val="00FFFF"/>
                    </a:highlight>
                    <a:latin typeface="Consolas" panose="020B0609020204030204" pitchFamily="49" charset="0"/>
                  </a:rPr>
                  <a:t>rental_rate</a:t>
                </a:r>
                <a:r>
                  <a:rPr lang="en-US" altLang="zh-CN" sz="1800" dirty="0">
                    <a:highlight>
                      <a:srgbClr val="00FFFF"/>
                    </a:highlight>
                    <a:latin typeface="Consolas" panose="020B0609020204030204" pitchFamily="49" charset="0"/>
                  </a:rPr>
                  <a:t>&lt;1</a:t>
                </a:r>
                <a:r>
                  <a:rPr lang="en-US" altLang="zh-CN" sz="1800" dirty="0">
                    <a:latin typeface="Consolas" panose="020B0609020204030204" pitchFamily="49" charset="0"/>
                  </a:rPr>
                  <a:t> </a:t>
                </a:r>
                <a:r>
                  <a:rPr lang="en-US" altLang="zh-CN" sz="1800" b="1" dirty="0">
                    <a:latin typeface="Consolas" panose="020B0609020204030204" pitchFamily="49" charset="0"/>
                  </a:rPr>
                  <a:t>then</a:t>
                </a:r>
              </a:p>
              <a:p>
                <a:r>
                  <a:rPr lang="en-US" altLang="zh-CN" sz="1800" dirty="0">
                    <a:latin typeface="Consolas" panose="020B0609020204030204" pitchFamily="49" charset="0"/>
                  </a:rPr>
                  <a:t>	</a:t>
                </a:r>
                <a:r>
                  <a:rPr lang="en-US" altLang="zh-CN" dirty="0">
                    <a:latin typeface="Consolas" panose="020B0609020204030204" pitchFamily="49" charset="0"/>
                  </a:rPr>
                  <a:t>	</a:t>
                </a:r>
                <a:r>
                  <a:rPr lang="en-US" altLang="zh-CN" sz="1800" dirty="0">
                    <a:latin typeface="Consolas" panose="020B0609020204030204" pitchFamily="49" charset="0"/>
                  </a:rPr>
                  <a:t>print the values of </a:t>
                </a:r>
                <a:r>
                  <a:rPr lang="en-US" altLang="zh-CN" dirty="0">
                    <a:latin typeface="Consolas" panose="020B0609020204030204" pitchFamily="49" charset="0"/>
                  </a:rPr>
                  <a:t>attributes </a:t>
                </a:r>
                <a:r>
                  <a:rPr lang="en-US" altLang="zh-CN" dirty="0">
                    <a:highlight>
                      <a:srgbClr val="00FF00"/>
                    </a:highlight>
                    <a:latin typeface="Consolas" panose="020B0609020204030204" pitchFamily="49" charset="0"/>
                  </a:rPr>
                  <a:t>title </a:t>
                </a:r>
                <a:r>
                  <a:rPr lang="en-US" altLang="zh-CN" sz="1800" dirty="0">
                    <a:highlight>
                      <a:srgbClr val="00FF00"/>
                    </a:highlight>
                    <a:latin typeface="Consolas" panose="020B0609020204030204" pitchFamily="49" charset="0"/>
                  </a:rPr>
                  <a:t>and release </a:t>
                </a:r>
                <a:r>
                  <a:rPr lang="en-US" altLang="zh-CN" sz="1800" dirty="0">
                    <a:latin typeface="Consolas" panose="020B0609020204030204" pitchFamily="49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Consolas" panose="020B0609020204030204" pitchFamily="49" charset="0"/>
                  </a:rPr>
                  <a:t>	</a:t>
                </a:r>
                <a:r>
                  <a:rPr lang="en-US" altLang="zh-CN" sz="1800" b="1" dirty="0">
                    <a:latin typeface="Consolas" panose="020B0609020204030204" pitchFamily="49" charset="0"/>
                  </a:rPr>
                  <a:t>end if</a:t>
                </a:r>
              </a:p>
              <a:p>
                <a:pPr marL="0" indent="0">
                  <a:buNone/>
                </a:pPr>
                <a:r>
                  <a:rPr lang="en-US" altLang="zh-CN" sz="1800" b="1" dirty="0">
                    <a:latin typeface="Consolas" panose="020B0609020204030204" pitchFamily="49" charset="0"/>
                  </a:rPr>
                  <a:t>end for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788" y="4672924"/>
                <a:ext cx="1051560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1" t="-40" r="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7"/>
                <a:ext cx="10515600" cy="478869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 general, a basic query is in the form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  <a:tabLst>
                    <a:tab pos="266700" algn="l"/>
                  </a:tabLst>
                </a:pPr>
                <a:r>
                  <a:rPr lang="en-US" dirty="0"/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attributes;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a table;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is a predicate.</a:t>
                </a:r>
              </a:p>
              <a:p>
                <a:r>
                  <a:rPr lang="en-US" dirty="0"/>
                  <a:t>The query is understood as </a:t>
                </a:r>
              </a:p>
              <a:p>
                <a:pPr marL="0" indent="0">
                  <a:buNone/>
                </a:pPr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latin typeface="Consolas" panose="020B0609020204030204" pitchFamily="49" charset="0"/>
                  </a:rPr>
                  <a:t>				for</a:t>
                </a:r>
                <a:r>
                  <a:rPr lang="en-US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:r>
                  <a:rPr lang="en-US" sz="1800" b="1" dirty="0">
                    <a:latin typeface="Consolas" panose="020B0609020204030204" pitchFamily="49" charset="0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if</a:t>
                </a:r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:r>
                  <a:rPr lang="en-US" sz="1800" b="1" dirty="0">
                    <a:latin typeface="Consolas" panose="020B0609020204030204" pitchFamily="49" charset="0"/>
                  </a:rPr>
                  <a:t>then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		print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,⋯,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if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case for multiple tables in the </a:t>
                </a:r>
                <a:r>
                  <a:rPr lang="en-US" dirty="0">
                    <a:latin typeface="Consolas" panose="020B0609020204030204" pitchFamily="49" charset="0"/>
                  </a:rPr>
                  <a:t>FROM</a:t>
                </a:r>
                <a:r>
                  <a:rPr lang="en-US" dirty="0"/>
                  <a:t> clause will be discussed in the next lab.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7"/>
                <a:ext cx="10515600" cy="4788698"/>
              </a:xfrm>
              <a:blipFill rotWithShape="1">
                <a:blip r:embed="rId2"/>
                <a:stretch>
                  <a:fillRect t="-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0934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write a good query, you need to pay attention to three things.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used?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are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result?</a:t>
            </a:r>
          </a:p>
          <a:p>
            <a:r>
              <a:rPr lang="en-US" dirty="0"/>
              <a:t>For example, “Find the category ID for Sci-Fi movies”.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category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Predicate: Sci-Fi movies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Attribute: category ID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Thus, the query is</a:t>
            </a:r>
          </a:p>
          <a:p>
            <a:pPr marL="0" indent="0" algn="ctr">
              <a:buNone/>
            </a:pPr>
            <a:r>
              <a:rPr lang="en-US" sz="1800" dirty="0">
                <a:latin typeface="Consolas" panose="020B0609020204030204" pitchFamily="49" charset="0"/>
              </a:rPr>
              <a:t>SELECT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category_id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FROM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category</a:t>
            </a:r>
            <a:r>
              <a:rPr lang="en-US" sz="1800" dirty="0">
                <a:latin typeface="Consolas" panose="020B0609020204030204" pitchFamily="49" charset="0"/>
              </a:rPr>
              <a:t> WHERE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name="Sci-Fi"</a:t>
            </a:r>
          </a:p>
          <a:p>
            <a:r>
              <a:rPr lang="en-US" dirty="0"/>
              <a:t>For this example, you need to know “Sci-Fi movies” is the attribute “name” of the category.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0385"/>
            <a:ext cx="10515600" cy="1725018"/>
          </a:xfrm>
        </p:spPr>
        <p:txBody>
          <a:bodyPr>
            <a:normAutofit/>
          </a:bodyPr>
          <a:lstStyle/>
          <a:p>
            <a:r>
              <a:rPr lang="en-US" dirty="0"/>
              <a:t>To write a good query, you need to pay attention to three things.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used?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are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result?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9828" y="2785403"/>
            <a:ext cx="117043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actors </a:t>
            </a:r>
            <a:r>
              <a:rPr lang="en-US" altLang="zh-CN" sz="2400" dirty="0"/>
              <a:t>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 is Russell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actors </a:t>
            </a:r>
            <a:r>
              <a:rPr lang="en-US" altLang="zh-CN" sz="2400" dirty="0"/>
              <a:t>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 is Russell and last name is Close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en-US" altLang="zh-CN" sz="2400" dirty="0"/>
              <a:t> of 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lang="en-US" altLang="zh-CN" sz="2400" dirty="0"/>
              <a:t> 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 is Harry and active is 0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name</a:t>
            </a:r>
            <a:r>
              <a:rPr lang="en-US" altLang="zh-CN" sz="2400" dirty="0"/>
              <a:t> of the 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r>
              <a:rPr lang="en-US" altLang="zh-CN" sz="2400" dirty="0"/>
              <a:t> 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is 99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and special features</a:t>
            </a:r>
            <a:r>
              <a:rPr lang="en-US" altLang="zh-CN" sz="2400" dirty="0"/>
              <a:t> of the 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films</a:t>
            </a:r>
            <a:r>
              <a:rPr lang="en-US" altLang="zh-CN" sz="2400" dirty="0"/>
              <a:t> 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replacement cost is lower than 20 and rental rate is higher than 4.0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id</a:t>
            </a:r>
            <a:r>
              <a:rPr lang="en-US" altLang="zh-CN" sz="2400" dirty="0"/>
              <a:t> of the customers who have made a 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2005-05-25 but the amount does not exceed 3</a:t>
            </a:r>
            <a:r>
              <a:rPr lang="en-US" altLang="zh-CN" sz="2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1702</Words>
  <Application>Microsoft Office PowerPoint</Application>
  <PresentationFormat>Widescreen</PresentationFormat>
  <Paragraphs>336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等线 Light</vt:lpstr>
      <vt:lpstr>宋体</vt:lpstr>
      <vt:lpstr>Arial</vt:lpstr>
      <vt:lpstr>等线</vt:lpstr>
      <vt:lpstr>Cambria Math</vt:lpstr>
      <vt:lpstr>Consolas</vt:lpstr>
      <vt:lpstr>Office Theme</vt:lpstr>
      <vt:lpstr>COMP3013 Tutorial01</vt:lpstr>
      <vt:lpstr>Outline</vt:lpstr>
      <vt:lpstr>Basic ER Features</vt:lpstr>
      <vt:lpstr>Multi-valued Attribute</vt:lpstr>
      <vt:lpstr>Example</vt:lpstr>
      <vt:lpstr>Composite Attribute</vt:lpstr>
      <vt:lpstr>Composite Attribute</vt:lpstr>
      <vt:lpstr>Outline</vt:lpstr>
      <vt:lpstr>Relationship Set</vt:lpstr>
      <vt:lpstr>Multi-ary Relationship</vt:lpstr>
      <vt:lpstr>Multi-ary Relationship</vt:lpstr>
      <vt:lpstr>Outline</vt:lpstr>
      <vt:lpstr>Roles</vt:lpstr>
      <vt:lpstr>Outline</vt:lpstr>
      <vt:lpstr>Attributes for Relationship Sets</vt:lpstr>
      <vt:lpstr>Derived Attributes</vt:lpstr>
      <vt:lpstr>Example</vt:lpstr>
      <vt:lpstr>How did you do for the class exercise? (Q&amp;A)</vt:lpstr>
      <vt:lpstr>Outline</vt:lpstr>
      <vt:lpstr>Basic Query</vt:lpstr>
      <vt:lpstr>Basic Query</vt:lpstr>
      <vt:lpstr>Basic Query</vt:lpstr>
      <vt:lpstr>Example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COMP3013 Tutorial01</dc:title>
  <dc:creator>Lily Lin</dc:creator>
  <cp:lastModifiedBy>UIC</cp:lastModifiedBy>
  <cp:revision>6</cp:revision>
  <dcterms:created xsi:type="dcterms:W3CDTF">2025-09-21T08:01:00Z</dcterms:created>
  <dcterms:modified xsi:type="dcterms:W3CDTF">2025-09-25T00:37:47Z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CD26FB76FEDC4913B60BD8F1CCFCF1D6_13</vt:lpwstr>
  </property>
  <property fmtid="{D5CDD505-2E9C-101B-9397-08002B2CF9AE}" pid="3" name="KSOProductBuildVer">
    <vt:lpwstr>2052-12.1.0.22529</vt:lpwstr>
  </property>
</Properties>
</file>