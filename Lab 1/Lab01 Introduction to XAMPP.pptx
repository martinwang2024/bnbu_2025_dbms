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6" r:id="rId16"/>
    <p:sldId id="277" r:id="rId17"/>
    <p:sldId id="278" r:id="rId18"/>
    <p:sldId id="275" r:id="rId19"/>
    <p:sldId id="25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612BDE-E61E-8D40-84CC-20E6FC2B2033}"/>
              </a:ext>
            </a:extLst>
          </p:cNvPr>
          <p:cNvSpPr>
            <a:spLocks noGrp="1"/>
          </p:cNvSpPr>
          <p:nvPr>
            <p:ph type="subTitle" idx="1" hasCustomPrompt="1"/>
          </p:nvPr>
        </p:nvSpPr>
        <p:spPr>
          <a:xfrm>
            <a:off x="1485899" y="2983971"/>
            <a:ext cx="9144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Heiti Std R" panose="020B0400000000000000" pitchFamily="34" charset="-128"/>
                <a:ea typeface="Adobe Heiti Std R" panose="020B0400000000000000" pitchFamily="34" charset="-128"/>
              </a:rPr>
              <a:t>单击此处编辑母版作者信息样式</a:t>
            </a:r>
            <a:endParaRPr lang="en-US" altLang="zh-CN" sz="1800" dirty="0">
              <a:latin typeface="Adobe Heiti Std R" panose="020B0400000000000000" pitchFamily="34" charset="-128"/>
              <a:ea typeface="Adobe Heiti Std R" panose="020B0400000000000000" pitchFamily="34" charset="-128"/>
            </a:endParaRPr>
          </a:p>
          <a:p>
            <a:endParaRPr lang="zh-CN" altLang="en-US" sz="1800" dirty="0">
              <a:effectLst/>
              <a:latin typeface="Adobe Heiti Std R" panose="020B0400000000000000" pitchFamily="34" charset="-128"/>
              <a:ea typeface="Adobe Heiti Std R" panose="020B0400000000000000" pitchFamily="34" charset="-128"/>
            </a:endParaRPr>
          </a:p>
        </p:txBody>
      </p:sp>
      <p:sp>
        <p:nvSpPr>
          <p:cNvPr id="7" name="圆角矩形 6">
            <a:extLst>
              <a:ext uri="{FF2B5EF4-FFF2-40B4-BE49-F238E27FC236}">
                <a16:creationId xmlns:a16="http://schemas.microsoft.com/office/drawing/2014/main" id="{C18AEC02-5D85-474A-AEAD-FDF12F6D499A}"/>
              </a:ext>
            </a:extLst>
          </p:cNvPr>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r>
              <a:rPr kumimoji="1" lang="en-US" altLang="zh-CN"/>
              <a:t>Click to edit Master title style</a:t>
            </a:r>
            <a:endParaRPr kumimoji="1" lang="zh-CN" altLang="en-US"/>
          </a:p>
        </p:txBody>
      </p:sp>
    </p:spTree>
    <p:extLst>
      <p:ext uri="{BB962C8B-B14F-4D97-AF65-F5344CB8AC3E}">
        <p14:creationId xmlns:p14="http://schemas.microsoft.com/office/powerpoint/2010/main" val="389507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FF11A6-A4E9-FC40-BA49-5AB35E591369}"/>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p>
        </p:txBody>
      </p:sp>
      <p:sp>
        <p:nvSpPr>
          <p:cNvPr id="5" name="标题 1">
            <a:extLst>
              <a:ext uri="{FF2B5EF4-FFF2-40B4-BE49-F238E27FC236}">
                <a16:creationId xmlns:a16="http://schemas.microsoft.com/office/drawing/2014/main" id="{D4E12615-0D3B-D24B-BE3C-E10640151A4C}"/>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en-US" altLang="zh-CN" dirty="0"/>
              <a:t>Click to edit Master title style</a:t>
            </a:r>
            <a:endParaRPr kumimoji="1" lang="zh-CN" altLang="en-US" dirty="0"/>
          </a:p>
        </p:txBody>
      </p:sp>
      <p:sp>
        <p:nvSpPr>
          <p:cNvPr id="4" name="内容占位符 2">
            <a:extLst>
              <a:ext uri="{FF2B5EF4-FFF2-40B4-BE49-F238E27FC236}">
                <a16:creationId xmlns:a16="http://schemas.microsoft.com/office/drawing/2014/main" id="{C109224B-0794-E08D-6281-2C77DC2F62FD}"/>
              </a:ext>
            </a:extLst>
          </p:cNvPr>
          <p:cNvSpPr>
            <a:spLocks noGrp="1"/>
          </p:cNvSpPr>
          <p:nvPr>
            <p:ph idx="1" hasCustomPrompt="1"/>
          </p:nvPr>
        </p:nvSpPr>
        <p:spPr>
          <a:xfrm>
            <a:off x="838200" y="1412078"/>
            <a:ext cx="10515600" cy="3260846"/>
          </a:xfrm>
        </p:spPr>
        <p:txBody>
          <a:bodyPr/>
          <a:lstStyle>
            <a:lvl1pPr marL="273050" indent="-273050">
              <a:buFont typeface="Arial" panose="020B0604020202020204" pitchFamily="34" charset="0"/>
              <a:buChar char="•"/>
              <a:tabLst/>
              <a:defRPr>
                <a:latin typeface="Arial" panose="020B0604020202020204" pitchFamily="34" charset="0"/>
                <a:cs typeface="Arial" panose="020B0604020202020204" pitchFamily="34" charset="0"/>
              </a:defRPr>
            </a:lvl1pPr>
          </a:lstStyle>
          <a:p>
            <a:pPr lvl="0"/>
            <a:r>
              <a:rPr kumimoji="1" lang="zh-CN" altLang="en-US" dirty="0"/>
              <a:t>单击此处编辑母版文本样式</a:t>
            </a:r>
          </a:p>
        </p:txBody>
      </p:sp>
    </p:spTree>
    <p:extLst>
      <p:ext uri="{BB962C8B-B14F-4D97-AF65-F5344CB8AC3E}">
        <p14:creationId xmlns:p14="http://schemas.microsoft.com/office/powerpoint/2010/main" val="1207369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st Page">
    <p:spTree>
      <p:nvGrpSpPr>
        <p:cNvPr id="1" name=""/>
        <p:cNvGrpSpPr/>
        <p:nvPr/>
      </p:nvGrpSpPr>
      <p:grpSpPr>
        <a:xfrm>
          <a:off x="0" y="0"/>
          <a:ext cx="0" cy="0"/>
          <a:chOff x="0" y="0"/>
          <a:chExt cx="0" cy="0"/>
        </a:xfrm>
      </p:grpSpPr>
      <p:sp>
        <p:nvSpPr>
          <p:cNvPr id="7" name="圆角矩形 6">
            <a:extLst>
              <a:ext uri="{FF2B5EF4-FFF2-40B4-BE49-F238E27FC236}">
                <a16:creationId xmlns:a16="http://schemas.microsoft.com/office/drawing/2014/main" id="{C18AEC02-5D85-474A-AEAD-FDF12F6D499A}"/>
              </a:ext>
            </a:extLst>
          </p:cNvPr>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endParaRPr kumimoji="1" lang="zh-CN" altLang="en-US" dirty="0"/>
          </a:p>
        </p:txBody>
      </p:sp>
    </p:spTree>
    <p:extLst>
      <p:ext uri="{BB962C8B-B14F-4D97-AF65-F5344CB8AC3E}">
        <p14:creationId xmlns:p14="http://schemas.microsoft.com/office/powerpoint/2010/main" val="2250660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5F5D26-44A1-CA4B-894C-E92F940BEFE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55C3252C-A6BE-3D4F-B214-1E438BBDB4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p>
        </p:txBody>
      </p:sp>
      <p:sp>
        <p:nvSpPr>
          <p:cNvPr id="12" name="矩形 11">
            <a:extLst>
              <a:ext uri="{FF2B5EF4-FFF2-40B4-BE49-F238E27FC236}">
                <a16:creationId xmlns:a16="http://schemas.microsoft.com/office/drawing/2014/main" id="{DFE4E0D4-0A9E-B44F-8E15-1D2F726BFCC2}"/>
              </a:ext>
            </a:extLst>
          </p:cNvPr>
          <p:cNvSpPr/>
          <p:nvPr/>
        </p:nvSpPr>
        <p:spPr>
          <a:xfrm>
            <a:off x="0" y="6637866"/>
            <a:ext cx="408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a:extLst>
              <a:ext uri="{FF2B5EF4-FFF2-40B4-BE49-F238E27FC236}">
                <a16:creationId xmlns:a16="http://schemas.microsoft.com/office/drawing/2014/main" id="{00880C11-3EB2-7C44-915C-0A735C8415A3}"/>
              </a:ext>
            </a:extLst>
          </p:cNvPr>
          <p:cNvSpPr/>
          <p:nvPr/>
        </p:nvSpPr>
        <p:spPr>
          <a:xfrm>
            <a:off x="4044000" y="6637868"/>
            <a:ext cx="408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Lab 01</a:t>
            </a:r>
          </a:p>
        </p:txBody>
      </p:sp>
      <p:sp>
        <p:nvSpPr>
          <p:cNvPr id="14" name="矩形 13">
            <a:extLst>
              <a:ext uri="{FF2B5EF4-FFF2-40B4-BE49-F238E27FC236}">
                <a16:creationId xmlns:a16="http://schemas.microsoft.com/office/drawing/2014/main" id="{00F64495-06B2-9846-A8DD-066D25B765BE}"/>
              </a:ext>
            </a:extLst>
          </p:cNvPr>
          <p:cNvSpPr/>
          <p:nvPr/>
        </p:nvSpPr>
        <p:spPr>
          <a:xfrm>
            <a:off x="8112000" y="6637866"/>
            <a:ext cx="408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5" name="日期占位符 3">
            <a:extLst>
              <a:ext uri="{FF2B5EF4-FFF2-40B4-BE49-F238E27FC236}">
                <a16:creationId xmlns:a16="http://schemas.microsoft.com/office/drawing/2014/main" id="{97BAED3B-53C8-7041-817F-696DE6D8D146}"/>
              </a:ext>
            </a:extLst>
          </p:cNvPr>
          <p:cNvSpPr txBox="1">
            <a:spLocks/>
          </p:cNvSpPr>
          <p:nvPr/>
        </p:nvSpPr>
        <p:spPr>
          <a:xfrm>
            <a:off x="9770773" y="6637866"/>
            <a:ext cx="1362187" cy="220134"/>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00" dirty="0">
              <a:solidFill>
                <a:schemeClr val="bg1"/>
              </a:solidFill>
              <a:latin typeface="Hiragino Sans GB W3" panose="020B0300000000000000" pitchFamily="34" charset="-128"/>
              <a:ea typeface="Hiragino Sans GB W3" panose="020B0300000000000000" pitchFamily="34" charset="-128"/>
            </a:endParaRPr>
          </a:p>
        </p:txBody>
      </p:sp>
      <p:sp>
        <p:nvSpPr>
          <p:cNvPr id="16" name="日期占位符 3">
            <a:extLst>
              <a:ext uri="{FF2B5EF4-FFF2-40B4-BE49-F238E27FC236}">
                <a16:creationId xmlns:a16="http://schemas.microsoft.com/office/drawing/2014/main" id="{57D2C8FA-DD5C-BF4B-BBB3-42D100B8A34B}"/>
              </a:ext>
            </a:extLst>
          </p:cNvPr>
          <p:cNvSpPr txBox="1">
            <a:spLocks/>
          </p:cNvSpPr>
          <p:nvPr/>
        </p:nvSpPr>
        <p:spPr>
          <a:xfrm>
            <a:off x="11353800" y="6637866"/>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pPr/>
              <a:t>‹#›</a:t>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extLst>
      <p:ext uri="{BB962C8B-B14F-4D97-AF65-F5344CB8AC3E}">
        <p14:creationId xmlns:p14="http://schemas.microsoft.com/office/powerpoint/2010/main" val="4215141747"/>
      </p:ext>
    </p:extLst>
  </p:cSld>
  <p:clrMap bg1="lt1" tx1="dk1" bg2="lt2" tx2="dk2" accent1="accent1" accent2="accent2" accent3="accent3" accent4="accent4" accent5="accent5" accent6="accent6" hlink="hlink" folHlink="folHlink"/>
  <p:sldLayoutIdLst>
    <p:sldLayoutId id="2147483661" r:id="rId1"/>
    <p:sldLayoutId id="2147483666" r:id="rId2"/>
    <p:sldLayoutId id="2147483667" r:id="rId3"/>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EAA6743-3346-CC98-D269-622453F94A3B}"/>
              </a:ext>
            </a:extLst>
          </p:cNvPr>
          <p:cNvSpPr>
            <a:spLocks noGrp="1"/>
          </p:cNvSpPr>
          <p:nvPr>
            <p:ph type="subTitle" idx="1"/>
          </p:nvPr>
        </p:nvSpPr>
        <p:spPr/>
        <p:txBody>
          <a:bodyPr/>
          <a:lstStyle/>
          <a:p>
            <a:r>
              <a:rPr lang="en-US" altLang="zh-CN" dirty="0">
                <a:latin typeface="Arial" panose="020B0604020202020204" pitchFamily="34" charset="0"/>
                <a:cs typeface="Arial" panose="020B0604020202020204" pitchFamily="34" charset="0"/>
              </a:rPr>
              <a:t>United International College</a:t>
            </a:r>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F5C4CC72-5680-51D7-FFFB-9A601CA1D48E}"/>
              </a:ext>
            </a:extLst>
          </p:cNvPr>
          <p:cNvSpPr>
            <a:spLocks noGrp="1"/>
          </p:cNvSpPr>
          <p:nvPr>
            <p:ph type="ctrTitle"/>
          </p:nvPr>
        </p:nvSpPr>
        <p:spPr/>
        <p:txBody>
          <a:bodyPr/>
          <a:lstStyle/>
          <a:p>
            <a:r>
              <a:rPr lang="en-US" altLang="zh-CN" dirty="0"/>
              <a:t>Lab 1 Introduction to XAMPP</a:t>
            </a:r>
            <a:endParaRPr lang="en-US" dirty="0"/>
          </a:p>
        </p:txBody>
      </p:sp>
    </p:spTree>
    <p:extLst>
      <p:ext uri="{BB962C8B-B14F-4D97-AF65-F5344CB8AC3E}">
        <p14:creationId xmlns:p14="http://schemas.microsoft.com/office/powerpoint/2010/main" val="1962506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7D2A-8F81-CD32-3AC8-547474B81916}"/>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F45299E-9D73-D6C6-04E4-5A98211ADAAB}"/>
              </a:ext>
            </a:extLst>
          </p:cNvPr>
          <p:cNvSpPr>
            <a:spLocks noGrp="1"/>
          </p:cNvSpPr>
          <p:nvPr>
            <p:ph idx="1"/>
          </p:nvPr>
        </p:nvSpPr>
        <p:spPr/>
        <p:txBody>
          <a:bodyPr/>
          <a:lstStyle/>
          <a:p>
            <a:r>
              <a:rPr lang="en-US" dirty="0"/>
              <a:t>XAMPP</a:t>
            </a:r>
          </a:p>
          <a:p>
            <a:r>
              <a:rPr lang="en-US" dirty="0"/>
              <a:t>Apache</a:t>
            </a:r>
          </a:p>
          <a:p>
            <a:r>
              <a:rPr lang="en-US" dirty="0"/>
              <a:t>MySQL</a:t>
            </a:r>
          </a:p>
          <a:p>
            <a:r>
              <a:rPr lang="en-US" dirty="0"/>
              <a:t>Import a database</a:t>
            </a:r>
          </a:p>
          <a:p>
            <a:pPr lvl="1"/>
            <a:endParaRPr lang="en-US" dirty="0"/>
          </a:p>
        </p:txBody>
      </p:sp>
    </p:spTree>
    <p:extLst>
      <p:ext uri="{BB962C8B-B14F-4D97-AF65-F5344CB8AC3E}">
        <p14:creationId xmlns:p14="http://schemas.microsoft.com/office/powerpoint/2010/main" val="238966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F4B0C-660E-2896-1A17-8F38B080B186}"/>
              </a:ext>
            </a:extLst>
          </p:cNvPr>
          <p:cNvSpPr>
            <a:spLocks noGrp="1"/>
          </p:cNvSpPr>
          <p:nvPr>
            <p:ph type="title"/>
          </p:nvPr>
        </p:nvSpPr>
        <p:spPr/>
        <p:txBody>
          <a:bodyPr/>
          <a:lstStyle/>
          <a:p>
            <a:r>
              <a:rPr lang="en-US" dirty="0"/>
              <a:t>XAMPP</a:t>
            </a:r>
          </a:p>
        </p:txBody>
      </p:sp>
      <p:sp>
        <p:nvSpPr>
          <p:cNvPr id="3" name="Content Placeholder 2">
            <a:extLst>
              <a:ext uri="{FF2B5EF4-FFF2-40B4-BE49-F238E27FC236}">
                <a16:creationId xmlns:a16="http://schemas.microsoft.com/office/drawing/2014/main" id="{1E4E6473-6236-04DC-D44D-873E8C899855}"/>
              </a:ext>
            </a:extLst>
          </p:cNvPr>
          <p:cNvSpPr>
            <a:spLocks noGrp="1"/>
          </p:cNvSpPr>
          <p:nvPr>
            <p:ph idx="1"/>
          </p:nvPr>
        </p:nvSpPr>
        <p:spPr>
          <a:xfrm>
            <a:off x="838200" y="1412078"/>
            <a:ext cx="10515600" cy="4112422"/>
          </a:xfrm>
        </p:spPr>
        <p:txBody>
          <a:bodyPr/>
          <a:lstStyle/>
          <a:p>
            <a:r>
              <a:rPr lang="en-US" dirty="0"/>
              <a:t>XAMPP is a software package, which contains several services.</a:t>
            </a:r>
          </a:p>
          <a:p>
            <a:pPr lvl="1"/>
            <a:r>
              <a:rPr lang="en-US" dirty="0">
                <a:latin typeface="Arial" panose="020B0604020202020204" pitchFamily="34" charset="0"/>
                <a:cs typeface="Arial" panose="020B0604020202020204" pitchFamily="34" charset="0"/>
              </a:rPr>
              <a:t>Apache – Web server</a:t>
            </a:r>
          </a:p>
          <a:p>
            <a:pPr lvl="1"/>
            <a:r>
              <a:rPr lang="en-US" dirty="0">
                <a:latin typeface="Arial" panose="020B0604020202020204" pitchFamily="34" charset="0"/>
                <a:cs typeface="Arial" panose="020B0604020202020204" pitchFamily="34" charset="0"/>
              </a:rPr>
              <a:t>MySQL – Database server</a:t>
            </a:r>
          </a:p>
          <a:p>
            <a:pPr lvl="1"/>
            <a:r>
              <a:rPr lang="en-US" dirty="0">
                <a:latin typeface="Arial" panose="020B0604020202020204" pitchFamily="34" charset="0"/>
                <a:cs typeface="Arial" panose="020B0604020202020204" pitchFamily="34" charset="0"/>
              </a:rPr>
              <a:t>FileZilla – FTP server (for file transfer)</a:t>
            </a:r>
          </a:p>
          <a:p>
            <a:pPr lvl="1"/>
            <a:r>
              <a:rPr lang="en-US" dirty="0">
                <a:latin typeface="Arial" panose="020B0604020202020204" pitchFamily="34" charset="0"/>
                <a:cs typeface="Arial" panose="020B0604020202020204" pitchFamily="34" charset="0"/>
              </a:rPr>
              <a:t>Mercury – SMTP server (for emails)</a:t>
            </a:r>
          </a:p>
          <a:p>
            <a:pPr lvl="1"/>
            <a:r>
              <a:rPr lang="en-US" dirty="0">
                <a:latin typeface="Arial" panose="020B0604020202020204" pitchFamily="34" charset="0"/>
                <a:cs typeface="Arial" panose="020B0604020202020204" pitchFamily="34" charset="0"/>
              </a:rPr>
              <a:t>Tomcat – Web server with Java </a:t>
            </a:r>
            <a:r>
              <a:rPr lang="en-US" altLang="zh-CN" dirty="0">
                <a:latin typeface="Arial" panose="020B0604020202020204" pitchFamily="34" charset="0"/>
                <a:cs typeface="Arial" panose="020B0604020202020204" pitchFamily="34" charset="0"/>
              </a:rPr>
              <a:t>environment</a:t>
            </a:r>
          </a:p>
          <a:p>
            <a:r>
              <a:rPr lang="en-US" dirty="0"/>
              <a:t>In this course, we only need Apache and MySQL.</a:t>
            </a:r>
          </a:p>
          <a:p>
            <a:r>
              <a:rPr lang="en-US" dirty="0"/>
              <a:t>FileZilla is not used because the servers are installed on our own computers. We don’t need FTP software to transfer webpages to the server (what you have done in SDW1). Our computers are servers.</a:t>
            </a:r>
          </a:p>
        </p:txBody>
      </p:sp>
    </p:spTree>
    <p:extLst>
      <p:ext uri="{BB962C8B-B14F-4D97-AF65-F5344CB8AC3E}">
        <p14:creationId xmlns:p14="http://schemas.microsoft.com/office/powerpoint/2010/main" val="108620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F4B0C-660E-2896-1A17-8F38B080B186}"/>
              </a:ext>
            </a:extLst>
          </p:cNvPr>
          <p:cNvSpPr>
            <a:spLocks noGrp="1"/>
          </p:cNvSpPr>
          <p:nvPr>
            <p:ph type="title"/>
          </p:nvPr>
        </p:nvSpPr>
        <p:spPr/>
        <p:txBody>
          <a:bodyPr/>
          <a:lstStyle/>
          <a:p>
            <a:r>
              <a:rPr lang="en-US" dirty="0"/>
              <a:t>XAMPP control panel</a:t>
            </a:r>
          </a:p>
        </p:txBody>
      </p:sp>
      <p:sp>
        <p:nvSpPr>
          <p:cNvPr id="3" name="Content Placeholder 2">
            <a:extLst>
              <a:ext uri="{FF2B5EF4-FFF2-40B4-BE49-F238E27FC236}">
                <a16:creationId xmlns:a16="http://schemas.microsoft.com/office/drawing/2014/main" id="{1E4E6473-6236-04DC-D44D-873E8C899855}"/>
              </a:ext>
            </a:extLst>
          </p:cNvPr>
          <p:cNvSpPr>
            <a:spLocks noGrp="1"/>
          </p:cNvSpPr>
          <p:nvPr>
            <p:ph idx="1"/>
          </p:nvPr>
        </p:nvSpPr>
        <p:spPr/>
        <p:txBody>
          <a:bodyPr/>
          <a:lstStyle/>
          <a:p>
            <a:r>
              <a:rPr lang="en-US" dirty="0"/>
              <a:t>The control panel of XAMPP is a special controller which allows users to config each component of the system.</a:t>
            </a:r>
          </a:p>
          <a:p>
            <a:r>
              <a:rPr lang="en-US" dirty="0"/>
              <a:t>To start XAMPP control panel, </a:t>
            </a:r>
          </a:p>
          <a:p>
            <a:pPr lvl="1"/>
            <a:r>
              <a:rPr lang="en-US" dirty="0">
                <a:latin typeface="Arial" panose="020B0604020202020204" pitchFamily="34" charset="0"/>
                <a:cs typeface="Arial" panose="020B0604020202020204" pitchFamily="34" charset="0"/>
              </a:rPr>
              <a:t>Click “</a:t>
            </a:r>
            <a:r>
              <a:rPr lang="en-US" b="1" dirty="0">
                <a:latin typeface="Arial" panose="020B0604020202020204" pitchFamily="34" charset="0"/>
                <a:cs typeface="Arial" panose="020B0604020202020204" pitchFamily="34" charset="0"/>
              </a:rPr>
              <a:t>start</a:t>
            </a:r>
            <a:r>
              <a:rPr lang="en-US" dirty="0">
                <a:latin typeface="Arial" panose="020B0604020202020204" pitchFamily="34" charset="0"/>
                <a:cs typeface="Arial" panose="020B0604020202020204" pitchFamily="34" charset="0"/>
              </a:rPr>
              <a:t>” button.</a:t>
            </a:r>
          </a:p>
          <a:p>
            <a:pPr lvl="1"/>
            <a:r>
              <a:rPr lang="en-US" dirty="0">
                <a:latin typeface="Arial" panose="020B0604020202020204" pitchFamily="34" charset="0"/>
                <a:cs typeface="Arial" panose="020B0604020202020204" pitchFamily="34" charset="0"/>
              </a:rPr>
              <a:t>Type “</a:t>
            </a:r>
            <a:r>
              <a:rPr lang="en-US" b="1" dirty="0">
                <a:latin typeface="Arial" panose="020B0604020202020204" pitchFamily="34" charset="0"/>
                <a:cs typeface="Arial" panose="020B0604020202020204" pitchFamily="34" charset="0"/>
              </a:rPr>
              <a:t>XAMPP control panel</a:t>
            </a:r>
            <a:r>
              <a:rPr lang="en-US" dirty="0">
                <a:latin typeface="Arial" panose="020B0604020202020204" pitchFamily="34" charset="0"/>
                <a:cs typeface="Arial" panose="020B0604020202020204" pitchFamily="34" charset="0"/>
              </a:rPr>
              <a:t>” to search the panel.</a:t>
            </a:r>
          </a:p>
          <a:p>
            <a:pPr lvl="1"/>
            <a:r>
              <a:rPr lang="en-US" dirty="0">
                <a:latin typeface="Arial" panose="020B0604020202020204" pitchFamily="34" charset="0"/>
                <a:cs typeface="Arial" panose="020B0604020202020204" pitchFamily="34" charset="0"/>
              </a:rPr>
              <a:t>Then, you will see the interface of the panel.</a:t>
            </a:r>
          </a:p>
        </p:txBody>
      </p:sp>
    </p:spTree>
    <p:extLst>
      <p:ext uri="{BB962C8B-B14F-4D97-AF65-F5344CB8AC3E}">
        <p14:creationId xmlns:p14="http://schemas.microsoft.com/office/powerpoint/2010/main" val="403310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F4B0C-660E-2896-1A17-8F38B080B186}"/>
              </a:ext>
            </a:extLst>
          </p:cNvPr>
          <p:cNvSpPr>
            <a:spLocks noGrp="1"/>
          </p:cNvSpPr>
          <p:nvPr>
            <p:ph type="title"/>
          </p:nvPr>
        </p:nvSpPr>
        <p:spPr/>
        <p:txBody>
          <a:bodyPr/>
          <a:lstStyle/>
          <a:p>
            <a:r>
              <a:rPr lang="en-US" dirty="0"/>
              <a:t>XAMPP control panel</a:t>
            </a:r>
          </a:p>
        </p:txBody>
      </p:sp>
      <p:sp>
        <p:nvSpPr>
          <p:cNvPr id="3" name="Content Placeholder 2">
            <a:extLst>
              <a:ext uri="{FF2B5EF4-FFF2-40B4-BE49-F238E27FC236}">
                <a16:creationId xmlns:a16="http://schemas.microsoft.com/office/drawing/2014/main" id="{1E4E6473-6236-04DC-D44D-873E8C899855}"/>
              </a:ext>
            </a:extLst>
          </p:cNvPr>
          <p:cNvSpPr>
            <a:spLocks noGrp="1"/>
          </p:cNvSpPr>
          <p:nvPr>
            <p:ph idx="1"/>
          </p:nvPr>
        </p:nvSpPr>
        <p:spPr>
          <a:xfrm>
            <a:off x="838200" y="1412078"/>
            <a:ext cx="10515600" cy="4493422"/>
          </a:xfrm>
        </p:spPr>
        <p:txBody>
          <a:bodyPr>
            <a:normAutofit/>
          </a:bodyPr>
          <a:lstStyle/>
          <a:p>
            <a:pPr marL="457200" indent="-457200">
              <a:buFont typeface="+mj-lt"/>
              <a:buAutoNum type="arabicPeriod"/>
            </a:pPr>
            <a:r>
              <a:rPr lang="en-US" dirty="0">
                <a:latin typeface="Arial" panose="020B0604020202020204" pitchFamily="34" charset="0"/>
                <a:cs typeface="Arial" panose="020B0604020202020204" pitchFamily="34" charset="0"/>
              </a:rPr>
              <a:t>To start Apache and MySQL, click “</a:t>
            </a:r>
            <a:r>
              <a:rPr lang="en-US" b="1" dirty="0">
                <a:latin typeface="Arial" panose="020B0604020202020204" pitchFamily="34" charset="0"/>
                <a:cs typeface="Arial" panose="020B0604020202020204" pitchFamily="34" charset="0"/>
              </a:rPr>
              <a:t>Start</a:t>
            </a:r>
            <a:r>
              <a:rPr lang="en-US" dirty="0">
                <a:latin typeface="Arial" panose="020B0604020202020204" pitchFamily="34" charset="0"/>
                <a:cs typeface="Arial" panose="020B0604020202020204" pitchFamily="34" charset="0"/>
              </a:rPr>
              <a:t>” for these two modules.</a:t>
            </a:r>
          </a:p>
          <a:p>
            <a:pPr marL="457200" indent="-457200">
              <a:buFont typeface="+mj-lt"/>
              <a:buAutoNum type="arabicPeriod"/>
            </a:pPr>
            <a:r>
              <a:rPr lang="en-US" dirty="0"/>
              <a:t>Once the services are started successfully, you will see the two modules are highlighted.</a:t>
            </a:r>
          </a:p>
          <a:p>
            <a:pPr marL="457200" indent="-457200">
              <a:buFont typeface="+mj-lt"/>
              <a:buAutoNum type="arabicPeriod"/>
            </a:pPr>
            <a:endParaRPr lang="en-US" dirty="0">
              <a:latin typeface="Arial" panose="020B0604020202020204" pitchFamily="34" charset="0"/>
              <a:cs typeface="Arial" panose="020B0604020202020204" pitchFamily="34" charset="0"/>
            </a:endParaRPr>
          </a:p>
          <a:p>
            <a:pPr marL="457200" indent="-457200">
              <a:buFont typeface="+mj-lt"/>
              <a:buAutoNum type="arabicPeriod"/>
            </a:pPr>
            <a:endParaRPr lang="en-US" dirty="0"/>
          </a:p>
          <a:p>
            <a:pPr marL="457200" indent="-457200">
              <a:buFont typeface="+mj-lt"/>
              <a:buAutoNum type="arabicPeriod"/>
            </a:pPr>
            <a:endParaRPr lang="en-US" dirty="0">
              <a:latin typeface="Arial" panose="020B0604020202020204" pitchFamily="34" charset="0"/>
              <a:cs typeface="Arial" panose="020B0604020202020204" pitchFamily="34" charset="0"/>
            </a:endParaRPr>
          </a:p>
          <a:p>
            <a:pPr marL="457200" indent="-457200">
              <a:buFont typeface="+mj-lt"/>
              <a:buAutoNum type="arabicPeriod"/>
            </a:pPr>
            <a:endParaRPr lang="en-US" dirty="0"/>
          </a:p>
          <a:p>
            <a:pPr marL="0" indent="0">
              <a:buNone/>
            </a:pPr>
            <a:endParaRPr lang="en-US" dirty="0">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929A036F-5865-7737-1033-4A5A1FCD26BC}"/>
              </a:ext>
            </a:extLst>
          </p:cNvPr>
          <p:cNvGrpSpPr/>
          <p:nvPr/>
        </p:nvGrpSpPr>
        <p:grpSpPr>
          <a:xfrm>
            <a:off x="838200" y="2725862"/>
            <a:ext cx="4667250" cy="3017972"/>
            <a:chOff x="609600" y="2616970"/>
            <a:chExt cx="5224462" cy="3378281"/>
          </a:xfrm>
        </p:grpSpPr>
        <p:grpSp>
          <p:nvGrpSpPr>
            <p:cNvPr id="12" name="Group 11">
              <a:extLst>
                <a:ext uri="{FF2B5EF4-FFF2-40B4-BE49-F238E27FC236}">
                  <a16:creationId xmlns:a16="http://schemas.microsoft.com/office/drawing/2014/main" id="{32B8CFF7-C456-4066-A18F-0D820EF3A0A6}"/>
                </a:ext>
              </a:extLst>
            </p:cNvPr>
            <p:cNvGrpSpPr/>
            <p:nvPr/>
          </p:nvGrpSpPr>
          <p:grpSpPr>
            <a:xfrm>
              <a:off x="609600" y="2616970"/>
              <a:ext cx="5224462" cy="3378281"/>
              <a:chOff x="3733800" y="2128101"/>
              <a:chExt cx="6496050" cy="4200525"/>
            </a:xfrm>
          </p:grpSpPr>
          <p:pic>
            <p:nvPicPr>
              <p:cNvPr id="11" name="Picture 10">
                <a:extLst>
                  <a:ext uri="{FF2B5EF4-FFF2-40B4-BE49-F238E27FC236}">
                    <a16:creationId xmlns:a16="http://schemas.microsoft.com/office/drawing/2014/main" id="{5D27651C-C805-383E-8373-C32BED2515B4}"/>
                  </a:ext>
                </a:extLst>
              </p:cNvPr>
              <p:cNvPicPr>
                <a:picLocks noChangeAspect="1"/>
              </p:cNvPicPr>
              <p:nvPr/>
            </p:nvPicPr>
            <p:blipFill>
              <a:blip r:embed="rId2"/>
              <a:stretch>
                <a:fillRect/>
              </a:stretch>
            </p:blipFill>
            <p:spPr>
              <a:xfrm>
                <a:off x="3733800" y="2128101"/>
                <a:ext cx="6496050" cy="4200525"/>
              </a:xfrm>
              <a:prstGeom prst="rect">
                <a:avLst/>
              </a:prstGeom>
            </p:spPr>
          </p:pic>
          <p:sp>
            <p:nvSpPr>
              <p:cNvPr id="8" name="Rectangle 7">
                <a:extLst>
                  <a:ext uri="{FF2B5EF4-FFF2-40B4-BE49-F238E27FC236}">
                    <a16:creationId xmlns:a16="http://schemas.microsoft.com/office/drawing/2014/main" id="{44AE072B-66A4-67F8-9DD6-7A1973F7183E}"/>
                  </a:ext>
                </a:extLst>
              </p:cNvPr>
              <p:cNvSpPr/>
              <p:nvPr/>
            </p:nvSpPr>
            <p:spPr>
              <a:xfrm>
                <a:off x="6727094" y="3042501"/>
                <a:ext cx="604483" cy="5674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AA57FCBA-B732-6A91-909C-C1080115F801}"/>
                </a:ext>
              </a:extLst>
            </p:cNvPr>
            <p:cNvSpPr txBox="1"/>
            <p:nvPr/>
          </p:nvSpPr>
          <p:spPr>
            <a:xfrm>
              <a:off x="2659423" y="3575445"/>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1</a:t>
              </a:r>
            </a:p>
          </p:txBody>
        </p:sp>
      </p:grpSp>
      <p:grpSp>
        <p:nvGrpSpPr>
          <p:cNvPr id="20" name="Group 19">
            <a:extLst>
              <a:ext uri="{FF2B5EF4-FFF2-40B4-BE49-F238E27FC236}">
                <a16:creationId xmlns:a16="http://schemas.microsoft.com/office/drawing/2014/main" id="{CB6EEED6-0B1B-99E5-E5F9-5CAE054315F7}"/>
              </a:ext>
            </a:extLst>
          </p:cNvPr>
          <p:cNvGrpSpPr/>
          <p:nvPr/>
        </p:nvGrpSpPr>
        <p:grpSpPr>
          <a:xfrm>
            <a:off x="6357940" y="2725862"/>
            <a:ext cx="4667248" cy="3017971"/>
            <a:chOff x="6357940" y="2616969"/>
            <a:chExt cx="5224462" cy="3378281"/>
          </a:xfrm>
        </p:grpSpPr>
        <p:grpSp>
          <p:nvGrpSpPr>
            <p:cNvPr id="16" name="Group 15">
              <a:extLst>
                <a:ext uri="{FF2B5EF4-FFF2-40B4-BE49-F238E27FC236}">
                  <a16:creationId xmlns:a16="http://schemas.microsoft.com/office/drawing/2014/main" id="{E9A67167-F5C6-C4D3-A9C6-020A0EBA0F9E}"/>
                </a:ext>
              </a:extLst>
            </p:cNvPr>
            <p:cNvGrpSpPr/>
            <p:nvPr/>
          </p:nvGrpSpPr>
          <p:grpSpPr>
            <a:xfrm>
              <a:off x="6357940" y="2616969"/>
              <a:ext cx="5224462" cy="3378281"/>
              <a:chOff x="5834062" y="2616970"/>
              <a:chExt cx="5224462" cy="3378281"/>
            </a:xfrm>
          </p:grpSpPr>
          <p:pic>
            <p:nvPicPr>
              <p:cNvPr id="14" name="Picture 13">
                <a:extLst>
                  <a:ext uri="{FF2B5EF4-FFF2-40B4-BE49-F238E27FC236}">
                    <a16:creationId xmlns:a16="http://schemas.microsoft.com/office/drawing/2014/main" id="{E6F33937-C4D4-15DF-DC78-952C73D81F03}"/>
                  </a:ext>
                </a:extLst>
              </p:cNvPr>
              <p:cNvPicPr>
                <a:picLocks noChangeAspect="1"/>
              </p:cNvPicPr>
              <p:nvPr/>
            </p:nvPicPr>
            <p:blipFill>
              <a:blip r:embed="rId3"/>
              <a:stretch>
                <a:fillRect/>
              </a:stretch>
            </p:blipFill>
            <p:spPr>
              <a:xfrm>
                <a:off x="5834062" y="2616970"/>
                <a:ext cx="5224462" cy="3378281"/>
              </a:xfrm>
              <a:prstGeom prst="rect">
                <a:avLst/>
              </a:prstGeom>
            </p:spPr>
          </p:pic>
          <p:sp>
            <p:nvSpPr>
              <p:cNvPr id="15" name="Rectangle 14">
                <a:extLst>
                  <a:ext uri="{FF2B5EF4-FFF2-40B4-BE49-F238E27FC236}">
                    <a16:creationId xmlns:a16="http://schemas.microsoft.com/office/drawing/2014/main" id="{033BBB71-A702-BDD4-6C04-63359AA761A7}"/>
                  </a:ext>
                </a:extLst>
              </p:cNvPr>
              <p:cNvSpPr/>
              <p:nvPr/>
            </p:nvSpPr>
            <p:spPr>
              <a:xfrm>
                <a:off x="6346554" y="3369468"/>
                <a:ext cx="585265" cy="4119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F52D18CF-5903-99CB-639F-EC1D61042074}"/>
                </a:ext>
              </a:extLst>
            </p:cNvPr>
            <p:cNvSpPr txBox="1"/>
            <p:nvPr/>
          </p:nvSpPr>
          <p:spPr>
            <a:xfrm>
              <a:off x="7527844" y="3739592"/>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2</a:t>
              </a:r>
            </a:p>
          </p:txBody>
        </p:sp>
      </p:grpSp>
    </p:spTree>
    <p:extLst>
      <p:ext uri="{BB962C8B-B14F-4D97-AF65-F5344CB8AC3E}">
        <p14:creationId xmlns:p14="http://schemas.microsoft.com/office/powerpoint/2010/main" val="76068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83D2-252A-CB94-498D-DB536268920D}"/>
              </a:ext>
            </a:extLst>
          </p:cNvPr>
          <p:cNvSpPr>
            <a:spLocks noGrp="1"/>
          </p:cNvSpPr>
          <p:nvPr>
            <p:ph type="title"/>
          </p:nvPr>
        </p:nvSpPr>
        <p:spPr/>
        <p:txBody>
          <a:bodyPr/>
          <a:lstStyle/>
          <a:p>
            <a:r>
              <a:rPr lang="en-US" dirty="0"/>
              <a:t>Apache</a:t>
            </a:r>
          </a:p>
        </p:txBody>
      </p:sp>
      <p:sp>
        <p:nvSpPr>
          <p:cNvPr id="3" name="Content Placeholder 2">
            <a:extLst>
              <a:ext uri="{FF2B5EF4-FFF2-40B4-BE49-F238E27FC236}">
                <a16:creationId xmlns:a16="http://schemas.microsoft.com/office/drawing/2014/main" id="{3E99AA1B-42E4-5809-6B6B-DB1F494F63F8}"/>
              </a:ext>
            </a:extLst>
          </p:cNvPr>
          <p:cNvSpPr>
            <a:spLocks noGrp="1"/>
          </p:cNvSpPr>
          <p:nvPr>
            <p:ph idx="1"/>
          </p:nvPr>
        </p:nvSpPr>
        <p:spPr>
          <a:xfrm>
            <a:off x="838200" y="1412078"/>
            <a:ext cx="10515600" cy="4950622"/>
          </a:xfrm>
        </p:spPr>
        <p:txBody>
          <a:bodyPr/>
          <a:lstStyle/>
          <a:p>
            <a:r>
              <a:rPr lang="en-US" dirty="0"/>
              <a:t>After you start the server, the “</a:t>
            </a:r>
            <a:r>
              <a:rPr lang="en-US" b="1" dirty="0"/>
              <a:t>Admin</a:t>
            </a:r>
            <a:r>
              <a:rPr lang="en-US" dirty="0"/>
              <a:t>” </a:t>
            </a:r>
            <a:r>
              <a:rPr lang="en-US" altLang="zh-CN" dirty="0"/>
              <a:t>button is available.</a:t>
            </a:r>
          </a:p>
          <a:p>
            <a:r>
              <a:rPr lang="en-US" dirty="0"/>
              <a:t>Click “</a:t>
            </a:r>
            <a:r>
              <a:rPr lang="en-US" b="1" dirty="0"/>
              <a:t>Admin</a:t>
            </a:r>
            <a:r>
              <a:rPr lang="en-US" dirty="0"/>
              <a:t>” for Apache server. Then, there will be a pop-out webpage introducing XAMPP.</a:t>
            </a:r>
          </a:p>
          <a:p>
            <a:r>
              <a:rPr lang="en-US" dirty="0"/>
              <a:t>Note that this webpage is accessed via the Apache web server, but not opened directly from the local computer.</a:t>
            </a:r>
          </a:p>
          <a:p>
            <a:r>
              <a:rPr lang="en-US" dirty="0"/>
              <a:t>You can see this from the address bar of the browser.</a:t>
            </a:r>
          </a:p>
          <a:p>
            <a:endParaRPr lang="en-US" dirty="0"/>
          </a:p>
          <a:p>
            <a:endParaRPr lang="en-US" dirty="0"/>
          </a:p>
          <a:p>
            <a:r>
              <a:rPr lang="en-US" dirty="0"/>
              <a:t>If the webpage is opened by double-click from the hard drive, the address bar is</a:t>
            </a:r>
          </a:p>
          <a:p>
            <a:endParaRPr lang="en-US" dirty="0"/>
          </a:p>
          <a:p>
            <a:endParaRPr lang="en-US" dirty="0"/>
          </a:p>
          <a:p>
            <a:r>
              <a:rPr lang="en-US" dirty="0"/>
              <a:t>“C:/</a:t>
            </a:r>
            <a:r>
              <a:rPr lang="en-US" dirty="0" err="1"/>
              <a:t>xampp</a:t>
            </a:r>
            <a:r>
              <a:rPr lang="en-US" dirty="0"/>
              <a:t>/” is the location where Goliath installs XAMPP on his computer.</a:t>
            </a:r>
          </a:p>
        </p:txBody>
      </p:sp>
      <p:pic>
        <p:nvPicPr>
          <p:cNvPr id="7" name="Picture 6">
            <a:extLst>
              <a:ext uri="{FF2B5EF4-FFF2-40B4-BE49-F238E27FC236}">
                <a16:creationId xmlns:a16="http://schemas.microsoft.com/office/drawing/2014/main" id="{3E51E944-AEFE-D43F-8002-66C0814FF296}"/>
              </a:ext>
            </a:extLst>
          </p:cNvPr>
          <p:cNvPicPr>
            <a:picLocks noChangeAspect="1"/>
          </p:cNvPicPr>
          <p:nvPr/>
        </p:nvPicPr>
        <p:blipFill>
          <a:blip r:embed="rId2"/>
          <a:stretch>
            <a:fillRect/>
          </a:stretch>
        </p:blipFill>
        <p:spPr>
          <a:xfrm>
            <a:off x="4457700" y="3501626"/>
            <a:ext cx="3276600" cy="771525"/>
          </a:xfrm>
          <a:prstGeom prst="rect">
            <a:avLst/>
          </a:prstGeom>
        </p:spPr>
      </p:pic>
      <p:pic>
        <p:nvPicPr>
          <p:cNvPr id="9" name="Picture 8">
            <a:extLst>
              <a:ext uri="{FF2B5EF4-FFF2-40B4-BE49-F238E27FC236}">
                <a16:creationId xmlns:a16="http://schemas.microsoft.com/office/drawing/2014/main" id="{CB52A771-3013-FC81-8D34-2D9D700BC902}"/>
              </a:ext>
            </a:extLst>
          </p:cNvPr>
          <p:cNvPicPr>
            <a:picLocks noChangeAspect="1"/>
          </p:cNvPicPr>
          <p:nvPr/>
        </p:nvPicPr>
        <p:blipFill>
          <a:blip r:embed="rId3"/>
          <a:stretch>
            <a:fillRect/>
          </a:stretch>
        </p:blipFill>
        <p:spPr>
          <a:xfrm>
            <a:off x="3767137" y="4696361"/>
            <a:ext cx="4657725" cy="809625"/>
          </a:xfrm>
          <a:prstGeom prst="rect">
            <a:avLst/>
          </a:prstGeom>
        </p:spPr>
      </p:pic>
    </p:spTree>
    <p:extLst>
      <p:ext uri="{BB962C8B-B14F-4D97-AF65-F5344CB8AC3E}">
        <p14:creationId xmlns:p14="http://schemas.microsoft.com/office/powerpoint/2010/main" val="3901360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1F47-1781-9315-7E9D-307973AC3997}"/>
              </a:ext>
            </a:extLst>
          </p:cNvPr>
          <p:cNvSpPr>
            <a:spLocks noGrp="1"/>
          </p:cNvSpPr>
          <p:nvPr>
            <p:ph type="title"/>
          </p:nvPr>
        </p:nvSpPr>
        <p:spPr/>
        <p:txBody>
          <a:bodyPr/>
          <a:lstStyle/>
          <a:p>
            <a:r>
              <a:rPr lang="en-US" dirty="0"/>
              <a:t>Apache</a:t>
            </a:r>
          </a:p>
        </p:txBody>
      </p:sp>
      <p:sp>
        <p:nvSpPr>
          <p:cNvPr id="3" name="Content Placeholder 2">
            <a:extLst>
              <a:ext uri="{FF2B5EF4-FFF2-40B4-BE49-F238E27FC236}">
                <a16:creationId xmlns:a16="http://schemas.microsoft.com/office/drawing/2014/main" id="{4B6C8134-9992-9747-A41D-A367F572CFDA}"/>
              </a:ext>
            </a:extLst>
          </p:cNvPr>
          <p:cNvSpPr>
            <a:spLocks noGrp="1"/>
          </p:cNvSpPr>
          <p:nvPr>
            <p:ph idx="1"/>
          </p:nvPr>
        </p:nvSpPr>
        <p:spPr>
          <a:xfrm>
            <a:off x="838200" y="1412077"/>
            <a:ext cx="10515600" cy="4521997"/>
          </a:xfrm>
        </p:spPr>
        <p:txBody>
          <a:bodyPr/>
          <a:lstStyle/>
          <a:p>
            <a:r>
              <a:rPr lang="en-US" dirty="0"/>
              <a:t>To publish a webpage, you need to put the webpage at “…/</a:t>
            </a:r>
            <a:r>
              <a:rPr lang="en-US" dirty="0" err="1"/>
              <a:t>xampp</a:t>
            </a:r>
            <a:r>
              <a:rPr lang="en-US" dirty="0"/>
              <a:t>/</a:t>
            </a:r>
            <a:r>
              <a:rPr lang="en-US" dirty="0" err="1"/>
              <a:t>htdocs</a:t>
            </a:r>
            <a:r>
              <a:rPr lang="en-US" dirty="0"/>
              <a:t>/”, where “…” is the </a:t>
            </a:r>
            <a:r>
              <a:rPr lang="en-US" altLang="zh-CN" dirty="0"/>
              <a:t>directory of the system.</a:t>
            </a:r>
          </a:p>
          <a:p>
            <a:r>
              <a:rPr lang="en-US" dirty="0"/>
              <a:t>Copy and past “example.html” to “…/</a:t>
            </a:r>
            <a:r>
              <a:rPr lang="en-US" dirty="0" err="1"/>
              <a:t>xampp</a:t>
            </a:r>
            <a:r>
              <a:rPr lang="en-US" dirty="0"/>
              <a:t>/</a:t>
            </a:r>
            <a:r>
              <a:rPr lang="en-US" dirty="0" err="1"/>
              <a:t>htdocs</a:t>
            </a:r>
            <a:r>
              <a:rPr lang="en-US" dirty="0"/>
              <a:t>/”</a:t>
            </a:r>
          </a:p>
          <a:p>
            <a:r>
              <a:rPr lang="en-US" dirty="0"/>
              <a:t>Open your web browser and enter “localhost/example.html” into the address bar.</a:t>
            </a:r>
          </a:p>
          <a:p>
            <a:r>
              <a:rPr lang="en-US" dirty="0"/>
              <a:t>If everything is fine, then you are supposed to see the webpage.</a:t>
            </a:r>
          </a:p>
          <a:p>
            <a:endParaRPr lang="en-US" dirty="0"/>
          </a:p>
          <a:p>
            <a:endParaRPr lang="en-US" dirty="0"/>
          </a:p>
          <a:p>
            <a:endParaRPr lang="en-US" dirty="0"/>
          </a:p>
          <a:p>
            <a:r>
              <a:rPr lang="en-US" dirty="0"/>
              <a:t>To find where you install XAMPP, you can check the system </a:t>
            </a:r>
            <a:r>
              <a:rPr lang="en-US" altLang="zh-CN" dirty="0"/>
              <a:t>dialog.</a:t>
            </a:r>
            <a:endParaRPr lang="en-US" dirty="0"/>
          </a:p>
        </p:txBody>
      </p:sp>
      <p:pic>
        <p:nvPicPr>
          <p:cNvPr id="5" name="Picture 4">
            <a:extLst>
              <a:ext uri="{FF2B5EF4-FFF2-40B4-BE49-F238E27FC236}">
                <a16:creationId xmlns:a16="http://schemas.microsoft.com/office/drawing/2014/main" id="{370D1AC4-91C6-05EA-5669-E5B27306B21D}"/>
              </a:ext>
            </a:extLst>
          </p:cNvPr>
          <p:cNvPicPr>
            <a:picLocks noChangeAspect="1"/>
          </p:cNvPicPr>
          <p:nvPr/>
        </p:nvPicPr>
        <p:blipFill>
          <a:blip r:embed="rId2"/>
          <a:stretch>
            <a:fillRect/>
          </a:stretch>
        </p:blipFill>
        <p:spPr>
          <a:xfrm>
            <a:off x="3381375" y="3300412"/>
            <a:ext cx="5429250" cy="1152525"/>
          </a:xfrm>
          <a:prstGeom prst="rect">
            <a:avLst/>
          </a:prstGeom>
        </p:spPr>
      </p:pic>
      <p:pic>
        <p:nvPicPr>
          <p:cNvPr id="7" name="Picture 6">
            <a:extLst>
              <a:ext uri="{FF2B5EF4-FFF2-40B4-BE49-F238E27FC236}">
                <a16:creationId xmlns:a16="http://schemas.microsoft.com/office/drawing/2014/main" id="{D6C28074-AA70-A58E-A0A7-5EDE3F66984F}"/>
              </a:ext>
            </a:extLst>
          </p:cNvPr>
          <p:cNvPicPr>
            <a:picLocks noChangeAspect="1"/>
          </p:cNvPicPr>
          <p:nvPr/>
        </p:nvPicPr>
        <p:blipFill>
          <a:blip r:embed="rId3"/>
          <a:stretch>
            <a:fillRect/>
          </a:stretch>
        </p:blipFill>
        <p:spPr>
          <a:xfrm>
            <a:off x="3421856" y="4817650"/>
            <a:ext cx="5348287" cy="1634883"/>
          </a:xfrm>
          <a:prstGeom prst="rect">
            <a:avLst/>
          </a:prstGeom>
        </p:spPr>
      </p:pic>
    </p:spTree>
    <p:extLst>
      <p:ext uri="{BB962C8B-B14F-4D97-AF65-F5344CB8AC3E}">
        <p14:creationId xmlns:p14="http://schemas.microsoft.com/office/powerpoint/2010/main" val="2574060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4A05-6861-13EF-4527-45F429D6DBDA}"/>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171C969B-CB57-9125-15AA-B4C1D8FB0E6E}"/>
              </a:ext>
            </a:extLst>
          </p:cNvPr>
          <p:cNvSpPr>
            <a:spLocks noGrp="1"/>
          </p:cNvSpPr>
          <p:nvPr>
            <p:ph idx="1"/>
          </p:nvPr>
        </p:nvSpPr>
        <p:spPr/>
        <p:txBody>
          <a:bodyPr/>
          <a:lstStyle/>
          <a:p>
            <a:r>
              <a:rPr lang="en-US" altLang="zh-CN" dirty="0"/>
              <a:t>Click the “</a:t>
            </a:r>
            <a:r>
              <a:rPr lang="en-US" altLang="zh-CN" b="1" dirty="0"/>
              <a:t>Admin</a:t>
            </a:r>
            <a:r>
              <a:rPr lang="en-US" altLang="zh-CN" dirty="0"/>
              <a:t>” button for MySQL. Then,  there will be a pop-up webpage called “phpMyAdmin”.</a:t>
            </a:r>
          </a:p>
          <a:p>
            <a:r>
              <a:rPr lang="en-US" dirty="0"/>
              <a:t>“phpMyAdmin” is a web application (website) to let users access the database server with a graphical user interface.</a:t>
            </a:r>
          </a:p>
        </p:txBody>
      </p:sp>
    </p:spTree>
    <p:extLst>
      <p:ext uri="{BB962C8B-B14F-4D97-AF65-F5344CB8AC3E}">
        <p14:creationId xmlns:p14="http://schemas.microsoft.com/office/powerpoint/2010/main" val="1658982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4A6D-C85C-F161-1ED3-14E63E953F58}"/>
              </a:ext>
            </a:extLst>
          </p:cNvPr>
          <p:cNvSpPr>
            <a:spLocks noGrp="1"/>
          </p:cNvSpPr>
          <p:nvPr>
            <p:ph type="title"/>
          </p:nvPr>
        </p:nvSpPr>
        <p:spPr/>
        <p:txBody>
          <a:bodyPr/>
          <a:lstStyle/>
          <a:p>
            <a:r>
              <a:rPr lang="en-US" altLang="zh-CN" dirty="0"/>
              <a:t>MySQL</a:t>
            </a:r>
            <a:endParaRPr lang="en-US" dirty="0"/>
          </a:p>
        </p:txBody>
      </p:sp>
      <p:pic>
        <p:nvPicPr>
          <p:cNvPr id="4" name="Picture 3">
            <a:extLst>
              <a:ext uri="{FF2B5EF4-FFF2-40B4-BE49-F238E27FC236}">
                <a16:creationId xmlns:a16="http://schemas.microsoft.com/office/drawing/2014/main" id="{BCF95472-AF85-A537-9268-9844B1355BC5}"/>
              </a:ext>
            </a:extLst>
          </p:cNvPr>
          <p:cNvPicPr>
            <a:picLocks noChangeAspect="1"/>
          </p:cNvPicPr>
          <p:nvPr/>
        </p:nvPicPr>
        <p:blipFill>
          <a:blip r:embed="rId2"/>
          <a:stretch>
            <a:fillRect/>
          </a:stretch>
        </p:blipFill>
        <p:spPr>
          <a:xfrm>
            <a:off x="1616635" y="1235251"/>
            <a:ext cx="8958730" cy="5073298"/>
          </a:xfrm>
          <a:prstGeom prst="rect">
            <a:avLst/>
          </a:prstGeom>
        </p:spPr>
      </p:pic>
    </p:spTree>
    <p:extLst>
      <p:ext uri="{BB962C8B-B14F-4D97-AF65-F5344CB8AC3E}">
        <p14:creationId xmlns:p14="http://schemas.microsoft.com/office/powerpoint/2010/main" val="1906582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8BA5D-44FA-3BE1-C385-A6E652C60A3C}"/>
              </a:ext>
            </a:extLst>
          </p:cNvPr>
          <p:cNvSpPr>
            <a:spLocks noGrp="1"/>
          </p:cNvSpPr>
          <p:nvPr>
            <p:ph type="title"/>
          </p:nvPr>
        </p:nvSpPr>
        <p:spPr/>
        <p:txBody>
          <a:bodyPr/>
          <a:lstStyle/>
          <a:p>
            <a:r>
              <a:rPr lang="en-US" altLang="zh-CN" dirty="0"/>
              <a:t>MySQL</a:t>
            </a:r>
            <a:endParaRPr lang="en-US" dirty="0"/>
          </a:p>
        </p:txBody>
      </p:sp>
      <p:sp>
        <p:nvSpPr>
          <p:cNvPr id="3" name="Content Placeholder 2">
            <a:extLst>
              <a:ext uri="{FF2B5EF4-FFF2-40B4-BE49-F238E27FC236}">
                <a16:creationId xmlns:a16="http://schemas.microsoft.com/office/drawing/2014/main" id="{574DA0F0-6778-4D00-FF4D-387366E64A1E}"/>
              </a:ext>
            </a:extLst>
          </p:cNvPr>
          <p:cNvSpPr>
            <a:spLocks noGrp="1"/>
          </p:cNvSpPr>
          <p:nvPr>
            <p:ph idx="1"/>
          </p:nvPr>
        </p:nvSpPr>
        <p:spPr>
          <a:xfrm>
            <a:off x="838199" y="1412078"/>
            <a:ext cx="7848601" cy="3260846"/>
          </a:xfrm>
        </p:spPr>
        <p:txBody>
          <a:bodyPr/>
          <a:lstStyle/>
          <a:p>
            <a:r>
              <a:rPr lang="en-US" dirty="0"/>
              <a:t>On the left-hand side of the interface, there is a </a:t>
            </a:r>
            <a:r>
              <a:rPr lang="en-US" altLang="zh-CN" dirty="0"/>
              <a:t>hierarchical database list to show all databases in the system.</a:t>
            </a:r>
          </a:p>
          <a:p>
            <a:r>
              <a:rPr lang="en-US" dirty="0"/>
              <a:t>You can click “</a:t>
            </a:r>
            <a:r>
              <a:rPr lang="en-US" b="1" dirty="0"/>
              <a:t>+</a:t>
            </a:r>
            <a:r>
              <a:rPr lang="en-US" dirty="0"/>
              <a:t>” in front of each database to show the </a:t>
            </a:r>
            <a:r>
              <a:rPr lang="en-US" altLang="zh-CN" dirty="0"/>
              <a:t>content.</a:t>
            </a:r>
            <a:endParaRPr lang="en-US" dirty="0"/>
          </a:p>
        </p:txBody>
      </p:sp>
      <p:pic>
        <p:nvPicPr>
          <p:cNvPr id="5" name="Picture 4">
            <a:extLst>
              <a:ext uri="{FF2B5EF4-FFF2-40B4-BE49-F238E27FC236}">
                <a16:creationId xmlns:a16="http://schemas.microsoft.com/office/drawing/2014/main" id="{2CEB457B-130F-33A5-C82E-2EB049423B11}"/>
              </a:ext>
            </a:extLst>
          </p:cNvPr>
          <p:cNvPicPr>
            <a:picLocks noChangeAspect="1"/>
          </p:cNvPicPr>
          <p:nvPr/>
        </p:nvPicPr>
        <p:blipFill>
          <a:blip r:embed="rId2"/>
          <a:stretch>
            <a:fillRect/>
          </a:stretch>
        </p:blipFill>
        <p:spPr>
          <a:xfrm>
            <a:off x="9048748" y="1412078"/>
            <a:ext cx="2305050" cy="2914650"/>
          </a:xfrm>
          <a:prstGeom prst="rect">
            <a:avLst/>
          </a:prstGeom>
        </p:spPr>
      </p:pic>
    </p:spTree>
    <p:extLst>
      <p:ext uri="{BB962C8B-B14F-4D97-AF65-F5344CB8AC3E}">
        <p14:creationId xmlns:p14="http://schemas.microsoft.com/office/powerpoint/2010/main" val="339749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8A67-8973-F00E-D040-CB1343CBD99C}"/>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AAE3514F-B721-CE07-C557-B65B0DA38CC2}"/>
              </a:ext>
            </a:extLst>
          </p:cNvPr>
          <p:cNvSpPr>
            <a:spLocks noGrp="1"/>
          </p:cNvSpPr>
          <p:nvPr>
            <p:ph idx="1"/>
          </p:nvPr>
        </p:nvSpPr>
        <p:spPr>
          <a:xfrm>
            <a:off x="838200" y="1412078"/>
            <a:ext cx="6789742" cy="3260846"/>
          </a:xfrm>
        </p:spPr>
        <p:txBody>
          <a:bodyPr/>
          <a:lstStyle/>
          <a:p>
            <a:r>
              <a:rPr lang="en-US" altLang="zh-CN" dirty="0"/>
              <a:t>System information is presented on the right.</a:t>
            </a:r>
          </a:p>
          <a:p>
            <a:r>
              <a:rPr lang="en-US" dirty="0"/>
              <a:t>You can check the versions.</a:t>
            </a:r>
          </a:p>
        </p:txBody>
      </p:sp>
      <p:pic>
        <p:nvPicPr>
          <p:cNvPr id="5" name="Picture 4">
            <a:extLst>
              <a:ext uri="{FF2B5EF4-FFF2-40B4-BE49-F238E27FC236}">
                <a16:creationId xmlns:a16="http://schemas.microsoft.com/office/drawing/2014/main" id="{569FC91B-73C3-F777-20D8-CEBA845FB838}"/>
              </a:ext>
            </a:extLst>
          </p:cNvPr>
          <p:cNvPicPr>
            <a:picLocks noChangeAspect="1"/>
          </p:cNvPicPr>
          <p:nvPr/>
        </p:nvPicPr>
        <p:blipFill>
          <a:blip r:embed="rId2"/>
          <a:stretch>
            <a:fillRect/>
          </a:stretch>
        </p:blipFill>
        <p:spPr>
          <a:xfrm>
            <a:off x="7627942" y="1038225"/>
            <a:ext cx="3725858" cy="5010150"/>
          </a:xfrm>
          <a:prstGeom prst="rect">
            <a:avLst/>
          </a:prstGeom>
        </p:spPr>
      </p:pic>
    </p:spTree>
    <p:extLst>
      <p:ext uri="{BB962C8B-B14F-4D97-AF65-F5344CB8AC3E}">
        <p14:creationId xmlns:p14="http://schemas.microsoft.com/office/powerpoint/2010/main" val="2163939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F8F0-4663-9F26-41EF-44F459B08DC5}"/>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0FC0F966-8442-C4CD-3526-D2C541E88FDC}"/>
              </a:ext>
            </a:extLst>
          </p:cNvPr>
          <p:cNvSpPr>
            <a:spLocks noGrp="1"/>
          </p:cNvSpPr>
          <p:nvPr>
            <p:ph idx="1"/>
          </p:nvPr>
        </p:nvSpPr>
        <p:spPr>
          <a:xfrm>
            <a:off x="838200" y="1412077"/>
            <a:ext cx="10515600" cy="4788698"/>
          </a:xfrm>
        </p:spPr>
        <p:txBody>
          <a:bodyPr/>
          <a:lstStyle/>
          <a:p>
            <a:endParaRPr lang="en-US" dirty="0"/>
          </a:p>
          <a:p>
            <a:endParaRPr lang="en-US" dirty="0"/>
          </a:p>
          <a:p>
            <a:r>
              <a:rPr lang="en-US" dirty="0"/>
              <a:t>The menu bar is on the top.</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Database</a:t>
            </a:r>
            <a:r>
              <a:rPr lang="en-US" dirty="0">
                <a:latin typeface="Arial" panose="020B0604020202020204" pitchFamily="34" charset="0"/>
                <a:cs typeface="Arial" panose="020B0604020202020204" pitchFamily="34" charset="0"/>
              </a:rPr>
              <a:t>”: to show all databases in the system.</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SQL</a:t>
            </a:r>
            <a:r>
              <a:rPr lang="en-US" dirty="0">
                <a:latin typeface="Arial" panose="020B0604020202020204" pitchFamily="34" charset="0"/>
                <a:cs typeface="Arial" panose="020B0604020202020204" pitchFamily="34" charset="0"/>
              </a:rPr>
              <a:t>”: to let users write SQLs.</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User accounts</a:t>
            </a:r>
            <a:r>
              <a:rPr lang="en-US" dirty="0">
                <a:latin typeface="Arial" panose="020B0604020202020204" pitchFamily="34" charset="0"/>
                <a:cs typeface="Arial" panose="020B0604020202020204" pitchFamily="34" charset="0"/>
              </a:rPr>
              <a:t>”: to show the users information. </a:t>
            </a:r>
            <a:r>
              <a:rPr lang="en-US" altLang="zh-CN" dirty="0">
                <a:latin typeface="Arial" panose="020B0604020202020204" pitchFamily="34" charset="0"/>
                <a:cs typeface="Arial" panose="020B0604020202020204" pitchFamily="34" charset="0"/>
              </a:rPr>
              <a:t>Administrators can manage user accounts here.</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Export</a:t>
            </a:r>
            <a:r>
              <a:rPr lang="en-US" dirty="0">
                <a:latin typeface="Arial" panose="020B0604020202020204" pitchFamily="34" charset="0"/>
                <a:cs typeface="Arial" panose="020B0604020202020204" pitchFamily="34" charset="0"/>
              </a:rPr>
              <a:t>”: to let users export a table or a database from the system.</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Import</a:t>
            </a:r>
            <a:r>
              <a:rPr lang="en-US" dirty="0">
                <a:latin typeface="Arial" panose="020B0604020202020204" pitchFamily="34" charset="0"/>
                <a:cs typeface="Arial" panose="020B0604020202020204" pitchFamily="34" charset="0"/>
              </a:rPr>
              <a:t>”: to import tables or databases from a local file.</a:t>
            </a:r>
          </a:p>
          <a:p>
            <a:pPr marL="685800" lvl="1" indent="-342900">
              <a:buFont typeface="+mj-lt"/>
              <a:buAutoNum type="arabicPeriod"/>
            </a:pP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Settings</a:t>
            </a:r>
            <a:r>
              <a:rPr lang="en-US" dirty="0">
                <a:latin typeface="Arial" panose="020B0604020202020204" pitchFamily="34" charset="0"/>
                <a:cs typeface="Arial" panose="020B0604020202020204" pitchFamily="34" charset="0"/>
              </a:rPr>
              <a:t>”: to setup the system.</a:t>
            </a:r>
          </a:p>
          <a:p>
            <a:r>
              <a:rPr lang="en-US" dirty="0">
                <a:latin typeface="Arial" panose="020B0604020202020204" pitchFamily="34" charset="0"/>
                <a:cs typeface="Arial" panose="020B0604020202020204" pitchFamily="34" charset="0"/>
              </a:rPr>
              <a:t>Others are </a:t>
            </a:r>
            <a:r>
              <a:rPr lang="en-US" altLang="zh-CN" dirty="0">
                <a:latin typeface="Arial" panose="020B0604020202020204" pitchFamily="34" charset="0"/>
                <a:cs typeface="Arial" panose="020B0604020202020204" pitchFamily="34" charset="0"/>
              </a:rPr>
              <a:t>rarely used in this course. </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7515E53-C66E-0022-5F4C-C86CB35EA176}"/>
              </a:ext>
            </a:extLst>
          </p:cNvPr>
          <p:cNvPicPr>
            <a:picLocks noChangeAspect="1"/>
          </p:cNvPicPr>
          <p:nvPr/>
        </p:nvPicPr>
        <p:blipFill>
          <a:blip r:embed="rId2"/>
          <a:stretch>
            <a:fillRect/>
          </a:stretch>
        </p:blipFill>
        <p:spPr>
          <a:xfrm>
            <a:off x="1452562" y="1213825"/>
            <a:ext cx="9286875" cy="548905"/>
          </a:xfrm>
          <a:prstGeom prst="rect">
            <a:avLst/>
          </a:prstGeom>
        </p:spPr>
      </p:pic>
      <p:sp>
        <p:nvSpPr>
          <p:cNvPr id="6" name="TextBox 5">
            <a:extLst>
              <a:ext uri="{FF2B5EF4-FFF2-40B4-BE49-F238E27FC236}">
                <a16:creationId xmlns:a16="http://schemas.microsoft.com/office/drawing/2014/main" id="{09D3375F-DE1F-58F9-4D9E-CDD485E75DCA}"/>
              </a:ext>
            </a:extLst>
          </p:cNvPr>
          <p:cNvSpPr txBox="1"/>
          <p:nvPr/>
        </p:nvSpPr>
        <p:spPr>
          <a:xfrm>
            <a:off x="1783575" y="1631041"/>
            <a:ext cx="279533" cy="329941"/>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1</a:t>
            </a:r>
          </a:p>
        </p:txBody>
      </p:sp>
      <p:sp>
        <p:nvSpPr>
          <p:cNvPr id="7" name="TextBox 6">
            <a:extLst>
              <a:ext uri="{FF2B5EF4-FFF2-40B4-BE49-F238E27FC236}">
                <a16:creationId xmlns:a16="http://schemas.microsoft.com/office/drawing/2014/main" id="{C9F517F9-B2F1-554D-8529-508D7D4C4E4E}"/>
              </a:ext>
            </a:extLst>
          </p:cNvPr>
          <p:cNvSpPr txBox="1"/>
          <p:nvPr/>
        </p:nvSpPr>
        <p:spPr>
          <a:xfrm>
            <a:off x="2469375" y="1607772"/>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2</a:t>
            </a:r>
          </a:p>
        </p:txBody>
      </p:sp>
      <p:sp>
        <p:nvSpPr>
          <p:cNvPr id="8" name="TextBox 7">
            <a:extLst>
              <a:ext uri="{FF2B5EF4-FFF2-40B4-BE49-F238E27FC236}">
                <a16:creationId xmlns:a16="http://schemas.microsoft.com/office/drawing/2014/main" id="{411CBDFB-CE35-E262-007D-4620CF956BCB}"/>
              </a:ext>
            </a:extLst>
          </p:cNvPr>
          <p:cNvSpPr txBox="1"/>
          <p:nvPr/>
        </p:nvSpPr>
        <p:spPr>
          <a:xfrm>
            <a:off x="3926700" y="1607771"/>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3</a:t>
            </a:r>
          </a:p>
        </p:txBody>
      </p:sp>
      <p:sp>
        <p:nvSpPr>
          <p:cNvPr id="9" name="TextBox 8">
            <a:extLst>
              <a:ext uri="{FF2B5EF4-FFF2-40B4-BE49-F238E27FC236}">
                <a16:creationId xmlns:a16="http://schemas.microsoft.com/office/drawing/2014/main" id="{8441F076-C572-3D86-B47E-E7B286EB7334}"/>
              </a:ext>
            </a:extLst>
          </p:cNvPr>
          <p:cNvSpPr txBox="1"/>
          <p:nvPr/>
        </p:nvSpPr>
        <p:spPr>
          <a:xfrm>
            <a:off x="4789657" y="1607770"/>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4</a:t>
            </a:r>
          </a:p>
        </p:txBody>
      </p:sp>
      <p:sp>
        <p:nvSpPr>
          <p:cNvPr id="10" name="TextBox 9">
            <a:extLst>
              <a:ext uri="{FF2B5EF4-FFF2-40B4-BE49-F238E27FC236}">
                <a16:creationId xmlns:a16="http://schemas.microsoft.com/office/drawing/2014/main" id="{074E6F1E-8807-FA3A-9360-BC04AA12A7E8}"/>
              </a:ext>
            </a:extLst>
          </p:cNvPr>
          <p:cNvSpPr txBox="1"/>
          <p:nvPr/>
        </p:nvSpPr>
        <p:spPr>
          <a:xfrm>
            <a:off x="5497125" y="1607769"/>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5</a:t>
            </a:r>
          </a:p>
        </p:txBody>
      </p:sp>
      <p:sp>
        <p:nvSpPr>
          <p:cNvPr id="11" name="TextBox 10">
            <a:extLst>
              <a:ext uri="{FF2B5EF4-FFF2-40B4-BE49-F238E27FC236}">
                <a16:creationId xmlns:a16="http://schemas.microsoft.com/office/drawing/2014/main" id="{E1579845-728A-DB95-0488-656A79CBF56A}"/>
              </a:ext>
            </a:extLst>
          </p:cNvPr>
          <p:cNvSpPr txBox="1"/>
          <p:nvPr/>
        </p:nvSpPr>
        <p:spPr>
          <a:xfrm>
            <a:off x="6182925" y="1607768"/>
            <a:ext cx="312906" cy="369332"/>
          </a:xfrm>
          <a:prstGeom prst="rect">
            <a:avLst/>
          </a:prstGeom>
        </p:spPr>
        <p:txBody>
          <a:bodyPr vert="horz" wrap="none" lIns="91440" tIns="45720" rIns="91440" bIns="45720" rtlCol="0" anchor="ctr">
            <a:spAutoFit/>
          </a:bodyPr>
          <a:lstStyle/>
          <a:p>
            <a:pPr algn="l"/>
            <a:r>
              <a:rPr kumimoji="1" lang="en-US" dirty="0">
                <a:solidFill>
                  <a:srgbClr val="FF0000"/>
                </a:solidFill>
                <a:latin typeface="Arial" panose="020B0604020202020204" pitchFamily="34" charset="0"/>
                <a:cs typeface="Arial" panose="020B0604020202020204" pitchFamily="34" charset="0"/>
              </a:rPr>
              <a:t>6</a:t>
            </a:r>
          </a:p>
        </p:txBody>
      </p:sp>
    </p:spTree>
    <p:extLst>
      <p:ext uri="{BB962C8B-B14F-4D97-AF65-F5344CB8AC3E}">
        <p14:creationId xmlns:p14="http://schemas.microsoft.com/office/powerpoint/2010/main" val="2424571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DFB5-6B4A-6F11-409F-0AF4AFFB3AA4}"/>
              </a:ext>
            </a:extLst>
          </p:cNvPr>
          <p:cNvSpPr>
            <a:spLocks noGrp="1"/>
          </p:cNvSpPr>
          <p:nvPr>
            <p:ph type="title"/>
          </p:nvPr>
        </p:nvSpPr>
        <p:spPr/>
        <p:txBody>
          <a:bodyPr/>
          <a:lstStyle/>
          <a:p>
            <a:r>
              <a:rPr lang="en-US" dirty="0"/>
              <a:t>Import</a:t>
            </a:r>
          </a:p>
        </p:txBody>
      </p:sp>
      <p:sp>
        <p:nvSpPr>
          <p:cNvPr id="3" name="Content Placeholder 2">
            <a:extLst>
              <a:ext uri="{FF2B5EF4-FFF2-40B4-BE49-F238E27FC236}">
                <a16:creationId xmlns:a16="http://schemas.microsoft.com/office/drawing/2014/main" id="{5E4E0F53-BDD4-2F76-D0DC-438BD3FF7462}"/>
              </a:ext>
            </a:extLst>
          </p:cNvPr>
          <p:cNvSpPr>
            <a:spLocks noGrp="1"/>
          </p:cNvSpPr>
          <p:nvPr>
            <p:ph idx="1"/>
          </p:nvPr>
        </p:nvSpPr>
        <p:spPr>
          <a:xfrm>
            <a:off x="838200" y="1412078"/>
            <a:ext cx="10515600" cy="4741072"/>
          </a:xfrm>
        </p:spPr>
        <p:txBody>
          <a:bodyPr/>
          <a:lstStyle/>
          <a:p>
            <a:r>
              <a:rPr lang="en-US" dirty="0"/>
              <a:t>The labs of this course focus on a well designed and implemented sample database.</a:t>
            </a:r>
          </a:p>
          <a:p>
            <a:r>
              <a:rPr lang="en-US" dirty="0"/>
              <a:t>This database is in the file “</a:t>
            </a:r>
            <a:r>
              <a:rPr lang="en-US" dirty="0" err="1"/>
              <a:t>sakila.sql</a:t>
            </a:r>
            <a:r>
              <a:rPr lang="en-US" dirty="0"/>
              <a:t>”.</a:t>
            </a:r>
          </a:p>
          <a:p>
            <a:r>
              <a:rPr lang="en-US" dirty="0"/>
              <a:t>Note that this file is written in SQL. You can open the file and check the source code using a txt reader, for example Notepad.</a:t>
            </a:r>
          </a:p>
          <a:p>
            <a:r>
              <a:rPr lang="en-US" dirty="0"/>
              <a:t>To import the file, </a:t>
            </a:r>
          </a:p>
          <a:p>
            <a:pPr lvl="1"/>
            <a:r>
              <a:rPr lang="en-US" dirty="0">
                <a:latin typeface="Arial" panose="020B0604020202020204" pitchFamily="34" charset="0"/>
                <a:cs typeface="Arial" panose="020B0604020202020204" pitchFamily="34" charset="0"/>
              </a:rPr>
              <a:t>Click “</a:t>
            </a:r>
            <a:r>
              <a:rPr lang="en-US" b="1" dirty="0">
                <a:latin typeface="Arial" panose="020B0604020202020204" pitchFamily="34" charset="0"/>
                <a:cs typeface="Arial" panose="020B0604020202020204" pitchFamily="34" charset="0"/>
              </a:rPr>
              <a:t>import</a:t>
            </a:r>
            <a:r>
              <a:rPr lang="en-US" dirty="0">
                <a:latin typeface="Arial" panose="020B0604020202020204" pitchFamily="34" charset="0"/>
                <a:cs typeface="Arial" panose="020B0604020202020204" pitchFamily="34" charset="0"/>
              </a:rPr>
              <a:t>” in the menu bar;</a:t>
            </a:r>
          </a:p>
          <a:p>
            <a:pPr lvl="1"/>
            <a:r>
              <a:rPr lang="en-US" dirty="0">
                <a:latin typeface="Arial" panose="020B0604020202020204" pitchFamily="34" charset="0"/>
                <a:cs typeface="Arial" panose="020B0604020202020204" pitchFamily="34" charset="0"/>
              </a:rPr>
              <a:t>In the “</a:t>
            </a:r>
            <a:r>
              <a:rPr lang="en-US" b="1" dirty="0">
                <a:latin typeface="Arial" panose="020B0604020202020204" pitchFamily="34" charset="0"/>
                <a:cs typeface="Arial" panose="020B0604020202020204" pitchFamily="34" charset="0"/>
              </a:rPr>
              <a:t>File to import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section, click “</a:t>
            </a:r>
            <a:r>
              <a:rPr lang="en-US" altLang="zh-CN" b="1" dirty="0">
                <a:latin typeface="Arial" panose="020B0604020202020204" pitchFamily="34" charset="0"/>
                <a:cs typeface="Arial" panose="020B0604020202020204" pitchFamily="34" charset="0"/>
              </a:rPr>
              <a:t>choose a file</a:t>
            </a:r>
            <a:r>
              <a:rPr lang="en-US" altLang="zh-CN"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In the pop out file </a:t>
            </a:r>
            <a:r>
              <a:rPr lang="en-US" altLang="zh-CN" dirty="0">
                <a:latin typeface="Arial" panose="020B0604020202020204" pitchFamily="34" charset="0"/>
                <a:cs typeface="Arial" panose="020B0604020202020204" pitchFamily="34" charset="0"/>
              </a:rPr>
              <a:t>explorer, locate “</a:t>
            </a:r>
            <a:r>
              <a:rPr lang="en-US" altLang="zh-CN" dirty="0" err="1">
                <a:latin typeface="Arial" panose="020B0604020202020204" pitchFamily="34" charset="0"/>
                <a:cs typeface="Arial" panose="020B0604020202020204" pitchFamily="34" charset="0"/>
              </a:rPr>
              <a:t>sakila.sql</a:t>
            </a:r>
            <a:r>
              <a:rPr lang="en-US" altLang="zh-CN" dirty="0">
                <a:latin typeface="Arial" panose="020B0604020202020204" pitchFamily="34" charset="0"/>
                <a:cs typeface="Arial" panose="020B0604020202020204" pitchFamily="34" charset="0"/>
              </a:rPr>
              <a:t>” and click “open”;</a:t>
            </a:r>
          </a:p>
          <a:p>
            <a:pPr lvl="1"/>
            <a:r>
              <a:rPr lang="en-US" dirty="0">
                <a:latin typeface="Arial" panose="020B0604020202020204" pitchFamily="34" charset="0"/>
                <a:cs typeface="Arial" panose="020B0604020202020204" pitchFamily="34" charset="0"/>
              </a:rPr>
              <a:t>Click “</a:t>
            </a:r>
            <a:r>
              <a:rPr lang="en-US" b="1" dirty="0">
                <a:latin typeface="Arial" panose="020B0604020202020204" pitchFamily="34" charset="0"/>
                <a:cs typeface="Arial" panose="020B0604020202020204" pitchFamily="34" charset="0"/>
              </a:rPr>
              <a:t>import</a:t>
            </a:r>
            <a:r>
              <a:rPr lang="en-US" dirty="0">
                <a:latin typeface="Arial" panose="020B0604020202020204" pitchFamily="34" charset="0"/>
                <a:cs typeface="Arial" panose="020B0604020202020204" pitchFamily="34" charset="0"/>
              </a:rPr>
              <a:t>” at the bottom of the page.</a:t>
            </a:r>
          </a:p>
          <a:p>
            <a:r>
              <a:rPr lang="en-US" dirty="0"/>
              <a:t>If everything works fine, the system will tell you “Import has been successfully finished”.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2209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5FA8F-0304-65BD-9B50-7995CB737752}"/>
              </a:ext>
            </a:extLst>
          </p:cNvPr>
          <p:cNvSpPr>
            <a:spLocks noGrp="1"/>
          </p:cNvSpPr>
          <p:nvPr>
            <p:ph type="title"/>
          </p:nvPr>
        </p:nvSpPr>
        <p:spPr/>
        <p:txBody>
          <a:bodyPr/>
          <a:lstStyle/>
          <a:p>
            <a:r>
              <a:rPr lang="en-US" dirty="0"/>
              <a:t>View a database</a:t>
            </a:r>
          </a:p>
        </p:txBody>
      </p:sp>
      <p:sp>
        <p:nvSpPr>
          <p:cNvPr id="3" name="Content Placeholder 2">
            <a:extLst>
              <a:ext uri="{FF2B5EF4-FFF2-40B4-BE49-F238E27FC236}">
                <a16:creationId xmlns:a16="http://schemas.microsoft.com/office/drawing/2014/main" id="{9A31B165-5801-9769-47E3-816B5C2283CA}"/>
              </a:ext>
            </a:extLst>
          </p:cNvPr>
          <p:cNvSpPr>
            <a:spLocks noGrp="1"/>
          </p:cNvSpPr>
          <p:nvPr>
            <p:ph idx="1"/>
          </p:nvPr>
        </p:nvSpPr>
        <p:spPr>
          <a:xfrm>
            <a:off x="838200" y="1412077"/>
            <a:ext cx="3350511" cy="4683923"/>
          </a:xfrm>
        </p:spPr>
        <p:txBody>
          <a:bodyPr/>
          <a:lstStyle/>
          <a:p>
            <a:r>
              <a:rPr lang="en-US" dirty="0"/>
              <a:t>Click “</a:t>
            </a:r>
            <a:r>
              <a:rPr lang="en-US" dirty="0" err="1"/>
              <a:t>sakila</a:t>
            </a:r>
            <a:r>
              <a:rPr lang="en-US" dirty="0"/>
              <a:t>” in the database list to select the database.</a:t>
            </a:r>
          </a:p>
          <a:p>
            <a:r>
              <a:rPr lang="en-US" dirty="0"/>
              <a:t>All tables are shown on the page.</a:t>
            </a:r>
          </a:p>
          <a:p>
            <a:r>
              <a:rPr lang="en-US" dirty="0"/>
              <a:t>The options in the menu bar is changed to the functions can be done on one selected database.</a:t>
            </a:r>
          </a:p>
        </p:txBody>
      </p:sp>
      <p:pic>
        <p:nvPicPr>
          <p:cNvPr id="7" name="Picture 6">
            <a:extLst>
              <a:ext uri="{FF2B5EF4-FFF2-40B4-BE49-F238E27FC236}">
                <a16:creationId xmlns:a16="http://schemas.microsoft.com/office/drawing/2014/main" id="{4EFF1B64-2BB4-13AD-7B19-18473368AC0E}"/>
              </a:ext>
            </a:extLst>
          </p:cNvPr>
          <p:cNvPicPr>
            <a:picLocks noChangeAspect="1"/>
          </p:cNvPicPr>
          <p:nvPr/>
        </p:nvPicPr>
        <p:blipFill>
          <a:blip r:embed="rId2"/>
          <a:stretch>
            <a:fillRect/>
          </a:stretch>
        </p:blipFill>
        <p:spPr>
          <a:xfrm>
            <a:off x="4188711" y="1257300"/>
            <a:ext cx="7756314" cy="4838700"/>
          </a:xfrm>
          <a:prstGeom prst="rect">
            <a:avLst/>
          </a:prstGeom>
        </p:spPr>
      </p:pic>
    </p:spTree>
    <p:extLst>
      <p:ext uri="{BB962C8B-B14F-4D97-AF65-F5344CB8AC3E}">
        <p14:creationId xmlns:p14="http://schemas.microsoft.com/office/powerpoint/2010/main" val="421343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F400-5042-CB91-2255-4BB2C125BDC8}"/>
              </a:ext>
            </a:extLst>
          </p:cNvPr>
          <p:cNvSpPr>
            <a:spLocks noGrp="1"/>
          </p:cNvSpPr>
          <p:nvPr>
            <p:ph type="title"/>
          </p:nvPr>
        </p:nvSpPr>
        <p:spPr/>
        <p:txBody>
          <a:bodyPr/>
          <a:lstStyle/>
          <a:p>
            <a:r>
              <a:rPr lang="en-US" dirty="0"/>
              <a:t>Basic Concepts</a:t>
            </a:r>
          </a:p>
        </p:txBody>
      </p:sp>
      <p:sp>
        <p:nvSpPr>
          <p:cNvPr id="3" name="Content Placeholder 2">
            <a:extLst>
              <a:ext uri="{FF2B5EF4-FFF2-40B4-BE49-F238E27FC236}">
                <a16:creationId xmlns:a16="http://schemas.microsoft.com/office/drawing/2014/main" id="{22B5C66C-65C7-2AD3-6645-959BCDCDD242}"/>
              </a:ext>
            </a:extLst>
          </p:cNvPr>
          <p:cNvSpPr>
            <a:spLocks noGrp="1"/>
          </p:cNvSpPr>
          <p:nvPr>
            <p:ph idx="1"/>
          </p:nvPr>
        </p:nvSpPr>
        <p:spPr>
          <a:xfrm>
            <a:off x="838200" y="1412078"/>
            <a:ext cx="8105775" cy="3260846"/>
          </a:xfrm>
        </p:spPr>
        <p:txBody>
          <a:bodyPr/>
          <a:lstStyle/>
          <a:p>
            <a:r>
              <a:rPr lang="en-US" dirty="0"/>
              <a:t>From the database list, one can see the database “</a:t>
            </a:r>
            <a:r>
              <a:rPr lang="en-US" dirty="0" err="1"/>
              <a:t>sakila</a:t>
            </a:r>
            <a:r>
              <a:rPr lang="en-US" dirty="0"/>
              <a:t>” has </a:t>
            </a:r>
            <a:r>
              <a:rPr lang="en-US" b="1" dirty="0"/>
              <a:t>functions</a:t>
            </a:r>
            <a:r>
              <a:rPr lang="en-US" dirty="0"/>
              <a:t>, </a:t>
            </a:r>
            <a:r>
              <a:rPr lang="en-US" b="1" dirty="0"/>
              <a:t>procedures</a:t>
            </a:r>
            <a:r>
              <a:rPr lang="en-US" dirty="0"/>
              <a:t>, </a:t>
            </a:r>
            <a:r>
              <a:rPr lang="en-US" b="1" dirty="0"/>
              <a:t>tables</a:t>
            </a:r>
            <a:r>
              <a:rPr lang="en-US" dirty="0"/>
              <a:t>, and </a:t>
            </a:r>
            <a:r>
              <a:rPr lang="en-US" b="1" dirty="0"/>
              <a:t>views</a:t>
            </a:r>
            <a:r>
              <a:rPr lang="en-US" dirty="0"/>
              <a:t>.</a:t>
            </a:r>
          </a:p>
          <a:p>
            <a:r>
              <a:rPr lang="en-US" dirty="0"/>
              <a:t>Each table contains a class of data</a:t>
            </a:r>
            <a:r>
              <a:rPr lang="en-US" b="1" dirty="0"/>
              <a:t> </a:t>
            </a:r>
            <a:r>
              <a:rPr lang="en-US" dirty="0"/>
              <a:t>of the same type.</a:t>
            </a:r>
          </a:p>
          <a:p>
            <a:r>
              <a:rPr lang="en-US" dirty="0"/>
              <a:t>For example, the table “actor” contains actors’ information.</a:t>
            </a:r>
          </a:p>
          <a:p>
            <a:r>
              <a:rPr lang="en-US" dirty="0"/>
              <a:t>A relational database consists of one or multiple tables.</a:t>
            </a:r>
          </a:p>
          <a:p>
            <a:r>
              <a:rPr lang="en-US" dirty="0"/>
              <a:t>Functions, procedures, and views will be introduced later in this course.</a:t>
            </a:r>
          </a:p>
        </p:txBody>
      </p:sp>
      <p:pic>
        <p:nvPicPr>
          <p:cNvPr id="5" name="Picture 4">
            <a:extLst>
              <a:ext uri="{FF2B5EF4-FFF2-40B4-BE49-F238E27FC236}">
                <a16:creationId xmlns:a16="http://schemas.microsoft.com/office/drawing/2014/main" id="{C5C3DED2-3660-1AA0-B124-DD2E3D9D18E1}"/>
              </a:ext>
            </a:extLst>
          </p:cNvPr>
          <p:cNvPicPr>
            <a:picLocks noChangeAspect="1"/>
          </p:cNvPicPr>
          <p:nvPr/>
        </p:nvPicPr>
        <p:blipFill>
          <a:blip r:embed="rId2"/>
          <a:stretch>
            <a:fillRect/>
          </a:stretch>
        </p:blipFill>
        <p:spPr>
          <a:xfrm>
            <a:off x="9248775" y="1412078"/>
            <a:ext cx="2124075" cy="4933950"/>
          </a:xfrm>
          <a:prstGeom prst="rect">
            <a:avLst/>
          </a:prstGeom>
        </p:spPr>
      </p:pic>
    </p:spTree>
    <p:extLst>
      <p:ext uri="{BB962C8B-B14F-4D97-AF65-F5344CB8AC3E}">
        <p14:creationId xmlns:p14="http://schemas.microsoft.com/office/powerpoint/2010/main" val="3552521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F400-5042-CB91-2255-4BB2C125BDC8}"/>
              </a:ext>
            </a:extLst>
          </p:cNvPr>
          <p:cNvSpPr>
            <a:spLocks noGrp="1"/>
          </p:cNvSpPr>
          <p:nvPr>
            <p:ph type="title"/>
          </p:nvPr>
        </p:nvSpPr>
        <p:spPr/>
        <p:txBody>
          <a:bodyPr/>
          <a:lstStyle/>
          <a:p>
            <a:r>
              <a:rPr lang="en-US" dirty="0"/>
              <a:t>Basic Concepts</a:t>
            </a:r>
          </a:p>
        </p:txBody>
      </p:sp>
      <p:sp>
        <p:nvSpPr>
          <p:cNvPr id="3" name="Content Placeholder 2">
            <a:extLst>
              <a:ext uri="{FF2B5EF4-FFF2-40B4-BE49-F238E27FC236}">
                <a16:creationId xmlns:a16="http://schemas.microsoft.com/office/drawing/2014/main" id="{22B5C66C-65C7-2AD3-6645-959BCDCDD242}"/>
              </a:ext>
            </a:extLst>
          </p:cNvPr>
          <p:cNvSpPr>
            <a:spLocks noGrp="1"/>
          </p:cNvSpPr>
          <p:nvPr>
            <p:ph idx="1"/>
          </p:nvPr>
        </p:nvSpPr>
        <p:spPr>
          <a:xfrm>
            <a:off x="838200" y="1412076"/>
            <a:ext cx="7200900" cy="4969673"/>
          </a:xfrm>
        </p:spPr>
        <p:txBody>
          <a:bodyPr>
            <a:normAutofit/>
          </a:bodyPr>
          <a:lstStyle/>
          <a:p>
            <a:r>
              <a:rPr lang="en-US" dirty="0"/>
              <a:t>Select the “actor” table from the list.</a:t>
            </a:r>
          </a:p>
          <a:p>
            <a:r>
              <a:rPr lang="en-US" dirty="0"/>
              <a:t>All data in this table is presented in a </a:t>
            </a:r>
            <a:r>
              <a:rPr lang="en-US" altLang="zh-CN" dirty="0"/>
              <a:t>tabular form</a:t>
            </a:r>
            <a:r>
              <a:rPr lang="en-US" dirty="0"/>
              <a:t>.</a:t>
            </a:r>
          </a:p>
          <a:p>
            <a:r>
              <a:rPr lang="en-US" dirty="0"/>
              <a:t>Each row (also called </a:t>
            </a:r>
            <a:r>
              <a:rPr lang="en-US" b="1" dirty="0"/>
              <a:t>tuple</a:t>
            </a:r>
            <a:r>
              <a:rPr lang="en-US" dirty="0"/>
              <a:t>) is a set of information about one specific object.</a:t>
            </a:r>
          </a:p>
          <a:p>
            <a:pPr lvl="1"/>
            <a:r>
              <a:rPr lang="en-US" dirty="0">
                <a:latin typeface="Arial" panose="020B0604020202020204" pitchFamily="34" charset="0"/>
                <a:cs typeface="Arial" panose="020B0604020202020204" pitchFamily="34" charset="0"/>
              </a:rPr>
              <a:t>One row is about one actor in this example.</a:t>
            </a:r>
          </a:p>
          <a:p>
            <a:r>
              <a:rPr lang="en-US" dirty="0"/>
              <a:t>Each column (also called </a:t>
            </a:r>
            <a:r>
              <a:rPr lang="en-US" b="1" dirty="0"/>
              <a:t>attribute</a:t>
            </a:r>
            <a:r>
              <a:rPr lang="en-US" dirty="0"/>
              <a:t>) is about one </a:t>
            </a:r>
            <a:r>
              <a:rPr lang="en-US" b="1" dirty="0"/>
              <a:t>type</a:t>
            </a:r>
            <a:r>
              <a:rPr lang="en-US" dirty="0"/>
              <a:t> of data.</a:t>
            </a:r>
          </a:p>
          <a:p>
            <a:r>
              <a:rPr lang="en-US" dirty="0"/>
              <a:t>The </a:t>
            </a:r>
            <a:r>
              <a:rPr lang="en-US" b="1" dirty="0"/>
              <a:t>schema</a:t>
            </a:r>
            <a:r>
              <a:rPr lang="en-US" dirty="0"/>
              <a:t> of a table is the set of all attributes.</a:t>
            </a:r>
          </a:p>
          <a:p>
            <a:r>
              <a:rPr lang="en-US" dirty="0"/>
              <a:t>E.g. the schema of </a:t>
            </a:r>
            <a:r>
              <a:rPr lang="en-US" altLang="zh-CN" dirty="0">
                <a:latin typeface="Consolas" panose="020B0609020204030204" pitchFamily="49" charset="0"/>
              </a:rPr>
              <a:t>actor</a:t>
            </a:r>
            <a:endParaRPr lang="en-US" dirty="0"/>
          </a:p>
          <a:p>
            <a:pPr marL="0" indent="0" algn="ctr">
              <a:buNone/>
            </a:pPr>
            <a:r>
              <a:rPr lang="en-US" sz="1800" dirty="0">
                <a:latin typeface="Consolas" panose="020B0609020204030204" pitchFamily="49" charset="0"/>
              </a:rPr>
              <a:t>actor=(</a:t>
            </a:r>
            <a:r>
              <a:rPr lang="en-US" sz="1800" dirty="0" err="1">
                <a:latin typeface="Consolas" panose="020B0609020204030204" pitchFamily="49" charset="0"/>
              </a:rPr>
              <a:t>actor_id,first_name,last_name,last_update</a:t>
            </a:r>
            <a:r>
              <a:rPr lang="en-US" sz="1800" dirty="0">
                <a:latin typeface="Consolas" panose="020B0609020204030204" pitchFamily="49" charset="0"/>
              </a:rPr>
              <a:t>)</a:t>
            </a:r>
          </a:p>
          <a:p>
            <a:endParaRPr lang="en-US" dirty="0"/>
          </a:p>
          <a:p>
            <a:r>
              <a:rPr lang="en-US" dirty="0"/>
              <a:t>The words “tuple” and “attribute” are also used in ER diagrams (in the lectures). They are different concepts, but with the similar meanings.</a:t>
            </a:r>
          </a:p>
        </p:txBody>
      </p:sp>
      <p:pic>
        <p:nvPicPr>
          <p:cNvPr id="8" name="Picture 7">
            <a:extLst>
              <a:ext uri="{FF2B5EF4-FFF2-40B4-BE49-F238E27FC236}">
                <a16:creationId xmlns:a16="http://schemas.microsoft.com/office/drawing/2014/main" id="{055CE3F4-D4E5-2ECA-BC3B-1AE3E0AABB7C}"/>
              </a:ext>
            </a:extLst>
          </p:cNvPr>
          <p:cNvPicPr>
            <a:picLocks noChangeAspect="1"/>
          </p:cNvPicPr>
          <p:nvPr/>
        </p:nvPicPr>
        <p:blipFill>
          <a:blip r:embed="rId2"/>
          <a:stretch>
            <a:fillRect/>
          </a:stretch>
        </p:blipFill>
        <p:spPr>
          <a:xfrm>
            <a:off x="8039100" y="1412076"/>
            <a:ext cx="3933825" cy="2943225"/>
          </a:xfrm>
          <a:prstGeom prst="rect">
            <a:avLst/>
          </a:prstGeom>
        </p:spPr>
      </p:pic>
    </p:spTree>
    <p:extLst>
      <p:ext uri="{BB962C8B-B14F-4D97-AF65-F5344CB8AC3E}">
        <p14:creationId xmlns:p14="http://schemas.microsoft.com/office/powerpoint/2010/main" val="583173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D7B5-A1B7-CFF4-CB56-5EA8A8A0E88E}"/>
              </a:ext>
            </a:extLst>
          </p:cNvPr>
          <p:cNvSpPr>
            <a:spLocks noGrp="1"/>
          </p:cNvSpPr>
          <p:nvPr>
            <p:ph type="title"/>
          </p:nvPr>
        </p:nvSpPr>
        <p:spPr/>
        <p:txBody>
          <a:bodyPr/>
          <a:lstStyle/>
          <a:p>
            <a:r>
              <a:rPr lang="en-US" dirty="0"/>
              <a:t>Structure Information</a:t>
            </a:r>
          </a:p>
        </p:txBody>
      </p:sp>
      <p:sp>
        <p:nvSpPr>
          <p:cNvPr id="3" name="Content Placeholder 2">
            <a:extLst>
              <a:ext uri="{FF2B5EF4-FFF2-40B4-BE49-F238E27FC236}">
                <a16:creationId xmlns:a16="http://schemas.microsoft.com/office/drawing/2014/main" id="{669BB98D-4B6E-FFFF-C319-2A4E0302125A}"/>
              </a:ext>
            </a:extLst>
          </p:cNvPr>
          <p:cNvSpPr>
            <a:spLocks noGrp="1"/>
          </p:cNvSpPr>
          <p:nvPr>
            <p:ph idx="1"/>
          </p:nvPr>
        </p:nvSpPr>
        <p:spPr/>
        <p:txBody>
          <a:bodyPr/>
          <a:lstStyle/>
          <a:p>
            <a:r>
              <a:rPr lang="en-US" dirty="0"/>
              <a:t>The schema of a table is also called </a:t>
            </a:r>
            <a:r>
              <a:rPr lang="en-US" dirty="0" err="1"/>
              <a:t>metatdata</a:t>
            </a:r>
            <a:r>
              <a:rPr lang="en-US" dirty="0"/>
              <a:t>, information about data.</a:t>
            </a:r>
          </a:p>
          <a:p>
            <a:r>
              <a:rPr lang="en-US" dirty="0"/>
              <a:t>Together with types, default values, etc., table structure is defined.</a:t>
            </a:r>
          </a:p>
          <a:p>
            <a:r>
              <a:rPr lang="en-US" dirty="0"/>
              <a:t>Click “</a:t>
            </a:r>
            <a:r>
              <a:rPr lang="en-US" b="1" dirty="0"/>
              <a:t>Structure</a:t>
            </a:r>
            <a:r>
              <a:rPr lang="en-US" dirty="0"/>
              <a:t>” to check the table structure.</a:t>
            </a:r>
            <a:endParaRPr lang="en-US" b="1" dirty="0"/>
          </a:p>
        </p:txBody>
      </p:sp>
      <p:pic>
        <p:nvPicPr>
          <p:cNvPr id="5" name="Picture 4">
            <a:extLst>
              <a:ext uri="{FF2B5EF4-FFF2-40B4-BE49-F238E27FC236}">
                <a16:creationId xmlns:a16="http://schemas.microsoft.com/office/drawing/2014/main" id="{A436DEEF-A92A-209F-31DD-83A16D5C98C7}"/>
              </a:ext>
            </a:extLst>
          </p:cNvPr>
          <p:cNvPicPr>
            <a:picLocks noChangeAspect="1"/>
          </p:cNvPicPr>
          <p:nvPr/>
        </p:nvPicPr>
        <p:blipFill>
          <a:blip r:embed="rId2"/>
          <a:stretch>
            <a:fillRect/>
          </a:stretch>
        </p:blipFill>
        <p:spPr>
          <a:xfrm>
            <a:off x="792956" y="2655603"/>
            <a:ext cx="10606088" cy="2017321"/>
          </a:xfrm>
          <a:prstGeom prst="rect">
            <a:avLst/>
          </a:prstGeom>
        </p:spPr>
      </p:pic>
      <p:sp>
        <p:nvSpPr>
          <p:cNvPr id="6" name="TextBox 5">
            <a:extLst>
              <a:ext uri="{FF2B5EF4-FFF2-40B4-BE49-F238E27FC236}">
                <a16:creationId xmlns:a16="http://schemas.microsoft.com/office/drawing/2014/main" id="{32F56B04-B632-A550-E4E5-003D4C0F6DBA}"/>
              </a:ext>
            </a:extLst>
          </p:cNvPr>
          <p:cNvSpPr txBox="1"/>
          <p:nvPr/>
        </p:nvSpPr>
        <p:spPr>
          <a:xfrm>
            <a:off x="5638800" y="3015343"/>
            <a:ext cx="914400" cy="914400"/>
          </a:xfrm>
          <a:prstGeom prst="rect">
            <a:avLst/>
          </a:prstGeom>
        </p:spPr>
        <p:txBody>
          <a:bodyPr vert="horz" wrap="none" lIns="0" tIns="0" rIns="0" bIns="0" rtlCol="0" anchor="ctr">
            <a:normAutofit/>
          </a:bodyPr>
          <a:lstStyle/>
          <a:p>
            <a:pPr algn="l"/>
            <a:endParaRPr kumimoji="1" lang="en-US" dirty="0"/>
          </a:p>
        </p:txBody>
      </p:sp>
    </p:spTree>
    <p:extLst>
      <p:ext uri="{BB962C8B-B14F-4D97-AF65-F5344CB8AC3E}">
        <p14:creationId xmlns:p14="http://schemas.microsoft.com/office/powerpoint/2010/main" val="80085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C21C1-93A7-2C64-ECBC-8DD7944CC8A1}"/>
              </a:ext>
            </a:extLst>
          </p:cNvPr>
          <p:cNvSpPr>
            <a:spLocks noGrp="1"/>
          </p:cNvSpPr>
          <p:nvPr>
            <p:ph type="title"/>
          </p:nvPr>
        </p:nvSpPr>
        <p:spPr/>
        <p:txBody>
          <a:bodyPr/>
          <a:lstStyle/>
          <a:p>
            <a:r>
              <a:rPr lang="en-US" dirty="0"/>
              <a:t>Stop services</a:t>
            </a:r>
          </a:p>
        </p:txBody>
      </p:sp>
      <p:sp>
        <p:nvSpPr>
          <p:cNvPr id="3" name="Content Placeholder 2">
            <a:extLst>
              <a:ext uri="{FF2B5EF4-FFF2-40B4-BE49-F238E27FC236}">
                <a16:creationId xmlns:a16="http://schemas.microsoft.com/office/drawing/2014/main" id="{E18E9D4B-7622-19E4-407E-E1D6A792B936}"/>
              </a:ext>
            </a:extLst>
          </p:cNvPr>
          <p:cNvSpPr>
            <a:spLocks noGrp="1"/>
          </p:cNvSpPr>
          <p:nvPr>
            <p:ph idx="1"/>
          </p:nvPr>
        </p:nvSpPr>
        <p:spPr/>
        <p:txBody>
          <a:bodyPr/>
          <a:lstStyle/>
          <a:p>
            <a:r>
              <a:rPr lang="en-US" dirty="0"/>
              <a:t>SQLs will be introduced from the next lab.</a:t>
            </a:r>
          </a:p>
          <a:p>
            <a:r>
              <a:rPr lang="en-US" dirty="0"/>
              <a:t>After using the system, please remember to stop the servers.</a:t>
            </a:r>
          </a:p>
        </p:txBody>
      </p:sp>
      <p:pic>
        <p:nvPicPr>
          <p:cNvPr id="5" name="Picture 4">
            <a:extLst>
              <a:ext uri="{FF2B5EF4-FFF2-40B4-BE49-F238E27FC236}">
                <a16:creationId xmlns:a16="http://schemas.microsoft.com/office/drawing/2014/main" id="{DF34D665-D6E9-BEC4-EDA6-143F545D0D70}"/>
              </a:ext>
            </a:extLst>
          </p:cNvPr>
          <p:cNvPicPr>
            <a:picLocks noChangeAspect="1"/>
          </p:cNvPicPr>
          <p:nvPr/>
        </p:nvPicPr>
        <p:blipFill>
          <a:blip r:embed="rId2"/>
          <a:stretch>
            <a:fillRect/>
          </a:stretch>
        </p:blipFill>
        <p:spPr>
          <a:xfrm>
            <a:off x="3632362" y="2574135"/>
            <a:ext cx="4927275" cy="3186112"/>
          </a:xfrm>
          <a:prstGeom prst="rect">
            <a:avLst/>
          </a:prstGeom>
        </p:spPr>
      </p:pic>
    </p:spTree>
    <p:extLst>
      <p:ext uri="{BB962C8B-B14F-4D97-AF65-F5344CB8AC3E}">
        <p14:creationId xmlns:p14="http://schemas.microsoft.com/office/powerpoint/2010/main" val="3034393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3CD73-9BC5-367A-588A-222F950B1F89}"/>
              </a:ext>
            </a:extLst>
          </p:cNvPr>
          <p:cNvSpPr>
            <a:spLocks noGrp="1"/>
          </p:cNvSpPr>
          <p:nvPr>
            <p:ph type="ctrTitle"/>
          </p:nvPr>
        </p:nvSpPr>
        <p:spPr/>
        <p:txBody>
          <a:bodyPr/>
          <a:lstStyle/>
          <a:p>
            <a:r>
              <a:rPr lang="en-US" dirty="0"/>
              <a:t>End of Lab 1</a:t>
            </a:r>
          </a:p>
        </p:txBody>
      </p:sp>
    </p:spTree>
    <p:extLst>
      <p:ext uri="{BB962C8B-B14F-4D97-AF65-F5344CB8AC3E}">
        <p14:creationId xmlns:p14="http://schemas.microsoft.com/office/powerpoint/2010/main" val="2905926351"/>
      </p:ext>
    </p:extLst>
  </p:cSld>
  <p:clrMapOvr>
    <a:masterClrMapping/>
  </p:clrMapOvr>
</p:sld>
</file>

<file path=ppt/theme/theme1.xml><?xml version="1.0" encoding="utf-8"?>
<a:theme xmlns:a="http://schemas.openxmlformats.org/drawingml/2006/main" name="DBMS latex">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raClrSchemeLst/>
  <a:extLst>
    <a:ext uri="{05A4C25C-085E-4340-85A3-A5531E510DB2}">
      <thm15:themeFamily xmlns:thm15="http://schemas.microsoft.com/office/thememl/2012/main" name="DBMS latex" id="{C853DD06-80DD-4A92-985C-00F9462CBF3D}" vid="{2DB0D723-8C41-4574-B925-747B2673801E}"/>
    </a:ext>
  </a:extLst>
</a:theme>
</file>

<file path=docProps/app.xml><?xml version="1.0" encoding="utf-8"?>
<Properties xmlns="http://schemas.openxmlformats.org/officeDocument/2006/extended-properties" xmlns:vt="http://schemas.openxmlformats.org/officeDocument/2006/docPropsVTypes">
  <Template>DBMS latex</Template>
  <TotalTime>1738</TotalTime>
  <Words>1030</Words>
  <Application>Microsoft Office PowerPoint</Application>
  <PresentationFormat>Widescreen</PresentationFormat>
  <Paragraphs>116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Adobe Heiti Std R</vt:lpstr>
      <vt:lpstr>Hiragino Sans GB W3</vt:lpstr>
      <vt:lpstr>等线</vt:lpstr>
      <vt:lpstr>Arial</vt:lpstr>
      <vt:lpstr>Consolas</vt:lpstr>
      <vt:lpstr>DBMS latex</vt:lpstr>
      <vt:lpstr>Lab 1 Introduction to XAMPP</vt:lpstr>
      <vt:lpstr>Outline</vt:lpstr>
      <vt:lpstr>XAMPP</vt:lpstr>
      <vt:lpstr>XAMPP control panel</vt:lpstr>
      <vt:lpstr>XAMPP control panel</vt:lpstr>
      <vt:lpstr>Apache</vt:lpstr>
      <vt:lpstr>Apache</vt:lpstr>
      <vt:lpstr>MySQL</vt:lpstr>
      <vt:lpstr>MySQL</vt:lpstr>
      <vt:lpstr>MySQL</vt:lpstr>
      <vt:lpstr>MySQL</vt:lpstr>
      <vt:lpstr>MySQL</vt:lpstr>
      <vt:lpstr>Import</vt:lpstr>
      <vt:lpstr>View a database</vt:lpstr>
      <vt:lpstr>Basic Concepts</vt:lpstr>
      <vt:lpstr>Basic Concepts</vt:lpstr>
      <vt:lpstr>Structure Information</vt:lpstr>
      <vt:lpstr>Stop services</vt:lpstr>
      <vt:lpstr>End of Lab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Zhiyuan Li</dc:creator>
  <cp:lastModifiedBy>Zhiyuan Li</cp:lastModifiedBy>
  <cp:revision>10</cp:revision>
  <dcterms:created xsi:type="dcterms:W3CDTF">2022-06-15T04:17:56Z</dcterms:created>
  <dcterms:modified xsi:type="dcterms:W3CDTF">2022-07-07T07:19:26Z</dcterms:modified>
</cp:coreProperties>
</file>