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57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852" autoAdjust="0"/>
    <p:restoredTop sz="94660"/>
  </p:normalViewPr>
  <p:slideViewPr>
    <p:cSldViewPr snapToGrid="0">
      <p:cViewPr varScale="1">
        <p:scale>
          <a:sx n="61" d="100"/>
          <a:sy n="61" d="100"/>
        </p:scale>
        <p:origin x="8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31F3E-F7F5-4D37-9CA5-357FD8967499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0DC2C-3089-4CE4-8C90-C643B2792C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1929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31F3E-F7F5-4D37-9CA5-357FD8967499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0DC2C-3089-4CE4-8C90-C643B2792C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3535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31F3E-F7F5-4D37-9CA5-357FD8967499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0DC2C-3089-4CE4-8C90-C643B2792C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6528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31F3E-F7F5-4D37-9CA5-357FD8967499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0DC2C-3089-4CE4-8C90-C643B2792C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3771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31F3E-F7F5-4D37-9CA5-357FD8967499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0DC2C-3089-4CE4-8C90-C643B2792C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464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31F3E-F7F5-4D37-9CA5-357FD8967499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0DC2C-3089-4CE4-8C90-C643B2792C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835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31F3E-F7F5-4D37-9CA5-357FD8967499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0DC2C-3089-4CE4-8C90-C643B2792C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4676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31F3E-F7F5-4D37-9CA5-357FD8967499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0DC2C-3089-4CE4-8C90-C643B2792C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1923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31F3E-F7F5-4D37-9CA5-357FD8967499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0DC2C-3089-4CE4-8C90-C643B2792C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9444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31F3E-F7F5-4D37-9CA5-357FD8967499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0DC2C-3089-4CE4-8C90-C643B2792C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655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31F3E-F7F5-4D37-9CA5-357FD8967499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0DC2C-3089-4CE4-8C90-C643B2792C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0351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A31F3E-F7F5-4D37-9CA5-357FD8967499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30DC2C-3089-4CE4-8C90-C643B2792C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96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72660"/>
          </a:xfrm>
        </p:spPr>
        <p:txBody>
          <a:bodyPr/>
          <a:lstStyle/>
          <a:p>
            <a:r>
              <a:rPr lang="en-US" dirty="0"/>
              <a:t>Assignment 1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742485" y="1608083"/>
            <a:ext cx="10707029" cy="4884791"/>
          </a:xfrm>
        </p:spPr>
        <p:txBody>
          <a:bodyPr>
            <a:normAutofit/>
          </a:bodyPr>
          <a:lstStyle/>
          <a:p>
            <a:r>
              <a:rPr lang="en-US" dirty="0"/>
              <a:t>Assignment 1 will be released in iSpace by this weekend.  It is due after the National Day. </a:t>
            </a:r>
          </a:p>
        </p:txBody>
      </p:sp>
    </p:spTree>
    <p:extLst>
      <p:ext uri="{BB962C8B-B14F-4D97-AF65-F5344CB8AC3E}">
        <p14:creationId xmlns:p14="http://schemas.microsoft.com/office/powerpoint/2010/main" val="8703217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72660"/>
          </a:xfrm>
        </p:spPr>
        <p:txBody>
          <a:bodyPr/>
          <a:lstStyle/>
          <a:p>
            <a:r>
              <a:rPr lang="en-US" dirty="0"/>
              <a:t>Lab03 Cross Table Query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742485" y="1237783"/>
            <a:ext cx="10707029" cy="5255091"/>
          </a:xfrm>
        </p:spPr>
        <p:txBody>
          <a:bodyPr>
            <a:normAutofit/>
          </a:bodyPr>
          <a:lstStyle/>
          <a:p>
            <a:r>
              <a:rPr lang="en-US" dirty="0"/>
              <a:t>In each query of </a:t>
            </a:r>
            <a:r>
              <a:rPr lang="en-US" dirty="0">
                <a:solidFill>
                  <a:srgbClr val="FF0000"/>
                </a:solidFill>
              </a:rPr>
              <a:t>Lab 02</a:t>
            </a:r>
            <a:r>
              <a:rPr lang="en-US" dirty="0"/>
              <a:t>, all the info needed are in </a:t>
            </a:r>
            <a:r>
              <a:rPr lang="en-US" dirty="0">
                <a:solidFill>
                  <a:srgbClr val="FF0000"/>
                </a:solidFill>
              </a:rPr>
              <a:t>one single table</a:t>
            </a:r>
            <a:r>
              <a:rPr lang="en-US" dirty="0"/>
              <a:t>.</a:t>
            </a:r>
          </a:p>
          <a:p>
            <a:r>
              <a:rPr lang="en-US" dirty="0"/>
              <a:t>In </a:t>
            </a:r>
            <a:r>
              <a:rPr lang="en-US" dirty="0">
                <a:solidFill>
                  <a:srgbClr val="FF0000"/>
                </a:solidFill>
              </a:rPr>
              <a:t>this lab</a:t>
            </a:r>
            <a:r>
              <a:rPr lang="en-US" dirty="0"/>
              <a:t>, the info needed are in </a:t>
            </a:r>
            <a:r>
              <a:rPr lang="en-US" dirty="0">
                <a:solidFill>
                  <a:srgbClr val="FF0000"/>
                </a:solidFill>
              </a:rPr>
              <a:t>2 or more tables</a:t>
            </a:r>
            <a:r>
              <a:rPr lang="en-US" dirty="0"/>
              <a:t>.</a:t>
            </a:r>
          </a:p>
          <a:p>
            <a:endParaRPr lang="en-US" sz="800" dirty="0"/>
          </a:p>
          <a:p>
            <a:pPr marL="0" indent="0">
              <a:buNone/>
            </a:pPr>
            <a:r>
              <a:rPr lang="en-US" dirty="0"/>
              <a:t>Slide  2</a:t>
            </a:r>
          </a:p>
          <a:p>
            <a:r>
              <a:rPr lang="en-US" dirty="0"/>
              <a:t>Find all cities in China.  Table schemas are:</a:t>
            </a:r>
          </a:p>
          <a:p>
            <a:pPr lvl="1"/>
            <a:r>
              <a:rPr lang="en-US" dirty="0"/>
              <a:t>city = (</a:t>
            </a:r>
            <a:r>
              <a:rPr lang="en-US" dirty="0" err="1"/>
              <a:t>city_id</a:t>
            </a:r>
            <a:r>
              <a:rPr lang="en-US" dirty="0"/>
              <a:t>, city, </a:t>
            </a:r>
            <a:r>
              <a:rPr lang="en-US" dirty="0" err="1"/>
              <a:t>country_id</a:t>
            </a:r>
            <a:r>
              <a:rPr lang="en-US" dirty="0"/>
              <a:t>),</a:t>
            </a:r>
          </a:p>
          <a:p>
            <a:pPr lvl="1"/>
            <a:r>
              <a:rPr lang="en-US" dirty="0"/>
              <a:t>country = (</a:t>
            </a:r>
            <a:r>
              <a:rPr lang="en-US" dirty="0" err="1"/>
              <a:t>country_id</a:t>
            </a:r>
            <a:r>
              <a:rPr lang="en-US" dirty="0"/>
              <a:t>, country).</a:t>
            </a:r>
          </a:p>
          <a:p>
            <a:pPr lvl="1"/>
            <a:r>
              <a:rPr lang="en-US" dirty="0"/>
              <a:t>The property </a:t>
            </a:r>
            <a:r>
              <a:rPr lang="en-US" dirty="0" err="1"/>
              <a:t>last_update</a:t>
            </a:r>
            <a:endParaRPr lang="en-US" dirty="0"/>
          </a:p>
          <a:p>
            <a:pPr lvl="2"/>
            <a:r>
              <a:rPr lang="en-US" dirty="0"/>
              <a:t>Is in every table,</a:t>
            </a:r>
          </a:p>
          <a:p>
            <a:pPr lvl="2"/>
            <a:r>
              <a:rPr lang="en-US" dirty="0"/>
              <a:t>Contains the date and time that the table has been last changed,</a:t>
            </a:r>
          </a:p>
          <a:p>
            <a:pPr lvl="2"/>
            <a:r>
              <a:rPr lang="en-US" dirty="0"/>
              <a:t>Is often ignored during database design.</a:t>
            </a:r>
          </a:p>
          <a:p>
            <a:r>
              <a:rPr lang="en-US" dirty="0"/>
              <a:t>Sample tables are in Slide 4.</a:t>
            </a:r>
          </a:p>
        </p:txBody>
      </p:sp>
    </p:spTree>
    <p:extLst>
      <p:ext uri="{BB962C8B-B14F-4D97-AF65-F5344CB8AC3E}">
        <p14:creationId xmlns:p14="http://schemas.microsoft.com/office/powerpoint/2010/main" val="34468173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4"/>
          <p:cNvSpPr txBox="1">
            <a:spLocks/>
          </p:cNvSpPr>
          <p:nvPr/>
        </p:nvSpPr>
        <p:spPr>
          <a:xfrm>
            <a:off x="838201" y="2765503"/>
            <a:ext cx="10550912" cy="37229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Slide 3, 4 </a:t>
            </a:r>
          </a:p>
          <a:p>
            <a:r>
              <a:rPr lang="en-US" dirty="0"/>
              <a:t>Intermediate steps of the query in middle of Slide 3: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Take the Cartesian product of the tables </a:t>
            </a:r>
            <a:r>
              <a:rPr lang="en-US" dirty="0">
                <a:solidFill>
                  <a:srgbClr val="C00000"/>
                </a:solidFill>
              </a:rPr>
              <a:t>city x country</a:t>
            </a:r>
            <a:r>
              <a:rPr lang="en-US" dirty="0"/>
              <a:t>.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Get the temp table at RHS of Slide 4.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Keep only the rows in the temp table with </a:t>
            </a:r>
          </a:p>
          <a:p>
            <a:pPr lvl="2"/>
            <a:r>
              <a:rPr lang="en-US" dirty="0" err="1"/>
              <a:t>city.country_id</a:t>
            </a:r>
            <a:r>
              <a:rPr lang="en-US" dirty="0"/>
              <a:t> = </a:t>
            </a:r>
            <a:r>
              <a:rPr lang="en-US" dirty="0" err="1"/>
              <a:t>country.country_id</a:t>
            </a:r>
            <a:r>
              <a:rPr lang="en-US" dirty="0"/>
              <a:t> and </a:t>
            </a:r>
          </a:p>
          <a:p>
            <a:pPr lvl="2"/>
            <a:r>
              <a:rPr lang="en-US" dirty="0"/>
              <a:t>country=‘china’.</a:t>
            </a:r>
          </a:p>
          <a:p>
            <a:pPr lvl="2"/>
            <a:r>
              <a:rPr lang="en-US" dirty="0"/>
              <a:t>I.e., keep only the first row (below the headers) in the temp table.</a:t>
            </a:r>
          </a:p>
          <a:p>
            <a:r>
              <a:rPr lang="en-US" dirty="0"/>
              <a:t>This is conceptual. We don’t actually do the query this way.</a:t>
            </a:r>
          </a:p>
          <a:p>
            <a:pPr lvl="1"/>
            <a:endParaRPr lang="en-US" dirty="0"/>
          </a:p>
        </p:txBody>
      </p:sp>
      <p:sp>
        <p:nvSpPr>
          <p:cNvPr id="3" name="Content Placeholder 4"/>
          <p:cNvSpPr txBox="1">
            <a:spLocks/>
          </p:cNvSpPr>
          <p:nvPr/>
        </p:nvSpPr>
        <p:spPr>
          <a:xfrm>
            <a:off x="838201" y="579865"/>
            <a:ext cx="7480610" cy="21856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Slide 4: Cross table </a:t>
            </a:r>
          </a:p>
          <a:p>
            <a:r>
              <a:rPr lang="en-US" dirty="0"/>
              <a:t>Think of </a:t>
            </a:r>
            <a:r>
              <a:rPr lang="en-US" dirty="0">
                <a:solidFill>
                  <a:srgbClr val="FF0000"/>
                </a:solidFill>
              </a:rPr>
              <a:t>Cartesian products x</a:t>
            </a:r>
          </a:p>
          <a:p>
            <a:pPr lvl="1"/>
            <a:r>
              <a:rPr lang="en-US" dirty="0"/>
              <a:t>X = {1, 2, 3}, 	Y = {a, b}.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X </a:t>
            </a:r>
            <a:r>
              <a:rPr lang="en-US" dirty="0" err="1">
                <a:solidFill>
                  <a:srgbClr val="FF0000"/>
                </a:solidFill>
              </a:rPr>
              <a:t>x</a:t>
            </a:r>
            <a:r>
              <a:rPr lang="en-US" dirty="0">
                <a:solidFill>
                  <a:srgbClr val="FF0000"/>
                </a:solidFill>
              </a:rPr>
              <a:t> Y </a:t>
            </a:r>
            <a:r>
              <a:rPr lang="en-US" dirty="0"/>
              <a:t>= { (1, a), (1, b), (2, a), (2, b), (3,a), (3,b) }</a:t>
            </a:r>
          </a:p>
          <a:p>
            <a:pPr lvl="1"/>
            <a:r>
              <a:rPr lang="en-US" dirty="0"/>
              <a:t>All possible combinations of the elements in X and Y.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6282" y="237039"/>
            <a:ext cx="3124809" cy="2050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5237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4"/>
          <p:cNvSpPr txBox="1">
            <a:spLocks/>
          </p:cNvSpPr>
          <p:nvPr/>
        </p:nvSpPr>
        <p:spPr>
          <a:xfrm>
            <a:off x="838201" y="526093"/>
            <a:ext cx="10550912" cy="564424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We actually do the query this way ….</a:t>
            </a:r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dirty="0"/>
              <a:t>Slide 5 Examples</a:t>
            </a:r>
          </a:p>
          <a:p>
            <a:r>
              <a:rPr lang="en-US" dirty="0"/>
              <a:t>Do the examples in XAMPP.</a:t>
            </a:r>
          </a:p>
          <a:p>
            <a:r>
              <a:rPr lang="en-US" dirty="0"/>
              <a:t>Q1: Find the </a:t>
            </a:r>
            <a:r>
              <a:rPr lang="en-US" dirty="0">
                <a:solidFill>
                  <a:srgbClr val="00B050"/>
                </a:solidFill>
              </a:rPr>
              <a:t>phone number </a:t>
            </a:r>
            <a:r>
              <a:rPr lang="en-US" dirty="0"/>
              <a:t>of the </a:t>
            </a:r>
            <a:r>
              <a:rPr lang="en-US" dirty="0">
                <a:solidFill>
                  <a:srgbClr val="FF0000"/>
                </a:solidFill>
              </a:rPr>
              <a:t>customer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Lisa Anderson</a:t>
            </a:r>
            <a:r>
              <a:rPr lang="en-US" dirty="0"/>
              <a:t>.</a:t>
            </a:r>
          </a:p>
          <a:p>
            <a:r>
              <a:rPr lang="en-US" b="1" dirty="0"/>
              <a:t>Which tables </a:t>
            </a:r>
            <a:r>
              <a:rPr lang="en-US" dirty="0"/>
              <a:t>should we use?</a:t>
            </a:r>
          </a:p>
          <a:p>
            <a:pPr lvl="1"/>
            <a:r>
              <a:rPr lang="en-US" dirty="0"/>
              <a:t>Lab 2 was easy; 1 table contains all the properties we want; in this lab, we need more than 1 tables.</a:t>
            </a:r>
          </a:p>
          <a:p>
            <a:pPr lvl="1"/>
            <a:r>
              <a:rPr lang="en-US" b="1" dirty="0"/>
              <a:t>Start</a:t>
            </a:r>
            <a:r>
              <a:rPr lang="en-US" dirty="0"/>
              <a:t>: Table </a:t>
            </a:r>
            <a:r>
              <a:rPr lang="en-US" dirty="0">
                <a:solidFill>
                  <a:srgbClr val="FF0000"/>
                </a:solidFill>
              </a:rPr>
              <a:t>customer</a:t>
            </a:r>
            <a:r>
              <a:rPr lang="en-US" dirty="0"/>
              <a:t> has </a:t>
            </a:r>
            <a:r>
              <a:rPr lang="en-US" dirty="0" err="1"/>
              <a:t>first_name</a:t>
            </a:r>
            <a:r>
              <a:rPr lang="en-US" dirty="0"/>
              <a:t>=“</a:t>
            </a:r>
            <a:r>
              <a:rPr lang="en-US" dirty="0">
                <a:solidFill>
                  <a:srgbClr val="FF0000"/>
                </a:solidFill>
              </a:rPr>
              <a:t>Lisa</a:t>
            </a:r>
            <a:r>
              <a:rPr lang="en-US" dirty="0"/>
              <a:t>” and </a:t>
            </a:r>
            <a:r>
              <a:rPr lang="en-US" dirty="0" err="1"/>
              <a:t>last_name</a:t>
            </a:r>
            <a:r>
              <a:rPr lang="en-US" dirty="0"/>
              <a:t>=“</a:t>
            </a:r>
            <a:r>
              <a:rPr lang="en-US" dirty="0">
                <a:solidFill>
                  <a:srgbClr val="FF0000"/>
                </a:solidFill>
              </a:rPr>
              <a:t>Anderson</a:t>
            </a:r>
            <a:r>
              <a:rPr lang="en-US" dirty="0"/>
              <a:t>”, with IDs </a:t>
            </a:r>
            <a:r>
              <a:rPr lang="en-US" dirty="0" err="1"/>
              <a:t>address_id</a:t>
            </a:r>
            <a:r>
              <a:rPr lang="en-US" dirty="0"/>
              <a:t>, </a:t>
            </a:r>
            <a:r>
              <a:rPr lang="en-US" dirty="0" err="1"/>
              <a:t>customer_id</a:t>
            </a:r>
            <a:r>
              <a:rPr lang="en-US" dirty="0"/>
              <a:t>, </a:t>
            </a:r>
            <a:r>
              <a:rPr lang="en-US" dirty="0" err="1"/>
              <a:t>store_id</a:t>
            </a:r>
            <a:r>
              <a:rPr lang="en-US" dirty="0"/>
              <a:t>. </a:t>
            </a:r>
          </a:p>
          <a:p>
            <a:pPr lvl="1"/>
            <a:r>
              <a:rPr lang="en-US" b="1" dirty="0"/>
              <a:t>End</a:t>
            </a:r>
            <a:r>
              <a:rPr lang="en-US" dirty="0"/>
              <a:t>: Want to find the table that has one of these IDs and </a:t>
            </a:r>
            <a:r>
              <a:rPr lang="en-US" dirty="0">
                <a:solidFill>
                  <a:srgbClr val="00B050"/>
                </a:solidFill>
              </a:rPr>
              <a:t>phone number</a:t>
            </a:r>
            <a:r>
              <a:rPr lang="en-US" dirty="0"/>
              <a:t>. </a:t>
            </a:r>
          </a:p>
          <a:p>
            <a:pPr lvl="2"/>
            <a:r>
              <a:rPr lang="en-US" dirty="0"/>
              <a:t>Checkout the tables address(</a:t>
            </a:r>
            <a:r>
              <a:rPr lang="en-US" dirty="0" err="1"/>
              <a:t>address_id</a:t>
            </a:r>
            <a:r>
              <a:rPr lang="en-US" dirty="0"/>
              <a:t>) and store(</a:t>
            </a:r>
            <a:r>
              <a:rPr lang="en-US" dirty="0" err="1"/>
              <a:t>store_id</a:t>
            </a:r>
            <a:r>
              <a:rPr lang="en-US" dirty="0"/>
              <a:t>).</a:t>
            </a:r>
          </a:p>
          <a:p>
            <a:pPr lvl="2"/>
            <a:r>
              <a:rPr lang="en-US" dirty="0">
                <a:solidFill>
                  <a:srgbClr val="00B050"/>
                </a:solidFill>
              </a:rPr>
              <a:t>Table address(</a:t>
            </a:r>
            <a:r>
              <a:rPr lang="en-US" dirty="0" err="1">
                <a:solidFill>
                  <a:srgbClr val="00B050"/>
                </a:solidFill>
              </a:rPr>
              <a:t>address_id</a:t>
            </a:r>
            <a:r>
              <a:rPr lang="en-US" dirty="0">
                <a:solidFill>
                  <a:srgbClr val="00B050"/>
                </a:solidFill>
              </a:rPr>
              <a:t>) </a:t>
            </a:r>
            <a:r>
              <a:rPr lang="en-US" dirty="0"/>
              <a:t>contains </a:t>
            </a:r>
            <a:r>
              <a:rPr lang="en-US" dirty="0">
                <a:solidFill>
                  <a:srgbClr val="00B050"/>
                </a:solidFill>
              </a:rPr>
              <a:t>phone</a:t>
            </a:r>
            <a:r>
              <a:rPr lang="en-US" dirty="0"/>
              <a:t>!</a:t>
            </a:r>
          </a:p>
          <a:p>
            <a:pPr lvl="1"/>
            <a:r>
              <a:rPr lang="en-US" dirty="0"/>
              <a:t>So we use tables </a:t>
            </a:r>
            <a:r>
              <a:rPr lang="en-US" b="1" dirty="0"/>
              <a:t>customer</a:t>
            </a:r>
            <a:r>
              <a:rPr lang="en-US" dirty="0"/>
              <a:t> and </a:t>
            </a:r>
            <a:r>
              <a:rPr lang="en-US" b="1" dirty="0"/>
              <a:t>address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47824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4"/>
          <p:cNvSpPr txBox="1">
            <a:spLocks/>
          </p:cNvSpPr>
          <p:nvPr/>
        </p:nvSpPr>
        <p:spPr>
          <a:xfrm>
            <a:off x="838201" y="646771"/>
            <a:ext cx="10550912" cy="552357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Slide 5 (continue)</a:t>
            </a:r>
          </a:p>
          <a:p>
            <a:pPr marL="457200" lvl="1" indent="0">
              <a:buNone/>
            </a:pPr>
            <a:r>
              <a:rPr lang="en-US" dirty="0">
                <a:latin typeface="Bahnschrift SemiLight" panose="020B0502040204020203" pitchFamily="34" charset="0"/>
              </a:rPr>
              <a:t>SELECT phone</a:t>
            </a:r>
          </a:p>
          <a:p>
            <a:pPr marL="457200" lvl="1" indent="0">
              <a:buNone/>
            </a:pPr>
            <a:r>
              <a:rPr lang="en-US" dirty="0">
                <a:latin typeface="Bahnschrift SemiLight" panose="020B0502040204020203" pitchFamily="34" charset="0"/>
              </a:rPr>
              <a:t>FROM address, customer</a:t>
            </a:r>
          </a:p>
          <a:p>
            <a:pPr marL="457200" lvl="1" indent="0">
              <a:buNone/>
            </a:pPr>
            <a:r>
              <a:rPr lang="en-US" dirty="0">
                <a:latin typeface="Bahnschrift SemiLight" panose="020B0502040204020203" pitchFamily="34" charset="0"/>
              </a:rPr>
              <a:t>WHERE </a:t>
            </a:r>
            <a:r>
              <a:rPr lang="en-US" dirty="0" err="1">
                <a:latin typeface="Bahnschrift SemiLight" panose="020B0502040204020203" pitchFamily="34" charset="0"/>
              </a:rPr>
              <a:t>first_name</a:t>
            </a:r>
            <a:r>
              <a:rPr lang="en-US" dirty="0">
                <a:latin typeface="Bahnschrift SemiLight" panose="020B0502040204020203" pitchFamily="34" charset="0"/>
              </a:rPr>
              <a:t>=“Lisa” AND </a:t>
            </a:r>
            <a:r>
              <a:rPr lang="en-US" dirty="0" err="1">
                <a:latin typeface="Bahnschrift SemiLight" panose="020B0502040204020203" pitchFamily="34" charset="0"/>
              </a:rPr>
              <a:t>last_name</a:t>
            </a:r>
            <a:r>
              <a:rPr lang="en-US" dirty="0">
                <a:latin typeface="Bahnschrift SemiLight" panose="020B0502040204020203" pitchFamily="34" charset="0"/>
              </a:rPr>
              <a:t>=“Anderson” AND</a:t>
            </a:r>
          </a:p>
          <a:p>
            <a:pPr marL="457200" lvl="1" indent="0">
              <a:buNone/>
            </a:pPr>
            <a:r>
              <a:rPr lang="en-US" dirty="0">
                <a:latin typeface="Bahnschrift SemiLight" panose="020B0502040204020203" pitchFamily="34" charset="0"/>
              </a:rPr>
              <a:t>	        </a:t>
            </a:r>
            <a:r>
              <a:rPr lang="en-US" dirty="0" err="1">
                <a:latin typeface="Bahnschrift SemiLight" panose="020B0502040204020203" pitchFamily="34" charset="0"/>
              </a:rPr>
              <a:t>customer.address_id</a:t>
            </a:r>
            <a:r>
              <a:rPr lang="en-US" dirty="0">
                <a:latin typeface="Bahnschrift SemiLight" panose="020B0502040204020203" pitchFamily="34" charset="0"/>
              </a:rPr>
              <a:t>=</a:t>
            </a:r>
            <a:r>
              <a:rPr lang="en-US" dirty="0" err="1">
                <a:latin typeface="Bahnschrift SemiLight" panose="020B0502040204020203" pitchFamily="34" charset="0"/>
              </a:rPr>
              <a:t>address_address_id</a:t>
            </a:r>
            <a:r>
              <a:rPr lang="en-US" dirty="0">
                <a:latin typeface="Bahnschrift SemiLight" panose="020B0502040204020203" pitchFamily="34" charset="0"/>
              </a:rPr>
              <a:t>;</a:t>
            </a:r>
          </a:p>
          <a:p>
            <a:pPr marL="0" indent="0">
              <a:buNone/>
            </a:pPr>
            <a:endParaRPr lang="en-US" sz="800" dirty="0"/>
          </a:p>
          <a:p>
            <a:r>
              <a:rPr lang="en-US" dirty="0"/>
              <a:t>Q2: Find the </a:t>
            </a:r>
            <a:r>
              <a:rPr lang="en-US" dirty="0">
                <a:solidFill>
                  <a:srgbClr val="00B050"/>
                </a:solidFill>
              </a:rPr>
              <a:t>language</a:t>
            </a:r>
            <a:r>
              <a:rPr lang="en-US" dirty="0"/>
              <a:t> of the </a:t>
            </a:r>
            <a:r>
              <a:rPr lang="en-US" dirty="0">
                <a:solidFill>
                  <a:srgbClr val="FF0000"/>
                </a:solidFill>
              </a:rPr>
              <a:t>film</a:t>
            </a:r>
            <a:r>
              <a:rPr lang="en-US" dirty="0"/>
              <a:t> “</a:t>
            </a:r>
            <a:r>
              <a:rPr lang="en-US" dirty="0">
                <a:solidFill>
                  <a:srgbClr val="FF0000"/>
                </a:solidFill>
              </a:rPr>
              <a:t>Angels Life</a:t>
            </a:r>
            <a:r>
              <a:rPr lang="en-US" dirty="0"/>
              <a:t>”.</a:t>
            </a:r>
          </a:p>
          <a:p>
            <a:r>
              <a:rPr lang="en-US" b="1" dirty="0"/>
              <a:t>Start</a:t>
            </a:r>
            <a:r>
              <a:rPr lang="en-US" dirty="0"/>
              <a:t>: table </a:t>
            </a:r>
            <a:r>
              <a:rPr lang="en-US" dirty="0">
                <a:solidFill>
                  <a:srgbClr val="FF0000"/>
                </a:solidFill>
              </a:rPr>
              <a:t>film</a:t>
            </a:r>
            <a:r>
              <a:rPr lang="en-US" dirty="0"/>
              <a:t> has title “</a:t>
            </a:r>
            <a:r>
              <a:rPr lang="en-US" dirty="0">
                <a:solidFill>
                  <a:srgbClr val="FF0000"/>
                </a:solidFill>
              </a:rPr>
              <a:t>Angels Life</a:t>
            </a:r>
            <a:r>
              <a:rPr lang="en-US" dirty="0"/>
              <a:t>”, and ID ____</a:t>
            </a:r>
          </a:p>
          <a:p>
            <a:r>
              <a:rPr lang="en-US" b="1" dirty="0"/>
              <a:t>End</a:t>
            </a:r>
            <a:r>
              <a:rPr lang="en-US" dirty="0"/>
              <a:t>: which table has </a:t>
            </a:r>
            <a:r>
              <a:rPr lang="en-US" dirty="0">
                <a:solidFill>
                  <a:srgbClr val="00B050"/>
                </a:solidFill>
              </a:rPr>
              <a:t>language</a:t>
            </a:r>
            <a:r>
              <a:rPr lang="en-US" dirty="0"/>
              <a:t> and the above ID?</a:t>
            </a:r>
          </a:p>
          <a:p>
            <a:endParaRPr lang="en-US" sz="800" dirty="0"/>
          </a:p>
          <a:p>
            <a:r>
              <a:rPr lang="en-US" dirty="0"/>
              <a:t>Check the tables in the schema for </a:t>
            </a:r>
            <a:r>
              <a:rPr lang="en-US" dirty="0" err="1"/>
              <a:t>Sakila</a:t>
            </a:r>
            <a:r>
              <a:rPr lang="en-US" dirty="0"/>
              <a:t> database.</a:t>
            </a:r>
          </a:p>
          <a:p>
            <a:r>
              <a:rPr lang="en-US" dirty="0"/>
              <a:t>“Walk the tables”</a:t>
            </a:r>
          </a:p>
          <a:p>
            <a:pPr lvl="1"/>
            <a:r>
              <a:rPr lang="en-US" dirty="0"/>
              <a:t>Which table to start, which table to end?</a:t>
            </a:r>
          </a:p>
          <a:p>
            <a:pPr lvl="1"/>
            <a:r>
              <a:rPr lang="en-US" dirty="0"/>
              <a:t>How do we go from the start table to the end table?</a:t>
            </a:r>
          </a:p>
        </p:txBody>
      </p:sp>
    </p:spTree>
    <p:extLst>
      <p:ext uri="{BB962C8B-B14F-4D97-AF65-F5344CB8AC3E}">
        <p14:creationId xmlns:p14="http://schemas.microsoft.com/office/powerpoint/2010/main" val="2041709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39244"/>
            <a:ext cx="10515600" cy="5337719"/>
          </a:xfrm>
        </p:spPr>
        <p:txBody>
          <a:bodyPr/>
          <a:lstStyle/>
          <a:p>
            <a:r>
              <a:rPr lang="en-US" dirty="0"/>
              <a:t>Slide </a:t>
            </a:r>
            <a:r>
              <a:rPr lang="en-US"/>
              <a:t>11 Example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574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196</TotalTime>
  <Words>554</Words>
  <Application>Microsoft Office PowerPoint</Application>
  <PresentationFormat>Widescreen</PresentationFormat>
  <Paragraphs>56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Bahnschrift SemiLight</vt:lpstr>
      <vt:lpstr>Calibri</vt:lpstr>
      <vt:lpstr>Calibri Light</vt:lpstr>
      <vt:lpstr>Office Theme</vt:lpstr>
      <vt:lpstr>Assignment 1</vt:lpstr>
      <vt:lpstr>Lab03 Cross Table Query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DBMS Tasks Lab 2</dc:title>
  <dc:creator>j f</dc:creator>
  <cp:lastModifiedBy>UIC</cp:lastModifiedBy>
  <cp:revision>49</cp:revision>
  <dcterms:created xsi:type="dcterms:W3CDTF">2022-09-15T13:11:40Z</dcterms:created>
  <dcterms:modified xsi:type="dcterms:W3CDTF">2025-09-25T03:04:34Z</dcterms:modified>
</cp:coreProperties>
</file>