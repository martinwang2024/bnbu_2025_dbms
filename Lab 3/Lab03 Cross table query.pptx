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4" r:id="rId3"/>
    <p:sldId id="275" r:id="rId4"/>
    <p:sldId id="276" r:id="rId5"/>
    <p:sldId id="277" r:id="rId6"/>
    <p:sldId id="281" r:id="rId7"/>
    <p:sldId id="282" r:id="rId8"/>
    <p:sldId id="278" r:id="rId9"/>
    <p:sldId id="279" r:id="rId10"/>
    <p:sldId id="283" r:id="rId11"/>
    <p:sldId id="280" r:id="rId12"/>
    <p:sldId id="273" r:id="rId13"/>
    <p:sldId id="25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>
        <p:scale>
          <a:sx n="75" d="100"/>
          <a:sy n="75" d="100"/>
        </p:scale>
        <p:origin x="186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507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073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066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 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97BAED3B-53C8-7041-817F-696DE6D8D146}"/>
              </a:ext>
            </a:extLst>
          </p:cNvPr>
          <p:cNvSpPr txBox="1">
            <a:spLocks/>
          </p:cNvSpPr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514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EAA6743-3346-CC98-D269-622453F94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United International College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C4CC72-5680-51D7-FFFB-9A601CA1D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 3 Cross table 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0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3FB4-6B52-5063-E9D4-B5FAEB87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41B35-40AA-AAFF-6F59-D2D13D634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3908067"/>
          </a:xfrm>
        </p:spPr>
        <p:txBody>
          <a:bodyPr/>
          <a:lstStyle/>
          <a:p>
            <a:r>
              <a:rPr lang="en-US" dirty="0"/>
              <a:t>Sometimes a single table does not contain all </a:t>
            </a:r>
            <a:r>
              <a:rPr lang="en-US" altLang="zh-CN" dirty="0"/>
              <a:t>desired attributes.</a:t>
            </a:r>
          </a:p>
          <a:p>
            <a:r>
              <a:rPr lang="en-US" dirty="0"/>
              <a:t>For example, one wants to find all cities in China.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City information is in the table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city=(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city_id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, city,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country_id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last_update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“China” is a value for attribute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country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table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country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city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has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country_id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  <a:p>
            <a:r>
              <a:rPr lang="en-US" dirty="0"/>
              <a:t>It is doable to find the country id for China first, then write another query to find the cities.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how can this be done in one query?</a:t>
            </a:r>
          </a:p>
        </p:txBody>
      </p:sp>
    </p:spTree>
    <p:extLst>
      <p:ext uri="{BB962C8B-B14F-4D97-AF65-F5344CB8AC3E}">
        <p14:creationId xmlns:p14="http://schemas.microsoft.com/office/powerpoint/2010/main" val="172456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C090F-601A-0198-414F-6359A510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E664C-F22E-71B6-D420-8E59714A7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6"/>
                <a:ext cx="10515600" cy="52744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Recall that predicates can only </a:t>
                </a:r>
                <a:r>
                  <a:rPr lang="en-US" altLang="zh-CN" dirty="0"/>
                  <a:t>compare the values of attributes or constants (so far at least).</a:t>
                </a:r>
              </a:p>
              <a:p>
                <a:r>
                  <a:rPr lang="en-US" dirty="0"/>
                  <a:t>Here we want to compare </a:t>
                </a:r>
                <a:r>
                  <a:rPr lang="en-US" dirty="0" err="1">
                    <a:latin typeface="Consolas" panose="020B0609020204030204" pitchFamily="49" charset="0"/>
                  </a:rPr>
                  <a:t>country_id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from </a:t>
                </a:r>
                <a:r>
                  <a:rPr lang="en-US" dirty="0">
                    <a:latin typeface="Consolas" panose="020B0609020204030204" pitchFamily="49" charset="0"/>
                  </a:rPr>
                  <a:t>city </a:t>
                </a:r>
                <a:r>
                  <a:rPr lang="en-US" dirty="0"/>
                  <a:t>with </a:t>
                </a:r>
                <a:r>
                  <a:rPr lang="en-US" dirty="0" err="1">
                    <a:latin typeface="Consolas" panose="020B0609020204030204" pitchFamily="49" charset="0"/>
                  </a:rPr>
                  <a:t>country_id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from </a:t>
                </a:r>
                <a:r>
                  <a:rPr lang="en-US" dirty="0">
                    <a:latin typeface="Consolas" panose="020B0609020204030204" pitchFamily="49" charset="0"/>
                  </a:rPr>
                  <a:t>country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onsolas" panose="020B0609020204030204" pitchFamily="49" charset="0"/>
                  </a:rPr>
                  <a:t>		</a:t>
                </a:r>
                <a:r>
                  <a:rPr lang="en-US" sz="1800" dirty="0">
                    <a:latin typeface="Consolas" panose="020B0609020204030204" pitchFamily="49" charset="0"/>
                  </a:rPr>
                  <a:t>SELECT city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FROM city, country 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WHERE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city.country_id</a:t>
                </a:r>
                <a:r>
                  <a:rPr lang="en-US" sz="1800" dirty="0">
                    <a:latin typeface="Consolas" panose="020B0609020204030204" pitchFamily="49" charset="0"/>
                  </a:rPr>
                  <a:t> =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country.country_id</a:t>
                </a:r>
                <a:r>
                  <a:rPr lang="en-US" sz="1800" dirty="0">
                    <a:latin typeface="Consolas" panose="020B0609020204030204" pitchFamily="49" charset="0"/>
                  </a:rPr>
                  <a:t> AND country='China'</a:t>
                </a:r>
              </a:p>
              <a:p>
                <a:r>
                  <a:rPr lang="en-US" dirty="0"/>
                  <a:t>The system </a:t>
                </a:r>
                <a:r>
                  <a:rPr lang="en-US" altLang="zh-CN" dirty="0"/>
                  <a:t>executes the query as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latin typeface="Consolas" panose="020B0609020204030204" pitchFamily="49" charset="0"/>
                  </a:rPr>
                  <a:t>		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𝑐𝑖𝑡𝑦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latin typeface="Consolas" panose="020B0609020204030204" pitchFamily="49" charset="0"/>
                  </a:rPr>
                  <a:t>			for </a:t>
                </a:r>
                <a:r>
                  <a:rPr lang="en-US" sz="1800" dirty="0">
                    <a:latin typeface="Consolas" panose="020B0609020204030204" pitchFamily="49" charset="0"/>
                  </a:rPr>
                  <a:t>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b="1" dirty="0">
                    <a:latin typeface="Consolas" panose="020B0609020204030204" pitchFamily="49" charset="0"/>
                  </a:rPr>
                  <a:t> </a:t>
                </a:r>
                <a:r>
                  <a:rPr lang="en-US" sz="1800" dirty="0">
                    <a:latin typeface="Consolas" panose="020B0609020204030204" pitchFamily="49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𝑐𝑜𝑢𝑛𝑡𝑟𝑦</m:t>
                    </m:r>
                  </m:oMath>
                </a14:m>
                <a:r>
                  <a:rPr lang="en-US" sz="1800" b="1" dirty="0">
                    <a:latin typeface="Consolas" panose="020B0609020204030204" pitchFamily="49" charset="0"/>
                  </a:rPr>
                  <a:t> do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if</a:t>
                </a:r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𝑐𝑜𝑢𝑛𝑡𝑟𝑦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𝑐𝑜𝑢𝑛𝑡𝑟𝑦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𝑐𝑜𝑢𝑛𝑡𝑟𝑦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𝐶h𝑖𝑛𝑎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latin typeface="Consolas" panose="020B0609020204030204" pitchFamily="49" charset="0"/>
                  </a:rPr>
                  <a:t>then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	print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𝑐𝑖𝑡𝑦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if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latin typeface="Consolas" panose="020B0609020204030204" pitchFamily="49" charset="0"/>
                  </a:rPr>
                  <a:t>		end for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E664C-F22E-71B6-D420-8E59714A7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6"/>
                <a:ext cx="10515600" cy="5274474"/>
              </a:xfrm>
              <a:blipFill>
                <a:blip r:embed="rId2"/>
                <a:stretch>
                  <a:fillRect l="-580" t="-1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12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0A13840-4111-BE3F-AB5D-AB846A46C0AB}"/>
              </a:ext>
            </a:extLst>
          </p:cNvPr>
          <p:cNvGrpSpPr/>
          <p:nvPr/>
        </p:nvGrpSpPr>
        <p:grpSpPr>
          <a:xfrm>
            <a:off x="3061422" y="1982426"/>
            <a:ext cx="8148637" cy="2752256"/>
            <a:chOff x="3033713" y="1982426"/>
            <a:chExt cx="8148637" cy="275225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2594DA-C92D-2239-6257-731EE7A7A0F8}"/>
                </a:ext>
              </a:extLst>
            </p:cNvPr>
            <p:cNvSpPr/>
            <p:nvPr/>
          </p:nvSpPr>
          <p:spPr>
            <a:xfrm>
              <a:off x="6519544" y="1982426"/>
              <a:ext cx="4662806" cy="213237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B3601A-FD09-2A0A-0B55-D6BE4354CD82}"/>
                </a:ext>
              </a:extLst>
            </p:cNvPr>
            <p:cNvSpPr/>
            <p:nvPr/>
          </p:nvSpPr>
          <p:spPr>
            <a:xfrm>
              <a:off x="3033713" y="4488181"/>
              <a:ext cx="561976" cy="2465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3165045-2809-D5C1-F4AA-C36140F637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689" y="4114800"/>
              <a:ext cx="2923855" cy="373381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EA63D7-9905-B155-1CA9-8E27CC81B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237EF8-F880-32E1-074B-D7FEC5455F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7"/>
                <a:ext cx="10515600" cy="497919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Equivalent to </a:t>
                </a:r>
                <a:r>
                  <a:rPr lang="en-US" altLang="zh-CN" dirty="0"/>
                  <a:t>querying from a (temporary) table </a:t>
                </a:r>
                <a:r>
                  <a:rPr lang="en-US" altLang="zh-CN" dirty="0">
                    <a:latin typeface="Consolas" panose="020B0609020204030204" pitchFamily="49" charset="0"/>
                  </a:rPr>
                  <a:t>city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country</a:t>
                </a:r>
                <a:r>
                  <a:rPr lang="en-US" dirty="0"/>
                  <a:t>, the </a:t>
                </a:r>
                <a:r>
                  <a:rPr lang="en-US" altLang="zh-CN" dirty="0"/>
                  <a:t>cartesian product of </a:t>
                </a:r>
                <a:r>
                  <a:rPr lang="en-US" altLang="zh-CN" dirty="0">
                    <a:latin typeface="Consolas" panose="020B0609020204030204" pitchFamily="49" charset="0"/>
                  </a:rPr>
                  <a:t>city</a:t>
                </a:r>
                <a:r>
                  <a:rPr lang="en-US" altLang="zh-CN" dirty="0"/>
                  <a:t> and </a:t>
                </a:r>
                <a:r>
                  <a:rPr lang="en-US" altLang="zh-CN" dirty="0">
                    <a:latin typeface="Consolas" panose="020B0609020204030204" pitchFamily="49" charset="0"/>
                  </a:rPr>
                  <a:t>country</a:t>
                </a:r>
                <a:r>
                  <a:rPr lang="en-US" altLang="zh-CN" dirty="0"/>
                  <a:t>.</a:t>
                </a:r>
              </a:p>
              <a:p>
                <a:r>
                  <a:rPr lang="en-US" dirty="0"/>
                  <a:t>For example,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SELECT city FROM temp WHERE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city.country_id</a:t>
                </a:r>
                <a:r>
                  <a:rPr lang="en-US" sz="1800" dirty="0">
                    <a:latin typeface="Consolas" panose="020B0609020204030204" pitchFamily="49" charset="0"/>
                  </a:rPr>
                  <a:t>=</a:t>
                </a:r>
                <a:r>
                  <a:rPr lang="en-US" sz="1800" dirty="0" err="1">
                    <a:latin typeface="Consolas" panose="020B0609020204030204" pitchFamily="49" charset="0"/>
                  </a:rPr>
                  <a:t>country.country_id</a:t>
                </a:r>
                <a:r>
                  <a:rPr lang="en-US" sz="1800" dirty="0">
                    <a:latin typeface="Consolas" panose="020B0609020204030204" pitchFamily="49" charset="0"/>
                  </a:rPr>
                  <a:t> AND country='China'</a:t>
                </a:r>
                <a:endParaRPr lang="en-US" dirty="0"/>
              </a:p>
              <a:p>
                <a:r>
                  <a:rPr lang="en-US" dirty="0"/>
                  <a:t>To </a:t>
                </a:r>
                <a:r>
                  <a:rPr lang="en-US" altLang="zh-CN" dirty="0"/>
                  <a:t>distinguish the two </a:t>
                </a:r>
                <a:r>
                  <a:rPr lang="en-US" altLang="zh-CN" dirty="0" err="1">
                    <a:latin typeface="Consolas" panose="020B0609020204030204" pitchFamily="49" charset="0"/>
                  </a:rPr>
                  <a:t>country_id</a:t>
                </a:r>
                <a:r>
                  <a:rPr lang="en-US" altLang="zh-CN" dirty="0"/>
                  <a:t>, we use </a:t>
                </a:r>
                <a:r>
                  <a:rPr lang="en-US" altLang="zh-CN" dirty="0" err="1">
                    <a:latin typeface="Consolas" panose="020B0609020204030204" pitchFamily="49" charset="0"/>
                  </a:rPr>
                  <a:t>city.country_id</a:t>
                </a:r>
                <a:r>
                  <a:rPr lang="en-US" altLang="zh-CN" dirty="0"/>
                  <a:t> and </a:t>
                </a:r>
                <a:r>
                  <a:rPr lang="en-US" altLang="zh-CN" dirty="0" err="1">
                    <a:latin typeface="Consolas" panose="020B0609020204030204" pitchFamily="49" charset="0"/>
                  </a:rPr>
                  <a:t>country.country_id</a:t>
                </a:r>
                <a:r>
                  <a:rPr lang="en-US" altLang="zh-CN" dirty="0">
                    <a:latin typeface="Consolas" panose="020B0609020204030204" pitchFamily="49" charset="0"/>
                  </a:rPr>
                  <a:t>.</a:t>
                </a:r>
                <a:r>
                  <a:rPr lang="en-US" altLang="zh-CN" dirty="0"/>
                  <a:t> </a:t>
                </a:r>
              </a:p>
              <a:p>
                <a:r>
                  <a:rPr lang="en-US" dirty="0"/>
                  <a:t>The attribute </a:t>
                </a:r>
                <a:r>
                  <a:rPr lang="en-US" dirty="0">
                    <a:latin typeface="Consolas" panose="020B0609020204030204" pitchFamily="49" charset="0"/>
                  </a:rPr>
                  <a:t>city</a:t>
                </a:r>
                <a:r>
                  <a:rPr lang="en-US" dirty="0"/>
                  <a:t> does not need </a:t>
                </a:r>
                <a:r>
                  <a:rPr lang="en-US" dirty="0" err="1">
                    <a:latin typeface="Consolas" panose="020B0609020204030204" pitchFamily="49" charset="0"/>
                  </a:rPr>
                  <a:t>city.city</a:t>
                </a:r>
                <a:r>
                  <a:rPr lang="en-US" dirty="0">
                    <a:latin typeface="Consolas" panose="020B0609020204030204" pitchFamily="49" charset="0"/>
                  </a:rPr>
                  <a:t>,</a:t>
                </a:r>
                <a:r>
                  <a:rPr lang="en-US" dirty="0"/>
                  <a:t> because there is no other attribute with the same name. (Same for </a:t>
                </a:r>
                <a:r>
                  <a:rPr lang="en-US" dirty="0">
                    <a:latin typeface="Consolas" panose="020B0609020204030204" pitchFamily="49" charset="0"/>
                  </a:rPr>
                  <a:t>country.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7237EF8-F880-32E1-074B-D7FEC5455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7"/>
                <a:ext cx="10515600" cy="4979197"/>
              </a:xfrm>
              <a:blipFill rotWithShape="0">
                <a:blip r:embed="rId2"/>
                <a:stretch>
                  <a:fillRect l="-580" t="-1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FC813E-C8E6-8DDC-8DE8-42F1723F6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78068"/>
              </p:ext>
            </p:extLst>
          </p:nvPr>
        </p:nvGraphicFramePr>
        <p:xfrm>
          <a:off x="1159447" y="2504359"/>
          <a:ext cx="262509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1488031652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450342177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1473597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city_id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country_id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08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Beijing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73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Tokyo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9576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B3B8801-C9A0-122E-2B41-BFB074604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61109"/>
              </p:ext>
            </p:extLst>
          </p:nvPr>
        </p:nvGraphicFramePr>
        <p:xfrm>
          <a:off x="4234879" y="2504359"/>
          <a:ext cx="196596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05">
                  <a:extLst>
                    <a:ext uri="{9D8B030D-6E8A-4147-A177-3AD203B41FA5}">
                      <a16:colId xmlns:a16="http://schemas.microsoft.com/office/drawing/2014/main" val="3463809945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397579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country_id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6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181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3544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590C-7E99-920A-D498-A77759425B2C}"/>
                  </a:ext>
                </a:extLst>
              </p:cNvPr>
              <p:cNvSpPr txBox="1"/>
              <p:nvPr/>
            </p:nvSpPr>
            <p:spPr>
              <a:xfrm>
                <a:off x="3803562" y="2765463"/>
                <a:ext cx="412292" cy="369332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kumimoji="1"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A9590C-7E99-920A-D498-A77759425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562" y="2765463"/>
                <a:ext cx="41229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41852F-C73F-BD2A-4658-8FFD73DCBDC7}"/>
                  </a:ext>
                </a:extLst>
              </p:cNvPr>
              <p:cNvSpPr txBox="1"/>
              <p:nvPr/>
            </p:nvSpPr>
            <p:spPr>
              <a:xfrm>
                <a:off x="6160136" y="2765463"/>
                <a:ext cx="420308" cy="369332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41852F-C73F-BD2A-4658-8FFD73DCB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136" y="2765463"/>
                <a:ext cx="4203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EACB664-CC15-95EB-8E76-7C85EC148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790195"/>
              </p:ext>
            </p:extLst>
          </p:nvPr>
        </p:nvGraphicFramePr>
        <p:xfrm>
          <a:off x="6575828" y="2504359"/>
          <a:ext cx="459105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3236859037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1587119526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472439691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286210941"/>
                    </a:ext>
                  </a:extLst>
                </a:gridCol>
                <a:gridCol w="859155">
                  <a:extLst>
                    <a:ext uri="{9D8B030D-6E8A-4147-A177-3AD203B41FA5}">
                      <a16:colId xmlns:a16="http://schemas.microsoft.com/office/drawing/2014/main" val="945697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city_id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country_id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country_id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1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Beijing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88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356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Beijing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49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801955"/>
                  </a:ext>
                </a:extLst>
              </a:tr>
            </a:tbl>
          </a:graphicData>
        </a:graphic>
      </p:graphicFrame>
      <p:sp>
        <p:nvSpPr>
          <p:cNvPr id="10" name="Left Brace 9">
            <a:extLst>
              <a:ext uri="{FF2B5EF4-FFF2-40B4-BE49-F238E27FC236}">
                <a16:creationId xmlns:a16="http://schemas.microsoft.com/office/drawing/2014/main" id="{4AED593F-D263-B89A-D7FB-6D35A561FEF0}"/>
              </a:ext>
            </a:extLst>
          </p:cNvPr>
          <p:cNvSpPr/>
          <p:nvPr/>
        </p:nvSpPr>
        <p:spPr>
          <a:xfrm rot="5400000">
            <a:off x="7768243" y="1110271"/>
            <a:ext cx="155633" cy="257683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55BF1-3467-5431-B7DA-3AAD014F7C7B}"/>
              </a:ext>
            </a:extLst>
          </p:cNvPr>
          <p:cNvSpPr txBox="1"/>
          <p:nvPr/>
        </p:nvSpPr>
        <p:spPr>
          <a:xfrm>
            <a:off x="7465708" y="1982426"/>
            <a:ext cx="817853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dirty="0">
                <a:latin typeface="Consolas" panose="020B0609020204030204" pitchFamily="49" charset="0"/>
                <a:cs typeface="Arial" panose="020B0604020202020204" pitchFamily="34" charset="0"/>
              </a:rPr>
              <a:t>city.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8C16B0A-F93E-2E54-FB74-5E0C39574056}"/>
              </a:ext>
            </a:extLst>
          </p:cNvPr>
          <p:cNvSpPr/>
          <p:nvPr/>
        </p:nvSpPr>
        <p:spPr>
          <a:xfrm rot="5400000">
            <a:off x="10070396" y="1458524"/>
            <a:ext cx="148730" cy="188722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D9FA10-34E9-A43E-7E22-466525428822}"/>
              </a:ext>
            </a:extLst>
          </p:cNvPr>
          <p:cNvSpPr txBox="1"/>
          <p:nvPr/>
        </p:nvSpPr>
        <p:spPr>
          <a:xfrm>
            <a:off x="9545879" y="1958438"/>
            <a:ext cx="1197764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country</a:t>
            </a:r>
            <a:r>
              <a:rPr kumimoji="1" lang="en-US" dirty="0"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301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10" grpId="0" animBg="1"/>
      <p:bldP spid="11" grpId="0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F5EC-1DC7-49BC-0346-B0B02C11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AB98E-E883-1C04-D072-486D020DC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phone number of the customer Lisa Anderson.</a:t>
            </a:r>
          </a:p>
          <a:p>
            <a:r>
              <a:rPr lang="en-US" dirty="0"/>
              <a:t>Find the language of the film “Ang</a:t>
            </a:r>
            <a:r>
              <a:rPr lang="en-US" altLang="zh-CN" dirty="0"/>
              <a:t>e</a:t>
            </a:r>
            <a:r>
              <a:rPr lang="en-US" dirty="0"/>
              <a:t>ls Life”.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6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44FD-9691-A0F1-C33A-548B8651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C4692-9479-54A4-FF21-02FA02F8D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539835"/>
          </a:xfrm>
        </p:spPr>
        <p:txBody>
          <a:bodyPr/>
          <a:lstStyle/>
          <a:p>
            <a:r>
              <a:rPr lang="en-US" dirty="0"/>
              <a:t>Find the films played by Angela (actor’s first name).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sz="1800" dirty="0">
                <a:latin typeface="Consolas" panose="020B0609020204030204" pitchFamily="49" charset="0"/>
              </a:rPr>
              <a:t>SELECT </a:t>
            </a:r>
            <a:r>
              <a:rPr lang="en-US" sz="1800" dirty="0" err="1">
                <a:latin typeface="Consolas" panose="020B0609020204030204" pitchFamily="49" charset="0"/>
              </a:rPr>
              <a:t>actor.actor_id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first_name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last_name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film.title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FROM actor, </a:t>
            </a:r>
            <a:r>
              <a:rPr lang="en-US" sz="1800" dirty="0" err="1">
                <a:latin typeface="Consolas" panose="020B0609020204030204" pitchFamily="49" charset="0"/>
              </a:rPr>
              <a:t>film_actor</a:t>
            </a:r>
            <a:r>
              <a:rPr lang="en-US" sz="1800" dirty="0">
                <a:latin typeface="Consolas" panose="020B0609020204030204" pitchFamily="49" charset="0"/>
              </a:rPr>
              <a:t>, film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WHERE </a:t>
            </a:r>
            <a:r>
              <a:rPr lang="en-US" sz="1800" dirty="0" err="1">
                <a:latin typeface="Consolas" panose="020B0609020204030204" pitchFamily="49" charset="0"/>
              </a:rPr>
              <a:t>first_name</a:t>
            </a:r>
            <a:r>
              <a:rPr lang="en-US" sz="1800" dirty="0">
                <a:latin typeface="Consolas" panose="020B0609020204030204" pitchFamily="49" charset="0"/>
              </a:rPr>
              <a:t> = 'Angela' AND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</a:t>
            </a:r>
            <a:r>
              <a:rPr lang="en-US" sz="1800" dirty="0" err="1">
                <a:latin typeface="Consolas" panose="020B0609020204030204" pitchFamily="49" charset="0"/>
              </a:rPr>
              <a:t>actor.actor_id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film_actor.actor_id</a:t>
            </a:r>
            <a:r>
              <a:rPr lang="en-US" sz="1800" dirty="0">
                <a:latin typeface="Consolas" panose="020B0609020204030204" pitchFamily="49" charset="0"/>
              </a:rPr>
              <a:t> AND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</a:t>
            </a:r>
            <a:r>
              <a:rPr lang="en-US" sz="1800" dirty="0" err="1">
                <a:latin typeface="Consolas" panose="020B0609020204030204" pitchFamily="49" charset="0"/>
              </a:rPr>
              <a:t>film_actor.film_id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film.film_id</a:t>
            </a:r>
            <a:endParaRPr lang="en-US" sz="1800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Why we need to select the id, first name, and last name of the actor?</a:t>
            </a:r>
          </a:p>
        </p:txBody>
      </p:sp>
    </p:spTree>
    <p:extLst>
      <p:ext uri="{BB962C8B-B14F-4D97-AF65-F5344CB8AC3E}">
        <p14:creationId xmlns:p14="http://schemas.microsoft.com/office/powerpoint/2010/main" val="321500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D3FD-37C3-ABDF-D76D-39A5C59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B5D5E-B2C0-1921-46D2-A3844DDDC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456707"/>
          </a:xfrm>
        </p:spPr>
        <p:txBody>
          <a:bodyPr/>
          <a:lstStyle/>
          <a:p>
            <a:r>
              <a:rPr lang="en-US" dirty="0"/>
              <a:t>There are two actors whose first name is “Angela”, Angela Hudson and Angela Witherspoon.</a:t>
            </a:r>
          </a:p>
          <a:p>
            <a:r>
              <a:rPr lang="en-US" altLang="zh-CN" dirty="0"/>
              <a:t>To distinguish the films played by which Angela, we need actor id, which is the </a:t>
            </a:r>
            <a:r>
              <a:rPr lang="en-US" altLang="zh-CN" b="1" dirty="0"/>
              <a:t>key</a:t>
            </a:r>
            <a:r>
              <a:rPr lang="en-US" altLang="zh-CN" dirty="0"/>
              <a:t> of the schema.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key </a:t>
            </a:r>
            <a:r>
              <a:rPr lang="en-US" dirty="0"/>
              <a:t>of a schema is a set of one or multiple attributes, which can uniquely define the tuples in the table.</a:t>
            </a:r>
          </a:p>
          <a:p>
            <a:endParaRPr lang="en-US" dirty="0"/>
          </a:p>
          <a:p>
            <a:r>
              <a:rPr lang="en-US" dirty="0"/>
              <a:t>E.g. </a:t>
            </a:r>
            <a:r>
              <a:rPr lang="en-US" dirty="0" err="1">
                <a:latin typeface="Consolas" panose="020B0609020204030204" pitchFamily="49" charset="0"/>
              </a:rPr>
              <a:t>actor_id</a:t>
            </a:r>
            <a:r>
              <a:rPr lang="en-US" dirty="0"/>
              <a:t> is the key of </a:t>
            </a:r>
            <a:r>
              <a:rPr lang="en-US" dirty="0">
                <a:latin typeface="Consolas" panose="020B0609020204030204" pitchFamily="49" charset="0"/>
              </a:rPr>
              <a:t>actor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Again, the meaning of keys in schemas is similar but not the same as keys in ER diagrams.</a:t>
            </a:r>
          </a:p>
        </p:txBody>
      </p:sp>
    </p:spTree>
    <p:extLst>
      <p:ext uri="{BB962C8B-B14F-4D97-AF65-F5344CB8AC3E}">
        <p14:creationId xmlns:p14="http://schemas.microsoft.com/office/powerpoint/2010/main" val="218691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40DE-F395-F92D-2EEE-AD360DD5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table times itself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CD168-A648-5E0A-62DC-A6A402F7C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7"/>
                <a:ext cx="10515600" cy="512842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Sometimes a table can cross itself.</a:t>
                </a:r>
              </a:p>
              <a:p>
                <a:r>
                  <a:rPr lang="en-US" dirty="0"/>
                  <a:t>Find the id of cities which have more than one address.</a:t>
                </a:r>
              </a:p>
              <a:p>
                <a:r>
                  <a:rPr lang="en-US" dirty="0"/>
                  <a:t>The table </a:t>
                </a:r>
                <a:r>
                  <a:rPr lang="en-US" dirty="0">
                    <a:latin typeface="Consolas" panose="020B0609020204030204" pitchFamily="49" charset="0"/>
                  </a:rPr>
                  <a:t>address</a:t>
                </a:r>
                <a:r>
                  <a:rPr lang="en-US" dirty="0"/>
                  <a:t> contains </a:t>
                </a:r>
                <a:r>
                  <a:rPr lang="en-US" dirty="0" err="1">
                    <a:latin typeface="Consolas" panose="020B0609020204030204" pitchFamily="49" charset="0"/>
                  </a:rPr>
                  <a:t>address_id</a:t>
                </a:r>
                <a:r>
                  <a:rPr lang="en-US" dirty="0"/>
                  <a:t> and </a:t>
                </a:r>
                <a:r>
                  <a:rPr lang="en-US" dirty="0" err="1">
                    <a:latin typeface="Consolas" panose="020B0609020204030204" pitchFamily="49" charset="0"/>
                  </a:rPr>
                  <a:t>city_id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logic of this search is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:r>
                  <a:rPr lang="en-US" sz="1800" b="1" dirty="0">
                    <a:latin typeface="Consolas" panose="020B0609020204030204" pitchFamily="49" charset="0"/>
                  </a:rPr>
                  <a:t>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address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address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if</a:t>
                </a:r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𝑎𝑑𝑑𝑟𝑒𝑠𝑠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!=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𝑎𝑑𝑑𝑟𝑒𝑠𝑠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latin typeface="Consolas" panose="020B0609020204030204" pitchFamily="49" charset="0"/>
                  </a:rPr>
                  <a:t>then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latin typeface="Consolas" panose="020B0609020204030204" pitchFamily="49" charset="0"/>
                  </a:rPr>
                  <a:t>					</a:t>
                </a:r>
                <a:r>
                  <a:rPr lang="en-US" sz="1800" dirty="0">
                    <a:latin typeface="Consolas" panose="020B0609020204030204" pitchFamily="49" charset="0"/>
                  </a:rPr>
                  <a:t>print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if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CD168-A648-5E0A-62DC-A6A402F7C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7"/>
                <a:ext cx="10515600" cy="5128423"/>
              </a:xfrm>
              <a:blipFill>
                <a:blip r:embed="rId2"/>
                <a:stretch>
                  <a:fillRect l="-580" t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CEF98102-F399-5FB8-8D74-969937459E46}"/>
              </a:ext>
            </a:extLst>
          </p:cNvPr>
          <p:cNvSpPr/>
          <p:nvPr/>
        </p:nvSpPr>
        <p:spPr>
          <a:xfrm>
            <a:off x="7995257" y="3543304"/>
            <a:ext cx="90907" cy="369654"/>
          </a:xfrm>
          <a:prstGeom prst="rightBrace">
            <a:avLst>
              <a:gd name="adj1" fmla="val 36793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64CEB-D44A-493C-5A79-6A22D8D4FD8D}"/>
              </a:ext>
            </a:extLst>
          </p:cNvPr>
          <p:cNvSpPr txBox="1"/>
          <p:nvPr/>
        </p:nvSpPr>
        <p:spPr>
          <a:xfrm>
            <a:off x="8329705" y="2697631"/>
            <a:ext cx="2235200" cy="127865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/>
            <a:r>
              <a:rPr kumimoji="1" lang="en-US" dirty="0">
                <a:latin typeface="Arial" panose="020B0604020202020204" pitchFamily="34" charset="0"/>
                <a:cs typeface="Arial" panose="020B0604020202020204" pitchFamily="34" charset="0"/>
              </a:rPr>
              <a:t>The nested loop is implemented by the table </a:t>
            </a:r>
            <a:r>
              <a:rPr kumimoji="1" lang="en-US" dirty="0">
                <a:latin typeface="Consolas" panose="020B0609020204030204" pitchFamily="49" charset="0"/>
                <a:cs typeface="Arial" panose="020B0604020202020204" pitchFamily="34" charset="0"/>
              </a:rPr>
              <a:t>address</a:t>
            </a:r>
            <a:r>
              <a:rPr kumimoji="1" lang="en-US" dirty="0">
                <a:latin typeface="Arial" panose="020B0604020202020204" pitchFamily="34" charset="0"/>
                <a:cs typeface="Arial" panose="020B0604020202020204" pitchFamily="34" charset="0"/>
              </a:rPr>
              <a:t> crossing with itself.</a:t>
            </a:r>
          </a:p>
        </p:txBody>
      </p:sp>
    </p:spTree>
    <p:extLst>
      <p:ext uri="{BB962C8B-B14F-4D97-AF65-F5344CB8AC3E}">
        <p14:creationId xmlns:p14="http://schemas.microsoft.com/office/powerpoint/2010/main" val="349371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40DE-F395-F92D-2EEE-AD360DD5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table times itself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CD168-A648-5E0A-62DC-A6A402F7C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077"/>
                <a:ext cx="5524500" cy="5128423"/>
              </a:xfrm>
            </p:spPr>
            <p:txBody>
              <a:bodyPr>
                <a:normAutofit/>
              </a:bodyPr>
              <a:lstStyle/>
              <a:p>
                <a:pPr marL="0" indent="0" defTabSz="985838">
                  <a:buNone/>
                  <a:tabLst>
                    <a:tab pos="538163" algn="l"/>
                  </a:tabLst>
                </a:pPr>
                <a:r>
                  <a:rPr lang="en-US" sz="1800" b="1" dirty="0">
                    <a:latin typeface="Consolas" panose="020B0609020204030204" pitchFamily="49" charset="0"/>
                  </a:rPr>
                  <a:t>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address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</a:p>
              <a:p>
                <a:pPr marL="0" indent="0" defTabSz="985838">
                  <a:buNone/>
                  <a:tabLst>
                    <a:tab pos="538163" algn="l"/>
                  </a:tabLst>
                </a:pPr>
                <a:r>
                  <a:rPr lang="en-US" sz="1800" dirty="0"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latin typeface="Consolas" panose="020B0609020204030204" pitchFamily="49" charset="0"/>
                  </a:rPr>
                  <a:t>for</a:t>
                </a:r>
                <a:r>
                  <a:rPr lang="en-US" sz="1800" dirty="0">
                    <a:latin typeface="Consolas" panose="020B0609020204030204" pitchFamily="49" charset="0"/>
                  </a:rPr>
                  <a:t> each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in address </a:t>
                </a:r>
                <a:r>
                  <a:rPr lang="en-US" sz="1800" b="1" dirty="0">
                    <a:latin typeface="Consolas" panose="020B0609020204030204" pitchFamily="49" charset="0"/>
                  </a:rPr>
                  <a:t>do</a:t>
                </a:r>
              </a:p>
              <a:p>
                <a:pPr marL="0" indent="0" defTabSz="985838">
                  <a:buNone/>
                  <a:tabLst>
                    <a:tab pos="538163" algn="l"/>
                  </a:tabLst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𝑓𝑙𝑎𝑔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 defTabSz="985838">
                  <a:buNone/>
                  <a:tabLst>
                    <a:tab pos="538163" algn="l"/>
                  </a:tabLst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:r>
                  <a:rPr lang="en-US" sz="1800" b="1" dirty="0">
                    <a:latin typeface="Consolas" panose="020B0609020204030204" pitchFamily="49" charset="0"/>
                  </a:rPr>
                  <a:t>if</a:t>
                </a:r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 defTabSz="985838">
                  <a:buNone/>
                  <a:tabLst>
                    <a:tab pos="538163" algn="l"/>
                  </a:tabLst>
                </a:pPr>
                <a:r>
                  <a:rPr lang="en-US" sz="1800" dirty="0">
                    <a:latin typeface="Consolas" panose="020B0609020204030204" pitchFamily="49" charset="0"/>
                  </a:rPr>
                  <a:t>		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𝑎𝑑𝑑𝑟𝑒𝑠𝑠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!=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𝑎𝑑𝑑𝑟𝑒𝑠𝑠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lang="en-US" sz="1800" dirty="0">
                    <a:latin typeface="Consolas" panose="020B0609020204030204" pitchFamily="49" charset="0"/>
                  </a:rPr>
                  <a:t> </a:t>
                </a:r>
                <a:r>
                  <a:rPr lang="en-US" sz="1800" b="1" dirty="0">
                    <a:latin typeface="Consolas" panose="020B0609020204030204" pitchFamily="49" charset="0"/>
                  </a:rPr>
                  <a:t>then</a:t>
                </a:r>
              </a:p>
              <a:p>
                <a:pPr marL="0" indent="0" defTabSz="985838">
                  <a:buNone/>
                  <a:tabLst>
                    <a:tab pos="538163" algn="l"/>
                    <a:tab pos="1524000" algn="l"/>
                  </a:tabLst>
                </a:pPr>
                <a:r>
                  <a:rPr lang="en-US" sz="1800" b="1" dirty="0">
                    <a:latin typeface="Consolas" panose="020B0609020204030204" pitchFamily="49" charset="0"/>
                  </a:rPr>
                  <a:t>		</a:t>
                </a:r>
                <a:r>
                  <a:rPr lang="en-US" sz="1800" dirty="0">
                    <a:latin typeface="Consolas" panose="020B0609020204030204" pitchFamily="49" charset="0"/>
                  </a:rPr>
                  <a:t>print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endParaRPr lang="en-US" sz="1800" b="1" dirty="0">
                  <a:latin typeface="Consolas" panose="020B0609020204030204" pitchFamily="49" charset="0"/>
                </a:endParaRPr>
              </a:p>
              <a:p>
                <a:pPr marL="0" indent="0" defTabSz="985838">
                  <a:buNone/>
                  <a:tabLst>
                    <a:tab pos="538163" algn="l"/>
                  </a:tabLst>
                </a:pPr>
                <a:r>
                  <a:rPr lang="en-US" sz="1800" dirty="0">
                    <a:latin typeface="Consolas" panose="020B0609020204030204" pitchFamily="49" charset="0"/>
                  </a:rPr>
                  <a:t>	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if</a:t>
                </a:r>
              </a:p>
              <a:p>
                <a:pPr marL="0" indent="0" defTabSz="985838">
                  <a:buNone/>
                  <a:tabLst>
                    <a:tab pos="538163" algn="l"/>
                  </a:tabLst>
                </a:pPr>
                <a:r>
                  <a:rPr lang="en-US" sz="1800" dirty="0">
                    <a:latin typeface="Consolas" panose="020B0609020204030204" pitchFamily="49" charset="0"/>
                  </a:rPr>
                  <a:t>	</a:t>
                </a: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 defTabSz="985838">
                  <a:buNone/>
                  <a:tabLst>
                    <a:tab pos="538163" algn="l"/>
                  </a:tabLst>
                </a:pPr>
                <a:r>
                  <a:rPr lang="en-US" sz="1800" b="1" dirty="0">
                    <a:latin typeface="Consolas" panose="020B0609020204030204" pitchFamily="49" charset="0"/>
                  </a:rPr>
                  <a:t>end for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CD168-A648-5E0A-62DC-A6A402F7C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077"/>
                <a:ext cx="5524500" cy="5128423"/>
              </a:xfrm>
              <a:blipFill>
                <a:blip r:embed="rId2"/>
                <a:stretch>
                  <a:fillRect l="-883" t="-1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321D30-5FC9-81D7-4BAA-03D43F1D77C3}"/>
              </a:ext>
            </a:extLst>
          </p:cNvPr>
          <p:cNvSpPr txBox="1">
            <a:spLocks/>
          </p:cNvSpPr>
          <p:nvPr/>
        </p:nvSpPr>
        <p:spPr>
          <a:xfrm>
            <a:off x="6210300" y="1414454"/>
            <a:ext cx="5524500" cy="5128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SELECT a1.city_id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FROM address AS a1, address AS a2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WHERE a1.city_id = a2.city_id AND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	a1.address_id &lt;&gt; a2.address_id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two tables are renamed by “</a:t>
            </a:r>
            <a:r>
              <a:rPr lang="en-US" sz="1800" b="1" dirty="0">
                <a:latin typeface="Consolas" panose="020B0609020204030204" pitchFamily="49" charset="0"/>
              </a:rPr>
              <a:t>AS</a:t>
            </a:r>
            <a:r>
              <a:rPr lang="en-US" sz="1800" dirty="0"/>
              <a:t>”, to avoid </a:t>
            </a:r>
            <a:r>
              <a:rPr lang="en-US" altLang="zh-CN" sz="1800" dirty="0"/>
              <a:t>ambiguous.</a:t>
            </a:r>
          </a:p>
          <a:p>
            <a:r>
              <a:rPr lang="en-US" sz="1800" dirty="0"/>
              <a:t>If two tuples agree on </a:t>
            </a:r>
            <a:r>
              <a:rPr lang="en-US" sz="1800" dirty="0" err="1">
                <a:latin typeface="Consolas" panose="020B0609020204030204" pitchFamily="49" charset="0"/>
              </a:rPr>
              <a:t>city_id</a:t>
            </a:r>
            <a:r>
              <a:rPr lang="en-US" sz="1800" dirty="0"/>
              <a:t> but have different </a:t>
            </a:r>
            <a:r>
              <a:rPr lang="en-US" sz="1800" dirty="0" err="1">
                <a:latin typeface="Consolas" panose="020B0609020204030204" pitchFamily="49" charset="0"/>
              </a:rPr>
              <a:t>address_id</a:t>
            </a:r>
            <a:r>
              <a:rPr lang="en-US" sz="1800" dirty="0"/>
              <a:t>, this </a:t>
            </a:r>
            <a:r>
              <a:rPr lang="en-US" sz="1800" dirty="0" err="1">
                <a:latin typeface="Consolas" panose="020B0609020204030204" pitchFamily="49" charset="0"/>
              </a:rPr>
              <a:t>city_id</a:t>
            </a:r>
            <a:r>
              <a:rPr lang="en-US" sz="1800" dirty="0"/>
              <a:t> has multiple addresses.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&lt;&gt;</a:t>
            </a:r>
            <a:r>
              <a:rPr lang="en-US" sz="1800" dirty="0"/>
              <a:t> means not equal.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4F615C-FAD6-B2CB-1799-7AD3179F0FB2}"/>
              </a:ext>
            </a:extLst>
          </p:cNvPr>
          <p:cNvGrpSpPr/>
          <p:nvPr/>
        </p:nvGrpSpPr>
        <p:grpSpPr>
          <a:xfrm>
            <a:off x="3000375" y="1335881"/>
            <a:ext cx="5562600" cy="1042987"/>
            <a:chOff x="3000375" y="1335881"/>
            <a:chExt cx="5562600" cy="104298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0A8D15-263B-23F1-FE44-3AB8AA771B2C}"/>
                </a:ext>
              </a:extLst>
            </p:cNvPr>
            <p:cNvSpPr/>
            <p:nvPr/>
          </p:nvSpPr>
          <p:spPr>
            <a:xfrm>
              <a:off x="3000375" y="1431127"/>
              <a:ext cx="923925" cy="27384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692ADB-9702-3B51-E99E-3FAEDBCD81B3}"/>
                </a:ext>
              </a:extLst>
            </p:cNvPr>
            <p:cNvSpPr/>
            <p:nvPr/>
          </p:nvSpPr>
          <p:spPr>
            <a:xfrm>
              <a:off x="6886575" y="1777601"/>
              <a:ext cx="1676400" cy="27384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AB8A46EE-FDD7-1635-AF75-3409A3CD672B}"/>
                </a:ext>
              </a:extLst>
            </p:cNvPr>
            <p:cNvSpPr/>
            <p:nvPr/>
          </p:nvSpPr>
          <p:spPr>
            <a:xfrm>
              <a:off x="3309937" y="1335881"/>
              <a:ext cx="3624263" cy="1042987"/>
            </a:xfrm>
            <a:prstGeom prst="arc">
              <a:avLst>
                <a:gd name="adj1" fmla="val 11916034"/>
                <a:gd name="adj2" fmla="val 21431333"/>
              </a:avLst>
            </a:prstGeom>
            <a:ln w="15875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8AFE600-A9A4-F143-8C26-978B923CD72F}"/>
              </a:ext>
            </a:extLst>
          </p:cNvPr>
          <p:cNvGrpSpPr/>
          <p:nvPr/>
        </p:nvGrpSpPr>
        <p:grpSpPr>
          <a:xfrm>
            <a:off x="3561231" y="1287068"/>
            <a:ext cx="6906744" cy="1254914"/>
            <a:chOff x="3561231" y="1287068"/>
            <a:chExt cx="6906744" cy="125491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69D9CC-6360-D4FC-C108-C8B0E2310D27}"/>
                </a:ext>
              </a:extLst>
            </p:cNvPr>
            <p:cNvSpPr/>
            <p:nvPr/>
          </p:nvSpPr>
          <p:spPr>
            <a:xfrm>
              <a:off x="3561231" y="1783552"/>
              <a:ext cx="923925" cy="273848"/>
            </a:xfrm>
            <a:prstGeom prst="rect">
              <a:avLst/>
            </a:prstGeom>
            <a:noFill/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7E71AE-78F6-8B01-3A20-780F679B20BF}"/>
                </a:ext>
              </a:extLst>
            </p:cNvPr>
            <p:cNvSpPr/>
            <p:nvPr/>
          </p:nvSpPr>
          <p:spPr>
            <a:xfrm>
              <a:off x="8791575" y="1777601"/>
              <a:ext cx="1676400" cy="273848"/>
            </a:xfrm>
            <a:prstGeom prst="rect">
              <a:avLst/>
            </a:prstGeom>
            <a:noFill/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96B5E36-AEE7-2B58-A570-A4EA35EE0811}"/>
                </a:ext>
              </a:extLst>
            </p:cNvPr>
            <p:cNvSpPr/>
            <p:nvPr/>
          </p:nvSpPr>
          <p:spPr>
            <a:xfrm>
              <a:off x="4429125" y="1287068"/>
              <a:ext cx="4594621" cy="1254914"/>
            </a:xfrm>
            <a:prstGeom prst="arc">
              <a:avLst>
                <a:gd name="adj1" fmla="val 11006799"/>
                <a:gd name="adj2" fmla="val 21397472"/>
              </a:avLst>
            </a:prstGeom>
            <a:ln w="15875">
              <a:solidFill>
                <a:srgbClr val="92D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A0C99C-A74D-CECE-24C2-DCDD59931F90}"/>
              </a:ext>
            </a:extLst>
          </p:cNvPr>
          <p:cNvGrpSpPr/>
          <p:nvPr/>
        </p:nvGrpSpPr>
        <p:grpSpPr>
          <a:xfrm>
            <a:off x="1885595" y="2149072"/>
            <a:ext cx="8087080" cy="625084"/>
            <a:chOff x="1885595" y="2149072"/>
            <a:chExt cx="8087080" cy="62508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77186F-F303-59F6-92C9-AC2CC96F59B5}"/>
                </a:ext>
              </a:extLst>
            </p:cNvPr>
            <p:cNvSpPr/>
            <p:nvPr/>
          </p:nvSpPr>
          <p:spPr>
            <a:xfrm>
              <a:off x="1885595" y="2500308"/>
              <a:ext cx="2149079" cy="273848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A0B3A6A-04BC-F5C1-FF5F-2400E1D6D8E6}"/>
                </a:ext>
              </a:extLst>
            </p:cNvPr>
            <p:cNvSpPr/>
            <p:nvPr/>
          </p:nvSpPr>
          <p:spPr>
            <a:xfrm>
              <a:off x="7035402" y="2149072"/>
              <a:ext cx="2937273" cy="273848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15E0F88-2D1F-99D8-2BDB-B5AC864981A5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4034674" y="2285996"/>
              <a:ext cx="3000728" cy="214312"/>
            </a:xfrm>
            <a:prstGeom prst="line">
              <a:avLst/>
            </a:prstGeom>
            <a:ln w="15875">
              <a:solidFill>
                <a:srgbClr val="00B0F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987108-5527-C88C-CA22-BB56D32DFF19}"/>
              </a:ext>
            </a:extLst>
          </p:cNvPr>
          <p:cNvGrpSpPr/>
          <p:nvPr/>
        </p:nvGrpSpPr>
        <p:grpSpPr>
          <a:xfrm>
            <a:off x="2022871" y="2491976"/>
            <a:ext cx="8778479" cy="634324"/>
            <a:chOff x="2022871" y="2491976"/>
            <a:chExt cx="8778479" cy="6343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AEBA4A3-8297-F121-BB21-F26D53F03BBB}"/>
                </a:ext>
              </a:extLst>
            </p:cNvPr>
            <p:cNvSpPr/>
            <p:nvPr/>
          </p:nvSpPr>
          <p:spPr>
            <a:xfrm>
              <a:off x="2022871" y="2852452"/>
              <a:ext cx="3095976" cy="273848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6162713-16D7-25DE-1768-8AB3D76053F4}"/>
                </a:ext>
              </a:extLst>
            </p:cNvPr>
            <p:cNvSpPr/>
            <p:nvPr/>
          </p:nvSpPr>
          <p:spPr>
            <a:xfrm>
              <a:off x="6934200" y="2491976"/>
              <a:ext cx="3867150" cy="273848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07BAB0B-AE3C-20C7-E1C2-9B71F32A0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8847" y="2765824"/>
              <a:ext cx="1815353" cy="86628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596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40DE-F395-F92D-2EEE-AD360DD5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table times itself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CD168-A648-5E0A-62DC-A6A402F7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28423"/>
          </a:xfrm>
        </p:spPr>
        <p:txBody>
          <a:bodyPr>
            <a:normAutofit/>
          </a:bodyPr>
          <a:lstStyle/>
          <a:p>
            <a:r>
              <a:rPr lang="en-US" dirty="0"/>
              <a:t>Why some results are duplicated?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One pair is matched twice.</a:t>
            </a:r>
          </a:p>
          <a:p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</a:rPr>
              <a:t>DISTINCT</a:t>
            </a:r>
            <a:r>
              <a:rPr lang="en-US" dirty="0"/>
              <a:t> to remove duplications from result.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1DCF3350-C722-411C-BD4D-94FCEA70A0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4818304"/>
                  </p:ext>
                </p:extLst>
              </p:nvPr>
            </p:nvGraphicFramePr>
            <p:xfrm>
              <a:off x="2364033" y="2291543"/>
              <a:ext cx="2990534" cy="1485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93">
                      <a:extLst>
                        <a:ext uri="{9D8B030D-6E8A-4147-A177-3AD203B41FA5}">
                          <a16:colId xmlns:a16="http://schemas.microsoft.com/office/drawing/2014/main" val="1030464413"/>
                        </a:ext>
                      </a:extLst>
                    </a:gridCol>
                    <a:gridCol w="932180">
                      <a:extLst>
                        <a:ext uri="{9D8B030D-6E8A-4147-A177-3AD203B41FA5}">
                          <a16:colId xmlns:a16="http://schemas.microsoft.com/office/drawing/2014/main" val="3380251244"/>
                        </a:ext>
                      </a:extLst>
                    </a:gridCol>
                    <a:gridCol w="1213168">
                      <a:extLst>
                        <a:ext uri="{9D8B030D-6E8A-4147-A177-3AD203B41FA5}">
                          <a16:colId xmlns:a16="http://schemas.microsoft.com/office/drawing/2014/main" val="123686442"/>
                        </a:ext>
                      </a:extLst>
                    </a:gridCol>
                    <a:gridCol w="422593">
                      <a:extLst>
                        <a:ext uri="{9D8B030D-6E8A-4147-A177-3AD203B41FA5}">
                          <a16:colId xmlns:a16="http://schemas.microsoft.com/office/drawing/2014/main" val="2453605339"/>
                        </a:ext>
                      </a:extLst>
                    </a:gridCol>
                  </a:tblGrid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Consolas" panose="020B0609020204030204" pitchFamily="49" charset="0"/>
                            </a:rPr>
                            <a:t>city_id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Consolas" panose="020B0609020204030204" pitchFamily="49" charset="0"/>
                            </a:rPr>
                            <a:t>address_id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8279297"/>
                      </a:ext>
                    </a:extLst>
                  </a:tr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483155"/>
                      </a:ext>
                    </a:extLst>
                  </a:tr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c1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a1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259683"/>
                      </a:ext>
                    </a:extLst>
                  </a:tr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c1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a2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5401480"/>
                      </a:ext>
                    </a:extLst>
                  </a:tr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51686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1DCF3350-C722-411C-BD4D-94FCEA70A0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4818304"/>
                  </p:ext>
                </p:extLst>
              </p:nvPr>
            </p:nvGraphicFramePr>
            <p:xfrm>
              <a:off x="2364033" y="2291543"/>
              <a:ext cx="2990534" cy="1485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93">
                      <a:extLst>
                        <a:ext uri="{9D8B030D-6E8A-4147-A177-3AD203B41FA5}">
                          <a16:colId xmlns:a16="http://schemas.microsoft.com/office/drawing/2014/main" val="1030464413"/>
                        </a:ext>
                      </a:extLst>
                    </a:gridCol>
                    <a:gridCol w="932180">
                      <a:extLst>
                        <a:ext uri="{9D8B030D-6E8A-4147-A177-3AD203B41FA5}">
                          <a16:colId xmlns:a16="http://schemas.microsoft.com/office/drawing/2014/main" val="3380251244"/>
                        </a:ext>
                      </a:extLst>
                    </a:gridCol>
                    <a:gridCol w="1213168">
                      <a:extLst>
                        <a:ext uri="{9D8B030D-6E8A-4147-A177-3AD203B41FA5}">
                          <a16:colId xmlns:a16="http://schemas.microsoft.com/office/drawing/2014/main" val="123686442"/>
                        </a:ext>
                      </a:extLst>
                    </a:gridCol>
                    <a:gridCol w="422593">
                      <a:extLst>
                        <a:ext uri="{9D8B030D-6E8A-4147-A177-3AD203B41FA5}">
                          <a16:colId xmlns:a16="http://schemas.microsoft.com/office/drawing/2014/main" val="2453605339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29" t="-2041" r="-608571" b="-4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Consolas" panose="020B0609020204030204" pitchFamily="49" charset="0"/>
                            </a:rPr>
                            <a:t>city_id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Consolas" panose="020B0609020204030204" pitchFamily="49" charset="0"/>
                            </a:rPr>
                            <a:t>address_id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4286" t="-2041" r="-5714" b="-4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8279297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29" t="-102041" r="-608571" b="-3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405" t="-102041" r="-178431" b="-3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2563" t="-102041" r="-37186" b="-3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4286" t="-102041" r="-5714" b="-3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6483155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29" t="-202041" r="-608571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c1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a1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4286" t="-202041" r="-5714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25968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29" t="-302041" r="-608571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c1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a2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4286" t="-302041" r="-5714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540148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29" t="-402041" r="-608571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405" t="-402041" r="-178431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2563" t="-402041" r="-37186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4286" t="-402041" r="-5714" b="-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516862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2F0CBF83-2CB5-40EE-B85F-C3DFCBEA73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9485440"/>
                  </p:ext>
                </p:extLst>
              </p:nvPr>
            </p:nvGraphicFramePr>
            <p:xfrm>
              <a:off x="6837434" y="2285872"/>
              <a:ext cx="2990534" cy="1485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93">
                      <a:extLst>
                        <a:ext uri="{9D8B030D-6E8A-4147-A177-3AD203B41FA5}">
                          <a16:colId xmlns:a16="http://schemas.microsoft.com/office/drawing/2014/main" val="1030464413"/>
                        </a:ext>
                      </a:extLst>
                    </a:gridCol>
                    <a:gridCol w="932180">
                      <a:extLst>
                        <a:ext uri="{9D8B030D-6E8A-4147-A177-3AD203B41FA5}">
                          <a16:colId xmlns:a16="http://schemas.microsoft.com/office/drawing/2014/main" val="3380251244"/>
                        </a:ext>
                      </a:extLst>
                    </a:gridCol>
                    <a:gridCol w="1213168">
                      <a:extLst>
                        <a:ext uri="{9D8B030D-6E8A-4147-A177-3AD203B41FA5}">
                          <a16:colId xmlns:a16="http://schemas.microsoft.com/office/drawing/2014/main" val="123686442"/>
                        </a:ext>
                      </a:extLst>
                    </a:gridCol>
                    <a:gridCol w="422593">
                      <a:extLst>
                        <a:ext uri="{9D8B030D-6E8A-4147-A177-3AD203B41FA5}">
                          <a16:colId xmlns:a16="http://schemas.microsoft.com/office/drawing/2014/main" val="2453605339"/>
                        </a:ext>
                      </a:extLst>
                    </a:gridCol>
                  </a:tblGrid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Consolas" panose="020B0609020204030204" pitchFamily="49" charset="0"/>
                            </a:rPr>
                            <a:t>city_id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Consolas" panose="020B0609020204030204" pitchFamily="49" charset="0"/>
                            </a:rPr>
                            <a:t>address_id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8279297"/>
                      </a:ext>
                    </a:extLst>
                  </a:tr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483155"/>
                      </a:ext>
                    </a:extLst>
                  </a:tr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c1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a1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259683"/>
                      </a:ext>
                    </a:extLst>
                  </a:tr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c1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a2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5401480"/>
                      </a:ext>
                    </a:extLst>
                  </a:tr>
                  <a:tr h="21492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51686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2F0CBF83-2CB5-40EE-B85F-C3DFCBEA73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9485440"/>
                  </p:ext>
                </p:extLst>
              </p:nvPr>
            </p:nvGraphicFramePr>
            <p:xfrm>
              <a:off x="6837434" y="2285872"/>
              <a:ext cx="2990534" cy="14859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93">
                      <a:extLst>
                        <a:ext uri="{9D8B030D-6E8A-4147-A177-3AD203B41FA5}">
                          <a16:colId xmlns:a16="http://schemas.microsoft.com/office/drawing/2014/main" val="1030464413"/>
                        </a:ext>
                      </a:extLst>
                    </a:gridCol>
                    <a:gridCol w="932180">
                      <a:extLst>
                        <a:ext uri="{9D8B030D-6E8A-4147-A177-3AD203B41FA5}">
                          <a16:colId xmlns:a16="http://schemas.microsoft.com/office/drawing/2014/main" val="3380251244"/>
                        </a:ext>
                      </a:extLst>
                    </a:gridCol>
                    <a:gridCol w="1213168">
                      <a:extLst>
                        <a:ext uri="{9D8B030D-6E8A-4147-A177-3AD203B41FA5}">
                          <a16:colId xmlns:a16="http://schemas.microsoft.com/office/drawing/2014/main" val="123686442"/>
                        </a:ext>
                      </a:extLst>
                    </a:gridCol>
                    <a:gridCol w="422593">
                      <a:extLst>
                        <a:ext uri="{9D8B030D-6E8A-4147-A177-3AD203B41FA5}">
                          <a16:colId xmlns:a16="http://schemas.microsoft.com/office/drawing/2014/main" val="2453605339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29" t="-2041" r="-608571" b="-4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Consolas" panose="020B0609020204030204" pitchFamily="49" charset="0"/>
                            </a:rPr>
                            <a:t>city_id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>
                              <a:latin typeface="Consolas" panose="020B0609020204030204" pitchFamily="49" charset="0"/>
                            </a:rPr>
                            <a:t>address_id</a:t>
                          </a:r>
                          <a:endParaRPr lang="en-US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286" t="-2041" r="-5714" b="-4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8279297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29" t="-102041" r="-608571" b="-3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405" t="-102041" r="-178431" b="-3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563" t="-102041" r="-37186" b="-3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286" t="-102041" r="-5714" b="-3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6483155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29" t="-202041" r="-608571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c1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a1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286" t="-202041" r="-5714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25968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29" t="-302041" r="-608571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c1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a2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286" t="-302041" r="-5714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540148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29" t="-402041" r="-608571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405" t="-402041" r="-178431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563" t="-402041" r="-37186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4286" t="-402041" r="-5714" b="-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51686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15">
            <a:extLst>
              <a:ext uri="{FF2B5EF4-FFF2-40B4-BE49-F238E27FC236}">
                <a16:creationId xmlns:a16="http://schemas.microsoft.com/office/drawing/2014/main" id="{75171BBA-FCFC-4BE2-AD3A-D4C3A6BA99FF}"/>
              </a:ext>
            </a:extLst>
          </p:cNvPr>
          <p:cNvSpPr/>
          <p:nvPr/>
        </p:nvSpPr>
        <p:spPr>
          <a:xfrm>
            <a:off x="2364032" y="2888043"/>
            <a:ext cx="2990534" cy="27384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9207565B-02BE-405D-B816-720928FF1B7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354567" y="3034493"/>
            <a:ext cx="1482865" cy="284821"/>
          </a:xfrm>
          <a:prstGeom prst="line">
            <a:avLst/>
          </a:prstGeom>
          <a:ln w="15875">
            <a:solidFill>
              <a:srgbClr val="00B0F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5">
            <a:extLst>
              <a:ext uri="{FF2B5EF4-FFF2-40B4-BE49-F238E27FC236}">
                <a16:creationId xmlns:a16="http://schemas.microsoft.com/office/drawing/2014/main" id="{4D02DFE4-43D1-4649-84A6-A7A5042581B7}"/>
              </a:ext>
            </a:extLst>
          </p:cNvPr>
          <p:cNvSpPr/>
          <p:nvPr/>
        </p:nvSpPr>
        <p:spPr>
          <a:xfrm>
            <a:off x="6837433" y="3196679"/>
            <a:ext cx="2990534" cy="27384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93BDA03A-6C70-443F-91DE-5BB70B09C899}"/>
              </a:ext>
            </a:extLst>
          </p:cNvPr>
          <p:cNvSpPr/>
          <p:nvPr/>
        </p:nvSpPr>
        <p:spPr>
          <a:xfrm>
            <a:off x="2364032" y="3200582"/>
            <a:ext cx="2990534" cy="2738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FA68B432-0558-4DE9-8E90-9AD3D420D8F8}"/>
              </a:ext>
            </a:extLst>
          </p:cNvPr>
          <p:cNvSpPr/>
          <p:nvPr/>
        </p:nvSpPr>
        <p:spPr>
          <a:xfrm>
            <a:off x="6837433" y="2879966"/>
            <a:ext cx="2990534" cy="2738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DB78831B-ADDF-4234-BAD3-363CC9426800}"/>
              </a:ext>
            </a:extLst>
          </p:cNvPr>
          <p:cNvCxnSpPr>
            <a:cxnSpLocks/>
            <a:stCxn id="19" idx="3"/>
            <a:endCxn id="7" idx="1"/>
          </p:cNvCxnSpPr>
          <p:nvPr/>
        </p:nvCxnSpPr>
        <p:spPr>
          <a:xfrm flipV="1">
            <a:off x="5354566" y="3028822"/>
            <a:ext cx="1482868" cy="308684"/>
          </a:xfrm>
          <a:prstGeom prst="line">
            <a:avLst/>
          </a:prstGeom>
          <a:ln w="158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21FFB2E-409C-4CFE-9F1B-1CC665928AFB}"/>
              </a:ext>
            </a:extLst>
          </p:cNvPr>
          <p:cNvSpPr txBox="1"/>
          <p:nvPr/>
        </p:nvSpPr>
        <p:spPr>
          <a:xfrm>
            <a:off x="2894900" y="1865904"/>
            <a:ext cx="1928798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Outer loop for </a:t>
            </a:r>
            <a:r>
              <a:rPr kumimoji="1"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a1</a:t>
            </a:r>
            <a:endParaRPr kumimoji="1"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19DADD-FFA3-4EF0-B1B4-C850F505AF44}"/>
              </a:ext>
            </a:extLst>
          </p:cNvPr>
          <p:cNvSpPr txBox="1"/>
          <p:nvPr/>
        </p:nvSpPr>
        <p:spPr>
          <a:xfrm>
            <a:off x="7400393" y="1865904"/>
            <a:ext cx="1864613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Inner loop for </a:t>
            </a:r>
            <a:r>
              <a:rPr kumimoji="1"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a2</a:t>
            </a:r>
            <a:endParaRPr kumimoji="1"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4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2" grpId="0" animBg="1"/>
      <p:bldP spid="19" grpId="0" animBg="1"/>
      <p:bldP spid="20" grpId="0" animBg="1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0A6C9-D58A-174C-2CFB-136805CF7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F794B-A31B-A1A7-9797-F60CC43C3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name (first and last) of actors who have the same first name with another actor.</a:t>
            </a:r>
          </a:p>
        </p:txBody>
      </p:sp>
    </p:spTree>
    <p:extLst>
      <p:ext uri="{BB962C8B-B14F-4D97-AF65-F5344CB8AC3E}">
        <p14:creationId xmlns:p14="http://schemas.microsoft.com/office/powerpoint/2010/main" val="621978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E909-06F9-0331-17E0-830A99B4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54823-92D7-546F-3C23-A34D1B881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7393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 SQLs for the following questions.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Find the films (name) played by Zero Cage.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Find the films (name) rented by George Linton.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Find the customers (name) who have rented some action (category) films.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Find the customers who live in China and have rented </a:t>
            </a:r>
            <a:r>
              <a:rPr lang="en-US" sz="1800"/>
              <a:t>some English </a:t>
            </a:r>
            <a:r>
              <a:rPr lang="en-US" sz="1800" dirty="0"/>
              <a:t>films.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Find all pairs of customers (name) who have rented a same film.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Find the actors who have played a same film with Bolger (the last name of an actor)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Save your queries in a txt file. Rename it as “COMP3013 Lab3 ###.txt”, where “###” is your student ID. And submit it on iSpace. The DDL is 24 hours after the lab.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41672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CD73-9BC5-367A-588A-222F950B1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Lab 3</a:t>
            </a:r>
          </a:p>
        </p:txBody>
      </p:sp>
    </p:spTree>
    <p:extLst>
      <p:ext uri="{BB962C8B-B14F-4D97-AF65-F5344CB8AC3E}">
        <p14:creationId xmlns:p14="http://schemas.microsoft.com/office/powerpoint/2010/main" val="2905926351"/>
      </p:ext>
    </p:extLst>
  </p:cSld>
  <p:clrMapOvr>
    <a:masterClrMapping/>
  </p:clrMapOvr>
</p:sld>
</file>

<file path=ppt/theme/theme1.xml><?xml version="1.0" encoding="utf-8"?>
<a:theme xmlns:a="http://schemas.openxmlformats.org/drawingml/2006/main" name="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BMS latex" id="{C853DD06-80DD-4A92-985C-00F9462CBF3D}" vid="{2DB0D723-8C41-4574-B925-747B267380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DBMS latex</Template>
  <TotalTime>3755</TotalTime>
  <Words>758</Words>
  <Application>Microsoft Office PowerPoint</Application>
  <PresentationFormat>宽屏</PresentationFormat>
  <Paragraphs>202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Adobe Heiti Std R</vt:lpstr>
      <vt:lpstr>Hiragino Sans GB W3</vt:lpstr>
      <vt:lpstr>等线</vt:lpstr>
      <vt:lpstr>Microsoft YaHei</vt:lpstr>
      <vt:lpstr>Arial</vt:lpstr>
      <vt:lpstr>Cambria Math</vt:lpstr>
      <vt:lpstr>Consolas</vt:lpstr>
      <vt:lpstr>DBMS latex</vt:lpstr>
      <vt:lpstr>Lab 3 Cross table query</vt:lpstr>
      <vt:lpstr>Motivation</vt:lpstr>
      <vt:lpstr>Cross table</vt:lpstr>
      <vt:lpstr>Cross table</vt:lpstr>
      <vt:lpstr>Examples</vt:lpstr>
      <vt:lpstr>Keys</vt:lpstr>
      <vt:lpstr>Keys</vt:lpstr>
      <vt:lpstr>A table times itself</vt:lpstr>
      <vt:lpstr>A table times itself</vt:lpstr>
      <vt:lpstr>A table times itself</vt:lpstr>
      <vt:lpstr>Example</vt:lpstr>
      <vt:lpstr>Exercises</vt:lpstr>
      <vt:lpstr>End of Lab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Zhiyuan Li</dc:creator>
  <cp:lastModifiedBy>Goliath Li</cp:lastModifiedBy>
  <cp:revision>34</cp:revision>
  <dcterms:created xsi:type="dcterms:W3CDTF">2022-06-15T04:17:56Z</dcterms:created>
  <dcterms:modified xsi:type="dcterms:W3CDTF">2025-09-06T06:54:31Z</dcterms:modified>
</cp:coreProperties>
</file>