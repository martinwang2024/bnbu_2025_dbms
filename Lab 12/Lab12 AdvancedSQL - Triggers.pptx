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7" r:id="rId2"/>
    <p:sldId id="299" r:id="rId3"/>
    <p:sldId id="318" r:id="rId4"/>
    <p:sldId id="306" r:id="rId5"/>
    <p:sldId id="307" r:id="rId6"/>
    <p:sldId id="308" r:id="rId7"/>
    <p:sldId id="315" r:id="rId8"/>
    <p:sldId id="317" r:id="rId9"/>
    <p:sldId id="319" r:id="rId10"/>
    <p:sldId id="291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3BE7-67CB-4BC0-ABC3-77A59C886D42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475DF-82F2-44A5-9BC4-9938493C7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549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9FBDC-DA40-4C1D-BD84-D9B2858F1C6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474D1-4B83-4E2F-A02A-EC6B8BB33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7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3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474D1-4B83-4E2F-A02A-EC6B8BB33F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8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 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ev.mysql.com/doc/refman/8.0/en/create-trigger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United International College</a:t>
            </a:r>
          </a:p>
          <a:p>
            <a:r>
              <a:rPr lang="en-US" altLang="zh-CN"/>
              <a:t>COMP3013 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12 Advanced SQL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/>
          <a:lstStyle/>
          <a:p>
            <a:r>
              <a:rPr lang="en-US" b="1" dirty="0"/>
              <a:t>Triggers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Triggers - Event, Condition and Action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Triggers in SQL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Triggers Example, Row-Level and Statement-Level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Tricky Design Issues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Triggers Example, More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Triggers in MySQL, More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Triggers Example with UIC Database</a:t>
            </a:r>
          </a:p>
          <a:p>
            <a:r>
              <a:rPr lang="en-US" b="1" dirty="0"/>
              <a:t>Revisions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9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DF21-ED88-D77D-DD96-43348AAB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– Event, Condition and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7BF1-2236-48B9-EDE6-005967D61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826798"/>
          </a:xfrm>
        </p:spPr>
        <p:txBody>
          <a:bodyPr>
            <a:normAutofit/>
          </a:bodyPr>
          <a:lstStyle/>
          <a:p>
            <a:r>
              <a:rPr lang="en-US" dirty="0"/>
              <a:t>For some simple condition checking within one table, we can use </a:t>
            </a:r>
            <a:r>
              <a:rPr lang="en-US" b="1" dirty="0">
                <a:latin typeface="Consolas" panose="020B0609020204030204" pitchFamily="49" charset="0"/>
              </a:rPr>
              <a:t>CHECK</a:t>
            </a:r>
            <a:r>
              <a:rPr lang="en-US" dirty="0"/>
              <a:t>. But, for a complicated predicate crossing multiple tables, we need to use </a:t>
            </a:r>
            <a:r>
              <a:rPr lang="en-US" b="1" dirty="0">
                <a:latin typeface="Consolas" panose="020B0609020204030204" pitchFamily="49" charset="0"/>
              </a:rPr>
              <a:t>TRIGGER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trigger</a:t>
            </a:r>
            <a:r>
              <a:rPr lang="en-US" dirty="0"/>
              <a:t> is a statement that the system executes automatically as a side effect of a modification to the database.</a:t>
            </a:r>
          </a:p>
          <a:p>
            <a:r>
              <a:rPr lang="en-US" dirty="0"/>
              <a:t>Reference: </a:t>
            </a:r>
            <a:r>
              <a:rPr lang="en-US" dirty="0">
                <a:hlinkClick r:id="rId2"/>
              </a:rPr>
              <a:t>MySQL reference manual</a:t>
            </a:r>
            <a:r>
              <a:rPr lang="en-US" dirty="0"/>
              <a:t> and [5.3] of textbook. </a:t>
            </a:r>
          </a:p>
          <a:p>
            <a:r>
              <a:rPr lang="en-US" dirty="0"/>
              <a:t>We need two things: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Specify when a trigger is to be executed, event and condition.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Specify the actions to be taken when the trigger executes.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Event-Condition-Action (non-database) example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– Click “SIGN IN” button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Condition1 – User name and password are correct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Action1 – Display the user’s UIC webpage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different condition would trigger another action.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A8D06-F620-18B8-48D1-0D67F6BEF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964" y="3637652"/>
            <a:ext cx="2614459" cy="266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0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– Event, Condition and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/>
          <a:lstStyle/>
          <a:p>
            <a:pPr marL="0" indent="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  <a:buNone/>
            </a:pPr>
            <a:endParaRPr lang="en-US" altLang="zh-CN" dirty="0"/>
          </a:p>
          <a:p>
            <a:pPr marL="0" indent="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  <a:buNone/>
            </a:pPr>
            <a:r>
              <a:rPr lang="en-US" altLang="zh-CN" b="1" dirty="0"/>
              <a:t>Event-Condition-Action </a:t>
            </a:r>
            <a:r>
              <a:rPr lang="en-US" altLang="zh-CN" dirty="0"/>
              <a:t>rules:</a:t>
            </a:r>
          </a:p>
          <a:p>
            <a:pPr marL="514900" lvl="1" indent="-27360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When event occurs, check the condition; if true, do the actions.</a:t>
            </a:r>
          </a:p>
          <a:p>
            <a:pPr marL="514900" lvl="1" indent="-27360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Move monitoring logic from apps into DBMS.</a:t>
            </a:r>
          </a:p>
          <a:p>
            <a:pPr marL="514900" lvl="1" indent="-27360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Enforce constraints</a:t>
            </a:r>
          </a:p>
          <a:p>
            <a:pPr marL="857800" lvl="2" indent="-27360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beyond what constraint system supports and</a:t>
            </a:r>
          </a:p>
          <a:p>
            <a:pPr marL="857800" lvl="2" indent="-273600">
              <a:lnSpc>
                <a:spcPct val="80000"/>
              </a:lnSpc>
              <a:spcBef>
                <a:spcPts val="250"/>
              </a:spcBef>
              <a:buClr>
                <a:srgbClr val="0000FF"/>
              </a:buClr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automatic constraint “repair”.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321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>
            <a:normAutofit/>
          </a:bodyPr>
          <a:lstStyle/>
          <a:p>
            <a:pPr>
              <a:tabLst>
                <a:tab pos="625475" algn="l"/>
              </a:tabLst>
            </a:pPr>
            <a:r>
              <a:rPr lang="en-US" altLang="zh-CN" dirty="0">
                <a:ea typeface="宋体" pitchFamily="2" charset="-122"/>
              </a:rPr>
              <a:t>An trigger in SQL takes the form</a:t>
            </a:r>
          </a:p>
          <a:p>
            <a:pPr>
              <a:buFont typeface="Monotype Sorts" charset="2"/>
              <a:buNone/>
              <a:tabLst>
                <a:tab pos="625475" algn="l"/>
              </a:tabLst>
            </a:pPr>
            <a:r>
              <a:rPr lang="en-US" altLang="zh-CN" dirty="0">
                <a:ea typeface="宋体" pitchFamily="2" charset="-122"/>
              </a:rPr>
              <a:t>		</a:t>
            </a:r>
          </a:p>
          <a:p>
            <a:pPr>
              <a:buFont typeface="Monotype Sorts" charset="2"/>
              <a:buNone/>
              <a:tabLst>
                <a:tab pos="625475" algn="l"/>
              </a:tabLst>
            </a:pP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		CREATE TRIGGER 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&lt;trigger-name&gt; </a:t>
            </a:r>
          </a:p>
          <a:p>
            <a:pPr>
              <a:buFont typeface="Monotype Sorts" charset="2"/>
              <a:buNone/>
              <a:tabLst>
                <a:tab pos="625475" algn="l"/>
              </a:tabLst>
            </a:pP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BEFORE/AFTER</a:t>
            </a: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&lt;event&gt;</a:t>
            </a:r>
          </a:p>
          <a:p>
            <a:pPr>
              <a:buFont typeface="Monotype Sorts" charset="2"/>
              <a:buNone/>
              <a:tabLst>
                <a:tab pos="625475" algn="l"/>
              </a:tabLst>
            </a:pP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宋体" pitchFamily="2" charset="-122"/>
              </a:rPr>
              <a:t>FOR EACH ROW</a:t>
            </a:r>
          </a:p>
          <a:p>
            <a:pPr>
              <a:buFont typeface="Monotype Sorts" charset="2"/>
              <a:buNone/>
              <a:tabLst>
                <a:tab pos="625475" algn="l"/>
              </a:tabLst>
            </a:pP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		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宋体" pitchFamily="2" charset="-122"/>
              </a:rPr>
              <a:t>&lt;Trigger body&gt;</a:t>
            </a:r>
          </a:p>
          <a:p>
            <a:pPr>
              <a:tabLst>
                <a:tab pos="625475" algn="l"/>
              </a:tabLst>
            </a:pPr>
            <a:endParaRPr lang="en-US" altLang="zh-CN" dirty="0">
              <a:latin typeface="Consolas" panose="020B0609020204030204" pitchFamily="49" charset="0"/>
              <a:ea typeface="宋体" pitchFamily="2" charset="-122"/>
            </a:endParaRPr>
          </a:p>
          <a:p>
            <a:pPr>
              <a:tabLst>
                <a:tab pos="625475" algn="l"/>
              </a:tabLst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BEFORE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or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宋体" pitchFamily="2" charset="-122"/>
              </a:rPr>
              <a:t>AFTER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specifies when the trigger is activated.</a:t>
            </a:r>
          </a:p>
          <a:p>
            <a:pPr>
              <a:tabLst>
                <a:tab pos="625475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宋体" pitchFamily="2" charset="-122"/>
              </a:rPr>
              <a:t>&lt;event&gt;</a:t>
            </a:r>
            <a:r>
              <a:rPr lang="en-US" altLang="zh-CN" dirty="0">
                <a:solidFill>
                  <a:srgbClr val="0070C0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can be </a:t>
            </a: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INSERT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DELETE</a:t>
            </a:r>
            <a:r>
              <a:rPr lang="en-US" altLang="zh-CN" dirty="0">
                <a:ea typeface="宋体" pitchFamily="2" charset="-122"/>
              </a:rPr>
              <a:t>, or </a:t>
            </a:r>
            <a:r>
              <a:rPr lang="en-US" altLang="zh-CN" b="1" dirty="0">
                <a:latin typeface="Consolas" panose="020B0609020204030204" pitchFamily="49" charset="0"/>
                <a:ea typeface="宋体" pitchFamily="2" charset="-122"/>
              </a:rPr>
              <a:t>UPDATE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>
              <a:tabLst>
                <a:tab pos="625475" algn="l"/>
              </a:tabLst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宋体" pitchFamily="2" charset="-122"/>
              </a:rPr>
              <a:t>FOR EACH ROW</a:t>
            </a:r>
            <a:r>
              <a:rPr lang="en-US" altLang="zh-CN" dirty="0">
                <a:ea typeface="宋体" pitchFamily="2" charset="-122"/>
              </a:rPr>
              <a:t> is a fixed phrase.</a:t>
            </a:r>
          </a:p>
          <a:p>
            <a:pPr>
              <a:tabLst>
                <a:tab pos="625475" algn="l"/>
              </a:tabLst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宋体" pitchFamily="2" charset="-122"/>
              </a:rPr>
              <a:t>&lt;Trigger body&gt;</a:t>
            </a:r>
            <a:r>
              <a:rPr lang="en-US" altLang="zh-CN" dirty="0">
                <a:ea typeface="宋体" pitchFamily="2" charset="-122"/>
              </a:rPr>
              <a:t> specifies the actions will be taken if some conditions are satisfied.</a:t>
            </a:r>
          </a:p>
        </p:txBody>
      </p:sp>
    </p:spTree>
    <p:extLst>
      <p:ext uri="{BB962C8B-B14F-4D97-AF65-F5344CB8AC3E}">
        <p14:creationId xmlns:p14="http://schemas.microsoft.com/office/powerpoint/2010/main" val="313730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/>
          <a:lstStyle/>
          <a:p>
            <a:pPr marL="0" indent="0" defTabSz="914400">
              <a:spcBef>
                <a:spcPts val="250"/>
              </a:spcBef>
              <a:buClrTx/>
              <a:buNone/>
              <a:defRPr/>
            </a:pPr>
            <a:r>
              <a:rPr lang="en-US" altLang="zh-CN" dirty="0"/>
              <a:t>The body of a trigger can contains </a:t>
            </a:r>
          </a:p>
          <a:p>
            <a:pPr defTabSz="914400">
              <a:spcBef>
                <a:spcPts val="250"/>
              </a:spcBef>
              <a:buClrTx/>
              <a:defRPr/>
            </a:pPr>
            <a:r>
              <a:rPr lang="en-US" altLang="zh-CN" dirty="0">
                <a:solidFill>
                  <a:srgbClr val="FF0000"/>
                </a:solidFill>
              </a:rPr>
              <a:t>referencing variables</a:t>
            </a:r>
            <a:endParaRPr lang="en-US" altLang="zh-CN" dirty="0"/>
          </a:p>
          <a:p>
            <a:pPr lvl="1" defTabSz="914400">
              <a:spcBef>
                <a:spcPts val="250"/>
              </a:spcBef>
              <a:defRPr/>
            </a:pP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OLD.</a:t>
            </a:r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&lt;column name&gt;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refers to old rows for deletion or update events.</a:t>
            </a:r>
          </a:p>
          <a:p>
            <a:pPr lvl="1" defTabSz="914400">
              <a:spcBef>
                <a:spcPts val="250"/>
              </a:spcBef>
              <a:defRPr/>
            </a:pPr>
            <a:r>
              <a:rPr lang="en-US" altLang="zh-CN" b="1" dirty="0">
                <a:latin typeface="Consolas" panose="020B0609020204030204" pitchFamily="49" charset="0"/>
                <a:cs typeface="Calibri" panose="020F0502020204030204" pitchFamily="34" charset="0"/>
              </a:rPr>
              <a:t>NEW.</a:t>
            </a:r>
            <a:r>
              <a:rPr lang="en-US" altLang="zh-CN" dirty="0">
                <a:latin typeface="Consolas" panose="020B0609020204030204" pitchFamily="49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column name&gt;</a:t>
            </a:r>
            <a:r>
              <a:rPr lang="en-US" altLang="zh-CN" dirty="0"/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refers to new rows for insertion or update events.</a:t>
            </a:r>
          </a:p>
          <a:p>
            <a:pPr defTabSz="914400">
              <a:spcBef>
                <a:spcPts val="250"/>
              </a:spcBef>
              <a:defRPr/>
            </a:pPr>
            <a:r>
              <a:rPr lang="en-US" altLang="zh-CN" dirty="0">
                <a:solidFill>
                  <a:srgbClr val="FF0000"/>
                </a:solidFill>
              </a:rPr>
              <a:t>data modification statements</a:t>
            </a:r>
          </a:p>
          <a:p>
            <a:pPr lvl="1" defTabSz="914400">
              <a:spcBef>
                <a:spcPts val="250"/>
              </a:spcBef>
              <a:defRPr/>
            </a:pP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INSERT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DELETE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UPDATE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like other SQL statements</a:t>
            </a:r>
          </a:p>
          <a:p>
            <a:pPr defTabSz="914400">
              <a:spcBef>
                <a:spcPts val="250"/>
              </a:spcBef>
              <a:defRPr/>
            </a:pPr>
            <a:r>
              <a:rPr lang="en-US" altLang="zh-CN" dirty="0">
                <a:solidFill>
                  <a:srgbClr val="FF0000"/>
                </a:solidFill>
              </a:rPr>
              <a:t>Construct</a:t>
            </a:r>
          </a:p>
          <a:p>
            <a:pPr lvl="1" defTabSz="914400">
              <a:spcBef>
                <a:spcPts val="250"/>
              </a:spcBef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Quoted by </a:t>
            </a: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BEGIN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b="1" dirty="0">
                <a:latin typeface="Consolas" panose="020B0609020204030204" pitchFamily="49" charset="0"/>
                <a:cs typeface="Arial" panose="020B0604020202020204" pitchFamily="34" charset="0"/>
              </a:rPr>
              <a:t>END</a:t>
            </a:r>
          </a:p>
          <a:p>
            <a:pPr lvl="1" defTabSz="914400">
              <a:spcBef>
                <a:spcPts val="250"/>
              </a:spcBef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Details will be given later.</a:t>
            </a:r>
          </a:p>
        </p:txBody>
      </p:sp>
    </p:spTree>
    <p:extLst>
      <p:ext uri="{BB962C8B-B14F-4D97-AF65-F5344CB8AC3E}">
        <p14:creationId xmlns:p14="http://schemas.microsoft.com/office/powerpoint/2010/main" val="123881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with UIC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44192"/>
          </a:xfrm>
        </p:spPr>
        <p:txBody>
          <a:bodyPr>
            <a:normAutofit/>
          </a:bodyPr>
          <a:lstStyle/>
          <a:p>
            <a:pPr defTabSz="914400">
              <a:spcBef>
                <a:spcPts val="0"/>
              </a:spcBef>
              <a:buClrTx/>
              <a:defRPr/>
            </a:pPr>
            <a:r>
              <a:rPr lang="en-US" altLang="zh-CN" dirty="0"/>
              <a:t>Referential Integrity</a:t>
            </a: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endParaRPr lang="en-US" altLang="zh-CN" sz="800" dirty="0"/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i="1" dirty="0"/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ALTER TABLE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i="1" dirty="0">
                <a:latin typeface="Consolas" panose="020B0609020204030204" pitchFamily="49" charset="0"/>
              </a:rPr>
              <a:t>student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latin typeface="Consolas" panose="020B0609020204030204" pitchFamily="49" charset="0"/>
              </a:rPr>
              <a:t>ADD CONSTRAINT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i="1" dirty="0" err="1">
                <a:latin typeface="Consolas" panose="020B0609020204030204" pitchFamily="49" charset="0"/>
              </a:rPr>
              <a:t>student_program</a:t>
            </a:r>
            <a:endParaRPr lang="en-US" altLang="zh-CN" i="1" dirty="0">
              <a:latin typeface="Consolas" panose="020B06090202040302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FOREIGN KEY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i="1" dirty="0" err="1">
                <a:latin typeface="Consolas" panose="020B0609020204030204" pitchFamily="49" charset="0"/>
              </a:rPr>
              <a:t>p_code</a:t>
            </a:r>
            <a:r>
              <a:rPr lang="en-US" altLang="zh-CN" i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latin typeface="Consolas" panose="020B0609020204030204" pitchFamily="49" charset="0"/>
              </a:rPr>
              <a:t>REFERENCES </a:t>
            </a:r>
            <a:r>
              <a:rPr lang="en-US" altLang="zh-CN" i="1" dirty="0">
                <a:latin typeface="Consolas" panose="020B0609020204030204" pitchFamily="49" charset="0"/>
              </a:rPr>
              <a:t>program(</a:t>
            </a:r>
            <a:r>
              <a:rPr lang="en-US" altLang="zh-CN" i="1" dirty="0" err="1">
                <a:latin typeface="Consolas" panose="020B0609020204030204" pitchFamily="49" charset="0"/>
              </a:rPr>
              <a:t>p_code</a:t>
            </a:r>
            <a:r>
              <a:rPr lang="en-US" altLang="zh-CN" i="1" dirty="0">
                <a:latin typeface="Consolas" panose="020B0609020204030204" pitchFamily="49" charset="0"/>
              </a:rPr>
              <a:t>)</a:t>
            </a:r>
            <a:r>
              <a:rPr lang="zh-CN" altLang="en-US" i="1" dirty="0">
                <a:latin typeface="Consolas" panose="020B0609020204030204" pitchFamily="49" charset="0"/>
              </a:rPr>
              <a:t> </a:t>
            </a:r>
            <a:endParaRPr lang="en-US" altLang="zh-CN" i="1" dirty="0">
              <a:latin typeface="Consolas" panose="020B06090202040302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i="1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ON DELETE CASECADE</a:t>
            </a: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endParaRPr lang="en-US" altLang="zh-CN" dirty="0"/>
          </a:p>
          <a:p>
            <a:pPr defTabSz="914400">
              <a:spcBef>
                <a:spcPts val="0"/>
              </a:spcBef>
              <a:buClrTx/>
              <a:defRPr/>
            </a:pPr>
            <a:r>
              <a:rPr lang="en-US" altLang="zh-CN" dirty="0"/>
              <a:t>which can be implemented using a trigger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lang="en-US" altLang="zh-CN" sz="800" dirty="0"/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CREATE TRIGGER </a:t>
            </a:r>
            <a:r>
              <a:rPr lang="en-US" altLang="zh-CN" i="1" dirty="0" err="1">
                <a:latin typeface="Consolas" panose="020B0609020204030204" pitchFamily="49" charset="0"/>
              </a:rPr>
              <a:t>delete_program_student</a:t>
            </a:r>
            <a:endParaRPr lang="en-US" altLang="zh-CN" i="1" dirty="0">
              <a:latin typeface="Consolas" panose="020B06090202040302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AFTER DELETE ON </a:t>
            </a:r>
            <a:r>
              <a:rPr lang="en-US" altLang="zh-CN" i="1" dirty="0">
                <a:latin typeface="Consolas" panose="020B0609020204030204" pitchFamily="49" charset="0"/>
              </a:rPr>
              <a:t>program</a:t>
            </a: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FOR EACH ROW</a:t>
            </a: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b="1" dirty="0">
                <a:latin typeface="Consolas" panose="020B0609020204030204" pitchFamily="49" charset="0"/>
              </a:rPr>
              <a:t>DELETE FROM </a:t>
            </a:r>
            <a:r>
              <a:rPr lang="en-US" altLang="zh-CN" i="1" dirty="0">
                <a:latin typeface="Consolas" panose="020B0609020204030204" pitchFamily="49" charset="0"/>
              </a:rPr>
              <a:t>student </a:t>
            </a:r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r>
              <a:rPr lang="en-US" altLang="zh-CN" i="1" dirty="0">
                <a:latin typeface="Consolas" panose="020B0609020204030204" pitchFamily="49" charset="0"/>
              </a:rPr>
              <a:t>		</a:t>
            </a:r>
            <a:r>
              <a:rPr lang="en-US" altLang="zh-CN" b="1" dirty="0">
                <a:latin typeface="Consolas" panose="020B0609020204030204" pitchFamily="49" charset="0"/>
              </a:rPr>
              <a:t>WHERE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i="1" dirty="0" err="1">
                <a:latin typeface="Consolas" panose="020B0609020204030204" pitchFamily="49" charset="0"/>
              </a:rPr>
              <a:t>student.p_code</a:t>
            </a:r>
            <a:r>
              <a:rPr lang="en-US" altLang="zh-CN" i="1" dirty="0">
                <a:latin typeface="Consolas" panose="020B0609020204030204" pitchFamily="49" charset="0"/>
              </a:rPr>
              <a:t> = </a:t>
            </a:r>
            <a:r>
              <a:rPr lang="en-US" altLang="zh-CN" i="1" dirty="0" err="1">
                <a:latin typeface="Consolas" panose="020B0609020204030204" pitchFamily="49" charset="0"/>
              </a:rPr>
              <a:t>old.p_code</a:t>
            </a:r>
            <a:endParaRPr lang="en-US" altLang="zh-CN" b="1" dirty="0"/>
          </a:p>
          <a:p>
            <a:pPr marL="0" indent="0" defTabSz="914400">
              <a:spcBef>
                <a:spcPts val="0"/>
              </a:spcBef>
              <a:buClrTx/>
              <a:buNone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911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BFA7-5BB9-BF93-594A-7E896E86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A66B-067C-B7C0-E405-C7A57E630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302922"/>
          </a:xfrm>
        </p:spPr>
        <p:txBody>
          <a:bodyPr>
            <a:normAutofit/>
          </a:bodyPr>
          <a:lstStyle/>
          <a:p>
            <a:r>
              <a:rPr lang="en-US" dirty="0"/>
              <a:t>Some </a:t>
            </a:r>
            <a:r>
              <a:rPr lang="en-US" altLang="zh-CN" dirty="0"/>
              <a:t>complicated constraints on multiple tables have to use </a:t>
            </a:r>
            <a:r>
              <a:rPr lang="en-US" altLang="zh-CN" b="1" dirty="0">
                <a:latin typeface="Consolas" panose="020B0609020204030204" pitchFamily="49" charset="0"/>
              </a:rPr>
              <a:t>BEGIN…END</a:t>
            </a:r>
            <a:r>
              <a:rPr lang="en-US" altLang="zh-CN" dirty="0"/>
              <a:t> construct.</a:t>
            </a:r>
          </a:p>
          <a:p>
            <a:r>
              <a:rPr lang="en-US" altLang="zh-CN" dirty="0"/>
              <a:t>Each statement in the construct must be ended with “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r>
              <a:rPr lang="en-US" altLang="zh-CN" dirty="0"/>
              <a:t>”</a:t>
            </a:r>
          </a:p>
          <a:p>
            <a:r>
              <a:rPr lang="en-US" dirty="0"/>
              <a:t>Which creates a </a:t>
            </a:r>
            <a:r>
              <a:rPr lang="en-US" altLang="zh-CN" dirty="0"/>
              <a:t>conflict to the delimiter of an SQL query.</a:t>
            </a:r>
          </a:p>
          <a:p>
            <a:r>
              <a:rPr lang="en-US" dirty="0"/>
              <a:t>Thus, </a:t>
            </a:r>
            <a:r>
              <a:rPr lang="en-US" b="1" dirty="0">
                <a:latin typeface="Consolas" panose="020B0609020204030204" pitchFamily="49" charset="0"/>
              </a:rPr>
              <a:t>DELIMITER</a:t>
            </a:r>
            <a:r>
              <a:rPr lang="en-US" dirty="0"/>
              <a:t> is used to change the delimiter before and after a trigger in SQL.</a:t>
            </a:r>
          </a:p>
          <a:p>
            <a:r>
              <a:rPr lang="en-US" dirty="0"/>
              <a:t>For example, we change the delimiter from “</a:t>
            </a:r>
            <a:r>
              <a:rPr lang="en-US" dirty="0">
                <a:latin typeface="Consolas" panose="020B0609020204030204" pitchFamily="49" charset="0"/>
              </a:rPr>
              <a:t>;</a:t>
            </a:r>
            <a:r>
              <a:rPr lang="en-US" dirty="0"/>
              <a:t>” to “</a:t>
            </a:r>
            <a:r>
              <a:rPr lang="en-US" dirty="0">
                <a:latin typeface="Consolas" panose="020B0609020204030204" pitchFamily="49" charset="0"/>
              </a:rPr>
              <a:t>|</a:t>
            </a:r>
            <a:r>
              <a:rPr lang="en-US" dirty="0"/>
              <a:t>”.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b="1" dirty="0">
                <a:latin typeface="Consolas" panose="020B0609020204030204" pitchFamily="49" charset="0"/>
              </a:rPr>
              <a:t>DELIMITER</a:t>
            </a:r>
            <a:r>
              <a:rPr lang="en-US" dirty="0">
                <a:latin typeface="Consolas" panose="020B0609020204030204" pitchFamily="49" charset="0"/>
              </a:rPr>
              <a:t>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&lt;trigger&gt; |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en-US" b="1" dirty="0">
                <a:latin typeface="Consolas" panose="020B0609020204030204" pitchFamily="49" charset="0"/>
              </a:rPr>
              <a:t>DELIMITER</a:t>
            </a:r>
            <a:r>
              <a:rPr lang="en-US" dirty="0">
                <a:latin typeface="Consolas" panose="020B0609020204030204" pitchFamily="49" charset="0"/>
              </a:rPr>
              <a:t> 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848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86F4-941A-DB90-3C10-BE39D130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D05A8-7591-7E5E-7E28-2F119D5A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9410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want to make sure that every CST student has a GPA at least 1.0 </a:t>
            </a:r>
          </a:p>
          <a:p>
            <a:r>
              <a:rPr lang="en-US" dirty="0"/>
              <a:t>A conditional statement can be used.</a:t>
            </a:r>
          </a:p>
          <a:p>
            <a:r>
              <a:rPr lang="en-US" dirty="0"/>
              <a:t>The entire trigger is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DELIMITER |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CREATE TRIGGER </a:t>
            </a:r>
            <a:r>
              <a:rPr lang="en-US" sz="1800" dirty="0" err="1">
                <a:latin typeface="Consolas" panose="020B0609020204030204" pitchFamily="49" charset="0"/>
              </a:rPr>
              <a:t>cst_student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</a:t>
            </a:r>
            <a:r>
              <a:rPr lang="en-US" altLang="zh-CN" sz="1800" b="1" dirty="0">
                <a:latin typeface="Consolas" panose="020B0609020204030204" pitchFamily="49" charset="0"/>
              </a:rPr>
              <a:t>AFTER</a:t>
            </a:r>
            <a:r>
              <a:rPr lang="en-US" sz="1800" b="1" dirty="0">
                <a:latin typeface="Consolas" panose="020B0609020204030204" pitchFamily="49" charset="0"/>
              </a:rPr>
              <a:t> INSERT ON </a:t>
            </a:r>
            <a:r>
              <a:rPr lang="en-US" sz="1800" dirty="0">
                <a:latin typeface="Consolas" panose="020B0609020204030204" pitchFamily="49" charset="0"/>
              </a:rPr>
              <a:t>student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FOR EACH ROW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BEGIN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	IF </a:t>
            </a:r>
            <a:r>
              <a:rPr lang="en-US" sz="1800" dirty="0" err="1">
                <a:latin typeface="Consolas" panose="020B0609020204030204" pitchFamily="49" charset="0"/>
              </a:rPr>
              <a:t>new.gpa</a:t>
            </a:r>
            <a:r>
              <a:rPr lang="en-US" sz="1800" dirty="0">
                <a:latin typeface="Consolas" panose="020B0609020204030204" pitchFamily="49" charset="0"/>
              </a:rPr>
              <a:t>&lt;1.0 </a:t>
            </a:r>
            <a:r>
              <a:rPr lang="en-US" sz="1800" b="1" dirty="0">
                <a:latin typeface="Consolas" panose="020B0609020204030204" pitchFamily="49" charset="0"/>
              </a:rPr>
              <a:t>AND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new.p_code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IN</a:t>
            </a:r>
            <a:r>
              <a:rPr lang="en-US" sz="1800" dirty="0"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</a:t>
            </a:r>
            <a:r>
              <a:rPr lang="en-US" sz="1800" b="1" dirty="0">
                <a:latin typeface="Consolas" panose="020B0609020204030204" pitchFamily="49" charset="0"/>
              </a:rPr>
              <a:t>SELECT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p_code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</a:rPr>
              <a:t>FROM</a:t>
            </a:r>
            <a:r>
              <a:rPr lang="en-US" sz="1800" dirty="0">
                <a:latin typeface="Consolas" panose="020B0609020204030204" pitchFamily="49" charset="0"/>
              </a:rPr>
              <a:t> program </a:t>
            </a:r>
            <a:r>
              <a:rPr lang="en-US" sz="1800" b="1" dirty="0">
                <a:latin typeface="Consolas" panose="020B0609020204030204" pitchFamily="49" charset="0"/>
              </a:rPr>
              <a:t>WHERE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p_name</a:t>
            </a:r>
            <a:r>
              <a:rPr lang="en-US" sz="1800" dirty="0">
                <a:latin typeface="Consolas" panose="020B0609020204030204" pitchFamily="49" charset="0"/>
              </a:rPr>
              <a:t> = 'Computer Science'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) </a:t>
            </a:r>
            <a:r>
              <a:rPr lang="en-US" sz="1800" b="1" dirty="0">
                <a:latin typeface="Consolas" panose="020B0609020204030204" pitchFamily="49" charset="0"/>
              </a:rPr>
              <a:t>THEN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		</a:t>
            </a:r>
            <a:r>
              <a:rPr lang="en-US" sz="1800" dirty="0">
                <a:latin typeface="Consolas" panose="020B0609020204030204" pitchFamily="49" charset="0"/>
              </a:rPr>
              <a:t>DELETE FROM student WHERE student.id = new.id;</a:t>
            </a:r>
            <a:endParaRPr lang="en-US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	END IF;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END;|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	DELIMITER 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8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4B0C-660E-2896-1A17-8F38B080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6473-6236-04DC-D44D-873E8C899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816706"/>
          </a:xfrm>
        </p:spPr>
        <p:txBody>
          <a:bodyPr>
            <a:normAutofit/>
          </a:bodyPr>
          <a:lstStyle/>
          <a:p>
            <a:r>
              <a:rPr lang="en-US" sz="2400" dirty="0"/>
              <a:t>Create trigger(s) to make sure each person has to be either an instructor or a student but not both. (Total and disjoint generalization in the ER diagram.)</a:t>
            </a:r>
          </a:p>
          <a:p>
            <a:r>
              <a:rPr lang="en-US" sz="2400" dirty="0"/>
              <a:t>Also create trigger(s) to make sure each person </a:t>
            </a:r>
            <a:r>
              <a:rPr lang="en-US" sz="2400"/>
              <a:t>in </a:t>
            </a:r>
            <a:r>
              <a:rPr lang="en-US" sz="2400" i="1"/>
              <a:t>borrow</a:t>
            </a:r>
            <a:r>
              <a:rPr lang="en-US" sz="2400"/>
              <a:t> </a:t>
            </a:r>
            <a:r>
              <a:rPr lang="en-US" sz="2400" dirty="0"/>
              <a:t>and </a:t>
            </a:r>
            <a:r>
              <a:rPr lang="en-US" sz="2400" i="1" dirty="0"/>
              <a:t>contact </a:t>
            </a:r>
            <a:r>
              <a:rPr lang="en-US" sz="2400" dirty="0"/>
              <a:t>already exists in either </a:t>
            </a:r>
            <a:r>
              <a:rPr lang="en-US" sz="2400" i="1" dirty="0"/>
              <a:t>instructor </a:t>
            </a:r>
            <a:r>
              <a:rPr lang="en-US" sz="2400" dirty="0"/>
              <a:t>or </a:t>
            </a:r>
            <a:r>
              <a:rPr lang="en-US" sz="2400" i="1" dirty="0"/>
              <a:t>student </a:t>
            </a:r>
            <a:r>
              <a:rPr lang="en-US" sz="2400" dirty="0"/>
              <a:t>but not both.</a:t>
            </a:r>
          </a:p>
          <a:p>
            <a:r>
              <a:rPr lang="en-US" altLang="zh-CN" sz="2400" dirty="0"/>
              <a:t>A student gains the credits from a course if he/she receives passing grade (not ‘F’) from the course. A student graduates from the college if he/she obtains 130 credits. Create trigger(s) to on </a:t>
            </a:r>
            <a:r>
              <a:rPr lang="en-US" altLang="zh-CN" sz="2400" i="1" dirty="0"/>
              <a:t>enroll</a:t>
            </a:r>
            <a:r>
              <a:rPr lang="en-US" altLang="zh-CN" sz="2400" dirty="0"/>
              <a:t> to detect the graduates and remove those graduates from the database.</a:t>
            </a: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Save your queries in a txt file. Rename it as “COMP3013 Lab12 ###.txt”, where “###” is your student ID. And submit it on iSpace. The DDL is 24 hours after the lab.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3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40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CD73-9BC5-367A-588A-222F950B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Lab 11</a:t>
            </a:r>
          </a:p>
        </p:txBody>
      </p:sp>
    </p:spTree>
    <p:extLst>
      <p:ext uri="{BB962C8B-B14F-4D97-AF65-F5344CB8AC3E}">
        <p14:creationId xmlns:p14="http://schemas.microsoft.com/office/powerpoint/2010/main" val="2905926351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DBMS latex</Template>
  <TotalTime>3264</TotalTime>
  <Words>563</Words>
  <Application>Microsoft Office PowerPoint</Application>
  <PresentationFormat>宽屏</PresentationFormat>
  <Paragraphs>105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Adobe Heiti Std R</vt:lpstr>
      <vt:lpstr>Hiragino Sans GB W3</vt:lpstr>
      <vt:lpstr>Monotype Sorts</vt:lpstr>
      <vt:lpstr>等线</vt:lpstr>
      <vt:lpstr>宋体</vt:lpstr>
      <vt:lpstr>Microsoft YaHei</vt:lpstr>
      <vt:lpstr>Arial</vt:lpstr>
      <vt:lpstr>Calibri</vt:lpstr>
      <vt:lpstr>Consolas</vt:lpstr>
      <vt:lpstr>DBMS latex</vt:lpstr>
      <vt:lpstr>Lab 12 Advanced SQL 2</vt:lpstr>
      <vt:lpstr>Outline</vt:lpstr>
      <vt:lpstr>Triggers – Event, Condition and Action</vt:lpstr>
      <vt:lpstr>Triggers – Event, Condition and Action</vt:lpstr>
      <vt:lpstr>Syntax</vt:lpstr>
      <vt:lpstr>Syntax</vt:lpstr>
      <vt:lpstr>Example with UIC Database</vt:lpstr>
      <vt:lpstr>Construct</vt:lpstr>
      <vt:lpstr>Conditional Statement</vt:lpstr>
      <vt:lpstr>Exercises</vt:lpstr>
      <vt:lpstr>End of Lab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Goliath Li</cp:lastModifiedBy>
  <cp:revision>127</cp:revision>
  <dcterms:created xsi:type="dcterms:W3CDTF">2022-06-15T04:17:56Z</dcterms:created>
  <dcterms:modified xsi:type="dcterms:W3CDTF">2024-12-04T04:39:21Z</dcterms:modified>
</cp:coreProperties>
</file>