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7"/>
  </p:notesMasterIdLst>
  <p:sldIdLst>
    <p:sldId id="282" r:id="rId3"/>
    <p:sldId id="549" r:id="rId4"/>
    <p:sldId id="599" r:id="rId5"/>
    <p:sldId id="550" r:id="rId6"/>
    <p:sldId id="600" r:id="rId7"/>
    <p:sldId id="551" r:id="rId8"/>
    <p:sldId id="601" r:id="rId9"/>
    <p:sldId id="267" r:id="rId10"/>
    <p:sldId id="292" r:id="rId11"/>
    <p:sldId id="293" r:id="rId12"/>
    <p:sldId id="294" r:id="rId13"/>
    <p:sldId id="295" r:id="rId14"/>
    <p:sldId id="298" r:id="rId15"/>
    <p:sldId id="296" r:id="rId16"/>
    <p:sldId id="297" r:id="rId17"/>
    <p:sldId id="291" r:id="rId18"/>
    <p:sldId id="592" r:id="rId19"/>
    <p:sldId id="593" r:id="rId20"/>
    <p:sldId id="594" r:id="rId21"/>
    <p:sldId id="596" r:id="rId22"/>
    <p:sldId id="595" r:id="rId23"/>
    <p:sldId id="597" r:id="rId24"/>
    <p:sldId id="598" r:id="rId25"/>
    <p:sldId id="591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98" autoAdjust="0"/>
    <p:restoredTop sz="84129"/>
  </p:normalViewPr>
  <p:slideViewPr>
    <p:cSldViewPr snapToGrid="0">
      <p:cViewPr varScale="1">
        <p:scale>
          <a:sx n="88" d="100"/>
          <a:sy n="88" d="100"/>
        </p:scale>
        <p:origin x="10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383C3-0FFB-324B-9EB8-68200984B79E}" type="datetimeFigureOut">
              <a:rPr kumimoji="1" lang="zh-CN" altLang="en-US" smtClean="0"/>
              <a:t>2024/9/9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45609-95CC-A346-AD47-1583699E45C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0588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1BB5A-74BB-4109-B5C9-9A66FAF1EB8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918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1BB5A-74BB-4109-B5C9-9A66FAF1EB8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780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48A2E9-E2B3-B855-04D7-9E4FED45C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2A5BA8E-8DB4-F184-5EFA-A684AF006A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78750F-3414-51CC-7043-A4EEC5608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94E8-B070-41C6-963B-A568A29C1BB8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D27B01-D6E0-ED29-A05C-0D8A16F14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74F8B7-0C49-C434-4970-86C3945CF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611C4-7F51-4EE3-8869-7336A7DF7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082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DBEB04-A1EB-9682-C43B-C861B04E8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C4BA57-64B4-C2F1-5766-8A7FFDEBC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3B7C54-2267-B637-0E92-207716BA1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94E8-B070-41C6-963B-A568A29C1BB8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A38D87-96C4-5E9A-9611-E192D1096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900F9E-1B85-E418-57E5-7AAF714E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611C4-7F51-4EE3-8869-7336A7DF7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437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1B3B45-0B30-BFBB-C112-0854F8C2A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4C0EC9-5501-1CF8-CE49-4A1E2A523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EAE5D2-E053-14B8-85E3-23EBEFF7B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94E8-B070-41C6-963B-A568A29C1BB8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54382D-4FDC-D627-6B22-BB4830D40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826FC6-0F6E-4BCB-1529-446C49368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611C4-7F51-4EE3-8869-7336A7DF7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883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60E776-F1C3-A206-6BB8-ECF0B7C30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7FC1A2-C91A-F9AB-6806-B4A3C44E60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D7BD1E-2E5B-5B65-90EE-B3D9B9DB4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26A268-6C0A-D68E-D624-D8D264F8C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94E8-B070-41C6-963B-A568A29C1BB8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037D56-6CDE-0903-ACAC-DD274257E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A9EE35-791B-367F-09C6-D914BDBB3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611C4-7F51-4EE3-8869-7336A7DF7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563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257CE1-D4C0-BDC4-A14C-E879327F4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E2DDA7-5B87-8772-32B5-67628DC05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829961-3478-C868-C729-98F829571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E974FD-8C8C-38B3-4EBF-38E9351A70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3A628E4-9750-A238-5CEC-36F5F0189B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F121AED-BFDE-078B-830E-FE16292F0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94E8-B070-41C6-963B-A568A29C1BB8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FC85E8A-E407-100B-99F3-52ABE2C2B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A95B42F-0830-F502-B5F2-658A4E583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611C4-7F51-4EE3-8869-7336A7DF7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926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73F4B9-3FE0-7261-39A3-5F9FBFF27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8D462A3-7616-9B19-59B5-3DDFE2412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94E8-B070-41C6-963B-A568A29C1BB8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CDCE52-1D74-B8A8-840F-2209B757E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AFD5106-AE87-0D1A-486F-3A98AC446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611C4-7F51-4EE3-8869-7336A7DF7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633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46F6A5E-9B8B-549E-C0DA-6487A4BC6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94E8-B070-41C6-963B-A568A29C1BB8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1D0BD1-FBF6-ED38-278E-7885EA0F8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CC850C-BF86-59DD-B87E-A43F68B50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611C4-7F51-4EE3-8869-7336A7DF7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238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0264E4-7F5C-FCCB-2B2A-90CBEE024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4A407D-89B8-4D54-F457-FCF03DA6F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ADB15F-36C9-2EC5-0670-8E16F58885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5A8CAB-B693-CD53-AFFD-38F96578A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94E8-B070-41C6-963B-A568A29C1BB8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14F956-014A-574E-A852-E267F85B5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7F11C2-8BFE-F500-B4FB-08A4A2F6A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611C4-7F51-4EE3-8869-7336A7DF7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979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374E94-BA9D-79FD-A415-6FB40DCE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54A436E-7C35-C0EA-0591-1FD76C7D0D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5D0366-3C93-750C-BFC3-E38F69EC8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40A36D-873A-FAB7-72E5-2355A0A52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94E8-B070-41C6-963B-A568A29C1BB8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490F98-3A55-BCC2-F975-83E5F6F8C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320FD2-DE59-516A-3FE2-9B738379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611C4-7F51-4EE3-8869-7336A7DF7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563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00C2BB-54E0-5DCC-B7D9-E69D77300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715029-7613-2F80-74A4-FC912E24F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C13E00-6BCB-9DE1-017F-0E5405F7F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94E8-B070-41C6-963B-A568A29C1BB8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8604F6-BE08-3261-6177-466053D57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A60BA8-7543-52B0-4E37-A1BA31E8B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611C4-7F51-4EE3-8869-7336A7DF7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80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E5E015F-440C-C4E6-BF0F-CF541EEBE5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A0C566-D9DE-F2A8-135B-9D1C4717CB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C570DB-A516-FA3C-2497-5987F23C7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94E8-B070-41C6-963B-A568A29C1BB8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B29A11-8EFD-F047-A112-03FEDEBEC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E69931-DC50-FD68-2814-347DD842D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611C4-7F51-4EE3-8869-7336A7DF7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152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EFF11A6-A4E9-FC40-BA49-5AB35E591369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4E12615-0D3B-D24B-BE3C-E10640151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109224B-0794-E08D-6281-2C77DC2F62F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412078"/>
            <a:ext cx="10515600" cy="3260846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tabLst/>
              <a:defRPr/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74255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2E098-E2CC-D3F2-4819-EE4F28329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B8820-5CC6-4B20-ED6C-FB226D8A7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85C1A-A182-5EF0-18B4-4E531F009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2453E-FB50-13FB-67E8-FFBDB3317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82973-6CA3-85F4-38CD-6B4A40F8D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4479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085B6-B83D-3E72-CE65-8BDD9EE69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2DD6C-1CE9-7A64-4701-7209EE37B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3F004-91DE-7F82-6A95-2EB3EEEAD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528C9-E4D0-CDC8-925C-842664A1B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F5F1F-9332-DC90-7B53-67F6E4206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193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8FE0D-3536-A239-0510-F9336598D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B6B44-1063-2BE0-A315-16F040A3B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B4B5F-C681-3B8F-BCE6-3029E0DF1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59DBA-4BE1-5BAB-C8E8-9D6F0C28C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A09BD-7942-C36A-5798-720E5BB3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15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8E2C4-B449-2660-FD71-5A0C72213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61E77-462D-BB97-2B2B-FA7B3B0974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D812B-05CE-3BBE-7C27-9629930D4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7692EE-C325-F4C5-A4C0-155C3522D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424AA-455C-6146-2496-126B94507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A1D09-4AB3-BFC6-BBA5-F9674F16C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647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0C566-A693-845C-A3BE-AD03A6DC1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CFF30-8C3E-D9F8-DE24-D368AF154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7EAAD0-7FF9-0DE0-10EA-C5843C267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D29F9A-D3D4-1085-BF52-C20DD80A0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6918F0-512D-47BD-5B7D-A6BA8B11FC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EC8024-9CA5-87C6-EAFE-31798A702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6906B4-6561-4833-2BEB-13E43E466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EBF590-A1D2-73B2-E66D-12A4DA5A8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0533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37005-E121-DF5D-B211-27487D844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28CFD4-C6DD-30ED-B6DA-53E978AFA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B37395-0D3A-A6D5-F33F-ECD707236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D6056-478F-840E-980B-834683ADC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6640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664A3F-69FD-F468-9623-8E554B700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BC8247-11DB-C7E8-9A72-79EDDCD9E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55725-B991-53A8-1252-4B0487AD6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6178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F620B-D2BF-D00A-C868-CD5BFCB59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DCFC7-AEDE-87D5-E224-05520BC10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37760-7B3A-8289-79A7-45D0F8C94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8C5B1-E924-C989-60C9-C42D2104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9233B-CF3F-F7D8-3A0B-01CE85D60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1020BE-ED20-8F83-B8F1-E9E1E45FE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3523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5E204-07A3-7579-A17F-52CB514AE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316569-FD8A-3703-35ED-096F4D4BDE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465A8-2845-5AC8-88BD-38EB879996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4DDEC-4422-C755-C919-88301C396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BF0AE-742B-8598-A4FB-62A46A784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9C16AD-7FEE-2D36-D9D9-1086A99C4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6230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B4DD2-FA16-51ED-A799-E209CB306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5D6D6-05B7-D648-CD56-954793886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8D246-82DD-9FE6-9809-89FEB8F66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C4B82-04F5-8D28-C42E-BA95837A7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DBD9B-0885-A438-220D-BA61EC568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44003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38F99A-6F19-2323-8DC7-F945840119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7B8160-7C94-C612-801A-28C1433B9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7F14C-2027-3CF4-FFE1-1DCBB86CE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CFDC-4925-4606-A3D2-5679A7E6AF8B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73B8B-7796-64BB-54B3-2B659AE41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0FEA8-287F-D6F2-3C8E-A3F9F458B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4708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33FA9A1-7B88-294E-B1D1-5AC0DD001314}"/>
              </a:ext>
            </a:extLst>
          </p:cNvPr>
          <p:cNvSpPr/>
          <p:nvPr/>
        </p:nvSpPr>
        <p:spPr>
          <a:xfrm>
            <a:off x="0" y="30480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43DFE20-DAD3-A14C-8B77-1D0ACFFC1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2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B6537B7-9F77-B545-841A-0E1FA407E2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00201"/>
            <a:ext cx="10515600" cy="3138055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7404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2B53DD9-0D71-6F10-7D07-16FFC495C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EEE59A-AD8E-9011-604E-E7269F94D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2625DE-8614-CD54-1E53-D3CF83C457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094E8-B070-41C6-963B-A568A29C1BB8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1EA2C5-6799-5625-06AF-C6F4F392CA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988C29-531C-3976-B522-E17663932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C611C4-7F51-4EE3-8869-7336A7DF7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098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B4B982-76D9-F8D6-B291-2A5B0C94F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70C93-2A23-6DD0-86FF-5FE8D8C91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24A7D-D4B6-47C6-1CC2-E7E5DAC86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ACFDC-4925-4606-A3D2-5679A7E6AF8B}" type="datetimeFigureOut">
              <a:rPr lang="zh-CN" altLang="en-US" smtClean="0"/>
              <a:t>2024/9/9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3D56F-6F69-B832-22ED-AC548E5CD4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342C4-F64D-1FC8-6EA6-1CED3B2368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C6418-61F3-45C4-BB07-544BFEBBE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579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8F26129-D88B-57C2-DC33-C59C6BD918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Lecture 07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F022F863-CDCA-C3F6-6328-2A8956A0A8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exercise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5268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DF12B-B820-AB8E-3C6E-ADB06A16F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09383-7EB6-DCC0-BE2F-819174599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600200"/>
            <a:ext cx="7886700" cy="460142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Construct an ER diagram for a </a:t>
            </a:r>
            <a:r>
              <a:rPr lang="en-US" dirty="0">
                <a:solidFill>
                  <a:srgbClr val="FF0000"/>
                </a:solidFill>
              </a:rPr>
              <a:t>car-insurance company</a:t>
            </a:r>
            <a:r>
              <a:rPr lang="en-US" dirty="0"/>
              <a:t>. The model includes</a:t>
            </a:r>
          </a:p>
          <a:p>
            <a:pPr lvl="1"/>
            <a:r>
              <a:rPr lang="en-US" dirty="0"/>
              <a:t>each customer is described by a unique id, a name, and an address;</a:t>
            </a:r>
          </a:p>
          <a:p>
            <a:pPr lvl="1"/>
            <a:r>
              <a:rPr lang="en-US" dirty="0"/>
              <a:t>each car is described by a unique </a:t>
            </a:r>
            <a:r>
              <a:rPr lang="en-US" altLang="zh-CN" dirty="0"/>
              <a:t>vehicle identification number, the manufacturer, and the year of production;</a:t>
            </a:r>
          </a:p>
          <a:p>
            <a:pPr lvl="1"/>
            <a:r>
              <a:rPr lang="en-US" dirty="0"/>
              <a:t>each </a:t>
            </a:r>
            <a:r>
              <a:rPr lang="en-US" altLang="zh-CN" dirty="0"/>
              <a:t>accident is described by a unique report number, the date and the location when the accident happens; </a:t>
            </a:r>
            <a:endParaRPr lang="en-US" dirty="0"/>
          </a:p>
          <a:p>
            <a:pPr lvl="1"/>
            <a:r>
              <a:rPr lang="en-US" dirty="0"/>
              <a:t>each customer owns one or more cars;</a:t>
            </a:r>
          </a:p>
          <a:p>
            <a:pPr lvl="1"/>
            <a:r>
              <a:rPr lang="en-US" dirty="0"/>
              <a:t>every car is owned by at exactly one customer;</a:t>
            </a:r>
          </a:p>
          <a:p>
            <a:pPr lvl="1"/>
            <a:r>
              <a:rPr lang="en-US" dirty="0"/>
              <a:t>each accident is only </a:t>
            </a:r>
            <a:r>
              <a:rPr lang="en-US" altLang="zh-CN" dirty="0"/>
              <a:t>responsible to the owner of the car, no matter who drives;</a:t>
            </a:r>
          </a:p>
          <a:p>
            <a:pPr lvl="1"/>
            <a:r>
              <a:rPr lang="en-US" dirty="0"/>
              <a:t>it is possible that multiple cars involve in a same accident and the amount of </a:t>
            </a:r>
            <a:r>
              <a:rPr lang="en-US" altLang="zh-CN" dirty="0"/>
              <a:t>insurance claim for different cars are different.</a:t>
            </a:r>
            <a:endParaRPr lang="en-US" dirty="0"/>
          </a:p>
          <a:p>
            <a:r>
              <a:rPr lang="en-US" dirty="0"/>
              <a:t>List all assumptions that you make.</a:t>
            </a:r>
          </a:p>
          <a:p>
            <a:r>
              <a:rPr lang="en-US" dirty="0"/>
              <a:t>And convert your ER diagram to a logical design.</a:t>
            </a:r>
          </a:p>
        </p:txBody>
      </p:sp>
      <p:sp>
        <p:nvSpPr>
          <p:cNvPr id="4" name="矩形 12">
            <a:extLst>
              <a:ext uri="{FF2B5EF4-FFF2-40B4-BE49-F238E27FC236}">
                <a16:creationId xmlns:a16="http://schemas.microsoft.com/office/drawing/2014/main" id="{0F11CDB5-E9B7-3566-91F4-DD729DCDD910}"/>
              </a:ext>
            </a:extLst>
          </p:cNvPr>
          <p:cNvSpPr/>
          <p:nvPr/>
        </p:nvSpPr>
        <p:spPr>
          <a:xfrm>
            <a:off x="1524000" y="1"/>
            <a:ext cx="914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107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7F8B306-52C8-BF55-530F-EFB29E0CBBCE}"/>
              </a:ext>
            </a:extLst>
          </p:cNvPr>
          <p:cNvSpPr txBox="1"/>
          <p:nvPr/>
        </p:nvSpPr>
        <p:spPr>
          <a:xfrm>
            <a:off x="485774" y="294412"/>
            <a:ext cx="112490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Assumptions</a:t>
            </a:r>
          </a:p>
          <a:p>
            <a:r>
              <a:rPr lang="en-US" altLang="zh-CN" dirty="0"/>
              <a:t>•	The insurance company is not interested in those persons who are not customers, even they are hit by a car in an accident.</a:t>
            </a:r>
          </a:p>
          <a:p>
            <a:r>
              <a:rPr lang="en-US" altLang="zh-CN" dirty="0"/>
              <a:t>•	Every accident is associated with at least one driver and one car.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2EDA9BD-B098-19D8-1415-B405C3BB1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079" y="1851546"/>
            <a:ext cx="4637848" cy="32062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37D0C22-2DEA-6A36-1CB2-D85A35DCA1CE}"/>
                  </a:ext>
                </a:extLst>
              </p:cNvPr>
              <p:cNvSpPr txBox="1"/>
              <p:nvPr/>
            </p:nvSpPr>
            <p:spPr>
              <a:xfrm>
                <a:off x="7096125" y="4483466"/>
                <a:ext cx="6096000" cy="18153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zh-CN" sz="18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Arial" panose="020B0604020202020204" pitchFamily="34" charset="0"/>
                  </a:rPr>
                  <a:t>Schema:</a:t>
                </a: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Arial" panose="020B0604020202020204" pitchFamily="34" charset="0"/>
                </a:endParaRPr>
              </a:p>
              <a:p>
                <a:pPr marL="342900" lvl="0" indent="-342900" algn="just">
                  <a:lnSpc>
                    <a:spcPct val="107000"/>
                  </a:lnSpc>
                  <a:buFont typeface="Times New Roman" panose="02020603050405020304" pitchFamily="18" charset="0"/>
                  <a:buChar char="-"/>
                </a:pP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𝑐𝑢𝑠𝑡𝑜𝑚𝑒𝑟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=(</m:t>
                    </m:r>
                    <m:bar>
                      <m:bar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𝑐𝑖𝑑</m:t>
                        </m:r>
                      </m:e>
                    </m:ba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𝑛𝑎𝑚𝑒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𝑎𝑑𝑑𝑟𝑒𝑠𝑠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Arial" panose="020B0604020202020204" pitchFamily="34" charset="0"/>
                </a:endParaRPr>
              </a:p>
              <a:p>
                <a:pPr marL="342900" lvl="0" indent="-342900" algn="just">
                  <a:lnSpc>
                    <a:spcPct val="107000"/>
                  </a:lnSpc>
                  <a:buFont typeface="Times New Roman" panose="02020603050405020304" pitchFamily="18" charset="0"/>
                  <a:buChar char="-"/>
                </a:pP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𝑐𝑎𝑟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bar>
                          <m:barPr>
                            <m:ctrlPr>
                              <a:rPr lang="zh-CN" altLang="zh-CN" sz="1800" i="1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n-US" altLang="zh-CN" sz="1800" i="1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𝑣𝑖𝑛</m:t>
                            </m:r>
                          </m:e>
                        </m:ba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𝑚𝑜𝑑𝑒𝑙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𝑦𝑒𝑎𝑟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𝑐𝑖𝑑</m:t>
                        </m:r>
                      </m:e>
                    </m:d>
                  </m:oMath>
                </a14:m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Arial" panose="020B0604020202020204" pitchFamily="34" charset="0"/>
                </a:endParaRPr>
              </a:p>
              <a:p>
                <a:pPr marL="342900" lvl="0" indent="-342900" algn="just">
                  <a:lnSpc>
                    <a:spcPct val="107000"/>
                  </a:lnSpc>
                  <a:buFont typeface="Times New Roman" panose="02020603050405020304" pitchFamily="18" charset="0"/>
                  <a:buChar char="-"/>
                </a:pP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𝑎𝑐𝑐𝑖𝑑𝑒𝑛𝑡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=(</m:t>
                    </m:r>
                    <m:bar>
                      <m:bar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𝑛𝑢𝑚𝑏𝑒𝑟</m:t>
                        </m:r>
                      </m:e>
                    </m:ba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𝑙𝑜𝑐𝑎𝑡𝑖𝑜𝑛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𝑑𝑎𝑡𝑒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Arial" panose="020B0604020202020204" pitchFamily="34" charset="0"/>
                </a:endParaRPr>
              </a:p>
              <a:p>
                <a:pPr marL="342900" lvl="0" indent="-342900" algn="just">
                  <a:lnSpc>
                    <a:spcPct val="107000"/>
                  </a:lnSpc>
                  <a:spcAft>
                    <a:spcPts val="800"/>
                  </a:spcAft>
                  <a:buFont typeface="Times New Roman" panose="02020603050405020304" pitchFamily="18" charset="0"/>
                  <a:buChar char="-"/>
                </a:pP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𝑝𝑎𝑟𝑡𝑖𝑐𝑖𝑝𝑎𝑡𝑒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=(</m:t>
                    </m:r>
                    <m:bar>
                      <m:bar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𝑣𝑖𝑛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𝑛𝑢𝑚𝑏𝑒𝑟</m:t>
                        </m:r>
                      </m:e>
                    </m:ba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𝑎𝑚𝑜𝑢𝑛𝑡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37D0C22-2DEA-6A36-1CB2-D85A35DCA1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6125" y="4483466"/>
                <a:ext cx="6096000" cy="1815369"/>
              </a:xfrm>
              <a:prstGeom prst="rect">
                <a:avLst/>
              </a:prstGeom>
              <a:blipFill>
                <a:blip r:embed="rId3"/>
                <a:stretch>
                  <a:fillRect l="-800" t="-1678" b="-10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7466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C566C-B575-BB3C-5EE6-25661A5A5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448B2-CCCB-C6B2-593E-B5954D7A5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600200"/>
            <a:ext cx="7886700" cy="475247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Construct an ER diagram for a hospital with a set of patients and a set of medical doctors, which models</a:t>
            </a:r>
          </a:p>
          <a:p>
            <a:pPr lvl="1"/>
            <a:r>
              <a:rPr lang="en-US" dirty="0"/>
              <a:t>each patient has a unique id</a:t>
            </a:r>
            <a:r>
              <a:rPr lang="en-US" altLang="zh-CN" dirty="0"/>
              <a:t>, a name, and an insurance;</a:t>
            </a:r>
          </a:p>
          <a:p>
            <a:pPr lvl="1"/>
            <a:r>
              <a:rPr lang="en-US" dirty="0"/>
              <a:t>each doctor has a unique id, a name, and the </a:t>
            </a:r>
            <a:r>
              <a:rPr lang="en-US" altLang="zh-CN" dirty="0"/>
              <a:t>specialization;</a:t>
            </a:r>
          </a:p>
          <a:p>
            <a:pPr lvl="1"/>
            <a:r>
              <a:rPr lang="en-US" dirty="0"/>
              <a:t>each test has a unique id, a name, the date, the time, and the result of the test;</a:t>
            </a:r>
          </a:p>
          <a:p>
            <a:pPr lvl="1"/>
            <a:r>
              <a:rPr lang="en-US" dirty="0"/>
              <a:t>every patient is cared by one or multiple doctor;</a:t>
            </a:r>
          </a:p>
          <a:p>
            <a:pPr lvl="1"/>
            <a:r>
              <a:rPr lang="en-US" dirty="0"/>
              <a:t>every test is </a:t>
            </a:r>
            <a:r>
              <a:rPr lang="en-US" altLang="zh-CN" dirty="0"/>
              <a:t>performed by one or multiple doctor;</a:t>
            </a:r>
          </a:p>
          <a:p>
            <a:pPr lvl="1"/>
            <a:r>
              <a:rPr lang="en-US" dirty="0"/>
              <a:t>every test is done for exactly one patient.</a:t>
            </a:r>
          </a:p>
          <a:p>
            <a:pPr lvl="1"/>
            <a:endParaRPr lang="en-US" dirty="0"/>
          </a:p>
          <a:p>
            <a:r>
              <a:rPr lang="en-US" dirty="0"/>
              <a:t>List all assumptions that you make.</a:t>
            </a:r>
          </a:p>
          <a:p>
            <a:r>
              <a:rPr lang="en-US" dirty="0"/>
              <a:t>And convert your ER diagram to a logical design.</a:t>
            </a:r>
          </a:p>
          <a:p>
            <a:pPr lvl="1"/>
            <a:endParaRPr lang="en-US" dirty="0"/>
          </a:p>
        </p:txBody>
      </p:sp>
      <p:sp>
        <p:nvSpPr>
          <p:cNvPr id="4" name="矩形 12">
            <a:extLst>
              <a:ext uri="{FF2B5EF4-FFF2-40B4-BE49-F238E27FC236}">
                <a16:creationId xmlns:a16="http://schemas.microsoft.com/office/drawing/2014/main" id="{F9156E06-84A0-4E9F-6B0C-49D257533790}"/>
              </a:ext>
            </a:extLst>
          </p:cNvPr>
          <p:cNvSpPr/>
          <p:nvPr/>
        </p:nvSpPr>
        <p:spPr>
          <a:xfrm>
            <a:off x="1524000" y="1"/>
            <a:ext cx="914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067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919A2CA-BD68-982E-F75B-F5B23BCD0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718" y="1041780"/>
            <a:ext cx="6668267" cy="37778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7981ACB-FD7E-148F-D56A-DC62AD41D82B}"/>
                  </a:ext>
                </a:extLst>
              </p:cNvPr>
              <p:cNvSpPr txBox="1"/>
              <p:nvPr/>
            </p:nvSpPr>
            <p:spPr>
              <a:xfrm>
                <a:off x="6886575" y="4132575"/>
                <a:ext cx="6096000" cy="21742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altLang="zh-CN" sz="1800" dirty="0">
                    <a:effectLst/>
                    <a:latin typeface="Times New Roman" panose="02020603050405020304" pitchFamily="18" charset="0"/>
                    <a:ea typeface="等线" panose="02010600030101010101" pitchFamily="2" charset="-122"/>
                    <a:cs typeface="Arial" panose="020B0604020202020204" pitchFamily="34" charset="0"/>
                  </a:rPr>
                  <a:t>Schema:</a:t>
                </a:r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Arial" panose="020B0604020202020204" pitchFamily="34" charset="0"/>
                </a:endParaRPr>
              </a:p>
              <a:p>
                <a:pPr marL="342900" lvl="0" indent="-342900" algn="l">
                  <a:lnSpc>
                    <a:spcPct val="107000"/>
                  </a:lnSpc>
                  <a:buFont typeface="Times New Roman" panose="02020603050405020304" pitchFamily="18" charset="0"/>
                  <a:buChar char="-"/>
                </a:pP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𝑝𝑎𝑡𝑖𝑒𝑛𝑡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=(</m:t>
                    </m:r>
                    <m:bar>
                      <m:bar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𝑝𝑖𝑑</m:t>
                        </m:r>
                      </m:e>
                    </m:ba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𝑝𝑛𝑎𝑚𝑒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𝑖𝑛𝑠𝑢𝑟𝑎𝑛𝑐𝑒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Arial" panose="020B0604020202020204" pitchFamily="34" charset="0"/>
                </a:endParaRPr>
              </a:p>
              <a:p>
                <a:pPr marL="342900" lvl="0" indent="-342900" algn="l">
                  <a:lnSpc>
                    <a:spcPct val="107000"/>
                  </a:lnSpc>
                  <a:buFont typeface="Times New Roman" panose="02020603050405020304" pitchFamily="18" charset="0"/>
                  <a:buChar char="-"/>
                </a:pP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𝑑𝑜𝑐𝑡𝑜𝑟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=(</m:t>
                    </m:r>
                    <m:bar>
                      <m:bar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𝑑𝑖𝑑</m:t>
                        </m:r>
                      </m:e>
                    </m:ba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𝑑𝑛𝑎𝑚𝑒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𝑠𝑝𝑒𝑐𝑖𝑎𝑙𝑖𝑧𝑎𝑡𝑖𝑜𝑛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Arial" panose="020B0604020202020204" pitchFamily="34" charset="0"/>
                </a:endParaRPr>
              </a:p>
              <a:p>
                <a:pPr marL="342900" lvl="0" indent="-342900" algn="l">
                  <a:lnSpc>
                    <a:spcPct val="107000"/>
                  </a:lnSpc>
                  <a:buFont typeface="Times New Roman" panose="02020603050405020304" pitchFamily="18" charset="0"/>
                  <a:buChar char="-"/>
                </a:pP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𝑡𝑒𝑠𝑡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=(</m:t>
                    </m:r>
                    <m:bar>
                      <m:bar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𝑡𝑖𝑑</m:t>
                        </m:r>
                      </m:e>
                    </m:ba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𝑡𝑛𝑎𝑚𝑒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𝑑𝑎𝑡𝑒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𝑡𝑖𝑚𝑒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𝑟𝑒𝑠𝑢𝑙𝑡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𝑝𝑖𝑑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Arial" panose="020B0604020202020204" pitchFamily="34" charset="0"/>
                </a:endParaRPr>
              </a:p>
              <a:p>
                <a:pPr marL="342900" lvl="0" indent="-342900" algn="l">
                  <a:lnSpc>
                    <a:spcPct val="107000"/>
                  </a:lnSpc>
                  <a:buFont typeface="Times New Roman" panose="02020603050405020304" pitchFamily="18" charset="0"/>
                  <a:buChar char="-"/>
                </a:pP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𝑑𝑟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𝑝𝑎𝑡𝑖𝑛𝑒𝑡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=(</m:t>
                    </m:r>
                    <m:bar>
                      <m:bar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𝑝𝑖𝑑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𝑑𝑖𝑑</m:t>
                        </m:r>
                      </m:e>
                    </m:ba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Arial" panose="020B0604020202020204" pitchFamily="34" charset="0"/>
                </a:endParaRPr>
              </a:p>
              <a:p>
                <a:pPr marL="342900" lvl="0" indent="-342900" algn="l">
                  <a:lnSpc>
                    <a:spcPct val="107000"/>
                  </a:lnSpc>
                  <a:spcAft>
                    <a:spcPts val="800"/>
                  </a:spcAft>
                  <a:buFont typeface="Times New Roman" panose="02020603050405020304" pitchFamily="18" charset="0"/>
                  <a:buChar char="-"/>
                </a:pP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𝑝𝑒𝑟𝑓𝑜𝑟𝑚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=(</m:t>
                    </m:r>
                    <m:bar>
                      <m:bar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𝑑𝑖𝑑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𝑡𝑖𝑑</m:t>
                        </m:r>
                      </m:e>
                    </m:ba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7981ACB-FD7E-148F-D56A-DC62AD41D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575" y="4132575"/>
                <a:ext cx="6096000" cy="2174250"/>
              </a:xfrm>
              <a:prstGeom prst="rect">
                <a:avLst/>
              </a:prstGeom>
              <a:blipFill>
                <a:blip r:embed="rId3"/>
                <a:stretch>
                  <a:fillRect l="-900" t="-1681" b="-5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9782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A2990-5279-A440-FF77-91F98D8CD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0748A-DF9A-B77A-A029-E847C0337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1600201"/>
            <a:ext cx="7886700" cy="4619531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r>
              <a:rPr lang="en-US" dirty="0"/>
              <a:t>Create an ER diagram for a recording company with the following requirements:</a:t>
            </a:r>
          </a:p>
          <a:p>
            <a:pPr lvl="1"/>
            <a:r>
              <a:rPr lang="en-US" dirty="0"/>
              <a:t>Each musician has an unique SSN, a name, an address, and a phone number. </a:t>
            </a:r>
          </a:p>
          <a:p>
            <a:pPr lvl="1"/>
            <a:r>
              <a:rPr lang="en-US" dirty="0"/>
              <a:t>Each instrument has a name (e.g., guitar) and a musical key (e.g., C).</a:t>
            </a:r>
          </a:p>
          <a:p>
            <a:pPr lvl="1"/>
            <a:r>
              <a:rPr lang="en-US" dirty="0"/>
              <a:t>Each album that has a title, a copyright date, a format (e.g., CD), and an album identifier.</a:t>
            </a:r>
          </a:p>
          <a:p>
            <a:pPr lvl="1"/>
            <a:r>
              <a:rPr lang="en-US" dirty="0"/>
              <a:t>Each song has a title and an author.</a:t>
            </a:r>
          </a:p>
          <a:p>
            <a:pPr lvl="1"/>
            <a:r>
              <a:rPr lang="en-US" dirty="0"/>
              <a:t>Musicians may play many instruments, and an instrument may be played by many musicians.</a:t>
            </a:r>
          </a:p>
          <a:p>
            <a:pPr lvl="1"/>
            <a:r>
              <a:rPr lang="en-US" dirty="0"/>
              <a:t>Each album has a number of songs on it, but no song may appear on more than one album.</a:t>
            </a:r>
          </a:p>
          <a:p>
            <a:pPr lvl="1"/>
            <a:r>
              <a:rPr lang="en-US" dirty="0"/>
              <a:t>Each song is performed by one or more musicians, and a musician may perform a number of songs.</a:t>
            </a:r>
          </a:p>
          <a:p>
            <a:pPr lvl="1"/>
            <a:r>
              <a:rPr lang="en-US" dirty="0"/>
              <a:t>Each album has exactly one musician who acts as its producer. A musician can of course produce several albums. </a:t>
            </a:r>
          </a:p>
          <a:p>
            <a:endParaRPr lang="en-US" dirty="0"/>
          </a:p>
        </p:txBody>
      </p:sp>
      <p:sp>
        <p:nvSpPr>
          <p:cNvPr id="4" name="矩形 12">
            <a:extLst>
              <a:ext uri="{FF2B5EF4-FFF2-40B4-BE49-F238E27FC236}">
                <a16:creationId xmlns:a16="http://schemas.microsoft.com/office/drawing/2014/main" id="{07F5AEA2-6271-B9A7-6306-7FD4BEA95A74}"/>
              </a:ext>
            </a:extLst>
          </p:cNvPr>
          <p:cNvSpPr/>
          <p:nvPr/>
        </p:nvSpPr>
        <p:spPr>
          <a:xfrm>
            <a:off x="1524000" y="1"/>
            <a:ext cx="914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11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1C29956-5745-D54C-7EFA-F584155AC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517" y="762000"/>
            <a:ext cx="7053423" cy="29459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BEDB80D-1610-727D-9EC5-D56384BBD9F6}"/>
                  </a:ext>
                </a:extLst>
              </p:cNvPr>
              <p:cNvSpPr txBox="1"/>
              <p:nvPr/>
            </p:nvSpPr>
            <p:spPr>
              <a:xfrm>
                <a:off x="6324600" y="3768375"/>
                <a:ext cx="6096000" cy="23276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 algn="l">
                  <a:lnSpc>
                    <a:spcPct val="107000"/>
                  </a:lnSpc>
                  <a:buFont typeface="Times New Roman" panose="02020603050405020304" pitchFamily="18" charset="0"/>
                  <a:buChar char="-"/>
                </a:pPr>
                <a14:m>
                  <m:oMath xmlns:m="http://schemas.openxmlformats.org/officeDocument/2006/math">
                    <m:r>
                      <a:rPr lang="en-US" altLang="zh-CN" sz="1800" i="1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𝑚𝑢𝑠𝑖𝑐𝑖𝑎𝑛</m:t>
                    </m:r>
                    <m:r>
                      <a:rPr lang="en-US" altLang="zh-CN" sz="1800" i="1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=(</m:t>
                    </m:r>
                    <m:bar>
                      <m:bar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𝑠𝑠𝑛</m:t>
                        </m:r>
                      </m:e>
                    </m:ba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𝑚𝑛𝑎𝑚𝑒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Arial" panose="020B0604020202020204" pitchFamily="34" charset="0"/>
                </a:endParaRPr>
              </a:p>
              <a:p>
                <a:pPr marL="342900" lvl="0" indent="-342900" algn="l">
                  <a:lnSpc>
                    <a:spcPct val="107000"/>
                  </a:lnSpc>
                  <a:buFont typeface="Times New Roman" panose="02020603050405020304" pitchFamily="18" charset="0"/>
                  <a:buChar char="-"/>
                </a:pP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𝑎𝑙𝑏𝑢𝑚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=(</m:t>
                    </m:r>
                    <m:bar>
                      <m:bar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𝑎𝑖𝑑</m:t>
                        </m:r>
                      </m:e>
                    </m:ba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𝑎𝑡𝑖𝑡𝑙𝑒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𝑐𝑟𝑑𝑎𝑡𝑒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𝑓𝑜𝑟𝑚𝑎𝑡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𝑠𝑠𝑛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Arial" panose="020B0604020202020204" pitchFamily="34" charset="0"/>
                </a:endParaRPr>
              </a:p>
              <a:p>
                <a:pPr marL="342900" lvl="0" indent="-342900" algn="l">
                  <a:lnSpc>
                    <a:spcPct val="107000"/>
                  </a:lnSpc>
                  <a:buFont typeface="Times New Roman" panose="02020603050405020304" pitchFamily="18" charset="0"/>
                  <a:buChar char="-"/>
                </a:pP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𝑠𝑜𝑛𝑔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=(</m:t>
                    </m:r>
                    <m:bar>
                      <m:bar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𝑠𝑖𝑑</m:t>
                        </m:r>
                      </m:e>
                    </m:ba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𝑠𝑡𝑖𝑡𝑙𝑒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𝑎𝑢𝑡h𝑜𝑟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Arial" panose="020B0604020202020204" pitchFamily="34" charset="0"/>
                </a:endParaRPr>
              </a:p>
              <a:p>
                <a:pPr marL="342900" lvl="0" indent="-342900" algn="l">
                  <a:lnSpc>
                    <a:spcPct val="107000"/>
                  </a:lnSpc>
                  <a:buFont typeface="Times New Roman" panose="02020603050405020304" pitchFamily="18" charset="0"/>
                  <a:buChar char="-"/>
                </a:pP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𝑖𝑛𝑠𝑡𝑟𝑢𝑚𝑒𝑛𝑡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=(</m:t>
                    </m:r>
                    <m:bar>
                      <m:bar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𝑑𝑖𝑑</m:t>
                        </m:r>
                      </m:e>
                    </m:ba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𝑖𝑛𝑎𝑚𝑒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𝑚𝑘𝑒𝑦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Arial" panose="020B0604020202020204" pitchFamily="34" charset="0"/>
                </a:endParaRPr>
              </a:p>
              <a:p>
                <a:pPr marL="342900" lvl="0" indent="-342900" algn="l">
                  <a:lnSpc>
                    <a:spcPct val="107000"/>
                  </a:lnSpc>
                  <a:buFont typeface="Times New Roman" panose="02020603050405020304" pitchFamily="18" charset="0"/>
                  <a:buChar char="-"/>
                </a:pP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𝑎𝑝𝑝𝑒𝑎𝑟𝑠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=(</m:t>
                    </m:r>
                    <m:bar>
                      <m:bar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𝑠𝑖𝑑</m:t>
                        </m:r>
                      </m:e>
                    </m:ba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𝑎𝑖𝑑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Arial" panose="020B0604020202020204" pitchFamily="34" charset="0"/>
                </a:endParaRPr>
              </a:p>
              <a:p>
                <a:pPr marL="342900" lvl="0" indent="-342900" algn="l">
                  <a:lnSpc>
                    <a:spcPct val="107000"/>
                  </a:lnSpc>
                  <a:buFont typeface="Times New Roman" panose="02020603050405020304" pitchFamily="18" charset="0"/>
                  <a:buChar char="-"/>
                </a:pP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𝑝𝑒𝑟𝑓𝑜𝑟𝑚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=(</m:t>
                    </m:r>
                    <m:bar>
                      <m:bar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𝑠𝑠𝑛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𝑠𝑖𝑑</m:t>
                        </m:r>
                      </m:e>
                    </m:ba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Arial" panose="020B0604020202020204" pitchFamily="34" charset="0"/>
                </a:endParaRPr>
              </a:p>
              <a:p>
                <a:pPr marL="342900" lvl="0" indent="-342900" algn="l">
                  <a:lnSpc>
                    <a:spcPct val="107000"/>
                  </a:lnSpc>
                  <a:spcAft>
                    <a:spcPts val="800"/>
                  </a:spcAft>
                  <a:buFont typeface="Times New Roman" panose="02020603050405020304" pitchFamily="18" charset="0"/>
                  <a:buChar char="-"/>
                </a:pPr>
                <a14:m>
                  <m:oMath xmlns:m="http://schemas.openxmlformats.org/officeDocument/2006/math"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𝑝𝑙𝑎𝑦𝑠</m:t>
                    </m: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=(</m:t>
                    </m:r>
                    <m:bar>
                      <m:barPr>
                        <m:ctrlPr>
                          <a:rPr lang="zh-CN" altLang="zh-CN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𝑑𝑖𝑑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𝑠𝑠𝑛</m:t>
                        </m:r>
                      </m:e>
                    </m:bar>
                    <m:r>
                      <a:rPr lang="en-US" altLang="zh-CN" sz="1800" i="1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altLang="zh-CN" sz="18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BEDB80D-1610-727D-9EC5-D56384BBD9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3768375"/>
                <a:ext cx="6096000" cy="2327625"/>
              </a:xfrm>
              <a:prstGeom prst="rect">
                <a:avLst/>
              </a:prstGeom>
              <a:blipFill>
                <a:blip r:embed="rId3"/>
                <a:stretch>
                  <a:fillRect l="-700" b="-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2065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7BB4AC2-5F9E-5FA9-F586-9A855CCD10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Lab 07 review.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9CE73C5E-B94A-157F-27DB-289934C631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6216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D0AA2-1B19-C5AA-BFAE-31185376D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 Modification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9702B-4DB5-076D-E944-0479EF242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435054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 the last lab, we have created new tables for UIC database.</a:t>
            </a:r>
          </a:p>
          <a:p>
            <a:r>
              <a:rPr lang="en-US" dirty="0"/>
              <a:t>Check “UIC definition.txt” for the sample code and compare it with your query. If you have any question, please ask your instructor or TA.</a:t>
            </a:r>
          </a:p>
          <a:p>
            <a:endParaRPr lang="en-US" dirty="0"/>
          </a:p>
          <a:p>
            <a:r>
              <a:rPr lang="en-US" dirty="0"/>
              <a:t>In this lab, we will </a:t>
            </a:r>
            <a:r>
              <a:rPr lang="en-US" dirty="0">
                <a:highlight>
                  <a:srgbClr val="FFFF00"/>
                </a:highlight>
              </a:rPr>
              <a:t>insert, delete, and update data.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Note:</a:t>
            </a:r>
          </a:p>
          <a:p>
            <a:r>
              <a:rPr lang="en-US" dirty="0"/>
              <a:t>Usually, database users are </a:t>
            </a:r>
            <a:r>
              <a:rPr lang="en-US" dirty="0">
                <a:solidFill>
                  <a:srgbClr val="FF0000"/>
                </a:solidFill>
              </a:rPr>
              <a:t>only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allowed</a:t>
            </a:r>
            <a:r>
              <a:rPr lang="en-US" dirty="0"/>
              <a:t> to change </a:t>
            </a:r>
            <a:r>
              <a:rPr lang="en-US" dirty="0">
                <a:solidFill>
                  <a:srgbClr val="FF0000"/>
                </a:solidFill>
              </a:rPr>
              <a:t>data</a:t>
            </a:r>
            <a:r>
              <a:rPr lang="en-US" dirty="0"/>
              <a:t> (table rows), which is covered by this lab.</a:t>
            </a:r>
          </a:p>
          <a:p>
            <a:r>
              <a:rPr lang="en-US" dirty="0"/>
              <a:t>Table columns are related to the logical design and managed by database managers.</a:t>
            </a:r>
          </a:p>
          <a:p>
            <a:r>
              <a:rPr lang="en-US" dirty="0"/>
              <a:t>To change the logical design, you need </a:t>
            </a:r>
            <a:r>
              <a:rPr lang="en-US" b="1" dirty="0">
                <a:latin typeface="Consolas" panose="020B0609020204030204" pitchFamily="49" charset="0"/>
                <a:cs typeface="Calibri" panose="020F0502020204030204" pitchFamily="34" charset="0"/>
              </a:rPr>
              <a:t>ALTER TABLE</a:t>
            </a:r>
            <a:r>
              <a:rPr lang="en-US" dirty="0"/>
              <a:t> (last lab).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431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5BA14-F3C2-0D7F-5BD2-3FE50F13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48390-D4DE-2AFE-8FF5-6009FBACC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436959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To insert a record for a program: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Program code: 1001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Program name: Computer Science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Division: Science and Technology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Director: </a:t>
            </a:r>
            <a:r>
              <a:rPr lang="en-US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NULL (unknown)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INSERT INTO programs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C00000"/>
                </a:solidFill>
                <a:latin typeface="Consolas" panose="020B0609020204030204" pitchFamily="49" charset="0"/>
              </a:rPr>
              <a:t>p_code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C00000"/>
                </a:solidFill>
                <a:latin typeface="Consolas" panose="020B0609020204030204" pitchFamily="49" charset="0"/>
              </a:rPr>
              <a:t>p_name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</a:rPr>
              <a:t>, division, </a:t>
            </a:r>
            <a:r>
              <a:rPr lang="en-US" sz="1800" dirty="0" err="1">
                <a:solidFill>
                  <a:srgbClr val="C00000"/>
                </a:solidFill>
                <a:latin typeface="Consolas" panose="020B0609020204030204" pitchFamily="49" charset="0"/>
              </a:rPr>
              <a:t>director_id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</a:rPr>
              <a:t>) 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VALUES (1001, 'Computer Science', 'Science and Technology',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schema </a:t>
            </a:r>
            <a:r>
              <a:rPr lang="en-US" dirty="0"/>
              <a:t>of the table is to remind users the data types, which can be omitted. </a:t>
            </a:r>
          </a:p>
          <a:p>
            <a:r>
              <a:rPr lang="en-US" dirty="0"/>
              <a:t>Currently, the instructor table is empty. So, the program director is </a:t>
            </a:r>
            <a:r>
              <a:rPr lang="en-US" dirty="0">
                <a:solidFill>
                  <a:srgbClr val="0070C0"/>
                </a:solidFill>
              </a:rPr>
              <a:t>unknown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4320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26B3C-D00A-078C-2BF4-5E3A13E3E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5F2B9-E09A-86CB-2FE0-958204ABC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the information of a new instructor,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ID: 20001</a:t>
            </a:r>
          </a:p>
          <a:p>
            <a:pPr marL="342900" lvl="1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NAME: S.T. Kwok</a:t>
            </a:r>
          </a:p>
          <a:p>
            <a:pPr marL="342900" lvl="1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Title: Professor</a:t>
            </a:r>
          </a:p>
          <a:p>
            <a:pPr marL="342900" lvl="1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Salary: 100000</a:t>
            </a:r>
          </a:p>
          <a:p>
            <a:pPr marL="342900" lvl="1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Program: </a:t>
            </a:r>
            <a:r>
              <a:rPr lang="en-US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Computer Science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39A640-300D-4070-AC87-F82637DAA8E5}"/>
              </a:ext>
            </a:extLst>
          </p:cNvPr>
          <p:cNvSpPr/>
          <p:nvPr/>
        </p:nvSpPr>
        <p:spPr>
          <a:xfrm>
            <a:off x="3779520" y="4349758"/>
            <a:ext cx="65455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INSERT INTO instructor (id, </a:t>
            </a:r>
            <a:r>
              <a:rPr lang="en-US" altLang="zh-CN" dirty="0" err="1"/>
              <a:t>i_name</a:t>
            </a:r>
            <a:r>
              <a:rPr lang="en-US" altLang="zh-CN" dirty="0"/>
              <a:t>, title, salary, </a:t>
            </a:r>
            <a:r>
              <a:rPr lang="en-US" altLang="zh-CN" dirty="0" err="1">
                <a:highlight>
                  <a:srgbClr val="FFFF00"/>
                </a:highlight>
              </a:rPr>
              <a:t>p_code</a:t>
            </a:r>
            <a:r>
              <a:rPr lang="en-US" altLang="zh-CN" dirty="0"/>
              <a:t>) </a:t>
            </a:r>
          </a:p>
          <a:p>
            <a:r>
              <a:rPr lang="en-US" altLang="zh-CN" dirty="0"/>
              <a:t>	VALUES (20001, 'S.T. Kwok', 'Professor', 10000, </a:t>
            </a:r>
            <a:r>
              <a:rPr lang="en-US" altLang="zh-CN" dirty="0">
                <a:highlight>
                  <a:srgbClr val="FFFF00"/>
                </a:highlight>
              </a:rPr>
              <a:t>1001</a:t>
            </a:r>
            <a:r>
              <a:rPr lang="en-US" altLang="zh-CN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258064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D3718-97FD-0C3A-5A67-3E0A76A10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9794A-26A1-59BA-99C0-DD03A8E90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486489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Try to insert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Course:</a:t>
            </a:r>
          </a:p>
          <a:p>
            <a:pPr marL="342900" lvl="1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Name: Introduction to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Biology, 		Credits: 3, </a:t>
            </a:r>
          </a:p>
          <a:p>
            <a:pPr marL="342900" lvl="1" indent="0"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	Domain: ENVS, 				Course Number: 2001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Instructor:</a:t>
            </a:r>
          </a:p>
          <a:p>
            <a:pPr marL="342900" lvl="1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ID: 20002, 		Name: S.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H. Zee, 	Title: Professor, </a:t>
            </a:r>
          </a:p>
          <a:p>
            <a:pPr marL="342900" lvl="1" indent="0"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	Salary: 100000, 	</a:t>
            </a:r>
            <a:r>
              <a:rPr lang="en-US" altLang="zh-CN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Program: Environmental Science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Program:</a:t>
            </a:r>
          </a:p>
          <a:p>
            <a:pPr marL="342900" lvl="1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ID: 1002, 					Name: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Environmental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Science,  </a:t>
            </a:r>
          </a:p>
          <a:p>
            <a:pPr marL="342900" lvl="1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Division: Science and Technology, 	Program director: Unknown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/>
              <a:t>Why the instructor cannot be inserted before the program?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906C05-90BE-8604-3BEA-C2A8ACE5B8A2}"/>
              </a:ext>
            </a:extLst>
          </p:cNvPr>
          <p:cNvSpPr txBox="1"/>
          <p:nvPr/>
        </p:nvSpPr>
        <p:spPr>
          <a:xfrm>
            <a:off x="7707429" y="1412077"/>
            <a:ext cx="60976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CREATE TABLE instructor(</a:t>
            </a:r>
          </a:p>
          <a:p>
            <a:r>
              <a:rPr lang="en-US" altLang="zh-CN" dirty="0"/>
              <a:t>    id			INT,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i_name</a:t>
            </a:r>
            <a:r>
              <a:rPr lang="en-US" altLang="zh-CN" dirty="0"/>
              <a:t>		VARCHAR(20) NOT NULL,</a:t>
            </a:r>
          </a:p>
          <a:p>
            <a:r>
              <a:rPr lang="en-US" altLang="zh-CN" dirty="0"/>
              <a:t>    title		VARCHAR(20) NOT NULL,</a:t>
            </a:r>
          </a:p>
          <a:p>
            <a:r>
              <a:rPr lang="en-US" altLang="zh-CN" dirty="0"/>
              <a:t>    salary		INT NOT NULL,</a:t>
            </a:r>
          </a:p>
          <a:p>
            <a:r>
              <a:rPr lang="en-US" altLang="zh-CN" dirty="0"/>
              <a:t>    </a:t>
            </a:r>
            <a:r>
              <a:rPr lang="en-US" altLang="zh-CN" dirty="0" err="1">
                <a:highlight>
                  <a:srgbClr val="FFFF00"/>
                </a:highlight>
              </a:rPr>
              <a:t>p_code</a:t>
            </a:r>
            <a:r>
              <a:rPr lang="en-US" altLang="zh-CN" dirty="0">
                <a:highlight>
                  <a:srgbClr val="FFFF00"/>
                </a:highlight>
              </a:rPr>
              <a:t>		INT NOT NULL</a:t>
            </a:r>
            <a:r>
              <a:rPr lang="en-US" altLang="zh-CN" dirty="0"/>
              <a:t>,</a:t>
            </a:r>
          </a:p>
          <a:p>
            <a:r>
              <a:rPr lang="en-US" altLang="zh-CN" dirty="0"/>
              <a:t>    PRIMARY KEY(id)</a:t>
            </a:r>
          </a:p>
          <a:p>
            <a:r>
              <a:rPr lang="en-US" altLang="zh-CN" dirty="0"/>
              <a:t>);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25BF7AA-E47E-E9D8-4065-CBE2E6E69310}"/>
              </a:ext>
            </a:extLst>
          </p:cNvPr>
          <p:cNvSpPr txBox="1"/>
          <p:nvPr/>
        </p:nvSpPr>
        <p:spPr>
          <a:xfrm>
            <a:off x="5009950" y="3782199"/>
            <a:ext cx="69013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ALTER TABLE instructor ADD </a:t>
            </a:r>
            <a:r>
              <a:rPr lang="en-US" altLang="zh-CN" dirty="0">
                <a:highlight>
                  <a:srgbClr val="FFFF00"/>
                </a:highlight>
              </a:rPr>
              <a:t>FOREIGN KEY (</a:t>
            </a:r>
            <a:r>
              <a:rPr lang="en-US" altLang="zh-CN" dirty="0" err="1">
                <a:highlight>
                  <a:srgbClr val="FFFF00"/>
                </a:highlight>
              </a:rPr>
              <a:t>p_code</a:t>
            </a:r>
            <a:r>
              <a:rPr lang="en-US" altLang="zh-CN" dirty="0">
                <a:highlight>
                  <a:srgbClr val="FFFF00"/>
                </a:highlight>
              </a:rPr>
              <a:t>) </a:t>
            </a:r>
            <a:r>
              <a:rPr lang="en-US" altLang="zh-CN" dirty="0"/>
              <a:t>REFERENCES program(</a:t>
            </a:r>
            <a:r>
              <a:rPr lang="en-US" altLang="zh-CN" dirty="0" err="1"/>
              <a:t>p_code</a:t>
            </a:r>
            <a:r>
              <a:rPr lang="en-US" altLang="zh-CN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84663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5C11F-0A42-D849-30E2-C125C2A3C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B1E19-07F6-9934-18E5-977E19745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461724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Sometimes we can </a:t>
            </a:r>
            <a:r>
              <a:rPr lang="en-US" dirty="0">
                <a:solidFill>
                  <a:srgbClr val="FF0000"/>
                </a:solidFill>
              </a:rPr>
              <a:t>insert data constructed from other tables.</a:t>
            </a:r>
          </a:p>
          <a:p>
            <a:r>
              <a:rPr lang="en-US" dirty="0"/>
              <a:t>Suppose we want to express that the program </a:t>
            </a:r>
            <a:r>
              <a:rPr lang="en-US" altLang="zh-CN" dirty="0"/>
              <a:t>Environmental Science </a:t>
            </a:r>
            <a:r>
              <a:rPr lang="en-US" dirty="0"/>
              <a:t>offers the course Introduction to Biology.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INSERT INTO offer 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	SELECT </a:t>
            </a:r>
            <a:r>
              <a:rPr lang="en-US" sz="1800" dirty="0" err="1">
                <a:latin typeface="Consolas" panose="020B0609020204030204" pitchFamily="49" charset="0"/>
              </a:rPr>
              <a:t>p_code,c_name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	FROM </a:t>
            </a:r>
            <a:r>
              <a:rPr lang="en-US" sz="1800" dirty="0" err="1">
                <a:latin typeface="Consolas" panose="020B0609020204030204" pitchFamily="49" charset="0"/>
              </a:rPr>
              <a:t>programs,course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	WHERE </a:t>
            </a:r>
            <a:r>
              <a:rPr lang="en-US" sz="1800" dirty="0" err="1">
                <a:latin typeface="Consolas" panose="020B0609020204030204" pitchFamily="49" charset="0"/>
              </a:rPr>
              <a:t>p_name</a:t>
            </a:r>
            <a:r>
              <a:rPr lang="en-US" sz="1800" dirty="0">
                <a:latin typeface="Consolas" panose="020B0609020204030204" pitchFamily="49" charset="0"/>
              </a:rPr>
              <a:t>='Environmental Science</a:t>
            </a:r>
            <a:r>
              <a:rPr lang="en-US" sz="1800" dirty="0"/>
              <a:t>'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		AND </a:t>
            </a:r>
            <a:r>
              <a:rPr lang="en-US" sz="1800" dirty="0" err="1">
                <a:latin typeface="Consolas" panose="020B0609020204030204" pitchFamily="49" charset="0"/>
              </a:rPr>
              <a:t>c_name</a:t>
            </a:r>
            <a:r>
              <a:rPr lang="en-US" sz="1800" dirty="0">
                <a:latin typeface="Consolas" panose="020B0609020204030204" pitchFamily="49" charset="0"/>
              </a:rPr>
              <a:t> = 'Introduction to Biology</a:t>
            </a:r>
            <a:r>
              <a:rPr lang="en-US" sz="1800" dirty="0"/>
              <a:t> '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SELECT…FROM…WHERE…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constructs the tuples which are inserted to “offer”.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633C44-2FD4-4F52-A32B-3AAB0E7AD2F3}"/>
              </a:ext>
            </a:extLst>
          </p:cNvPr>
          <p:cNvSpPr/>
          <p:nvPr/>
        </p:nvSpPr>
        <p:spPr>
          <a:xfrm>
            <a:off x="3552825" y="3219450"/>
            <a:ext cx="5591175" cy="1438275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909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05F7-0873-5F62-D4CD-107EDC3BE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6E5FF-8615-BCF1-DF37-85DC29CAF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486489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Suppose Prof. S.T. Kwok becomes the new program director for Computer Science. We need to update the table.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</a:rPr>
              <a:t>UPDATE</a:t>
            </a:r>
            <a:r>
              <a:rPr lang="en-US" sz="1800" dirty="0">
                <a:latin typeface="Consolas" panose="020B0609020204030204" pitchFamily="49" charset="0"/>
              </a:rPr>
              <a:t> programs 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SET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director_id</a:t>
            </a:r>
            <a:r>
              <a:rPr lang="en-US" sz="1800" dirty="0"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(SELECT id FROM instructors WHERE </a:t>
            </a:r>
            <a:r>
              <a:rPr lang="en-US" sz="18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i_name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=‘S.T.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Kwok‘) </a:t>
            </a:r>
            <a:r>
              <a:rPr lang="zh-CN" altLang="en-US" sz="1800" dirty="0">
                <a:solidFill>
                  <a:schemeClr val="accent2">
                    <a:lumMod val="75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注意空格</a:t>
            </a:r>
            <a:endParaRPr lang="en-US" sz="1800" dirty="0">
              <a:solidFill>
                <a:schemeClr val="accent2">
                  <a:lumMod val="75000"/>
                </a:schemeClr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WHERE </a:t>
            </a:r>
            <a:r>
              <a:rPr lang="en-US" sz="1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p_name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 = 'Computer Science'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UPDATE</a:t>
            </a:r>
            <a:r>
              <a:rPr lang="en-US" dirty="0"/>
              <a:t>: the keyword to update a table, followed by the table name.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SET</a:t>
            </a:r>
            <a:r>
              <a:rPr lang="en-US" dirty="0"/>
              <a:t>: the keyword to </a:t>
            </a:r>
            <a:r>
              <a:rPr lang="en-US" dirty="0">
                <a:highlight>
                  <a:srgbClr val="FFFF00"/>
                </a:highlight>
              </a:rPr>
              <a:t>update a specific column</a:t>
            </a:r>
            <a:r>
              <a:rPr lang="en-US" dirty="0"/>
              <a:t>, followed by an assignment operation.</a:t>
            </a:r>
          </a:p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</a:rPr>
              <a:t>(…)</a:t>
            </a:r>
            <a:r>
              <a:rPr lang="en-US" dirty="0"/>
              <a:t>: a </a:t>
            </a:r>
            <a:r>
              <a:rPr lang="en-US" b="1" dirty="0"/>
              <a:t>subquery</a:t>
            </a:r>
            <a:r>
              <a:rPr lang="en-US" dirty="0"/>
              <a:t> to find the person id of S.T. Kwok.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WHERE</a:t>
            </a:r>
            <a:r>
              <a:rPr lang="en-US" dirty="0"/>
              <a:t>: only update the rows which satisfy the condition in the WHERE clause.</a:t>
            </a:r>
          </a:p>
          <a:p>
            <a:endParaRPr lang="en-US" dirty="0"/>
          </a:p>
          <a:p>
            <a:r>
              <a:rPr lang="en-US" dirty="0"/>
              <a:t>A subquery is a query inside another query. More about this will be in the next lab.</a:t>
            </a:r>
          </a:p>
        </p:txBody>
      </p:sp>
    </p:spTree>
    <p:extLst>
      <p:ext uri="{BB962C8B-B14F-4D97-AF65-F5344CB8AC3E}">
        <p14:creationId xmlns:p14="http://schemas.microsoft.com/office/powerpoint/2010/main" val="3272364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F0732-C453-57BE-FB66-600DA0809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DE23E-452F-2647-1251-050544185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469344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Suppose Prof. S.T. Kwok has </a:t>
            </a:r>
            <a:r>
              <a:rPr lang="en-US" altLang="zh-CN" dirty="0"/>
              <a:t>retired. All his information should be removed from the system.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</a:rPr>
              <a:t>DELETE FROM instructors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WHERE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</a:rPr>
              <a:t>i_name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='S.T. Kwok'</a:t>
            </a: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Every</a:t>
            </a:r>
            <a:r>
              <a:rPr lang="en-US" dirty="0"/>
              <a:t> </a:t>
            </a:r>
            <a:r>
              <a:rPr lang="en-US" b="1" dirty="0"/>
              <a:t>row</a:t>
            </a:r>
            <a:r>
              <a:rPr lang="en-US" dirty="0"/>
              <a:t> which satisfies the </a:t>
            </a:r>
            <a:r>
              <a:rPr lang="en-US" dirty="0">
                <a:solidFill>
                  <a:srgbClr val="C00000"/>
                </a:solidFill>
              </a:rPr>
              <a:t>condition</a:t>
            </a:r>
            <a:r>
              <a:rPr lang="en-US" dirty="0"/>
              <a:t> will be removed</a:t>
            </a:r>
            <a:r>
              <a:rPr lang="en-US" altLang="zh-CN" dirty="0"/>
              <a:t>. Thus, </a:t>
            </a:r>
            <a:r>
              <a:rPr lang="en-US" altLang="zh-CN" b="1" dirty="0"/>
              <a:t>be careful</a:t>
            </a:r>
            <a:r>
              <a:rPr lang="en-US" altLang="zh-CN" dirty="0"/>
              <a:t>.</a:t>
            </a:r>
          </a:p>
          <a:p>
            <a:endParaRPr lang="en-US" dirty="0"/>
          </a:p>
          <a:p>
            <a:r>
              <a:rPr lang="en-US" dirty="0"/>
              <a:t>The system shows an error when the query is </a:t>
            </a:r>
            <a:r>
              <a:rPr lang="en-US" altLang="zh-CN" dirty="0"/>
              <a:t>executed. The reason is same as the example on page 5.</a:t>
            </a:r>
          </a:p>
          <a:p>
            <a:r>
              <a:rPr lang="en-US" dirty="0"/>
              <a:t>Thus, change the program director for Computer Science to NULL first. Then, remove Prof. S.T. Kwok.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BC1530-77AC-4FF7-BDFA-E13546892F2E}"/>
              </a:ext>
            </a:extLst>
          </p:cNvPr>
          <p:cNvSpPr/>
          <p:nvPr/>
        </p:nvSpPr>
        <p:spPr>
          <a:xfrm>
            <a:off x="6398944" y="6318764"/>
            <a:ext cx="52950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DELETE</a:t>
            </a:r>
            <a:r>
              <a:rPr lang="en-US" altLang="zh-CN" dirty="0"/>
              <a:t> FROM instructor WHERE </a:t>
            </a:r>
            <a:r>
              <a:rPr lang="en-US" altLang="zh-CN" dirty="0" err="1"/>
              <a:t>i_name</a:t>
            </a:r>
            <a:r>
              <a:rPr lang="en-US" altLang="zh-CN" dirty="0"/>
              <a:t>='</a:t>
            </a:r>
            <a:r>
              <a:rPr lang="en-US" altLang="zh-CN" dirty="0" err="1"/>
              <a:t>S.T.Kwok</a:t>
            </a:r>
            <a:r>
              <a:rPr lang="en-US" altLang="zh-CN" dirty="0"/>
              <a:t>'</a:t>
            </a:r>
            <a:endParaRPr lang="zh-CN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06FA31-3BFC-48EF-B8D6-D1BF68ED433C}"/>
              </a:ext>
            </a:extLst>
          </p:cNvPr>
          <p:cNvSpPr/>
          <p:nvPr/>
        </p:nvSpPr>
        <p:spPr>
          <a:xfrm>
            <a:off x="6398944" y="536686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highlight>
                  <a:srgbClr val="FFFF00"/>
                </a:highlight>
              </a:rPr>
              <a:t>UPDATE</a:t>
            </a:r>
            <a:r>
              <a:rPr lang="en-US" altLang="zh-CN" dirty="0"/>
              <a:t> program  </a:t>
            </a:r>
          </a:p>
          <a:p>
            <a:r>
              <a:rPr lang="en-US" altLang="zh-CN" dirty="0"/>
              <a:t>	SET </a:t>
            </a:r>
            <a:r>
              <a:rPr lang="en-US" altLang="zh-CN" dirty="0" err="1"/>
              <a:t>director_id</a:t>
            </a:r>
            <a:r>
              <a:rPr lang="en-US" altLang="zh-CN" dirty="0"/>
              <a:t> = NULL</a:t>
            </a:r>
          </a:p>
          <a:p>
            <a:r>
              <a:rPr lang="en-US" altLang="zh-CN" dirty="0"/>
              <a:t>	WHERE </a:t>
            </a:r>
            <a:r>
              <a:rPr lang="en-US" altLang="zh-CN" dirty="0" err="1"/>
              <a:t>p_name</a:t>
            </a:r>
            <a:r>
              <a:rPr lang="en-US" altLang="zh-CN" dirty="0"/>
              <a:t> = 'Computer Science'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3741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594C1-CB74-4CFB-7719-ADB41F916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25AF0-D8CB-78D6-EF64-AA6C3AE36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44743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Implement the logical design in MySQL</a:t>
            </a:r>
            <a:endParaRPr lang="en-US" dirty="0"/>
          </a:p>
          <a:p>
            <a:r>
              <a:rPr lang="en-US" altLang="zh-CN" dirty="0"/>
              <a:t>Insert all data in the package</a:t>
            </a:r>
          </a:p>
          <a:p>
            <a:r>
              <a:rPr lang="en-US" dirty="0"/>
              <a:t>To insert multiple rows into one table at a time, try</a:t>
            </a:r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</a:rPr>
              <a:t>INSERT INTO table VALUES (t1),(t2),…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751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9D2247F-5FC2-DE79-3324-3EEDD3913791}"/>
              </a:ext>
            </a:extLst>
          </p:cNvPr>
          <p:cNvSpPr txBox="1"/>
          <p:nvPr/>
        </p:nvSpPr>
        <p:spPr>
          <a:xfrm>
            <a:off x="323850" y="370612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INSERT INTO </a:t>
            </a:r>
            <a:r>
              <a:rPr lang="en-US" altLang="zh-CN" dirty="0">
                <a:highlight>
                  <a:srgbClr val="FFFF00"/>
                </a:highlight>
              </a:rPr>
              <a:t>program</a:t>
            </a:r>
            <a:r>
              <a:rPr lang="en-US" altLang="zh-CN" dirty="0"/>
              <a:t> VALUES</a:t>
            </a:r>
          </a:p>
          <a:p>
            <a:r>
              <a:rPr lang="en-US" altLang="zh-CN" dirty="0"/>
              <a:t>(1001,'Computer </a:t>
            </a:r>
            <a:r>
              <a:rPr lang="en-US" altLang="zh-CN" dirty="0" err="1"/>
              <a:t>Science','Science</a:t>
            </a:r>
            <a:r>
              <a:rPr lang="en-US" altLang="zh-CN" dirty="0"/>
              <a:t> and </a:t>
            </a:r>
            <a:r>
              <a:rPr lang="en-US" altLang="zh-CN" dirty="0" err="1"/>
              <a:t>Technology',NULL</a:t>
            </a:r>
            <a:r>
              <a:rPr lang="en-US" altLang="zh-CN" dirty="0"/>
              <a:t>),</a:t>
            </a:r>
          </a:p>
          <a:p>
            <a:r>
              <a:rPr lang="en-US" altLang="zh-CN" dirty="0"/>
              <a:t>(1002,'Environmental </a:t>
            </a:r>
            <a:r>
              <a:rPr lang="en-US" altLang="zh-CN" dirty="0" err="1"/>
              <a:t>Science','Science</a:t>
            </a:r>
            <a:r>
              <a:rPr lang="en-US" altLang="zh-CN" dirty="0"/>
              <a:t> and </a:t>
            </a:r>
            <a:r>
              <a:rPr lang="en-US" altLang="zh-CN" dirty="0" err="1"/>
              <a:t>Technology',NULL</a:t>
            </a:r>
            <a:r>
              <a:rPr lang="en-US" altLang="zh-CN" dirty="0"/>
              <a:t>),</a:t>
            </a:r>
          </a:p>
          <a:p>
            <a:r>
              <a:rPr lang="en-US" altLang="zh-CN" dirty="0"/>
              <a:t>(1003,'Statistic','Science and </a:t>
            </a:r>
            <a:r>
              <a:rPr lang="en-US" altLang="zh-CN" dirty="0" err="1"/>
              <a:t>Technology',NULL</a:t>
            </a:r>
            <a:r>
              <a:rPr lang="en-US" altLang="zh-CN" dirty="0"/>
              <a:t>),</a:t>
            </a:r>
          </a:p>
          <a:p>
            <a:r>
              <a:rPr lang="en-US" altLang="zh-CN" dirty="0"/>
              <a:t>(1004,'Media Arts and </a:t>
            </a:r>
            <a:r>
              <a:rPr lang="en-US" altLang="zh-CN" dirty="0" err="1"/>
              <a:t>Design','Culture</a:t>
            </a:r>
            <a:r>
              <a:rPr lang="en-US" altLang="zh-CN" dirty="0"/>
              <a:t> and </a:t>
            </a:r>
            <a:r>
              <a:rPr lang="en-US" altLang="zh-CN" dirty="0" err="1"/>
              <a:t>Creativity',NULL</a:t>
            </a:r>
            <a:r>
              <a:rPr lang="en-US" altLang="zh-CN" dirty="0"/>
              <a:t>);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E18384-3097-F809-4DD9-39ABF86D09F7}"/>
              </a:ext>
            </a:extLst>
          </p:cNvPr>
          <p:cNvSpPr txBox="1"/>
          <p:nvPr/>
        </p:nvSpPr>
        <p:spPr>
          <a:xfrm>
            <a:off x="323850" y="241333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INSERT INTO </a:t>
            </a:r>
            <a:r>
              <a:rPr lang="en-US" altLang="zh-CN" dirty="0">
                <a:highlight>
                  <a:srgbClr val="FFFF00"/>
                </a:highlight>
              </a:rPr>
              <a:t>instructor</a:t>
            </a:r>
            <a:r>
              <a:rPr lang="en-US" altLang="zh-CN" dirty="0"/>
              <a:t> VALUES</a:t>
            </a:r>
          </a:p>
          <a:p>
            <a:r>
              <a:rPr lang="en-US" altLang="zh-CN" dirty="0"/>
              <a:t>(20002,'S.H. Zee','Professor',100000,1002),</a:t>
            </a:r>
          </a:p>
          <a:p>
            <a:r>
              <a:rPr lang="en-US" altLang="zh-CN" dirty="0"/>
              <a:t>(20003,'Eva','Professor',80000,1003),</a:t>
            </a:r>
          </a:p>
          <a:p>
            <a:r>
              <a:rPr lang="en-US" altLang="zh-CN" dirty="0"/>
              <a:t>(20004,'Howard','Lecturer',20000,1003),</a:t>
            </a:r>
          </a:p>
          <a:p>
            <a:r>
              <a:rPr lang="en-US" altLang="zh-CN" dirty="0"/>
              <a:t>(20005,'Stephen','Associate Professor',60000,1001),</a:t>
            </a:r>
          </a:p>
          <a:p>
            <a:r>
              <a:rPr lang="en-US" altLang="zh-CN" dirty="0"/>
              <a:t>(20006,'Paul','Lecturer',10000,1004),</a:t>
            </a:r>
          </a:p>
          <a:p>
            <a:r>
              <a:rPr lang="en-US" altLang="zh-CN" dirty="0"/>
              <a:t>(20007,'Kevin','Professor',80000,1004);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1371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46638E0-0D0C-6545-E710-B30DB363FEF7}"/>
              </a:ext>
            </a:extLst>
          </p:cNvPr>
          <p:cNvSpPr txBox="1"/>
          <p:nvPr/>
        </p:nvSpPr>
        <p:spPr>
          <a:xfrm>
            <a:off x="190499" y="263515"/>
            <a:ext cx="135159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INSERT INTO </a:t>
            </a:r>
            <a:r>
              <a:rPr lang="en-US" altLang="zh-CN" dirty="0">
                <a:highlight>
                  <a:srgbClr val="FFFF00"/>
                </a:highlight>
              </a:rPr>
              <a:t>course</a:t>
            </a:r>
            <a:r>
              <a:rPr lang="en-US" altLang="zh-CN" dirty="0"/>
              <a:t> VALUES</a:t>
            </a:r>
          </a:p>
          <a:p>
            <a:r>
              <a:rPr lang="en-US" altLang="zh-CN" dirty="0"/>
              <a:t>('Introduction to Biology’,		3,	'ENVS',		2001),</a:t>
            </a:r>
          </a:p>
          <a:p>
            <a:r>
              <a:rPr lang="en-US" altLang="zh-CN" dirty="0"/>
              <a:t>('Software Development Workshop',	1, 	'COMP',		3023),</a:t>
            </a:r>
          </a:p>
          <a:p>
            <a:r>
              <a:rPr lang="en-US" altLang="zh-CN" dirty="0"/>
              <a:t>('Foundations of C Programming',	3, 	'GCIT’, 		1013),</a:t>
            </a:r>
          </a:p>
          <a:p>
            <a:r>
              <a:rPr lang="en-US" altLang="zh-CN" dirty="0"/>
              <a:t>('Advanced Statistics',		3, 	'STAT’, 		2003),</a:t>
            </a:r>
          </a:p>
          <a:p>
            <a:r>
              <a:rPr lang="en-US" altLang="zh-CN" dirty="0"/>
              <a:t>('Photography',			3, 	'MAD', 		3003);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D1EDF8-B49D-CCC4-BC5F-0B70FD39EDC9}"/>
              </a:ext>
            </a:extLst>
          </p:cNvPr>
          <p:cNvSpPr txBox="1"/>
          <p:nvPr/>
        </p:nvSpPr>
        <p:spPr>
          <a:xfrm>
            <a:off x="190499" y="2164646"/>
            <a:ext cx="1111805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INSERT INTO </a:t>
            </a:r>
            <a:r>
              <a:rPr lang="en-US" altLang="zh-CN" dirty="0">
                <a:highlight>
                  <a:srgbClr val="FFFF00"/>
                </a:highlight>
              </a:rPr>
              <a:t>section</a:t>
            </a:r>
            <a:r>
              <a:rPr lang="en-US" altLang="zh-CN" dirty="0"/>
              <a:t> VALUES</a:t>
            </a:r>
          </a:p>
          <a:p>
            <a:r>
              <a:rPr lang="en-US" altLang="zh-CN" dirty="0"/>
              <a:t>('Introduction to Biology',		1001,				'16F',		'C-303',		'Mon. 13:00-16:00',	20002),</a:t>
            </a:r>
          </a:p>
          <a:p>
            <a:r>
              <a:rPr lang="en-US" altLang="zh-CN" dirty="0"/>
              <a:t>('Software Development Workshop',	1001,				'17S',		'D-102',		'Tue. 9:00-12:00',	20005),</a:t>
            </a:r>
          </a:p>
          <a:p>
            <a:r>
              <a:rPr lang="en-US" altLang="zh-CN" dirty="0"/>
              <a:t>('Foundations of C Programming',	1001, 				'17S', 		'D-403', 		'Tue. 14:00-17:00', 20005),</a:t>
            </a:r>
          </a:p>
          <a:p>
            <a:r>
              <a:rPr lang="en-US" altLang="zh-CN" dirty="0"/>
              <a:t>('Foundations of C Programming', 	1002, 				'17S', 		'D-402', 		'Wed. 9:00-12:00', 	20003),</a:t>
            </a:r>
          </a:p>
          <a:p>
            <a:r>
              <a:rPr lang="en-US" altLang="zh-CN" dirty="0"/>
              <a:t>('Advanced Statistics',		1001, 				'16F', 		'B-302', 		'Thu. 13:00-16:00', 20004),</a:t>
            </a:r>
          </a:p>
          <a:p>
            <a:r>
              <a:rPr lang="en-US" altLang="zh-CN" dirty="0"/>
              <a:t>('Photography', 			1001,				'16F', 		'E-102', 		'Fri. 13:00-16:00', 20006),</a:t>
            </a:r>
          </a:p>
          <a:p>
            <a:r>
              <a:rPr lang="en-US" altLang="zh-CN" dirty="0"/>
              <a:t>('Photography', 			1001,				'17F', 		'E-104', 		'Fri. 9:00-12:00', 	20007);	</a:t>
            </a:r>
          </a:p>
        </p:txBody>
      </p:sp>
    </p:spTree>
    <p:extLst>
      <p:ext uri="{BB962C8B-B14F-4D97-AF65-F5344CB8AC3E}">
        <p14:creationId xmlns:p14="http://schemas.microsoft.com/office/powerpoint/2010/main" val="2012050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FA65041-3FDA-188D-4758-7D91D1293D4B}"/>
              </a:ext>
            </a:extLst>
          </p:cNvPr>
          <p:cNvSpPr txBox="1"/>
          <p:nvPr/>
        </p:nvSpPr>
        <p:spPr>
          <a:xfrm>
            <a:off x="314324" y="211515"/>
            <a:ext cx="94202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INSERT INTO </a:t>
            </a:r>
            <a:r>
              <a:rPr lang="en-US" altLang="zh-CN" dirty="0">
                <a:highlight>
                  <a:srgbClr val="FFFF00"/>
                </a:highlight>
              </a:rPr>
              <a:t>offer</a:t>
            </a:r>
            <a:r>
              <a:rPr lang="en-US" altLang="zh-CN" dirty="0"/>
              <a:t> VALUES</a:t>
            </a:r>
          </a:p>
          <a:p>
            <a:r>
              <a:rPr lang="en-US" altLang="zh-CN" dirty="0"/>
              <a:t>(1001,					'Software Development Workshop'),</a:t>
            </a:r>
          </a:p>
          <a:p>
            <a:r>
              <a:rPr lang="en-US" altLang="zh-CN" dirty="0"/>
              <a:t>(1001,					'Foundations of C Programming'),</a:t>
            </a:r>
          </a:p>
          <a:p>
            <a:r>
              <a:rPr lang="en-US" altLang="zh-CN" dirty="0"/>
              <a:t>(1002,					'Introduction to Biology'),</a:t>
            </a:r>
          </a:p>
          <a:p>
            <a:r>
              <a:rPr lang="en-US" altLang="zh-CN" dirty="0"/>
              <a:t>(1003,					'Advanced Statistics'),</a:t>
            </a:r>
          </a:p>
          <a:p>
            <a:r>
              <a:rPr lang="en-US" altLang="zh-CN" dirty="0"/>
              <a:t>(1004,					'Photography');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02EA4B-3CB2-7C1E-52AF-4F7FF90A3357}"/>
              </a:ext>
            </a:extLst>
          </p:cNvPr>
          <p:cNvSpPr txBox="1"/>
          <p:nvPr/>
        </p:nvSpPr>
        <p:spPr>
          <a:xfrm>
            <a:off x="314324" y="2041088"/>
            <a:ext cx="841533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INSERT INTO </a:t>
            </a:r>
            <a:r>
              <a:rPr lang="en-US" altLang="zh-CN" dirty="0">
                <a:highlight>
                  <a:srgbClr val="FFFF00"/>
                </a:highlight>
              </a:rPr>
              <a:t>student</a:t>
            </a:r>
            <a:r>
              <a:rPr lang="en-US" altLang="zh-CN" dirty="0"/>
              <a:t> VALUES</a:t>
            </a:r>
          </a:p>
          <a:p>
            <a:r>
              <a:rPr lang="en-US" altLang="zh-CN" dirty="0"/>
              <a:t>(30001,	'Alice',	3,	3.54,		1003),</a:t>
            </a:r>
          </a:p>
          <a:p>
            <a:r>
              <a:rPr lang="en-US" altLang="zh-CN" dirty="0"/>
              <a:t>(30002,	'Bob',	2, 	1.36,		1002),</a:t>
            </a:r>
          </a:p>
          <a:p>
            <a:r>
              <a:rPr lang="en-US" altLang="zh-CN" dirty="0"/>
              <a:t>(30003,	'Charlie',	4, 	3.14, 		1004),</a:t>
            </a:r>
          </a:p>
          <a:p>
            <a:r>
              <a:rPr lang="en-US" altLang="zh-CN" dirty="0"/>
              <a:t>(30004,	'Dave',	2, 	3.25, 		1001),</a:t>
            </a:r>
          </a:p>
          <a:p>
            <a:r>
              <a:rPr lang="en-US" altLang="zh-CN" dirty="0"/>
              <a:t>(30005,	'Elfrid',	1, 	2.94,		1003),</a:t>
            </a:r>
          </a:p>
          <a:p>
            <a:r>
              <a:rPr lang="en-US" altLang="zh-CN" dirty="0"/>
              <a:t>(30006,	'Frank',	1, 	3.08,		1004),</a:t>
            </a:r>
          </a:p>
          <a:p>
            <a:r>
              <a:rPr lang="en-US" altLang="zh-CN" dirty="0"/>
              <a:t>(30007,	'</a:t>
            </a:r>
            <a:r>
              <a:rPr lang="en-US" altLang="zh-CN" dirty="0" err="1"/>
              <a:t>Goppa</a:t>
            </a:r>
            <a:r>
              <a:rPr lang="en-US" altLang="zh-CN" dirty="0"/>
              <a:t>',	2, 	3.61, 		1001),</a:t>
            </a:r>
          </a:p>
          <a:p>
            <a:r>
              <a:rPr lang="en-US" altLang="zh-CN" dirty="0"/>
              <a:t>(30008, 	'</a:t>
            </a:r>
            <a:r>
              <a:rPr lang="en-US" altLang="zh-CN" dirty="0" err="1"/>
              <a:t>Hynuza</a:t>
            </a:r>
            <a:r>
              <a:rPr lang="en-US" altLang="zh-CN" dirty="0"/>
              <a:t>',	3, 	3.72, 		1002);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6335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AF01CC3-F2F8-4110-B71E-35EC37C574FF}"/>
              </a:ext>
            </a:extLst>
          </p:cNvPr>
          <p:cNvSpPr txBox="1"/>
          <p:nvPr/>
        </p:nvSpPr>
        <p:spPr>
          <a:xfrm>
            <a:off x="304800" y="381149"/>
            <a:ext cx="114109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INSERT INTO </a:t>
            </a:r>
            <a:r>
              <a:rPr lang="en-US" altLang="zh-CN" dirty="0">
                <a:highlight>
                  <a:srgbClr val="FFFF00"/>
                </a:highlight>
              </a:rPr>
              <a:t>enroll</a:t>
            </a:r>
            <a:r>
              <a:rPr lang="en-US" altLang="zh-CN" dirty="0"/>
              <a:t> VALUES</a:t>
            </a:r>
          </a:p>
          <a:p>
            <a:r>
              <a:rPr lang="en-US" altLang="zh-CN" dirty="0"/>
              <a:t>(30001,	'Advanced Statistics’,		1001, 		'16F',				'A-'),</a:t>
            </a:r>
          </a:p>
          <a:p>
            <a:r>
              <a:rPr lang="en-US" altLang="zh-CN" dirty="0"/>
              <a:t>(30001,	'Foundations of C Programming’,	 1002, 		'17S',				'A-'),</a:t>
            </a:r>
          </a:p>
          <a:p>
            <a:r>
              <a:rPr lang="en-US" altLang="zh-CN" dirty="0"/>
              <a:t>(30002,	'Introduction to Biology’,		1001,		'16F',				'F'),</a:t>
            </a:r>
          </a:p>
          <a:p>
            <a:r>
              <a:rPr lang="en-US" altLang="zh-CN" dirty="0"/>
              <a:t>(30003,	'Photography’, 			1001,		'16F',				'B+'),</a:t>
            </a:r>
          </a:p>
          <a:p>
            <a:r>
              <a:rPr lang="en-US" altLang="zh-CN" dirty="0"/>
              <a:t>(30004,	'Software Development Workshop’,	1001,		'17S',				'A-'),</a:t>
            </a:r>
          </a:p>
          <a:p>
            <a:r>
              <a:rPr lang="en-US" altLang="zh-CN" dirty="0"/>
              <a:t>(30005,	'Foundations of C Programming’,	1001, 		'17S',				'C+'),</a:t>
            </a:r>
          </a:p>
          <a:p>
            <a:r>
              <a:rPr lang="en-US" altLang="zh-CN" dirty="0"/>
              <a:t>(30006,	'Photography’, 			1001,		'17F',				'B'),</a:t>
            </a:r>
          </a:p>
          <a:p>
            <a:r>
              <a:rPr lang="en-US" altLang="zh-CN" dirty="0"/>
              <a:t>(30007,	'Foundations of C Programming’,	1001, 		'17S',				'A'),</a:t>
            </a:r>
          </a:p>
          <a:p>
            <a:r>
              <a:rPr lang="en-US" altLang="zh-CN" dirty="0"/>
              <a:t>(30008,	'Introduction to Biology’,		1001,		'16F',				'A-');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2701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247DC700-E158-8696-960C-11707B936CB4}"/>
              </a:ext>
            </a:extLst>
          </p:cNvPr>
          <p:cNvSpPr txBox="1"/>
          <p:nvPr/>
        </p:nvSpPr>
        <p:spPr>
          <a:xfrm>
            <a:off x="209549" y="229017"/>
            <a:ext cx="942022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INSERT INTO </a:t>
            </a:r>
            <a:r>
              <a:rPr lang="en-US" altLang="zh-CN" dirty="0">
                <a:highlight>
                  <a:srgbClr val="FFFF00"/>
                </a:highlight>
              </a:rPr>
              <a:t>contact</a:t>
            </a:r>
            <a:r>
              <a:rPr lang="en-US" altLang="zh-CN" dirty="0"/>
              <a:t> VALUES</a:t>
            </a:r>
          </a:p>
          <a:p>
            <a:r>
              <a:rPr lang="en-US" altLang="zh-CN" dirty="0"/>
              <a:t>(20002,		13123456789),</a:t>
            </a:r>
          </a:p>
          <a:p>
            <a:r>
              <a:rPr lang="en-US" altLang="zh-CN" dirty="0"/>
              <a:t>(20003,		13165498742),</a:t>
            </a:r>
          </a:p>
          <a:p>
            <a:r>
              <a:rPr lang="en-US" altLang="zh-CN" dirty="0"/>
              <a:t>(20004,		13124521698),</a:t>
            </a:r>
          </a:p>
          <a:p>
            <a:r>
              <a:rPr lang="en-US" altLang="zh-CN" dirty="0"/>
              <a:t>(20005,		13147821652),</a:t>
            </a:r>
          </a:p>
          <a:p>
            <a:r>
              <a:rPr lang="en-US" altLang="zh-CN" dirty="0"/>
              <a:t>(20006,		13152486123),</a:t>
            </a:r>
          </a:p>
          <a:p>
            <a:r>
              <a:rPr lang="en-US" altLang="zh-CN" dirty="0"/>
              <a:t>(20007,		13152168426),</a:t>
            </a:r>
          </a:p>
          <a:p>
            <a:r>
              <a:rPr lang="en-US" altLang="zh-CN" dirty="0"/>
              <a:t>(30001,		13548562132),</a:t>
            </a:r>
          </a:p>
          <a:p>
            <a:r>
              <a:rPr lang="en-US" altLang="zh-CN" dirty="0"/>
              <a:t>(30002,		13521654897),</a:t>
            </a:r>
          </a:p>
          <a:p>
            <a:r>
              <a:rPr lang="en-US" altLang="zh-CN" dirty="0"/>
              <a:t>(30003,		13526489762),</a:t>
            </a:r>
          </a:p>
          <a:p>
            <a:r>
              <a:rPr lang="en-US" altLang="zh-CN" dirty="0"/>
              <a:t>(30004,		13524879653),</a:t>
            </a:r>
          </a:p>
          <a:p>
            <a:r>
              <a:rPr lang="en-US" altLang="zh-CN" dirty="0"/>
              <a:t>(30005,		13564892136),</a:t>
            </a:r>
          </a:p>
          <a:p>
            <a:r>
              <a:rPr lang="en-US" altLang="zh-CN" dirty="0"/>
              <a:t>(30006,		13546892131),</a:t>
            </a:r>
          </a:p>
          <a:p>
            <a:r>
              <a:rPr lang="en-US" altLang="zh-CN" dirty="0"/>
              <a:t>(30007,		13516498554),</a:t>
            </a:r>
          </a:p>
          <a:p>
            <a:r>
              <a:rPr lang="en-US" altLang="zh-CN" dirty="0"/>
              <a:t>(30008, 	13579652321);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3553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49A1B0E-0092-5251-FE3E-922E1C8FA026}"/>
              </a:ext>
            </a:extLst>
          </p:cNvPr>
          <p:cNvSpPr txBox="1"/>
          <p:nvPr/>
        </p:nvSpPr>
        <p:spPr>
          <a:xfrm>
            <a:off x="304800" y="486192"/>
            <a:ext cx="1110615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INSERT INTO </a:t>
            </a:r>
            <a:r>
              <a:rPr lang="en-US" altLang="zh-CN" dirty="0">
                <a:highlight>
                  <a:srgbClr val="FFFF00"/>
                </a:highlight>
              </a:rPr>
              <a:t>book</a:t>
            </a:r>
            <a:r>
              <a:rPr lang="en-US" altLang="zh-CN" dirty="0"/>
              <a:t> VALUES</a:t>
            </a:r>
          </a:p>
          <a:p>
            <a:r>
              <a:rPr lang="en-US" altLang="zh-CN" dirty="0"/>
              <a:t>(9781579550088,		'A New Kind of Science',				'Stephen Wolfram'),</a:t>
            </a:r>
          </a:p>
          <a:p>
            <a:r>
              <a:rPr lang="en-US" altLang="zh-CN" dirty="0"/>
              <a:t>(9780923891579,		'Introduction to Metamathematics’,			'Stephen Cole Kleene');</a:t>
            </a:r>
          </a:p>
          <a:p>
            <a:endParaRPr lang="en-US" altLang="zh-CN" dirty="0"/>
          </a:p>
          <a:p>
            <a:r>
              <a:rPr lang="en-US" altLang="zh-CN" dirty="0"/>
              <a:t>INSERT INTO </a:t>
            </a:r>
            <a:r>
              <a:rPr lang="en-US" altLang="zh-CN" dirty="0">
                <a:highlight>
                  <a:srgbClr val="FFFF00"/>
                </a:highlight>
              </a:rPr>
              <a:t>borrow</a:t>
            </a:r>
            <a:r>
              <a:rPr lang="en-US" altLang="zh-CN" dirty="0"/>
              <a:t> VALUES</a:t>
            </a:r>
          </a:p>
          <a:p>
            <a:r>
              <a:rPr lang="en-US" altLang="zh-CN" dirty="0"/>
              <a:t>(30001,		9781579550088,		'2016-03-24',				'2016-03-01'),</a:t>
            </a:r>
          </a:p>
          <a:p>
            <a:r>
              <a:rPr lang="en-US" altLang="zh-CN" dirty="0"/>
              <a:t>(30002,		9781579550088,		'2015-10-08',				'2015-09-25'),</a:t>
            </a:r>
          </a:p>
          <a:p>
            <a:r>
              <a:rPr lang="en-US" altLang="zh-CN" dirty="0"/>
              <a:t>(30003,		9780923891579,		'2014-11-12',				'2014-11-22'),</a:t>
            </a:r>
          </a:p>
          <a:p>
            <a:r>
              <a:rPr lang="en-US" altLang="zh-CN" dirty="0"/>
              <a:t>(20004,		9781579550088,		'2013-06-02',				'2013-09-02');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22597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8355B34-B7BD-D669-0105-B3D99BAB28C7}"/>
              </a:ext>
            </a:extLst>
          </p:cNvPr>
          <p:cNvSpPr txBox="1"/>
          <p:nvPr/>
        </p:nvSpPr>
        <p:spPr>
          <a:xfrm>
            <a:off x="380999" y="457617"/>
            <a:ext cx="848677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UPDATE program </a:t>
            </a:r>
          </a:p>
          <a:p>
            <a:r>
              <a:rPr lang="en-US" altLang="zh-CN" dirty="0"/>
              <a:t>SET </a:t>
            </a:r>
            <a:r>
              <a:rPr lang="en-US" altLang="zh-CN" dirty="0" err="1"/>
              <a:t>director_id</a:t>
            </a:r>
            <a:r>
              <a:rPr lang="en-US" altLang="zh-CN" dirty="0"/>
              <a:t> = 20005</a:t>
            </a:r>
          </a:p>
          <a:p>
            <a:r>
              <a:rPr lang="en-US" altLang="zh-CN" dirty="0"/>
              <a:t>WHERE </a:t>
            </a:r>
            <a:r>
              <a:rPr lang="en-US" altLang="zh-CN" dirty="0" err="1"/>
              <a:t>p_code</a:t>
            </a:r>
            <a:r>
              <a:rPr lang="en-US" altLang="zh-CN" dirty="0"/>
              <a:t> = 1001;</a:t>
            </a:r>
          </a:p>
          <a:p>
            <a:endParaRPr lang="en-US" altLang="zh-CN" dirty="0"/>
          </a:p>
          <a:p>
            <a:r>
              <a:rPr lang="en-US" altLang="zh-CN" dirty="0"/>
              <a:t>UPDATE program </a:t>
            </a:r>
          </a:p>
          <a:p>
            <a:r>
              <a:rPr lang="en-US" altLang="zh-CN" dirty="0"/>
              <a:t>SET </a:t>
            </a:r>
            <a:r>
              <a:rPr lang="en-US" altLang="zh-CN" dirty="0" err="1"/>
              <a:t>director_id</a:t>
            </a:r>
            <a:r>
              <a:rPr lang="en-US" altLang="zh-CN" dirty="0"/>
              <a:t> = 20002</a:t>
            </a:r>
          </a:p>
          <a:p>
            <a:r>
              <a:rPr lang="en-US" altLang="zh-CN" dirty="0"/>
              <a:t>WHERE </a:t>
            </a:r>
            <a:r>
              <a:rPr lang="en-US" altLang="zh-CN" dirty="0" err="1"/>
              <a:t>p_code</a:t>
            </a:r>
            <a:r>
              <a:rPr lang="en-US" altLang="zh-CN" dirty="0"/>
              <a:t> = 1002;</a:t>
            </a:r>
          </a:p>
          <a:p>
            <a:endParaRPr lang="en-US" altLang="zh-CN" dirty="0"/>
          </a:p>
          <a:p>
            <a:r>
              <a:rPr lang="en-US" altLang="zh-CN" dirty="0"/>
              <a:t>UPDATE program </a:t>
            </a:r>
          </a:p>
          <a:p>
            <a:r>
              <a:rPr lang="en-US" altLang="zh-CN" dirty="0"/>
              <a:t>SET </a:t>
            </a:r>
            <a:r>
              <a:rPr lang="en-US" altLang="zh-CN" dirty="0" err="1"/>
              <a:t>director_id</a:t>
            </a:r>
            <a:r>
              <a:rPr lang="en-US" altLang="zh-CN" dirty="0"/>
              <a:t> = 20003</a:t>
            </a:r>
          </a:p>
          <a:p>
            <a:r>
              <a:rPr lang="en-US" altLang="zh-CN" dirty="0"/>
              <a:t>WHERE </a:t>
            </a:r>
            <a:r>
              <a:rPr lang="en-US" altLang="zh-CN" dirty="0" err="1"/>
              <a:t>p_code</a:t>
            </a:r>
            <a:r>
              <a:rPr lang="en-US" altLang="zh-CN" dirty="0"/>
              <a:t> = 1003;</a:t>
            </a:r>
          </a:p>
          <a:p>
            <a:endParaRPr lang="en-US" altLang="zh-CN" dirty="0"/>
          </a:p>
          <a:p>
            <a:r>
              <a:rPr lang="en-US" altLang="zh-CN" dirty="0"/>
              <a:t>UPDATE program </a:t>
            </a:r>
          </a:p>
          <a:p>
            <a:r>
              <a:rPr lang="en-US" altLang="zh-CN" dirty="0"/>
              <a:t>SET </a:t>
            </a:r>
            <a:r>
              <a:rPr lang="en-US" altLang="zh-CN" dirty="0" err="1"/>
              <a:t>director_id</a:t>
            </a:r>
            <a:r>
              <a:rPr lang="en-US" altLang="zh-CN" dirty="0"/>
              <a:t> = 20007</a:t>
            </a:r>
          </a:p>
          <a:p>
            <a:r>
              <a:rPr lang="en-US" altLang="zh-CN" dirty="0"/>
              <a:t>WHERE </a:t>
            </a:r>
            <a:r>
              <a:rPr lang="en-US" altLang="zh-CN" dirty="0" err="1"/>
              <a:t>p_code</a:t>
            </a:r>
            <a:r>
              <a:rPr lang="en-US" altLang="zh-CN" dirty="0"/>
              <a:t> = 1004;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42505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594C1-CB74-4CFB-7719-ADB41F916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25AF0-D8CB-78D6-EF64-AA6C3AE36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4474372"/>
          </a:xfrm>
        </p:spPr>
        <p:txBody>
          <a:bodyPr>
            <a:normAutofit/>
          </a:bodyPr>
          <a:lstStyle/>
          <a:p>
            <a:r>
              <a:rPr lang="en-US" altLang="zh-CN" dirty="0"/>
              <a:t>The student whose GPA is below 1.7 will be disqualified from the college. Find such students and remove their information from the database.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B2DC0E-E03C-ABD9-8CA8-70FC8504871C}"/>
              </a:ext>
            </a:extLst>
          </p:cNvPr>
          <p:cNvSpPr txBox="1"/>
          <p:nvPr/>
        </p:nvSpPr>
        <p:spPr>
          <a:xfrm>
            <a:off x="1219199" y="3290411"/>
            <a:ext cx="91344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DELETE FROM enroll WHERE id=(SELECT id FROM student WHERE </a:t>
            </a:r>
            <a:r>
              <a:rPr lang="en-US" altLang="zh-CN" dirty="0" err="1"/>
              <a:t>gpa</a:t>
            </a:r>
            <a:r>
              <a:rPr lang="en-US" altLang="zh-CN" dirty="0"/>
              <a:t>&lt;1.7);</a:t>
            </a:r>
          </a:p>
          <a:p>
            <a:r>
              <a:rPr lang="en-US" altLang="zh-CN" dirty="0"/>
              <a:t>DELETE FROM contact WHERE id=(SELECT id FROM student WHERE </a:t>
            </a:r>
            <a:r>
              <a:rPr lang="en-US" altLang="zh-CN" dirty="0" err="1"/>
              <a:t>gpa</a:t>
            </a:r>
            <a:r>
              <a:rPr lang="en-US" altLang="zh-CN" dirty="0"/>
              <a:t>&lt;1.7);</a:t>
            </a:r>
          </a:p>
          <a:p>
            <a:r>
              <a:rPr lang="en-US" altLang="zh-CN" dirty="0"/>
              <a:t>DELETE FROM student WHERE </a:t>
            </a:r>
            <a:r>
              <a:rPr lang="en-US" altLang="zh-CN" dirty="0" err="1"/>
              <a:t>gpa</a:t>
            </a:r>
            <a:r>
              <a:rPr lang="en-US" altLang="zh-CN" dirty="0"/>
              <a:t>&lt;1.7;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6BD807D-ED48-DAC6-4D0D-F9B1CBE5CA21}"/>
              </a:ext>
            </a:extLst>
          </p:cNvPr>
          <p:cNvSpPr txBox="1"/>
          <p:nvPr/>
        </p:nvSpPr>
        <p:spPr>
          <a:xfrm>
            <a:off x="1047750" y="5240119"/>
            <a:ext cx="96583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Because: </a:t>
            </a:r>
          </a:p>
          <a:p>
            <a:r>
              <a:rPr lang="en-US" altLang="zh-CN" dirty="0"/>
              <a:t>ALTER TABLE enroll ADD FOREIGN KEY (id) </a:t>
            </a:r>
            <a:r>
              <a:rPr lang="en-US" altLang="zh-CN" dirty="0">
                <a:highlight>
                  <a:srgbClr val="FFFF00"/>
                </a:highlight>
              </a:rPr>
              <a:t>REFERENCES student</a:t>
            </a:r>
            <a:r>
              <a:rPr lang="en-US" altLang="zh-CN" dirty="0"/>
              <a:t>(id);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34259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895</TotalTime>
  <Words>2538</Words>
  <Application>Microsoft Office PowerPoint</Application>
  <PresentationFormat>Widescreen</PresentationFormat>
  <Paragraphs>257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等线</vt:lpstr>
      <vt:lpstr>等线 Light</vt:lpstr>
      <vt:lpstr>Arial</vt:lpstr>
      <vt:lpstr>Calibri</vt:lpstr>
      <vt:lpstr>Cambria Math</vt:lpstr>
      <vt:lpstr>Consolas</vt:lpstr>
      <vt:lpstr>Times New Roman</vt:lpstr>
      <vt:lpstr>Office 主题​​</vt:lpstr>
      <vt:lpstr>Office Theme</vt:lpstr>
      <vt:lpstr>Lecture 07</vt:lpstr>
      <vt:lpstr>Exercise 1</vt:lpstr>
      <vt:lpstr>PowerPoint Presentation</vt:lpstr>
      <vt:lpstr>Exercise 2</vt:lpstr>
      <vt:lpstr>PowerPoint Presentation</vt:lpstr>
      <vt:lpstr>Exercise 3</vt:lpstr>
      <vt:lpstr>PowerPoint Presentation</vt:lpstr>
      <vt:lpstr>Lab 07 review.</vt:lpstr>
      <vt:lpstr>Data Modification</vt:lpstr>
      <vt:lpstr>Insert</vt:lpstr>
      <vt:lpstr>Example</vt:lpstr>
      <vt:lpstr>Example</vt:lpstr>
      <vt:lpstr>Insert</vt:lpstr>
      <vt:lpstr>Update</vt:lpstr>
      <vt:lpstr>Delete</vt:lpstr>
      <vt:lpstr>Exercises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咖啡猫</dc:creator>
  <cp:lastModifiedBy>temp</cp:lastModifiedBy>
  <cp:revision>158</cp:revision>
  <dcterms:created xsi:type="dcterms:W3CDTF">2022-09-27T02:37:53Z</dcterms:created>
  <dcterms:modified xsi:type="dcterms:W3CDTF">2024-09-09T00:54:51Z</dcterms:modified>
</cp:coreProperties>
</file>