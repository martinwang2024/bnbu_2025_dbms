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  <p:sldMasterId id="2147483686" r:id="rId4"/>
  </p:sldMasterIdLst>
  <p:notesMasterIdLst>
    <p:notesMasterId r:id="rId39"/>
  </p:notesMasterIdLst>
  <p:sldIdLst>
    <p:sldId id="282" r:id="rId5"/>
    <p:sldId id="420" r:id="rId6"/>
    <p:sldId id="430" r:id="rId7"/>
    <p:sldId id="439" r:id="rId8"/>
    <p:sldId id="440" r:id="rId9"/>
    <p:sldId id="441" r:id="rId10"/>
    <p:sldId id="442" r:id="rId11"/>
    <p:sldId id="443" r:id="rId12"/>
    <p:sldId id="432" r:id="rId13"/>
    <p:sldId id="436" r:id="rId14"/>
    <p:sldId id="437" r:id="rId15"/>
    <p:sldId id="444" r:id="rId16"/>
    <p:sldId id="267" r:id="rId17"/>
    <p:sldId id="292" r:id="rId18"/>
    <p:sldId id="599" r:id="rId19"/>
    <p:sldId id="293" r:id="rId20"/>
    <p:sldId id="294" r:id="rId21"/>
    <p:sldId id="302" r:id="rId22"/>
    <p:sldId id="295" r:id="rId23"/>
    <p:sldId id="296" r:id="rId24"/>
    <p:sldId id="299" r:id="rId25"/>
    <p:sldId id="304" r:id="rId26"/>
    <p:sldId id="305" r:id="rId27"/>
    <p:sldId id="297" r:id="rId28"/>
    <p:sldId id="298" r:id="rId29"/>
    <p:sldId id="300" r:id="rId30"/>
    <p:sldId id="301" r:id="rId31"/>
    <p:sldId id="291" r:id="rId32"/>
    <p:sldId id="306" r:id="rId33"/>
    <p:sldId id="307" r:id="rId34"/>
    <p:sldId id="308" r:id="rId35"/>
    <p:sldId id="309" r:id="rId36"/>
    <p:sldId id="310" r:id="rId37"/>
    <p:sldId id="311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89" autoAdjust="0"/>
    <p:restoredTop sz="84129"/>
  </p:normalViewPr>
  <p:slideViewPr>
    <p:cSldViewPr snapToGrid="0">
      <p:cViewPr varScale="1">
        <p:scale>
          <a:sx n="88" d="100"/>
          <a:sy n="88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383C3-0FFB-324B-9EB8-68200984B79E}" type="datetimeFigureOut">
              <a:rPr kumimoji="1" lang="zh-CN" altLang="en-US" smtClean="0"/>
              <a:t>2024/9/9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45609-95CC-A346-AD47-1583699E45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588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45609-95CC-A346-AD47-1583699E45C5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4676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8A2E9-E2B3-B855-04D7-9E4FED45C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A5BA8E-8DB4-F184-5EFA-A684AF006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78750F-3414-51CC-7043-A4EEC5608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D27B01-D6E0-ED29-A05C-0D8A16F1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74F8B7-0C49-C434-4970-86C3945C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082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BEB04-A1EB-9682-C43B-C861B04E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C4BA57-64B4-C2F1-5766-8A7FFDEBC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3B7C54-2267-B637-0E92-207716BA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38D87-96C4-5E9A-9611-E192D109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00F9E-1B85-E418-57E5-7AAF714E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43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B3B45-0B30-BFBB-C112-0854F8C2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4C0EC9-5501-1CF8-CE49-4A1E2A523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EAE5D2-E053-14B8-85E3-23EBEFF7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54382D-4FDC-D627-6B22-BB4830D4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826FC6-0F6E-4BCB-1529-446C4936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88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0E776-F1C3-A206-6BB8-ECF0B7C3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7FC1A2-C91A-F9AB-6806-B4A3C44E6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D7BD1E-2E5B-5B65-90EE-B3D9B9DB4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26A268-6C0A-D68E-D624-D8D264F8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037D56-6CDE-0903-ACAC-DD274257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A9EE35-791B-367F-09C6-D914BDBB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5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57CE1-D4C0-BDC4-A14C-E879327F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E2DDA7-5B87-8772-32B5-67628DC05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829961-3478-C868-C729-98F829571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E974FD-8C8C-38B3-4EBF-38E9351A7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A628E4-9750-A238-5CEC-36F5F0189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121AED-BFDE-078B-830E-FE16292F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C85E8A-E407-100B-99F3-52ABE2C2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95B42F-0830-F502-B5F2-658A4E58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92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3F4B9-3FE0-7261-39A3-5F9FBFF2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D462A3-7616-9B19-59B5-3DDFE241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CDCE52-1D74-B8A8-840F-2209B75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FD5106-AE87-0D1A-486F-3A98AC44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63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6F6A5E-9B8B-549E-C0DA-6487A4BC6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1D0BD1-FBF6-ED38-278E-7885EA0F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CC850C-BF86-59DD-B87E-A43F68B5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38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264E4-7F5C-FCCB-2B2A-90CBEE024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A407D-89B8-4D54-F457-FCF03DA6F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ADB15F-36C9-2EC5-0670-8E16F5888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5A8CAB-B693-CD53-AFFD-38F96578A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4F956-014A-574E-A852-E267F85B5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7F11C2-8BFE-F500-B4FB-08A4A2F6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97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74E94-BA9D-79FD-A415-6FB40DCE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4A436E-7C35-C0EA-0591-1FD76C7D0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D0366-3C93-750C-BFC3-E38F69EC8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40A36D-873A-FAB7-72E5-2355A0A5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490F98-3A55-BCC2-F975-83E5F6F8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320FD2-DE59-516A-3FE2-9B738379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56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00C2BB-54E0-5DCC-B7D9-E69D7730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715029-7613-2F80-74A4-FC912E24F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C13E00-6BCB-9DE1-017F-0E5405F7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604F6-BE08-3261-6177-466053D5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60BA8-7543-52B0-4E37-A1BA31E8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8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5E015F-440C-C4E6-BF0F-CF541EEBE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A0C566-D9DE-F2A8-135B-9D1C4717C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C570DB-A516-FA3C-2497-5987F23C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B29A11-8EFD-F047-A112-03FEDEBE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E69931-DC50-FD68-2814-347DD842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152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74255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E098-E2CC-D3F2-4819-EE4F2832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B8820-5CC6-4B20-ED6C-FB226D8A7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85C1A-A182-5EF0-18B4-4E531F00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2453E-FB50-13FB-67E8-FFBDB331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82973-6CA3-85F4-38CD-6B4A40F8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447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85B6-B83D-3E72-CE65-8BDD9EE6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2DD6C-1CE9-7A64-4701-7209EE37B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3F004-91DE-7F82-6A95-2EB3EEEA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528C9-E4D0-CDC8-925C-842664A1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F5F1F-9332-DC90-7B53-67F6E420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193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FE0D-3536-A239-0510-F9336598D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B6B44-1063-2BE0-A315-16F040A3B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B4B5F-C681-3B8F-BCE6-3029E0DF1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59DBA-4BE1-5BAB-C8E8-9D6F0C28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A09BD-7942-C36A-5798-720E5BB3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5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E2C4-B449-2660-FD71-5A0C7221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61E77-462D-BB97-2B2B-FA7B3B097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D812B-05CE-3BBE-7C27-9629930D4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692EE-C325-F4C5-A4C0-155C3522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424AA-455C-6146-2496-126B9450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A1D09-4AB3-BFC6-BBA5-F9674F16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47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C566-A693-845C-A3BE-AD03A6DC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CFF30-8C3E-D9F8-DE24-D368AF154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EAAD0-7FF9-0DE0-10EA-C5843C267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D29F9A-D3D4-1085-BF52-C20DD80A0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918F0-512D-47BD-5B7D-A6BA8B11F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C8024-9CA5-87C6-EAFE-31798A70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6906B4-6561-4833-2BEB-13E43E46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BF590-A1D2-73B2-E66D-12A4DA5A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0533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7005-E121-DF5D-B211-27487D84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8CFD4-C6DD-30ED-B6DA-53E978AF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37395-0D3A-A6D5-F33F-ECD70723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D6056-478F-840E-980B-834683AD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6640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64A3F-69FD-F468-9623-8E554B70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C8247-11DB-C7E8-9A72-79EDDCD9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55725-B991-53A8-1252-4B0487AD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6178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620B-D2BF-D00A-C868-CD5BFCB5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DCFC7-AEDE-87D5-E224-05520BC10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37760-7B3A-8289-79A7-45D0F8C94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8C5B1-E924-C989-60C9-C42D2104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9233B-CF3F-F7D8-3A0B-01CE85D6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020BE-ED20-8F83-B8F1-E9E1E45F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3523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5E204-07A3-7579-A17F-52CB514A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16569-FD8A-3703-35ED-096F4D4BD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465A8-2845-5AC8-88BD-38EB87999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4DDEC-4422-C755-C919-88301C39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BF0AE-742B-8598-A4FB-62A46A78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C16AD-7FEE-2D36-D9D9-1086A99C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623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4DD2-FA16-51ED-A799-E209CB30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5D6D6-05B7-D648-CD56-954793886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8D246-82DD-9FE6-9809-89FEB8F6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C4B82-04F5-8D28-C42E-BA95837A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BD9B-0885-A438-220D-BA61EC56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4003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8F99A-6F19-2323-8DC7-F94584011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B8160-7C94-C612-801A-28C1433B9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7F14C-2027-3CF4-FFE1-1DCBB86C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73B8B-7796-64BB-54B3-2B659AE4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0FEA8-287F-D6F2-3C8E-A3F9F458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470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74044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195491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403235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891877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72857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72059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256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2820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342651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77025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93801"/>
            <a:ext cx="105156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4461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420535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83129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419690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519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B53DD9-0D71-6F10-7D07-16FFC495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EEE59A-AD8E-9011-604E-E7269F94D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2625DE-8614-CD54-1E53-D3CF83C45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EA2C5-6799-5625-06AF-C6F4F392C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88C29-531C-3976-B522-E17663932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09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4B982-76D9-F8D6-B291-2A5B0C9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70C93-2A23-6DD0-86FF-5FE8D8C91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24A7D-D4B6-47C6-1CC2-E7E5DAC86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3D56F-6F69-B832-22ED-AC548E5CD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42C4-F64D-1FC8-6EA6-1CED3B236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57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Database Design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8091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Lab6</a:t>
            </a:r>
            <a:r>
              <a:rPr kumimoji="1" lang="en-US" altLang="zh-CN" sz="1200" baseline="0" dirty="0">
                <a:solidFill>
                  <a:schemeClr val="bg1"/>
                </a:solidFill>
              </a:rPr>
              <a:t> Data Definition</a:t>
            </a:r>
            <a:endParaRPr kumimoji="1"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97BAED3B-53C8-7041-817F-696DE6D8D146}"/>
              </a:ext>
            </a:extLst>
          </p:cNvPr>
          <p:cNvSpPr txBox="1">
            <a:spLocks/>
          </p:cNvSpPr>
          <p:nvPr/>
        </p:nvSpPr>
        <p:spPr>
          <a:xfrm>
            <a:off x="9770773" y="6637866"/>
            <a:ext cx="1362187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800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ispace.uic.edu.hk/mod/resource/view.php?id=395628" TargetMode="Externa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8F26129-D88B-57C2-DC33-C59C6BD91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08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022F863-CDCA-C3F6-6328-2A8956A0A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5268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宋体" charset="-122"/>
              </a:rPr>
              <a:t>Lecture 8 Relational Database Design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Purpose &amp; First Normal Form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Features of Good Relational Design</a:t>
            </a:r>
          </a:p>
          <a:p>
            <a:r>
              <a:rPr lang="en-US" altLang="zh-CN" dirty="0">
                <a:ea typeface="宋体" charset="-122"/>
              </a:rPr>
              <a:t>Atomic Domains and First Normal Form</a:t>
            </a:r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26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Larger Schemas?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2"/>
                <a:ext cx="7886700" cy="4904509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50"/>
                  </a:spcBef>
                  <a:buNone/>
                </a:pPr>
                <a:r>
                  <a:rPr lang="en-US" altLang="zh-CN" dirty="0">
                    <a:ea typeface="宋体" charset="-122"/>
                  </a:rPr>
                  <a:t>Suppose that instead of the schemas </a:t>
                </a:r>
              </a:p>
              <a:p>
                <a:pPr marL="0" indent="0">
                  <a:spcBef>
                    <a:spcPts val="250"/>
                  </a:spcBef>
                  <a:buNone/>
                </a:pPr>
                <a:r>
                  <a:rPr lang="en-US" altLang="zh-CN" sz="1800" i="1" dirty="0">
                    <a:ea typeface="宋体" charset="-12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𝑐𝑜𝑢𝑟𝑠𝑒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 =(</m:t>
                    </m:r>
                    <m:bar>
                      <m:bar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𝑛𝑎𝑚𝑒</m:t>
                        </m:r>
                      </m:e>
                    </m:ba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𝑐𝑟𝑒𝑑𝑖𝑡𝑠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𝑑𝑜𝑚𝑎𝑖𝑛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𝑛𝑢𝑚𝑏𝑒𝑟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1800" i="1" dirty="0">
                    <a:ea typeface="宋体" charset="-12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𝑜𝑓𝑓𝑒𝑟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𝑝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𝑐𝑜𝑑𝑒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,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𝑐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𝑛𝑎𝑚𝑒</m:t>
                        </m:r>
                      </m:e>
                    </m:ba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  <a:p>
                <a:pPr marL="0" indent="0">
                  <a:spcBef>
                    <a:spcPts val="250"/>
                  </a:spcBef>
                  <a:buNone/>
                </a:pPr>
                <a:r>
                  <a:rPr lang="en-US" altLang="zh-CN" dirty="0">
                    <a:ea typeface="宋体" charset="-122"/>
                  </a:rPr>
                  <a:t>we have a larger schema </a:t>
                </a:r>
              </a:p>
              <a:p>
                <a:pPr marL="0" indent="0">
                  <a:spcBef>
                    <a:spcPts val="250"/>
                  </a:spcBef>
                  <a:buNone/>
                </a:pPr>
                <a:r>
                  <a:rPr lang="en-US" altLang="zh-CN" i="1" dirty="0">
                    <a:ea typeface="宋体" charset="-12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𝑐𝑜𝑢𝑟𝑠𝑒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𝑖𝑛𝑓𝑜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𝑐𝑟𝑒𝑑𝑖𝑡𝑠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𝑑𝑜𝑚𝑎𝑖𝑛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𝑛𝑢𝑚𝑏𝑒𝑟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𝑝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𝑐𝑜𝑑𝑒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marL="0" indent="0">
                  <a:spcBef>
                    <a:spcPts val="250"/>
                  </a:spcBef>
                  <a:buNone/>
                </a:pPr>
                <a:endParaRPr lang="en-US" altLang="zh-CN" dirty="0">
                  <a:ea typeface="宋体" charset="-122"/>
                </a:endParaRPr>
              </a:p>
              <a:p>
                <a:pPr marL="0" indent="0">
                  <a:spcBef>
                    <a:spcPts val="250"/>
                  </a:spcBef>
                  <a:buNone/>
                </a:pPr>
                <a:r>
                  <a:rPr lang="en-US" altLang="zh-CN" dirty="0">
                    <a:ea typeface="宋体" charset="-122"/>
                  </a:rPr>
                  <a:t>Note: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𝑐𝑜𝑑𝑒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 the code of the </a:t>
                </a:r>
                <a:r>
                  <a:rPr lang="en-US" altLang="zh-CN" dirty="0">
                    <a:highlight>
                      <a:srgbClr val="FFFF00"/>
                    </a:highlight>
                    <a:ea typeface="宋体" charset="-122"/>
                  </a:rPr>
                  <a:t>program</a:t>
                </a:r>
                <a:r>
                  <a:rPr lang="en-US" altLang="zh-CN" dirty="0">
                    <a:ea typeface="宋体" charset="-122"/>
                  </a:rPr>
                  <a:t> which offers the course.</a:t>
                </a:r>
              </a:p>
              <a:p>
                <a:pPr marL="0" indent="0">
                  <a:spcBef>
                    <a:spcPts val="250"/>
                  </a:spcBef>
                  <a:buNone/>
                </a:pPr>
                <a:endParaRPr lang="en-US" altLang="zh-CN" dirty="0">
                  <a:ea typeface="宋体" charset="-122"/>
                </a:endParaRPr>
              </a:p>
              <a:p>
                <a:pPr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What is the key of this schema?</a:t>
                </a:r>
              </a:p>
              <a:p>
                <a:pPr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Why this is not a good design?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2"/>
                <a:ext cx="7886700" cy="4904509"/>
              </a:xfrm>
              <a:blipFill>
                <a:blip r:embed="rId2"/>
                <a:stretch>
                  <a:fillRect l="-804" t="-15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87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Larger Schemas?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2"/>
                <a:ext cx="7886700" cy="4904509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5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𝑐𝑜𝑢𝑟𝑠𝑒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𝑖𝑛𝑓𝑜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𝑐𝑟𝑒𝑑𝑖𝑡𝑠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𝑑𝑜𝑚𝑎𝑖𝑛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𝑛𝑢𝑚𝑏𝑒𝑟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𝑝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𝑐𝑜𝑑𝑒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1800" dirty="0">
                    <a:ea typeface="宋体" charset="-122"/>
                  </a:rPr>
                  <a:t> </a:t>
                </a:r>
              </a:p>
              <a:p>
                <a:pPr marL="0" indent="0">
                  <a:spcBef>
                    <a:spcPts val="250"/>
                  </a:spcBef>
                  <a:buNone/>
                </a:pPr>
                <a:endParaRPr lang="en-US" altLang="zh-CN" sz="1800" dirty="0">
                  <a:ea typeface="宋体" charset="-122"/>
                </a:endParaRPr>
              </a:p>
              <a:p>
                <a:pPr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What is the key of this schema?</a:t>
                </a:r>
              </a:p>
              <a:p>
                <a:pPr lvl="1">
                  <a:spcBef>
                    <a:spcPts val="25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𝑛𝑎𝑚𝑒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itself cannot be a key. When a course is offered by multiple programs,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𝑛𝑎𝑚𝑒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can no longer identify tuples.</a:t>
                </a: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The </a:t>
                </a:r>
                <a:r>
                  <a:rPr lang="en-US" altLang="zh-CN" dirty="0">
                    <a:highlight>
                      <a:srgbClr val="FFFF00"/>
                    </a:highlight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key has to be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</m:t>
                    </m:r>
                    <m:r>
                      <a:rPr lang="en-US" altLang="zh-CN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𝑛𝑎𝑚𝑒</m:t>
                    </m:r>
                    <m:r>
                      <a:rPr lang="en-US" altLang="zh-CN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𝑐𝑜𝑑𝑒</m:t>
                    </m:r>
                  </m:oMath>
                </a14:m>
                <a:r>
                  <a:rPr lang="en-US" altLang="zh-CN" dirty="0">
                    <a:highlight>
                      <a:srgbClr val="FFFF00"/>
                    </a:highlight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(two attributes).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2"/>
                <a:ext cx="7886700" cy="4904509"/>
              </a:xfrm>
              <a:blipFill>
                <a:blip r:embed="rId2"/>
                <a:stretch>
                  <a:fillRect l="-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7">
                <a:extLst>
                  <a:ext uri="{FF2B5EF4-FFF2-40B4-BE49-F238E27FC236}">
                    <a16:creationId xmlns:a16="http://schemas.microsoft.com/office/drawing/2014/main" id="{56832A33-64AE-64B8-1622-4650350B84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66368" y="3223481"/>
              <a:ext cx="4259264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718">
                      <a:extLst>
                        <a:ext uri="{9D8B030D-6E8A-4147-A177-3AD203B41FA5}">
                          <a16:colId xmlns:a16="http://schemas.microsoft.com/office/drawing/2014/main" val="1954184129"/>
                        </a:ext>
                      </a:extLst>
                    </a:gridCol>
                    <a:gridCol w="749618">
                      <a:extLst>
                        <a:ext uri="{9D8B030D-6E8A-4147-A177-3AD203B41FA5}">
                          <a16:colId xmlns:a16="http://schemas.microsoft.com/office/drawing/2014/main" val="154258966"/>
                        </a:ext>
                      </a:extLst>
                    </a:gridCol>
                    <a:gridCol w="821055">
                      <a:extLst>
                        <a:ext uri="{9D8B030D-6E8A-4147-A177-3AD203B41FA5}">
                          <a16:colId xmlns:a16="http://schemas.microsoft.com/office/drawing/2014/main" val="2121040338"/>
                        </a:ext>
                      </a:extLst>
                    </a:gridCol>
                    <a:gridCol w="992505">
                      <a:extLst>
                        <a:ext uri="{9D8B030D-6E8A-4147-A177-3AD203B41FA5}">
                          <a16:colId xmlns:a16="http://schemas.microsoft.com/office/drawing/2014/main" val="1500402269"/>
                        </a:ext>
                      </a:extLst>
                    </a:gridCol>
                    <a:gridCol w="781368">
                      <a:extLst>
                        <a:ext uri="{9D8B030D-6E8A-4147-A177-3AD203B41FA5}">
                          <a16:colId xmlns:a16="http://schemas.microsoft.com/office/drawing/2014/main" val="34884206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u="none" dirty="0" err="1"/>
                            <a:t>c_name</a:t>
                          </a:r>
                          <a:endParaRPr lang="zh-CN" altLang="en-US" i="1" u="non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/>
                            <a:t>credits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/>
                            <a:t>domain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 err="1"/>
                            <a:t>c_number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 err="1"/>
                            <a:t>p_code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12210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2601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Database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COMP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3013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CST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1198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Database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COMP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3013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DS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8823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14018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7">
                <a:extLst>
                  <a:ext uri="{FF2B5EF4-FFF2-40B4-BE49-F238E27FC236}">
                    <a16:creationId xmlns:a16="http://schemas.microsoft.com/office/drawing/2014/main" id="{56832A33-64AE-64B8-1622-4650350B84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66368" y="3223481"/>
              <a:ext cx="4259264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718">
                      <a:extLst>
                        <a:ext uri="{9D8B030D-6E8A-4147-A177-3AD203B41FA5}">
                          <a16:colId xmlns:a16="http://schemas.microsoft.com/office/drawing/2014/main" val="1954184129"/>
                        </a:ext>
                      </a:extLst>
                    </a:gridCol>
                    <a:gridCol w="749618">
                      <a:extLst>
                        <a:ext uri="{9D8B030D-6E8A-4147-A177-3AD203B41FA5}">
                          <a16:colId xmlns:a16="http://schemas.microsoft.com/office/drawing/2014/main" val="154258966"/>
                        </a:ext>
                      </a:extLst>
                    </a:gridCol>
                    <a:gridCol w="821055">
                      <a:extLst>
                        <a:ext uri="{9D8B030D-6E8A-4147-A177-3AD203B41FA5}">
                          <a16:colId xmlns:a16="http://schemas.microsoft.com/office/drawing/2014/main" val="2121040338"/>
                        </a:ext>
                      </a:extLst>
                    </a:gridCol>
                    <a:gridCol w="992505">
                      <a:extLst>
                        <a:ext uri="{9D8B030D-6E8A-4147-A177-3AD203B41FA5}">
                          <a16:colId xmlns:a16="http://schemas.microsoft.com/office/drawing/2014/main" val="1500402269"/>
                        </a:ext>
                      </a:extLst>
                    </a:gridCol>
                    <a:gridCol w="781368">
                      <a:extLst>
                        <a:ext uri="{9D8B030D-6E8A-4147-A177-3AD203B41FA5}">
                          <a16:colId xmlns:a16="http://schemas.microsoft.com/office/drawing/2014/main" val="34884206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u="none" dirty="0" err="1"/>
                            <a:t>c_name</a:t>
                          </a:r>
                          <a:endParaRPr lang="zh-CN" altLang="en-US" i="1" u="non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/>
                            <a:t>credits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/>
                            <a:t>domain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 err="1"/>
                            <a:t>c_number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 err="1"/>
                            <a:t>p_code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12210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89" t="-100000" r="-36944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3729" t="-100000" r="-35084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3077" t="-100000" r="-21846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564" t="-100000" r="-8205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43548" t="-100000" r="-3226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601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Database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COMP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3013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CST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1198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Database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COMP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3013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DS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8823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89" t="-410345" r="-369444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3729" t="-410345" r="-35084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3077" t="-410345" r="-218462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564" t="-410345" r="-82051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43548" t="-410345" r="-3226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4018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4451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Larger Schemas?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2"/>
                <a:ext cx="7886700" cy="4904509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5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𝑐𝑜𝑢𝑟𝑠𝑒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𝑖𝑛𝑓𝑜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𝑐𝑟𝑒𝑑𝑖𝑡𝑠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𝑑𝑜𝑚𝑎𝑖𝑛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𝑛𝑢𝑚𝑏𝑒𝑟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𝑝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𝑐𝑜𝑑𝑒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sz="1800" dirty="0">
                    <a:ea typeface="宋体" charset="-122"/>
                  </a:rPr>
                  <a:t> </a:t>
                </a:r>
              </a:p>
              <a:p>
                <a:pPr marL="0" indent="0">
                  <a:spcBef>
                    <a:spcPts val="250"/>
                  </a:spcBef>
                  <a:buNone/>
                </a:pPr>
                <a:endParaRPr lang="en-US" altLang="zh-CN" sz="1800" dirty="0">
                  <a:ea typeface="宋体" charset="-122"/>
                </a:endParaRPr>
              </a:p>
              <a:p>
                <a:pPr>
                  <a:spcBef>
                    <a:spcPts val="250"/>
                  </a:spcBef>
                </a:pPr>
                <a:r>
                  <a:rPr lang="en-US" altLang="zh-CN" dirty="0">
                    <a:ea typeface="宋体" charset="-122"/>
                  </a:rPr>
                  <a:t>Why this is not a good design?</a:t>
                </a:r>
              </a:p>
              <a:p>
                <a:pPr lvl="1">
                  <a:spcBef>
                    <a:spcPts val="25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From the example, we see </a:t>
                </a:r>
                <a:r>
                  <a:rPr lang="en-US" altLang="zh-CN" dirty="0">
                    <a:highlight>
                      <a:srgbClr val="FFFF00"/>
                    </a:highlight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redundancy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occurs.</a:t>
                </a: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endParaRPr>
              </a:p>
              <a:p>
                <a:pPr lvl="1">
                  <a:spcBef>
                    <a:spcPts val="250"/>
                  </a:spcBef>
                </a:pP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The reason is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𝑐𝑟𝑒𝑑𝑖𝑡𝑠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𝑑𝑜𝑚𝑎𝑖𝑛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  <a:cs typeface="Arial" panose="020B0604020202020204" pitchFamily="34" charset="0"/>
                      </a:rPr>
                      <m:t>𝑛𝑢𝑚𝑏𝑒𝑟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</a:rPr>
                  <a:t> are decided by the course, but not by the program which offers the course.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2"/>
                <a:ext cx="7886700" cy="4904509"/>
              </a:xfrm>
              <a:blipFill>
                <a:blip r:embed="rId2"/>
                <a:stretch>
                  <a:fillRect l="-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7">
                <a:extLst>
                  <a:ext uri="{FF2B5EF4-FFF2-40B4-BE49-F238E27FC236}">
                    <a16:creationId xmlns:a16="http://schemas.microsoft.com/office/drawing/2014/main" id="{56832A33-64AE-64B8-1622-4650350B84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66368" y="3223481"/>
              <a:ext cx="4259264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718">
                      <a:extLst>
                        <a:ext uri="{9D8B030D-6E8A-4147-A177-3AD203B41FA5}">
                          <a16:colId xmlns:a16="http://schemas.microsoft.com/office/drawing/2014/main" val="1954184129"/>
                        </a:ext>
                      </a:extLst>
                    </a:gridCol>
                    <a:gridCol w="749618">
                      <a:extLst>
                        <a:ext uri="{9D8B030D-6E8A-4147-A177-3AD203B41FA5}">
                          <a16:colId xmlns:a16="http://schemas.microsoft.com/office/drawing/2014/main" val="154258966"/>
                        </a:ext>
                      </a:extLst>
                    </a:gridCol>
                    <a:gridCol w="821055">
                      <a:extLst>
                        <a:ext uri="{9D8B030D-6E8A-4147-A177-3AD203B41FA5}">
                          <a16:colId xmlns:a16="http://schemas.microsoft.com/office/drawing/2014/main" val="2121040338"/>
                        </a:ext>
                      </a:extLst>
                    </a:gridCol>
                    <a:gridCol w="992505">
                      <a:extLst>
                        <a:ext uri="{9D8B030D-6E8A-4147-A177-3AD203B41FA5}">
                          <a16:colId xmlns:a16="http://schemas.microsoft.com/office/drawing/2014/main" val="1500402269"/>
                        </a:ext>
                      </a:extLst>
                    </a:gridCol>
                    <a:gridCol w="781368">
                      <a:extLst>
                        <a:ext uri="{9D8B030D-6E8A-4147-A177-3AD203B41FA5}">
                          <a16:colId xmlns:a16="http://schemas.microsoft.com/office/drawing/2014/main" val="34884206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u="none" dirty="0" err="1"/>
                            <a:t>c_name</a:t>
                          </a:r>
                          <a:endParaRPr lang="zh-CN" altLang="en-US" i="1" u="non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/>
                            <a:t>credits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/>
                            <a:t>domain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 err="1"/>
                            <a:t>c_number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 err="1"/>
                            <a:t>p_code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12210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2601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Database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COMP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3013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highlight>
                                <a:srgbClr val="FFFF00"/>
                              </a:highlight>
                            </a:rPr>
                            <a:t>CST</a:t>
                          </a:r>
                          <a:endParaRPr lang="zh-CN" altLang="en-US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1198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Database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COMP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3013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highlight>
                                <a:srgbClr val="FFFF00"/>
                              </a:highlight>
                            </a:rPr>
                            <a:t>DS</a:t>
                          </a:r>
                          <a:endParaRPr lang="zh-CN" altLang="en-US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8823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14018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7">
                <a:extLst>
                  <a:ext uri="{FF2B5EF4-FFF2-40B4-BE49-F238E27FC236}">
                    <a16:creationId xmlns:a16="http://schemas.microsoft.com/office/drawing/2014/main" id="{56832A33-64AE-64B8-1622-4650350B84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66368" y="3223481"/>
              <a:ext cx="4259264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718">
                      <a:extLst>
                        <a:ext uri="{9D8B030D-6E8A-4147-A177-3AD203B41FA5}">
                          <a16:colId xmlns:a16="http://schemas.microsoft.com/office/drawing/2014/main" val="1954184129"/>
                        </a:ext>
                      </a:extLst>
                    </a:gridCol>
                    <a:gridCol w="749618">
                      <a:extLst>
                        <a:ext uri="{9D8B030D-6E8A-4147-A177-3AD203B41FA5}">
                          <a16:colId xmlns:a16="http://schemas.microsoft.com/office/drawing/2014/main" val="154258966"/>
                        </a:ext>
                      </a:extLst>
                    </a:gridCol>
                    <a:gridCol w="821055">
                      <a:extLst>
                        <a:ext uri="{9D8B030D-6E8A-4147-A177-3AD203B41FA5}">
                          <a16:colId xmlns:a16="http://schemas.microsoft.com/office/drawing/2014/main" val="2121040338"/>
                        </a:ext>
                      </a:extLst>
                    </a:gridCol>
                    <a:gridCol w="992505">
                      <a:extLst>
                        <a:ext uri="{9D8B030D-6E8A-4147-A177-3AD203B41FA5}">
                          <a16:colId xmlns:a16="http://schemas.microsoft.com/office/drawing/2014/main" val="1500402269"/>
                        </a:ext>
                      </a:extLst>
                    </a:gridCol>
                    <a:gridCol w="781368">
                      <a:extLst>
                        <a:ext uri="{9D8B030D-6E8A-4147-A177-3AD203B41FA5}">
                          <a16:colId xmlns:a16="http://schemas.microsoft.com/office/drawing/2014/main" val="34884206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u="none" dirty="0" err="1"/>
                            <a:t>c_name</a:t>
                          </a:r>
                          <a:endParaRPr lang="zh-CN" altLang="en-US" i="1" u="non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/>
                            <a:t>credits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/>
                            <a:t>domain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 err="1"/>
                            <a:t>c_number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i="1" dirty="0" err="1"/>
                            <a:t>p_code</a:t>
                          </a:r>
                          <a:endParaRPr lang="zh-CN" altLang="en-US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12210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89" t="-100000" r="-36944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3729" t="-100000" r="-35084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3077" t="-100000" r="-21846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564" t="-100000" r="-8205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43548" t="-100000" r="-3226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6018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Database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COMP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3013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highlight>
                                <a:srgbClr val="FFFF00"/>
                              </a:highlight>
                            </a:rPr>
                            <a:t>CST</a:t>
                          </a:r>
                          <a:endParaRPr lang="zh-CN" altLang="en-US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1198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Database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COMP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3013</a:t>
                          </a:r>
                          <a:endParaRPr lang="zh-CN" altLang="en-US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highlight>
                                <a:srgbClr val="FFFF00"/>
                              </a:highlight>
                            </a:rPr>
                            <a:t>DS</a:t>
                          </a:r>
                          <a:endParaRPr lang="zh-CN" altLang="en-US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8823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89" t="-410345" r="-369444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3729" t="-410345" r="-35084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3077" t="-410345" r="-218462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564" t="-410345" r="-82051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43548" t="-410345" r="-3226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14018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0804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What About Smaller Schemas?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0"/>
                <a:ext cx="7886700" cy="4904510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Suppose we start with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𝑐𝑜𝑢𝑟𝑠𝑒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𝑖𝑛𝑓𝑜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.  </a:t>
                </a:r>
                <a:r>
                  <a:rPr lang="en-US" altLang="zh-CN" dirty="0">
                    <a:ea typeface="宋体" charset="-122"/>
                  </a:rPr>
                  <a:t>How do we know to split (</a:t>
                </a:r>
                <a:r>
                  <a:rPr lang="en-US" altLang="zh-CN" b="1" dirty="0">
                    <a:highlight>
                      <a:srgbClr val="FFFF00"/>
                    </a:highlight>
                    <a:ea typeface="宋体" charset="-122"/>
                  </a:rPr>
                  <a:t>decompose</a:t>
                </a:r>
                <a:r>
                  <a:rPr lang="en-US" altLang="zh-CN" dirty="0">
                    <a:ea typeface="宋体" charset="-122"/>
                  </a:rPr>
                  <a:t>) it into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𝑐𝑜𝑢𝑟𝑠𝑒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 </a:t>
                </a:r>
                <a:r>
                  <a:rPr lang="en-US" altLang="zh-CN" dirty="0">
                    <a:ea typeface="宋体" charset="-12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𝑜𝑓𝑓𝑒𝑟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?</a:t>
                </a:r>
              </a:p>
              <a:p>
                <a:r>
                  <a:rPr lang="en-US" altLang="zh-CN" dirty="0">
                    <a:ea typeface="宋体" charset="-122"/>
                  </a:rPr>
                  <a:t>In fact, decompositions cannot be naïvely applied.</a:t>
                </a:r>
              </a:p>
              <a:p>
                <a:r>
                  <a:rPr lang="en-US" altLang="zh-CN" dirty="0">
                    <a:ea typeface="宋体" charset="-122"/>
                  </a:rPr>
                  <a:t>Sometimes decompositions are useless.</a:t>
                </a:r>
              </a:p>
              <a:p>
                <a:r>
                  <a:rPr lang="en-US" altLang="zh-CN" dirty="0">
                    <a:ea typeface="宋体" charset="-122"/>
                  </a:rPr>
                  <a:t>For example, </a:t>
                </a:r>
              </a:p>
              <a:p>
                <a:pPr marL="0" indent="0">
                  <a:buNone/>
                </a:pPr>
                <a:r>
                  <a:rPr lang="en-US" altLang="zh-CN" b="0" dirty="0">
                    <a:ea typeface="宋体" charset="-122"/>
                  </a:rPr>
                  <a:t>	</a:t>
                </a:r>
                <a:r>
                  <a:rPr lang="en-US" altLang="zh-CN" sz="1800" dirty="0"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𝑝𝑟𝑜𝑔𝑟𝑎𝑚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𝑝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𝑐𝑜𝑑𝑒</m:t>
                        </m:r>
                      </m:e>
                    </m:ba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𝑑𝑖𝑣𝑖𝑠𝑖𝑜𝑛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𝑑𝑖𝑟𝑒𝑐𝑡𝑜𝑟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  <a:p>
                <a:pPr marL="0" indent="0">
                  <a:buNone/>
                  <a:tabLst>
                    <a:tab pos="268288" algn="l"/>
                  </a:tabLst>
                </a:pPr>
                <a:r>
                  <a:rPr lang="en-US" altLang="zh-CN" dirty="0">
                    <a:ea typeface="宋体" charset="-122"/>
                  </a:rPr>
                  <a:t>	do not need to be decomposed into </a:t>
                </a:r>
              </a:p>
              <a:p>
                <a:pPr marL="0" indent="0">
                  <a:buNone/>
                  <a:tabLst>
                    <a:tab pos="268288" algn="l"/>
                  </a:tabLst>
                </a:pPr>
                <a:r>
                  <a:rPr lang="en-US" altLang="zh-CN" dirty="0">
                    <a:ea typeface="宋体" charset="-122"/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𝑝𝑟𝑜𝑔𝑟𝑎𝑚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𝑝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𝑐𝑜𝑑𝑒</m:t>
                        </m:r>
                      </m:e>
                    </m:ba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𝑑𝑖𝑣𝑖𝑠𝑖𝑜𝑛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  <a:p>
                <a:pPr marL="0" indent="0">
                  <a:buNone/>
                  <a:tabLst>
                    <a:tab pos="268288" algn="l"/>
                  </a:tabLst>
                </a:pPr>
                <a:r>
                  <a:rPr lang="en-US" altLang="zh-CN" sz="1800" dirty="0">
                    <a:ea typeface="宋体" charset="-122"/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𝑃𝐷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𝑝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𝑐𝑜𝑑𝑒</m:t>
                        </m:r>
                      </m:e>
                    </m:ba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𝑑𝑖𝑟𝑒𝑐𝑡𝑜𝑟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  <a:p>
                <a:r>
                  <a:rPr lang="en-US" altLang="zh-CN" dirty="0">
                    <a:ea typeface="宋体" charset="-122"/>
                  </a:rPr>
                  <a:t>The original schema does not create redundancies.</a:t>
                </a:r>
              </a:p>
              <a:p>
                <a:r>
                  <a:rPr lang="en-US" altLang="zh-CN" dirty="0">
                    <a:ea typeface="宋体" charset="-122"/>
                  </a:rPr>
                  <a:t>After decomposition, you need a “</a:t>
                </a:r>
                <a:r>
                  <a:rPr lang="en-US" altLang="zh-CN" dirty="0">
                    <a:latin typeface="Consolas" panose="020B0609020204030204" pitchFamily="49" charset="0"/>
                    <a:ea typeface="宋体" charset="-122"/>
                  </a:rPr>
                  <a:t>JOIN</a:t>
                </a:r>
                <a:r>
                  <a:rPr lang="en-US" altLang="zh-CN" dirty="0">
                    <a:ea typeface="宋体" charset="-122"/>
                  </a:rPr>
                  <a:t>” to find the director for a program if you only know the program name, which is time consuming.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0"/>
                <a:ext cx="7886700" cy="4904510"/>
              </a:xfrm>
              <a:blipFill>
                <a:blip r:embed="rId2"/>
                <a:stretch>
                  <a:fillRect l="-643" t="-15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71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What About Smaller Schemas?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0"/>
                <a:ext cx="7886700" cy="4904510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Sometimes naïve decompositions create inconsistency.</a:t>
                </a:r>
              </a:p>
              <a:p>
                <a:r>
                  <a:rPr lang="en-US" altLang="zh-CN" dirty="0">
                    <a:ea typeface="宋体" charset="-122"/>
                  </a:rPr>
                  <a:t>For example,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zh-CN" sz="1800" dirty="0">
                    <a:ea typeface="宋体" charset="-122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𝑠𝑡𝑢𝑑𝑒𝑛𝑡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sz="18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sz="18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</m:e>
                    </m:ba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𝑦𝑒𝑎𝑟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𝑔𝑝𝑎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𝑚𝑎𝑗𝑜𝑟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  <a:p>
                <a:pPr marL="0" indent="0">
                  <a:buNone/>
                  <a:tabLst>
                    <a:tab pos="263525" algn="l"/>
                  </a:tabLst>
                </a:pPr>
                <a:r>
                  <a:rPr lang="en-US" altLang="zh-CN" dirty="0">
                    <a:ea typeface="宋体" charset="-122"/>
                  </a:rPr>
                  <a:t>	is decomposed into (pay attention to the keys)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263525" algn="l"/>
                  </a:tabLst>
                </a:pPr>
                <a:r>
                  <a:rPr lang="en-US" altLang="zh-CN" b="0" dirty="0">
                    <a:ea typeface="宋体" charset="-122"/>
                  </a:rPr>
                  <a:t>		</a:t>
                </a:r>
                <a:r>
                  <a:rPr lang="en-US" altLang="zh-CN" sz="1800" dirty="0"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𝑠𝑡𝑢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</m:e>
                    </m:ba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263525" algn="l"/>
                  </a:tabLst>
                </a:pPr>
                <a:r>
                  <a:rPr lang="en-US" altLang="zh-CN" sz="1800" dirty="0">
                    <a:ea typeface="宋体" charset="-122"/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𝑠𝑡𝑢𝑖𝑛𝑓𝑜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𝑠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𝑛𝑎𝑚𝑒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𝑦𝑒𝑎𝑟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𝑔𝑝𝑎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𝑚𝑎𝑗𝑜𝑟</m:t>
                        </m:r>
                      </m:e>
                    </m:bar>
                    <m:r>
                      <a:rPr lang="en-US" altLang="zh-CN" sz="1800" i="1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0"/>
                <a:ext cx="7886700" cy="4904510"/>
              </a:xfrm>
              <a:blipFill>
                <a:blip r:embed="rId2"/>
                <a:stretch>
                  <a:fillRect l="-643" t="-15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08343D5A-6C99-4B6F-3F2D-ABF53CC8D580}"/>
              </a:ext>
            </a:extLst>
          </p:cNvPr>
          <p:cNvGraphicFramePr>
            <a:graphicFrameLocks noGrp="1"/>
          </p:cNvGraphicFramePr>
          <p:nvPr/>
        </p:nvGraphicFramePr>
        <p:xfrm>
          <a:off x="2388612" y="3771900"/>
          <a:ext cx="3725863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1981028883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101715161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123897414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4217697409"/>
                    </a:ext>
                  </a:extLst>
                </a:gridCol>
                <a:gridCol w="681355">
                  <a:extLst>
                    <a:ext uri="{9D8B030D-6E8A-4147-A177-3AD203B41FA5}">
                      <a16:colId xmlns:a16="http://schemas.microsoft.com/office/drawing/2014/main" val="1964709204"/>
                    </a:ext>
                  </a:extLst>
                </a:gridCol>
              </a:tblGrid>
              <a:tr h="270597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id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s_name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/>
                        <a:t>year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gpa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/>
                        <a:t>major</a:t>
                      </a:r>
                      <a:endParaRPr lang="zh-CN" alt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37227"/>
                  </a:ext>
                </a:extLst>
              </a:tr>
              <a:tr h="2705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32216"/>
                  </a:ext>
                </a:extLst>
              </a:tr>
              <a:tr h="2705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1001000654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TESL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37863"/>
                  </a:ext>
                </a:extLst>
              </a:tr>
              <a:tr h="2705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1701026104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CST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877465"/>
                  </a:ext>
                </a:extLst>
              </a:tr>
              <a:tr h="2705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46300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480622F-3A71-611E-D51A-B3D07D51A21C}"/>
              </a:ext>
            </a:extLst>
          </p:cNvPr>
          <p:cNvGraphicFramePr>
            <a:graphicFrameLocks noGrp="1"/>
          </p:cNvGraphicFramePr>
          <p:nvPr/>
        </p:nvGraphicFramePr>
        <p:xfrm>
          <a:off x="5161310" y="5002409"/>
          <a:ext cx="1943735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1981028883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101715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id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s_name</a:t>
                      </a:r>
                      <a:endParaRPr lang="zh-CN" alt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3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32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1001000654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3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1701026104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877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46300"/>
                  </a:ext>
                </a:extLst>
              </a:tr>
            </a:tbl>
          </a:graphicData>
        </a:graphic>
      </p:graphicFrame>
      <p:graphicFrame>
        <p:nvGraphicFramePr>
          <p:cNvPr id="13" name="表格 11">
            <a:extLst>
              <a:ext uri="{FF2B5EF4-FFF2-40B4-BE49-F238E27FC236}">
                <a16:creationId xmlns:a16="http://schemas.microsoft.com/office/drawing/2014/main" id="{A51AD330-020E-2158-6306-5EC6BAFF2786}"/>
              </a:ext>
            </a:extLst>
          </p:cNvPr>
          <p:cNvGraphicFramePr>
            <a:graphicFrameLocks noGrp="1"/>
          </p:cNvGraphicFramePr>
          <p:nvPr/>
        </p:nvGraphicFramePr>
        <p:xfrm>
          <a:off x="7426039" y="5002409"/>
          <a:ext cx="2590483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355">
                  <a:extLst>
                    <a:ext uri="{9D8B030D-6E8A-4147-A177-3AD203B41FA5}">
                      <a16:colId xmlns:a16="http://schemas.microsoft.com/office/drawing/2014/main" val="3101715161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123897414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4217697409"/>
                    </a:ext>
                  </a:extLst>
                </a:gridCol>
                <a:gridCol w="681355">
                  <a:extLst>
                    <a:ext uri="{9D8B030D-6E8A-4147-A177-3AD203B41FA5}">
                      <a16:colId xmlns:a16="http://schemas.microsoft.com/office/drawing/2014/main" val="1964709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 err="1"/>
                        <a:t>s_name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year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 err="1"/>
                        <a:t>gpa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major</a:t>
                      </a:r>
                      <a:endParaRPr lang="zh-CN" altLang="en-US" i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3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32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TESL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3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CST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877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4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84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What About Smaller Schemas?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0"/>
                <a:ext cx="7886700" cy="4904510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Suppose we want to find the major of the student by IDs, we have to join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𝑠𝑡𝑢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𝑠𝑡𝑢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𝑖𝑛𝑓𝑜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. This creates some fake data. </a:t>
                </a:r>
                <a:endParaRPr lang="en-US" altLang="zh-CN" sz="180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0"/>
                <a:ext cx="7886700" cy="4904510"/>
              </a:xfrm>
              <a:blipFill>
                <a:blip r:embed="rId2"/>
                <a:stretch>
                  <a:fillRect l="-643" t="-15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14" name="表格 11">
            <a:extLst>
              <a:ext uri="{FF2B5EF4-FFF2-40B4-BE49-F238E27FC236}">
                <a16:creationId xmlns:a16="http://schemas.microsoft.com/office/drawing/2014/main" id="{469A5BB2-967C-492E-651C-4492C8F8D75C}"/>
              </a:ext>
            </a:extLst>
          </p:cNvPr>
          <p:cNvGraphicFramePr>
            <a:graphicFrameLocks noGrp="1"/>
          </p:cNvGraphicFramePr>
          <p:nvPr/>
        </p:nvGraphicFramePr>
        <p:xfrm>
          <a:off x="3396491" y="2331030"/>
          <a:ext cx="1943735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1981028883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101715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id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s_name</a:t>
                      </a:r>
                      <a:endParaRPr lang="zh-CN" alt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3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32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1001000654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Dave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3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1701026104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877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46300"/>
                  </a:ext>
                </a:extLst>
              </a:tr>
            </a:tbl>
          </a:graphicData>
        </a:graphic>
      </p:graphicFrame>
      <p:graphicFrame>
        <p:nvGraphicFramePr>
          <p:cNvPr id="15" name="表格 11">
            <a:extLst>
              <a:ext uri="{FF2B5EF4-FFF2-40B4-BE49-F238E27FC236}">
                <a16:creationId xmlns:a16="http://schemas.microsoft.com/office/drawing/2014/main" id="{62F5D05D-2649-BC3A-6F83-9B25E3972670}"/>
              </a:ext>
            </a:extLst>
          </p:cNvPr>
          <p:cNvGraphicFramePr>
            <a:graphicFrameLocks noGrp="1"/>
          </p:cNvGraphicFramePr>
          <p:nvPr/>
        </p:nvGraphicFramePr>
        <p:xfrm>
          <a:off x="6205028" y="2331030"/>
          <a:ext cx="2590483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355">
                  <a:extLst>
                    <a:ext uri="{9D8B030D-6E8A-4147-A177-3AD203B41FA5}">
                      <a16:colId xmlns:a16="http://schemas.microsoft.com/office/drawing/2014/main" val="3101715161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123897414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4217697409"/>
                    </a:ext>
                  </a:extLst>
                </a:gridCol>
                <a:gridCol w="681355">
                  <a:extLst>
                    <a:ext uri="{9D8B030D-6E8A-4147-A177-3AD203B41FA5}">
                      <a16:colId xmlns:a16="http://schemas.microsoft.com/office/drawing/2014/main" val="1964709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 err="1"/>
                        <a:t>s_name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year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 err="1"/>
                        <a:t>gpa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major</a:t>
                      </a:r>
                      <a:endParaRPr lang="zh-CN" altLang="en-US" i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3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32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Dave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TESL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3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CST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877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463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5E2AB43-1A1D-8AA7-6B3B-2B5A54660210}"/>
              </a:ext>
            </a:extLst>
          </p:cNvPr>
          <p:cNvSpPr txBox="1"/>
          <p:nvPr/>
        </p:nvSpPr>
        <p:spPr>
          <a:xfrm>
            <a:off x="5458693" y="2889314"/>
            <a:ext cx="691215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dirty="0">
                <a:solidFill>
                  <a:srgbClr val="000000"/>
                </a:solidFill>
                <a:latin typeface="Consolas" panose="020B0609020204030204" pitchFamily="49" charset="0"/>
              </a:rPr>
              <a:t>JOIN</a:t>
            </a:r>
          </a:p>
        </p:txBody>
      </p:sp>
      <p:graphicFrame>
        <p:nvGraphicFramePr>
          <p:cNvPr id="17" name="表格 11">
            <a:extLst>
              <a:ext uri="{FF2B5EF4-FFF2-40B4-BE49-F238E27FC236}">
                <a16:creationId xmlns:a16="http://schemas.microsoft.com/office/drawing/2014/main" id="{486AAC67-623C-0FEB-713E-BF53BF5ADF8C}"/>
              </a:ext>
            </a:extLst>
          </p:cNvPr>
          <p:cNvGraphicFramePr>
            <a:graphicFrameLocks noGrp="1"/>
          </p:cNvGraphicFramePr>
          <p:nvPr/>
        </p:nvGraphicFramePr>
        <p:xfrm>
          <a:off x="3396491" y="4052454"/>
          <a:ext cx="3725863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1981028883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101715161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123897414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4217697409"/>
                    </a:ext>
                  </a:extLst>
                </a:gridCol>
                <a:gridCol w="681355">
                  <a:extLst>
                    <a:ext uri="{9D8B030D-6E8A-4147-A177-3AD203B41FA5}">
                      <a16:colId xmlns:a16="http://schemas.microsoft.com/office/drawing/2014/main" val="1964709204"/>
                    </a:ext>
                  </a:extLst>
                </a:gridCol>
              </a:tblGrid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id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s_name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/>
                        <a:t>year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gpa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/>
                        <a:t>major</a:t>
                      </a:r>
                      <a:endParaRPr lang="zh-CN" alt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37227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32216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1001000654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TESL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37863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1001000654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2.01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CST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877465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1701026104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3.41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TESL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720339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1701026104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CST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677621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4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60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What About Smaller Schemas?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1"/>
                <a:ext cx="7886700" cy="4700239"/>
              </a:xfrm>
            </p:spPr>
            <p:txBody>
              <a:bodyPr>
                <a:no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Which schema should be decomposed, and which should not?</a:t>
                </a:r>
              </a:p>
              <a:p>
                <a:r>
                  <a:rPr lang="en-US" altLang="zh-CN" dirty="0">
                    <a:ea typeface="宋体" charset="-122"/>
                  </a:rPr>
                  <a:t>The reason for decomposing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𝑐𝑜𝑢𝑟𝑠𝑒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𝑖𝑛𝑓𝑜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 already given.</a:t>
                </a:r>
              </a:p>
              <a:p>
                <a:r>
                  <a:rPr lang="en-US" altLang="zh-CN" dirty="0">
                    <a:ea typeface="宋体" charset="-122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can distinguish the values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𝑐𝑟𝑒𝑑𝑖𝑡𝑠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𝑑𝑜𝑚𝑎𝑖𝑛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𝑛𝑢𝑚𝑏𝑒𝑟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.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Find</a:t>
                </a:r>
                <a:r>
                  <a:rPr lang="zh-CN" altLang="en-US" dirty="0">
                    <a:solidFill>
                      <a:srgbClr val="FF0000"/>
                    </a:solidFill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a</a:t>
                </a:r>
                <a:r>
                  <a:rPr lang="zh-CN" altLang="en-US" dirty="0">
                    <a:solidFill>
                      <a:srgbClr val="FF0000"/>
                    </a:solidFill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good key to join!</a:t>
                </a:r>
              </a:p>
              <a:p>
                <a:r>
                  <a:rPr lang="en-US" altLang="zh-CN" dirty="0">
                    <a:ea typeface="宋体" charset="-122"/>
                  </a:rPr>
                  <a:t>This distinguishment is denoted as a </a:t>
                </a:r>
                <a:r>
                  <a:rPr lang="en-US" altLang="zh-CN" b="1" dirty="0">
                    <a:ea typeface="宋体" charset="-122"/>
                  </a:rPr>
                  <a:t>functional dependency </a:t>
                </a:r>
                <a:r>
                  <a:rPr lang="en-US" altLang="zh-CN" dirty="0">
                    <a:ea typeface="宋体" charset="-122"/>
                  </a:rPr>
                  <a:t>(will be on this later): </a:t>
                </a:r>
              </a:p>
              <a:p>
                <a:pPr algn="ctr">
                  <a:buFont typeface="Monotype Sorts" pitchFamily="2" charset="2"/>
                  <a:buNone/>
                </a:pPr>
                <a:r>
                  <a:rPr lang="en-US" altLang="zh-CN" i="1" dirty="0"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𝑛𝑎𝑚𝑒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𝑐𝑟𝑒𝑑𝑖𝑡𝑠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𝑑𝑜𝑚𝑎𝑖𝑛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_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𝑛𝑢𝑚𝑏𝑒𝑟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r>
                  <a:rPr lang="en-US" altLang="zh-CN" dirty="0">
                    <a:ea typeface="宋体" charset="-122"/>
                  </a:rPr>
                  <a:t>In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𝑐𝑜𝑢𝑟𝑠𝑒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𝑖𝑛𝑓𝑜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 not a candidate key. Thus, the values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𝑐𝑟𝑒𝑑𝑖𝑡𝑠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𝑑𝑜𝑚𝑎𝑖𝑛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𝑛𝑢𝑚𝑏𝑒𝑟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may have repetition. This indicates the need to decompose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𝑐𝑜𝑢𝑟𝑠𝑒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𝑖𝑛𝑓𝑜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.</a:t>
                </a:r>
              </a:p>
              <a:p>
                <a:r>
                  <a:rPr lang="en-US" altLang="zh-CN" dirty="0">
                    <a:ea typeface="宋体" charset="-122"/>
                  </a:rPr>
                  <a:t>This property does not hold in the last two examples.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1"/>
                <a:ext cx="7886700" cy="4700239"/>
              </a:xfrm>
              <a:blipFill>
                <a:blip r:embed="rId2"/>
                <a:stretch>
                  <a:fillRect l="-643" t="-1617" r="-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65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First Normal Form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600201"/>
            <a:ext cx="7886700" cy="4074459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A domain is </a:t>
            </a:r>
            <a:r>
              <a:rPr lang="en-US" altLang="zh-CN" b="1" dirty="0">
                <a:ea typeface="宋体" charset="-122"/>
              </a:rPr>
              <a:t>atomic</a:t>
            </a:r>
            <a:r>
              <a:rPr lang="en-US" altLang="zh-CN" dirty="0">
                <a:ea typeface="宋体" charset="-122"/>
              </a:rPr>
              <a:t> if its elements are considered to be indivisible units.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Examples of non-atomic domains: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Set of names, composite attributes</a:t>
            </a:r>
          </a:p>
          <a:p>
            <a:pPr lvl="2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Identification numbers like CS101, that can be broken up into parts.</a:t>
            </a:r>
          </a:p>
          <a:p>
            <a:r>
              <a:rPr lang="en-US" altLang="zh-CN" dirty="0">
                <a:ea typeface="宋体" charset="-122"/>
              </a:rPr>
              <a:t>A relational schema R is in </a:t>
            </a:r>
            <a:r>
              <a:rPr lang="en-US" altLang="zh-CN" b="1" dirty="0">
                <a:ea typeface="宋体" charset="-122"/>
              </a:rPr>
              <a:t>first normal form </a:t>
            </a:r>
            <a:r>
              <a:rPr lang="en-US" altLang="zh-CN" dirty="0">
                <a:ea typeface="宋体" charset="-122"/>
              </a:rPr>
              <a:t>if the domains of all attributes of R are atomic.</a:t>
            </a:r>
          </a:p>
          <a:p>
            <a:r>
              <a:rPr lang="en-US" altLang="zh-CN" dirty="0">
                <a:ea typeface="宋体" charset="-122"/>
              </a:rPr>
              <a:t>Non-atomic values complicate storage and encourage redundant (repeated) storage of data.</a:t>
            </a:r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80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First Normal Form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4DBAB-96B1-4654-A956-1674CE94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600200"/>
            <a:ext cx="7886700" cy="4778298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Atomicity is actually a property of how the elements of the domain are used.</a:t>
            </a:r>
          </a:p>
          <a:p>
            <a:r>
              <a:rPr lang="en-US" altLang="zh-CN" dirty="0">
                <a:ea typeface="宋体" charset="-122"/>
              </a:rPr>
              <a:t>Example: </a:t>
            </a:r>
            <a:r>
              <a:rPr lang="en-US" altLang="zh-CN" dirty="0">
                <a:highlight>
                  <a:srgbClr val="FFFF00"/>
                </a:highlight>
                <a:ea typeface="宋体" charset="-122"/>
              </a:rPr>
              <a:t>Strings</a:t>
            </a:r>
            <a:r>
              <a:rPr lang="en-US" altLang="zh-CN" dirty="0">
                <a:ea typeface="宋体" charset="-122"/>
              </a:rPr>
              <a:t> would normally be considered indivisible.</a:t>
            </a:r>
          </a:p>
          <a:p>
            <a:r>
              <a:rPr lang="en-US" altLang="zh-CN" dirty="0">
                <a:ea typeface="宋体" charset="-122"/>
              </a:rPr>
              <a:t>Suppose that students are given roll numbers which are strings of the form </a:t>
            </a:r>
            <a:r>
              <a:rPr lang="en-US" altLang="zh-CN" i="1" dirty="0">
                <a:ea typeface="宋体" charset="-122"/>
              </a:rPr>
              <a:t>CS0012 </a:t>
            </a:r>
            <a:r>
              <a:rPr lang="en-US" altLang="zh-CN" dirty="0">
                <a:ea typeface="宋体" charset="-122"/>
              </a:rPr>
              <a:t>or </a:t>
            </a:r>
            <a:r>
              <a:rPr lang="en-US" altLang="zh-CN" i="1" dirty="0">
                <a:ea typeface="宋体" charset="-122"/>
              </a:rPr>
              <a:t>EE1127.</a:t>
            </a:r>
          </a:p>
          <a:p>
            <a:r>
              <a:rPr lang="en-US" altLang="zh-CN" dirty="0">
                <a:ea typeface="宋体" charset="-122"/>
              </a:rPr>
              <a:t>If the first two characters are extracted to find the department, the domain of roll numbers is not atomic.</a:t>
            </a:r>
          </a:p>
          <a:p>
            <a:r>
              <a:rPr lang="en-US" altLang="zh-CN" dirty="0">
                <a:ea typeface="宋体" charset="-122"/>
              </a:rPr>
              <a:t>Doing so is a bad idea: leads to the encoding of information in application program rather than </a:t>
            </a:r>
            <a:r>
              <a:rPr lang="en-US" altLang="zh-CN" dirty="0">
                <a:highlight>
                  <a:srgbClr val="FFFF00"/>
                </a:highlight>
                <a:ea typeface="宋体" charset="-122"/>
              </a:rPr>
              <a:t>in the database</a:t>
            </a:r>
            <a:r>
              <a:rPr lang="en-US" altLang="zh-CN" dirty="0">
                <a:ea typeface="宋体" charset="-122"/>
              </a:rPr>
              <a:t>. </a:t>
            </a:r>
          </a:p>
          <a:p>
            <a:r>
              <a:rPr lang="en-US" altLang="zh-CN" dirty="0">
                <a:ea typeface="宋体" charset="-122"/>
              </a:rPr>
              <a:t>Database users have to know the encoding before developing  applications.</a:t>
            </a:r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93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556-CC4A-48E7-8DAC-B522CEAB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First Normal Form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0"/>
                <a:ext cx="7886700" cy="477829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charset="-122"/>
                  </a:rPr>
                  <a:t>Here is another example of the violation of the first normal form. This is very common to new database designers.</a:t>
                </a:r>
              </a:p>
              <a:p>
                <a:r>
                  <a:rPr lang="en-US" altLang="zh-CN" dirty="0">
                    <a:ea typeface="宋体" charset="-122"/>
                  </a:rPr>
                  <a:t>Suppose we want to record the favorite books of each student.</a:t>
                </a:r>
              </a:p>
              <a:p>
                <a:r>
                  <a:rPr lang="en-US" altLang="zh-CN" dirty="0">
                    <a:ea typeface="宋体" charset="-122"/>
                  </a:rPr>
                  <a:t>This design is not good.</a:t>
                </a:r>
              </a:p>
              <a:p>
                <a:endParaRPr lang="en-US" altLang="zh-CN" dirty="0">
                  <a:ea typeface="宋体" charset="-122"/>
                </a:endParaRPr>
              </a:p>
              <a:p>
                <a:endParaRPr lang="en-US" altLang="zh-CN" dirty="0">
                  <a:ea typeface="宋体" charset="-122"/>
                </a:endParaRPr>
              </a:p>
              <a:p>
                <a:endParaRPr lang="en-US" altLang="zh-CN" dirty="0">
                  <a:ea typeface="宋体" charset="-122"/>
                </a:endParaRPr>
              </a:p>
              <a:p>
                <a:r>
                  <a:rPr lang="en-US" altLang="zh-CN" dirty="0">
                    <a:ea typeface="宋体" charset="-122"/>
                  </a:rPr>
                  <a:t>The attribute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𝑓𝑎𝑣𝑜𝑟𝑖𝑡𝑒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𝑏𝑜𝑜𝑘𝑠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is not atomic. </a:t>
                </a:r>
              </a:p>
              <a:p>
                <a:r>
                  <a:rPr lang="en-US" altLang="zh-CN" dirty="0">
                    <a:ea typeface="宋体" charset="-122"/>
                  </a:rPr>
                  <a:t>A better design can be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E4DBAB-96B1-4654-A956-1674CE94F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0"/>
                <a:ext cx="7886700" cy="4778298"/>
              </a:xfrm>
              <a:blipFill>
                <a:blip r:embed="rId3"/>
                <a:stretch>
                  <a:fillRect l="-643" t="-1592" r="-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436F54C5-5273-499C-BDA5-EAABB9F16607}"/>
              </a:ext>
            </a:extLst>
          </p:cNvPr>
          <p:cNvSpPr/>
          <p:nvPr/>
        </p:nvSpPr>
        <p:spPr>
          <a:xfrm>
            <a:off x="152400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Design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9C6373EC-C523-48EE-B99F-9AA79E238FF1}"/>
              </a:ext>
            </a:extLst>
          </p:cNvPr>
          <p:cNvSpPr/>
          <p:nvPr/>
        </p:nvSpPr>
        <p:spPr>
          <a:xfrm>
            <a:off x="2835564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hlinkClick r:id="" action="ppaction://noaction"/>
            <a:extLst>
              <a:ext uri="{FF2B5EF4-FFF2-40B4-BE49-F238E27FC236}">
                <a16:creationId xmlns:a16="http://schemas.microsoft.com/office/drawing/2014/main" id="{E622E4DB-4EEF-4F30-8777-D848B6940FC7}"/>
              </a:ext>
            </a:extLst>
          </p:cNvPr>
          <p:cNvSpPr/>
          <p:nvPr/>
        </p:nvSpPr>
        <p:spPr>
          <a:xfrm>
            <a:off x="4147128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hlinkClick r:id="" action="ppaction://noaction"/>
            <a:extLst>
              <a:ext uri="{FF2B5EF4-FFF2-40B4-BE49-F238E27FC236}">
                <a16:creationId xmlns:a16="http://schemas.microsoft.com/office/drawing/2014/main" id="{C1A8D33C-DD22-4E71-89BB-E7BD77161516}"/>
              </a:ext>
            </a:extLst>
          </p:cNvPr>
          <p:cNvSpPr/>
          <p:nvPr/>
        </p:nvSpPr>
        <p:spPr>
          <a:xfrm>
            <a:off x="5458692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hlinkClick r:id="" action="ppaction://noaction"/>
            <a:extLst>
              <a:ext uri="{FF2B5EF4-FFF2-40B4-BE49-F238E27FC236}">
                <a16:creationId xmlns:a16="http://schemas.microsoft.com/office/drawing/2014/main" id="{1315DA09-1B87-4C79-BE93-D7B655B249E6}"/>
              </a:ext>
            </a:extLst>
          </p:cNvPr>
          <p:cNvSpPr/>
          <p:nvPr/>
        </p:nvSpPr>
        <p:spPr>
          <a:xfrm>
            <a:off x="6770256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3rdNF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hlinkClick r:id="" action="ppaction://noaction"/>
            <a:extLst>
              <a:ext uri="{FF2B5EF4-FFF2-40B4-BE49-F238E27FC236}">
                <a16:creationId xmlns:a16="http://schemas.microsoft.com/office/drawing/2014/main" id="{6DDB6EE1-83D8-46A4-AB31-AF68EEB0D2C1}"/>
              </a:ext>
            </a:extLst>
          </p:cNvPr>
          <p:cNvSpPr/>
          <p:nvPr/>
        </p:nvSpPr>
        <p:spPr>
          <a:xfrm>
            <a:off x="8081820" y="1"/>
            <a:ext cx="1311564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hlinkClick r:id="" action="ppaction://noaction"/>
            <a:extLst>
              <a:ext uri="{FF2B5EF4-FFF2-40B4-BE49-F238E27FC236}">
                <a16:creationId xmlns:a16="http://schemas.microsoft.com/office/drawing/2014/main" id="{2EA5BFC5-DE0B-47A0-A4FE-8A24C6962FF9}"/>
              </a:ext>
            </a:extLst>
          </p:cNvPr>
          <p:cNvSpPr/>
          <p:nvPr/>
        </p:nvSpPr>
        <p:spPr>
          <a:xfrm>
            <a:off x="9393384" y="1"/>
            <a:ext cx="1274616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Process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5C432B6F-CE1E-EA72-6B32-5BBF4DB941F6}"/>
              </a:ext>
            </a:extLst>
          </p:cNvPr>
          <p:cNvGraphicFramePr>
            <a:graphicFrameLocks noGrp="1"/>
          </p:cNvGraphicFramePr>
          <p:nvPr/>
        </p:nvGraphicFramePr>
        <p:xfrm>
          <a:off x="3840480" y="3034103"/>
          <a:ext cx="45110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1981028883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101715161"/>
                    </a:ext>
                  </a:extLst>
                </a:gridCol>
                <a:gridCol w="2567305">
                  <a:extLst>
                    <a:ext uri="{9D8B030D-6E8A-4147-A177-3AD203B41FA5}">
                      <a16:colId xmlns:a16="http://schemas.microsoft.com/office/drawing/2014/main" val="3123897414"/>
                    </a:ext>
                  </a:extLst>
                </a:gridCol>
              </a:tblGrid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id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s_name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/>
                        <a:t>favorite _books</a:t>
                      </a:r>
                      <a:endParaRPr lang="zh-CN" alt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37227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1001000654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Three body, MacBeth, Database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37863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1701026104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Steven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Three Body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677621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46300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3E47498-F4BD-F043-1695-4066B566383B}"/>
              </a:ext>
            </a:extLst>
          </p:cNvPr>
          <p:cNvGraphicFramePr>
            <a:graphicFrameLocks noGrp="1"/>
          </p:cNvGraphicFramePr>
          <p:nvPr/>
        </p:nvGraphicFramePr>
        <p:xfrm>
          <a:off x="5458693" y="4721630"/>
          <a:ext cx="3287077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1981028883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3101715161"/>
                    </a:ext>
                  </a:extLst>
                </a:gridCol>
                <a:gridCol w="1343342">
                  <a:extLst>
                    <a:ext uri="{9D8B030D-6E8A-4147-A177-3AD203B41FA5}">
                      <a16:colId xmlns:a16="http://schemas.microsoft.com/office/drawing/2014/main" val="3123897414"/>
                    </a:ext>
                  </a:extLst>
                </a:gridCol>
              </a:tblGrid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id</a:t>
                      </a:r>
                      <a:endParaRPr lang="zh-CN" altLang="en-US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 err="1"/>
                        <a:t>s_name</a:t>
                      </a:r>
                      <a:endParaRPr lang="zh-CN" alt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u="sng" dirty="0"/>
                        <a:t>favorite _book</a:t>
                      </a:r>
                      <a:endParaRPr lang="zh-CN" altLang="en-US" i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37227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1001000654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Three body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37863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1001000654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MacBeth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433485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1001000654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Dave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Database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304824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1701026104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Steven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Three Body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008313"/>
                  </a:ext>
                </a:extLst>
              </a:tr>
              <a:tr h="21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746300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54F97353-2D8E-5844-A363-D39E2EF08935}"/>
              </a:ext>
            </a:extLst>
          </p:cNvPr>
          <p:cNvSpPr txBox="1"/>
          <p:nvPr/>
        </p:nvSpPr>
        <p:spPr>
          <a:xfrm>
            <a:off x="8690424" y="328765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l"/>
            <a:r>
              <a:rPr kumimoji="1" lang="en-US" altLang="zh-CN" dirty="0">
                <a:solidFill>
                  <a:srgbClr val="FF0000"/>
                </a:solidFill>
              </a:rPr>
              <a:t>a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more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common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example</a:t>
            </a:r>
            <a:r>
              <a:rPr kumimoji="1" lang="zh-CN" altLang="en-US" dirty="0">
                <a:solidFill>
                  <a:srgbClr val="FF0000"/>
                </a:solidFill>
              </a:rPr>
              <a:t>：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algn="l"/>
            <a:endParaRPr kumimoji="1" lang="zh-CN" altLang="en-US" dirty="0"/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7A7B62EE-570A-964D-84BC-7AE53337C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086228"/>
              </p:ext>
            </p:extLst>
          </p:nvPr>
        </p:nvGraphicFramePr>
        <p:xfrm>
          <a:off x="9577340" y="5041389"/>
          <a:ext cx="2181320" cy="1169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660">
                  <a:extLst>
                    <a:ext uri="{9D8B030D-6E8A-4147-A177-3AD203B41FA5}">
                      <a16:colId xmlns:a16="http://schemas.microsoft.com/office/drawing/2014/main" val="3553177188"/>
                    </a:ext>
                  </a:extLst>
                </a:gridCol>
                <a:gridCol w="1090660">
                  <a:extLst>
                    <a:ext uri="{9D8B030D-6E8A-4147-A177-3AD203B41FA5}">
                      <a16:colId xmlns:a16="http://schemas.microsoft.com/office/drawing/2014/main" val="1456488266"/>
                    </a:ext>
                  </a:extLst>
                </a:gridCol>
              </a:tblGrid>
              <a:tr h="345989">
                <a:tc>
                  <a:txBody>
                    <a:bodyPr/>
                    <a:lstStyle/>
                    <a:p>
                      <a:r>
                        <a:rPr lang="en-US" altLang="zh-CN" dirty="0"/>
                        <a:t>first 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last 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790207"/>
                  </a:ext>
                </a:extLst>
              </a:tr>
              <a:tr h="823894">
                <a:tc>
                  <a:txBody>
                    <a:bodyPr/>
                    <a:lstStyle/>
                    <a:p>
                      <a:r>
                        <a:rPr lang="en-US" altLang="zh-CN" dirty="0"/>
                        <a:t>Alan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Turing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610825"/>
                  </a:ext>
                </a:extLst>
              </a:tr>
            </a:tbl>
          </a:graphicData>
        </a:graphic>
      </p:graphicFrame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7692B18B-BABE-894B-847F-A40D30787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320676"/>
              </p:ext>
            </p:extLst>
          </p:nvPr>
        </p:nvGraphicFramePr>
        <p:xfrm>
          <a:off x="9567250" y="3979950"/>
          <a:ext cx="110075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750">
                  <a:extLst>
                    <a:ext uri="{9D8B030D-6E8A-4147-A177-3AD203B41FA5}">
                      <a16:colId xmlns:a16="http://schemas.microsoft.com/office/drawing/2014/main" val="1335378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566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Alan Turing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42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96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BB4AC2-5F9E-5FA9-F586-9A855CCD1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 08 review.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CE73C5E-B94A-157F-27DB-289934C631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6216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27C1-5032-E843-9C3A-DB411B84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NULL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E4C7B-1479-926D-6E6E-CD7DD11AC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domain of each data type contains a special value – </a:t>
            </a:r>
            <a:r>
              <a:rPr lang="en-US" b="1" dirty="0"/>
              <a:t>NULL</a:t>
            </a:r>
            <a:r>
              <a:rPr lang="en-US" dirty="0"/>
              <a:t>.</a:t>
            </a:r>
          </a:p>
          <a:p>
            <a:r>
              <a:rPr lang="en-US" b="1" dirty="0"/>
              <a:t>NULL</a:t>
            </a:r>
            <a:r>
              <a:rPr lang="en-US" dirty="0"/>
              <a:t> means the value is </a:t>
            </a:r>
            <a:r>
              <a:rPr lang="en-US" b="1" dirty="0"/>
              <a:t>unknown</a:t>
            </a:r>
            <a:r>
              <a:rPr lang="en-US" dirty="0"/>
              <a:t> or does </a:t>
            </a:r>
            <a:r>
              <a:rPr lang="en-US" b="1" dirty="0"/>
              <a:t>not exist</a:t>
            </a:r>
            <a:r>
              <a:rPr lang="en-US" dirty="0"/>
              <a:t>.</a:t>
            </a:r>
          </a:p>
          <a:p>
            <a:r>
              <a:rPr lang="en-US" dirty="0"/>
              <a:t>NULL values can </a:t>
            </a:r>
            <a:r>
              <a:rPr lang="en-US" altLang="zh-CN" dirty="0"/>
              <a:t>participate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calculations in the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arithmetic expressions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 functions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and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(logical test) in the 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WHERE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clause.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13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15462-E18A-BB4D-A8A3-481B9B360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0" i="0" u="sng" dirty="0"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To get the examples for NULL values work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6EB36A-C652-7C47-ABC9-A9432181A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ALTER TABLE staff ADD </a:t>
            </a:r>
            <a:r>
              <a:rPr lang="en-US" altLang="zh-CN" dirty="0" err="1"/>
              <a:t>staff_rating</a:t>
            </a:r>
            <a:r>
              <a:rPr lang="en-US" altLang="zh-CN" dirty="0"/>
              <a:t> INT AFTER password; UPDATE staff SET </a:t>
            </a:r>
            <a:r>
              <a:rPr lang="en-US" altLang="zh-CN" dirty="0" err="1"/>
              <a:t>staff_rating</a:t>
            </a:r>
            <a:r>
              <a:rPr lang="en-US" altLang="zh-CN" dirty="0"/>
              <a:t>=10 WHERE </a:t>
            </a:r>
            <a:r>
              <a:rPr lang="en-US" altLang="zh-CN" dirty="0" err="1"/>
              <a:t>staff_id</a:t>
            </a:r>
            <a:r>
              <a:rPr lang="en-US" altLang="zh-CN" dirty="0"/>
              <a:t>=1;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9D5ECE-A919-BE4C-919C-2B12B4F71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21" y="3117483"/>
            <a:ext cx="11596007" cy="207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4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D31D-2BD9-9801-FC1F-158D01A9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and Atomic Predicate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52D81-38B0-A537-E675-84B1FCC24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622962"/>
          </a:xfrm>
        </p:spPr>
        <p:txBody>
          <a:bodyPr/>
          <a:lstStyle/>
          <a:p>
            <a:r>
              <a:rPr lang="en-US" dirty="0"/>
              <a:t>To check </a:t>
            </a:r>
            <a:r>
              <a:rPr lang="en-US" altLang="zh-CN" dirty="0"/>
              <a:t>whether a value of an attribute is NULL (atomic predicate)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WHERE attribute </a:t>
            </a:r>
            <a:r>
              <a:rPr lang="en-US" b="1" dirty="0">
                <a:latin typeface="Consolas" panose="020B0609020204030204" pitchFamily="49" charset="0"/>
              </a:rPr>
              <a:t>IS NULL</a:t>
            </a:r>
          </a:p>
          <a:p>
            <a:r>
              <a:rPr lang="en-US" dirty="0"/>
              <a:t>For example,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SELECT * FROM staff WHERE picture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IS</a:t>
            </a:r>
            <a:r>
              <a:rPr lang="en-US" dirty="0">
                <a:latin typeface="Consolas" panose="020B0609020204030204" pitchFamily="49" charset="0"/>
              </a:rPr>
              <a:t> NULL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Any arithmetic expression which has NULL values is </a:t>
            </a:r>
            <a:r>
              <a:rPr lang="en-US" altLang="zh-CN" dirty="0"/>
              <a:t>evaluated as NULL.</a:t>
            </a:r>
          </a:p>
          <a:p>
            <a:r>
              <a:rPr lang="en-US" dirty="0"/>
              <a:t>For example, this query is same as the above.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SELECT * FROM staff WHERE (picture+1) IS NULL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1066E6-924D-1DFB-3614-3C4A855E1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36" y="3951514"/>
            <a:ext cx="6494053" cy="25143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FADE303-8632-2F82-8B7B-38999E1E8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367" y="5084374"/>
            <a:ext cx="6109197" cy="112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D5C6B-8526-C523-A494-5867A233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89476-F913-6812-9554-559EEE06D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639587"/>
          </a:xfrm>
        </p:spPr>
        <p:txBody>
          <a:bodyPr/>
          <a:lstStyle/>
          <a:p>
            <a:r>
              <a:rPr lang="en-US" dirty="0"/>
              <a:t>Different </a:t>
            </a:r>
            <a:r>
              <a:rPr lang="en-US" dirty="0">
                <a:highlight>
                  <a:srgbClr val="FFFF00"/>
                </a:highlight>
              </a:rPr>
              <a:t>aggregation functions </a:t>
            </a:r>
            <a:r>
              <a:rPr lang="en-US" dirty="0"/>
              <a:t>treat NULL values differently.</a:t>
            </a:r>
          </a:p>
          <a:p>
            <a:r>
              <a:rPr lang="en-US" dirty="0"/>
              <a:t>If NULL values and non-NULL values are mixed,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aggregation functions ignore NULL values.</a:t>
            </a:r>
          </a:p>
          <a:p>
            <a:r>
              <a:rPr lang="en-US" dirty="0"/>
              <a:t>If the group only consists of NULL values,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returns 0;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other aggregation functions return NULL.</a:t>
            </a:r>
          </a:p>
          <a:p>
            <a:endParaRPr lang="en-US" dirty="0"/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Try the follow queries and see the outcome. One staff has rating NULL.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SELECT COUNT(</a:t>
            </a:r>
            <a:r>
              <a:rPr lang="en-US" dirty="0" err="1">
                <a:latin typeface="Consolas" panose="020B0609020204030204" pitchFamily="49" charset="0"/>
              </a:rPr>
              <a:t>staff_rating</a:t>
            </a:r>
            <a:r>
              <a:rPr lang="en-US" dirty="0">
                <a:latin typeface="Consolas" panose="020B0609020204030204" pitchFamily="49" charset="0"/>
              </a:rPr>
              <a:t>) FROM staff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SELECT MIN(</a:t>
            </a:r>
            <a:r>
              <a:rPr lang="en-US" dirty="0" err="1">
                <a:latin typeface="Consolas" panose="020B0609020204030204" pitchFamily="49" charset="0"/>
              </a:rPr>
              <a:t>staff_rating</a:t>
            </a:r>
            <a:r>
              <a:rPr lang="en-US" dirty="0">
                <a:latin typeface="Consolas" panose="020B0609020204030204" pitchFamily="49" charset="0"/>
              </a:rPr>
              <a:t>) FROM staff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SELECT </a:t>
            </a:r>
            <a:r>
              <a:rPr lang="en-US" dirty="0" err="1">
                <a:latin typeface="Consolas" panose="020B0609020204030204" pitchFamily="49" charset="0"/>
              </a:rPr>
              <a:t>staff_id,COUNT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staff_rating</a:t>
            </a:r>
            <a:r>
              <a:rPr lang="en-US" dirty="0">
                <a:latin typeface="Consolas" panose="020B0609020204030204" pitchFamily="49" charset="0"/>
              </a:rPr>
              <a:t>) FROM staff GROUP BY </a:t>
            </a:r>
            <a:r>
              <a:rPr lang="en-US" dirty="0" err="1">
                <a:latin typeface="Consolas" panose="020B0609020204030204" pitchFamily="49" charset="0"/>
              </a:rPr>
              <a:t>staff_id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SELECT </a:t>
            </a:r>
            <a:r>
              <a:rPr lang="en-US" dirty="0" err="1">
                <a:latin typeface="Consolas" panose="020B0609020204030204" pitchFamily="49" charset="0"/>
              </a:rPr>
              <a:t>staff_id,MIN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staff_rating</a:t>
            </a:r>
            <a:r>
              <a:rPr lang="en-US" dirty="0">
                <a:latin typeface="Consolas" panose="020B0609020204030204" pitchFamily="49" charset="0"/>
              </a:rPr>
              <a:t>) FROM staff GROUP BY </a:t>
            </a:r>
            <a:r>
              <a:rPr lang="en-US" dirty="0" err="1">
                <a:latin typeface="Consolas" panose="020B0609020204030204" pitchFamily="49" charset="0"/>
              </a:rPr>
              <a:t>staff_id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9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3BF44-12F1-1F2E-B847-92E459D9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EE3E51-F069-9935-2694-9A245FCA2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1347"/>
            <a:ext cx="2924583" cy="17909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E1F776-53E7-D31E-C718-0E7F28F21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801" y="1431347"/>
            <a:ext cx="2495898" cy="23530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4A7274B-3FD7-0821-6B2E-1B47A88E4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84350"/>
            <a:ext cx="4601217" cy="24863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884F382-5DA6-B862-DA76-E4679EF40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384" y="2607848"/>
            <a:ext cx="4467849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89FA-2C18-51A7-76E3-7026CDFC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Comparison and Compound Predicates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52D14-D71B-25CF-AC8C-F9A362CA2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573086"/>
          </a:xfrm>
        </p:spPr>
        <p:txBody>
          <a:bodyPr/>
          <a:lstStyle/>
          <a:p>
            <a:r>
              <a:rPr lang="en-US" dirty="0"/>
              <a:t>The logic with</a:t>
            </a:r>
            <a:r>
              <a:rPr lang="en-US" altLang="zh-CN" dirty="0"/>
              <a:t> NULL values has three constants: </a:t>
            </a:r>
          </a:p>
          <a:p>
            <a:pPr marL="0" indent="0" algn="ctr">
              <a:buNone/>
            </a:pPr>
            <a:r>
              <a:rPr lang="en-US" altLang="zh-CN" dirty="0"/>
              <a:t>TRUE, FALSE, and </a:t>
            </a:r>
            <a:r>
              <a:rPr lang="en-US" altLang="zh-CN" b="1" dirty="0"/>
              <a:t>UNKNOWN</a:t>
            </a:r>
          </a:p>
          <a:p>
            <a:r>
              <a:rPr lang="en-US" dirty="0"/>
              <a:t>A comparison with NULL values is </a:t>
            </a:r>
            <a:r>
              <a:rPr lang="en-US" altLang="zh-CN" dirty="0"/>
              <a:t>evaluated as UNKNOWN. </a:t>
            </a:r>
          </a:p>
          <a:p>
            <a:r>
              <a:rPr lang="en-US" altLang="zh-CN" dirty="0"/>
              <a:t>To check whether a logical constant is UNKNOWN, use </a:t>
            </a:r>
            <a:r>
              <a:rPr lang="en-US" altLang="zh-CN" b="1" dirty="0">
                <a:latin typeface="Consolas" panose="020B0609020204030204" pitchFamily="49" charset="0"/>
              </a:rPr>
              <a:t>IS UNKNOWN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For example, try the query and check the outcome.</a:t>
            </a:r>
          </a:p>
          <a:p>
            <a:endParaRPr lang="en-US" altLang="zh-CN" dirty="0"/>
          </a:p>
          <a:p>
            <a:pPr marL="0" indent="0" algn="ctr">
              <a:buNone/>
            </a:pPr>
            <a:r>
              <a:rPr lang="en-US" altLang="zh-CN" dirty="0">
                <a:latin typeface="Consolas" panose="020B0609020204030204" pitchFamily="49" charset="0"/>
              </a:rPr>
              <a:t>SELECT </a:t>
            </a:r>
            <a:r>
              <a:rPr lang="en-US" altLang="zh-CN" dirty="0" err="1">
                <a:latin typeface="Consolas" panose="020B0609020204030204" pitchFamily="49" charset="0"/>
              </a:rPr>
              <a:t>staff_id</a:t>
            </a:r>
            <a:r>
              <a:rPr lang="en-US" altLang="zh-CN" dirty="0">
                <a:latin typeface="Consolas" panose="020B0609020204030204" pitchFamily="49" charset="0"/>
              </a:rPr>
              <a:t> FROM staff WHERE (</a:t>
            </a:r>
            <a:r>
              <a:rPr lang="en-US" altLang="zh-CN" dirty="0" err="1">
                <a:latin typeface="Consolas" panose="020B0609020204030204" pitchFamily="49" charset="0"/>
              </a:rPr>
              <a:t>staff_rating</a:t>
            </a:r>
            <a:r>
              <a:rPr lang="en-US" altLang="zh-CN" dirty="0">
                <a:latin typeface="Consolas" panose="020B0609020204030204" pitchFamily="49" charset="0"/>
              </a:rPr>
              <a:t>&gt;5) IS UNKNOWN</a:t>
            </a:r>
          </a:p>
          <a:p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43DDEC-90C3-B5B2-E94D-A85E6083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472" y="4122042"/>
            <a:ext cx="4496427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0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9348-AC74-048F-F2B8-4127513EC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and Compound 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45D54-7C83-3239-434C-6C3855B2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5217322"/>
          </a:xfrm>
        </p:spPr>
        <p:txBody>
          <a:bodyPr>
            <a:normAutofit/>
          </a:bodyPr>
          <a:lstStyle/>
          <a:p>
            <a:r>
              <a:rPr lang="en-US" dirty="0"/>
              <a:t>In the compound predicates, (with logical connectives: AND, OR, and NOT)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OR: 	(unknown 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OR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true) = true</a:t>
            </a:r>
            <a:b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     	(unknown 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OR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false) = unknown</a:t>
            </a:r>
            <a:b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     	(unknown 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OR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unknown) = unknown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AND:	(true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AND 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unknown) = unknown </a:t>
            </a:r>
            <a:b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        	(false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AND 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unknown) = false</a:t>
            </a:r>
            <a:b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        	(unknown 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AND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unknown) = unknown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NOT:	(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NOT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unknown) = unknown</a:t>
            </a:r>
          </a:p>
          <a:p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If a logical test in 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WHERE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is eventually equal to UNKNOWN, the result of the test is treated as FALSE.</a:t>
            </a:r>
          </a:p>
          <a:p>
            <a:endParaRPr lang="en-US" altLang="zh-CN" dirty="0"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2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8DEC-085D-5783-054A-6B4D87D6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0228-7DCD-4533-F52C-925283A2F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Try the examples and explain the outcomes.</a:t>
            </a:r>
          </a:p>
          <a:p>
            <a:endParaRPr lang="en-US" altLang="zh-CN" dirty="0">
              <a:ea typeface="宋体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	SELECT </a:t>
            </a:r>
            <a:r>
              <a:rPr lang="en-US" altLang="zh-CN" dirty="0" err="1">
                <a:latin typeface="Consolas" panose="020B0609020204030204" pitchFamily="49" charset="0"/>
                <a:ea typeface="宋体" charset="-122"/>
              </a:rPr>
              <a:t>staff_id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 FROM staff WHERE (</a:t>
            </a:r>
            <a:r>
              <a:rPr lang="en-US" altLang="zh-CN" dirty="0" err="1">
                <a:latin typeface="Consolas" panose="020B0609020204030204" pitchFamily="49" charset="0"/>
                <a:ea typeface="宋体" charset="-122"/>
              </a:rPr>
              <a:t>staff_rating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&gt;5 OR true);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	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(unknown 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OR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true) = true, </a:t>
            </a:r>
            <a:r>
              <a:rPr lang="en-US" altLang="zh-CN" dirty="0">
                <a:ea typeface="宋体" charset="-122"/>
              </a:rPr>
              <a:t>so include </a:t>
            </a:r>
            <a:r>
              <a:rPr lang="en-US" altLang="zh-CN" dirty="0" err="1">
                <a:ea typeface="宋体" charset="-122"/>
              </a:rPr>
              <a:t>staff_id</a:t>
            </a:r>
            <a:r>
              <a:rPr lang="en-US" altLang="zh-CN" dirty="0">
                <a:ea typeface="宋体" charset="-122"/>
              </a:rPr>
              <a:t>=2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44B6C8-71F4-38BD-3B5D-FF5B14AB4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087" y="3203477"/>
            <a:ext cx="3515216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43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8DEC-085D-5783-054A-6B4D87D6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0228-7DCD-4533-F52C-925283A2F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Try the examples and explain the outcomes.</a:t>
            </a: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  <a:ea typeface="宋体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	SELECT </a:t>
            </a:r>
            <a:r>
              <a:rPr lang="en-US" altLang="zh-CN" dirty="0" err="1">
                <a:latin typeface="Consolas" panose="020B0609020204030204" pitchFamily="49" charset="0"/>
                <a:ea typeface="宋体" charset="-122"/>
              </a:rPr>
              <a:t>staff_id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 FROM staff WHERE (</a:t>
            </a:r>
            <a:r>
              <a:rPr lang="en-US" altLang="zh-CN" dirty="0" err="1">
                <a:latin typeface="Consolas" panose="020B0609020204030204" pitchFamily="49" charset="0"/>
                <a:ea typeface="宋体" charset="-122"/>
              </a:rPr>
              <a:t>staff_rating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&gt;5 AND true);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	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(true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AND 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unknown) = unknown ;</a:t>
            </a:r>
          </a:p>
          <a:p>
            <a:pPr marL="0" indent="0">
              <a:buNone/>
            </a:pPr>
            <a:r>
              <a:rPr lang="en-US" altLang="zh-CN" dirty="0">
                <a:ea typeface="宋体" charset="-122"/>
              </a:rPr>
              <a:t>	 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If a logical test in 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WHERE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is eventually equal to UNKNOWN, the result of the test is treated as FALSE;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ea typeface="宋体" charset="-122"/>
              </a:rPr>
              <a:t>	so, </a:t>
            </a:r>
            <a:r>
              <a:rPr lang="en-US" dirty="0" err="1">
                <a:latin typeface="Consolas" panose="020B0609020204030204" pitchFamily="49" charset="0"/>
                <a:ea typeface="宋体" charset="-122"/>
              </a:rPr>
              <a:t>staff_id</a:t>
            </a:r>
            <a:r>
              <a:rPr lang="en-US" dirty="0">
                <a:latin typeface="Consolas" panose="020B0609020204030204" pitchFamily="49" charset="0"/>
                <a:ea typeface="宋体" charset="-122"/>
              </a:rPr>
              <a:t> = 2 will not be included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D98D93-BF95-D16A-0BAF-E1E374945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150" y="4250367"/>
            <a:ext cx="3820058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09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8DEC-085D-5783-054A-6B4D87D6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0228-7DCD-4533-F52C-925283A2F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Try the examples and explain the outcomes.</a:t>
            </a: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  <a:ea typeface="宋体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	SELECT </a:t>
            </a:r>
            <a:r>
              <a:rPr lang="en-US" altLang="zh-CN" dirty="0" err="1">
                <a:latin typeface="Consolas" panose="020B0609020204030204" pitchFamily="49" charset="0"/>
                <a:ea typeface="宋体" charset="-122"/>
              </a:rPr>
              <a:t>staff_id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 FROM staff WHERE (NOT </a:t>
            </a:r>
            <a:r>
              <a:rPr lang="en-US" altLang="zh-CN" dirty="0" err="1">
                <a:latin typeface="Consolas" panose="020B0609020204030204" pitchFamily="49" charset="0"/>
                <a:ea typeface="宋体" charset="-122"/>
              </a:rPr>
              <a:t>staff_rating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&gt;5);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	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(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NOT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unknown) = unknown;</a:t>
            </a:r>
          </a:p>
          <a:p>
            <a:pPr marL="0" indent="0">
              <a:buNone/>
            </a:pPr>
            <a:r>
              <a:rPr lang="en-US" altLang="zh-CN" dirty="0">
                <a:ea typeface="宋体" charset="-122"/>
              </a:rPr>
              <a:t>	 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If a logical test in 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WHERE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is eventually equal to UNKNOWN, the result of the test is treated as FALSE;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	so, </a:t>
            </a:r>
            <a:r>
              <a:rPr lang="en-US" altLang="zh-CN" dirty="0" err="1">
                <a:latin typeface="Consolas" panose="020B0609020204030204" pitchFamily="49" charset="0"/>
                <a:ea typeface="宋体" charset="-122"/>
              </a:rPr>
              <a:t>staff_id</a:t>
            </a:r>
            <a:r>
              <a:rPr lang="en-US" altLang="zh-CN" dirty="0">
                <a:latin typeface="Consolas" panose="020B0609020204030204" pitchFamily="49" charset="0"/>
                <a:ea typeface="宋体" charset="-122"/>
              </a:rPr>
              <a:t> = 2 will not be included</a:t>
            </a: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  <a:ea typeface="宋体" charset="-122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F99601-12D1-1641-8863-02DDE88FE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092" y="4217967"/>
            <a:ext cx="4286848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65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FEB7-0D1C-C44A-FD2D-5306C7B8A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31A4D-504D-4B95-0CBF-9EBA34778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160047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subquery</a:t>
            </a:r>
            <a:r>
              <a:rPr lang="en-US" dirty="0"/>
              <a:t> is a query (</a:t>
            </a:r>
            <a:r>
              <a:rPr lang="en-US" dirty="0">
                <a:latin typeface="Consolas" panose="020B0609020204030204" pitchFamily="49" charset="0"/>
              </a:rPr>
              <a:t>SELECT…FROM…WHERE</a:t>
            </a:r>
            <a:r>
              <a:rPr lang="en-US" dirty="0"/>
              <a:t>) inside another query.</a:t>
            </a:r>
          </a:p>
          <a:p>
            <a:r>
              <a:rPr lang="en-US" dirty="0"/>
              <a:t>Subqueries can be in all of </a:t>
            </a:r>
            <a:r>
              <a:rPr lang="en-US" dirty="0">
                <a:latin typeface="Consolas" panose="020B0609020204030204" pitchFamily="49" charset="0"/>
              </a:rPr>
              <a:t>SELECT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FROM</a:t>
            </a:r>
            <a:r>
              <a:rPr lang="en-US" dirty="0"/>
              <a:t>, and </a:t>
            </a:r>
            <a:r>
              <a:rPr lang="en-US" dirty="0">
                <a:latin typeface="Consolas" panose="020B0609020204030204" pitchFamily="49" charset="0"/>
              </a:rPr>
              <a:t>WHERE</a:t>
            </a:r>
            <a:r>
              <a:rPr lang="en-US" dirty="0"/>
              <a:t> clauses.</a:t>
            </a:r>
          </a:p>
          <a:p>
            <a:r>
              <a:rPr lang="en-US" dirty="0"/>
              <a:t>This lab introduces subqueries in the </a:t>
            </a:r>
            <a:r>
              <a:rPr lang="en-US" dirty="0">
                <a:latin typeface="Consolas" panose="020B0609020204030204" pitchFamily="49" charset="0"/>
              </a:rPr>
              <a:t>FROM</a:t>
            </a:r>
            <a:r>
              <a:rPr lang="en-US" dirty="0"/>
              <a:t> clause.</a:t>
            </a:r>
          </a:p>
          <a:p>
            <a:endParaRPr lang="en-US" dirty="0"/>
          </a:p>
          <a:p>
            <a:r>
              <a:rPr lang="en-US" dirty="0"/>
              <a:t>In the </a:t>
            </a:r>
            <a:r>
              <a:rPr lang="en-US" dirty="0">
                <a:latin typeface="Consolas" panose="020B0609020204030204" pitchFamily="49" charset="0"/>
              </a:rPr>
              <a:t>FROM</a:t>
            </a:r>
            <a:r>
              <a:rPr lang="en-US" dirty="0"/>
              <a:t> clause, users need to indicate some tables.</a:t>
            </a:r>
          </a:p>
          <a:p>
            <a:r>
              <a:rPr lang="en-US" dirty="0"/>
              <a:t>A “</a:t>
            </a:r>
            <a:r>
              <a:rPr lang="en-US" dirty="0">
                <a:latin typeface="Consolas" panose="020B0609020204030204" pitchFamily="49" charset="0"/>
              </a:rPr>
              <a:t>SELECT…FROM…WHERE…</a:t>
            </a:r>
            <a:r>
              <a:rPr lang="en-US" dirty="0"/>
              <a:t>” query </a:t>
            </a:r>
            <a:r>
              <a:rPr lang="en-US" dirty="0">
                <a:highlight>
                  <a:srgbClr val="FFFF00"/>
                </a:highlight>
              </a:rPr>
              <a:t>returns a </a:t>
            </a:r>
            <a:r>
              <a:rPr lang="en-US" altLang="zh-CN" dirty="0">
                <a:highlight>
                  <a:srgbClr val="FFFF00"/>
                </a:highlight>
              </a:rPr>
              <a:t>temporary table. </a:t>
            </a:r>
            <a:r>
              <a:rPr lang="en-US" altLang="zh-CN" dirty="0"/>
              <a:t>(The type is matched.)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0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08E2-077D-433B-6335-44526CE7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59BE6-A626-608B-BA02-CA9259345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549451"/>
          </a:xfrm>
        </p:spPr>
        <p:txBody>
          <a:bodyPr/>
          <a:lstStyle/>
          <a:p>
            <a:r>
              <a:rPr lang="en-US" dirty="0"/>
              <a:t>For example, find the id of the actors who have played some films of rating “PG-13”.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</a:t>
            </a:r>
            <a:r>
              <a:rPr lang="en-US" sz="1800" dirty="0">
                <a:latin typeface="Consolas" panose="020B0609020204030204" pitchFamily="49" charset="0"/>
              </a:rPr>
              <a:t>SELECT </a:t>
            </a:r>
            <a:r>
              <a:rPr lang="en-US" sz="1800" dirty="0" err="1">
                <a:latin typeface="Consolas" panose="020B0609020204030204" pitchFamily="49" charset="0"/>
              </a:rPr>
              <a:t>actor_id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FROM </a:t>
            </a:r>
            <a:r>
              <a:rPr lang="en-US" sz="1800" dirty="0" err="1">
                <a:latin typeface="Consolas" panose="020B0609020204030204" pitchFamily="49" charset="0"/>
              </a:rPr>
              <a:t>film_actor</a:t>
            </a:r>
            <a:r>
              <a:rPr lang="en-US" sz="1800" dirty="0">
                <a:latin typeface="Consolas" panose="020B0609020204030204" pitchFamily="49" charset="0"/>
              </a:rPr>
              <a:t> NATURAL JOIN (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SELECT 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</a:rPr>
              <a:t>film_id</a:t>
            </a:r>
            <a:endParaRPr lang="en-US" sz="18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					FROM film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					WHERE rating = 'PG-13'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)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AS temp</a:t>
            </a:r>
          </a:p>
          <a:p>
            <a:endParaRPr lang="en-US" dirty="0"/>
          </a:p>
          <a:p>
            <a:r>
              <a:rPr lang="en-US" dirty="0"/>
              <a:t>The keyword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AS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renames</a:t>
            </a:r>
            <a:r>
              <a:rPr lang="en-US" dirty="0"/>
              <a:t> the </a:t>
            </a:r>
            <a:r>
              <a:rPr lang="en-US" altLang="zh-CN" dirty="0"/>
              <a:t>temporary table returned by the </a:t>
            </a:r>
            <a:r>
              <a:rPr lang="en-US" altLang="zh-CN" dirty="0">
                <a:solidFill>
                  <a:srgbClr val="C00000"/>
                </a:solidFill>
              </a:rPr>
              <a:t>subquery</a:t>
            </a:r>
            <a:r>
              <a:rPr lang="en-US" altLang="zh-CN" dirty="0"/>
              <a:t> as ‘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temp</a:t>
            </a:r>
            <a:r>
              <a:rPr lang="en-US" altLang="zh-CN" dirty="0"/>
              <a:t>’.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24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F67B2-51BE-3FDC-B60C-590CAB22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0F69A-B8D3-8E61-52FA-E3FAECC6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705918"/>
          </a:xfrm>
        </p:spPr>
        <p:txBody>
          <a:bodyPr/>
          <a:lstStyle/>
          <a:p>
            <a:r>
              <a:rPr lang="en-US" dirty="0"/>
              <a:t>The previous example can also be done without a subquery.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</a:t>
            </a:r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is the difference between these two </a:t>
            </a:r>
            <a:r>
              <a:rPr lang="en-US" altLang="zh-CN" dirty="0"/>
              <a:t>approaches?</a:t>
            </a:r>
          </a:p>
          <a:p>
            <a:r>
              <a:rPr lang="en-US" altLang="zh-CN" dirty="0"/>
              <a:t>Which one is more efficient? </a:t>
            </a:r>
            <a:r>
              <a:rPr lang="en-US" altLang="zh-CN" dirty="0">
                <a:solidFill>
                  <a:srgbClr val="FF0000"/>
                </a:solidFill>
              </a:rPr>
              <a:t>Ans: left one. Without joining all attributes in table `film`.</a:t>
            </a:r>
          </a:p>
          <a:p>
            <a:r>
              <a:rPr lang="en-US" dirty="0"/>
              <a:t>(Think about the procedure when queries are executed by the system, </a:t>
            </a:r>
            <a:r>
              <a:rPr lang="en-US" b="1" dirty="0"/>
              <a:t>about optimization</a:t>
            </a:r>
            <a:r>
              <a:rPr lang="en-US" dirty="0"/>
              <a:t>.)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6AD3F-F65C-A631-0FDD-A6BF9DCC8553}"/>
              </a:ext>
            </a:extLst>
          </p:cNvPr>
          <p:cNvSpPr txBox="1"/>
          <p:nvPr/>
        </p:nvSpPr>
        <p:spPr>
          <a:xfrm>
            <a:off x="6506852" y="2061067"/>
            <a:ext cx="3876773" cy="14773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Query 2: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SELECT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actor_id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FROM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film_actor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JOIN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USING(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film_id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WHERE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rating='PG-13'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647D8-565C-4D99-5FEB-C946A5BD4C8C}"/>
              </a:ext>
            </a:extLst>
          </p:cNvPr>
          <p:cNvSpPr txBox="1"/>
          <p:nvPr/>
        </p:nvSpPr>
        <p:spPr>
          <a:xfrm>
            <a:off x="1086024" y="2061067"/>
            <a:ext cx="4450653" cy="20313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1: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SELECT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actor_id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FROM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film_actor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NATURAL JOIN 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SELECT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film_id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FROM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WHERE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rating = 'PG-13'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) AS temp</a:t>
            </a:r>
          </a:p>
        </p:txBody>
      </p:sp>
    </p:spTree>
    <p:extLst>
      <p:ext uri="{BB962C8B-B14F-4D97-AF65-F5344CB8AC3E}">
        <p14:creationId xmlns:p14="http://schemas.microsoft.com/office/powerpoint/2010/main" val="318787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96C1-8C9D-EEA4-493C-1792D609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B96B5-8B30-BCC9-A329-E26934A3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20698"/>
          </a:xfrm>
        </p:spPr>
        <p:txBody>
          <a:bodyPr>
            <a:normAutofit/>
          </a:bodyPr>
          <a:lstStyle/>
          <a:p>
            <a:r>
              <a:rPr lang="en-US" dirty="0"/>
              <a:t>Find the name of the customers who live in China.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SELECT </a:t>
            </a:r>
            <a:r>
              <a:rPr lang="en-US" sz="1800" dirty="0" err="1">
                <a:latin typeface="Consolas" panose="020B0609020204030204" pitchFamily="49" charset="0"/>
              </a:rPr>
              <a:t>first_name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last_name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FROM customer, (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SELECT </a:t>
            </a:r>
            <a:r>
              <a:rPr lang="en-US" sz="1800" dirty="0" err="1">
                <a:latin typeface="Consolas" panose="020B0609020204030204" pitchFamily="49" charset="0"/>
              </a:rPr>
              <a:t>address_id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FROM address, (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SELECT </a:t>
            </a:r>
            <a:r>
              <a:rPr lang="en-US" sz="1800" dirty="0" err="1">
                <a:latin typeface="Consolas" panose="020B0609020204030204" pitchFamily="49" charset="0"/>
              </a:rPr>
              <a:t>city_id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FROM city, (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	SELECT </a:t>
            </a:r>
            <a:r>
              <a:rPr lang="en-US" sz="1800" dirty="0" err="1">
                <a:latin typeface="Consolas" panose="020B0609020204030204" pitchFamily="49" charset="0"/>
              </a:rPr>
              <a:t>country_id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	FROM country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	WHERE country='China') AS T1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WHERE </a:t>
            </a:r>
            <a:r>
              <a:rPr lang="en-US" sz="1800" dirty="0" err="1">
                <a:latin typeface="Consolas" panose="020B0609020204030204" pitchFamily="49" charset="0"/>
              </a:rPr>
              <a:t>city.country_id</a:t>
            </a:r>
            <a:r>
              <a:rPr lang="en-US" sz="1800" dirty="0">
                <a:latin typeface="Consolas" panose="020B0609020204030204" pitchFamily="49" charset="0"/>
              </a:rPr>
              <a:t> = T1.country_id) AS T2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WHERE </a:t>
            </a:r>
            <a:r>
              <a:rPr lang="en-US" sz="1800" dirty="0" err="1">
                <a:latin typeface="Consolas" panose="020B0609020204030204" pitchFamily="49" charset="0"/>
              </a:rPr>
              <a:t>address.city_id</a:t>
            </a:r>
            <a:r>
              <a:rPr lang="en-US" sz="1800" dirty="0">
                <a:latin typeface="Consolas" panose="020B0609020204030204" pitchFamily="49" charset="0"/>
              </a:rPr>
              <a:t> = T2.city_id) AS T3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WHERE </a:t>
            </a:r>
            <a:r>
              <a:rPr lang="en-US" sz="1800" dirty="0" err="1">
                <a:latin typeface="Consolas" panose="020B0609020204030204" pitchFamily="49" charset="0"/>
              </a:rPr>
              <a:t>customer.address_id</a:t>
            </a:r>
            <a:r>
              <a:rPr lang="en-US" sz="1800" dirty="0">
                <a:latin typeface="Consolas" panose="020B0609020204030204" pitchFamily="49" charset="0"/>
              </a:rPr>
              <a:t> = T3.address_id</a:t>
            </a:r>
          </a:p>
          <a:p>
            <a:r>
              <a:rPr lang="en-US" dirty="0"/>
              <a:t>The structure is like an </a:t>
            </a:r>
            <a:r>
              <a:rPr lang="en-US" altLang="zh-CN" dirty="0"/>
              <a:t>onion.</a:t>
            </a:r>
            <a:r>
              <a:rPr lang="en-US" sz="1800" dirty="0"/>
              <a:t>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09945-75F0-BDB9-41A7-FB2DFBFE99DD}"/>
              </a:ext>
            </a:extLst>
          </p:cNvPr>
          <p:cNvSpPr/>
          <p:nvPr/>
        </p:nvSpPr>
        <p:spPr>
          <a:xfrm>
            <a:off x="4276165" y="3218329"/>
            <a:ext cx="4867835" cy="20618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800BC-8B10-EEB9-E00A-23038AB95896}"/>
              </a:ext>
            </a:extLst>
          </p:cNvPr>
          <p:cNvSpPr txBox="1"/>
          <p:nvPr/>
        </p:nvSpPr>
        <p:spPr>
          <a:xfrm>
            <a:off x="9144000" y="3218329"/>
            <a:ext cx="1685077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cities in China</a:t>
            </a: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61155-C1C2-A90E-B98F-700F885592B6}"/>
              </a:ext>
            </a:extLst>
          </p:cNvPr>
          <p:cNvSpPr/>
          <p:nvPr/>
        </p:nvSpPr>
        <p:spPr>
          <a:xfrm>
            <a:off x="3589580" y="2484609"/>
            <a:ext cx="7239497" cy="31997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7304F-FABA-EC5C-CB9D-4744333518EF}"/>
              </a:ext>
            </a:extLst>
          </p:cNvPr>
          <p:cNvSpPr txBox="1"/>
          <p:nvPr/>
        </p:nvSpPr>
        <p:spPr>
          <a:xfrm>
            <a:off x="2096864" y="2484609"/>
            <a:ext cx="1492716" cy="6463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addresses 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those cities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2C188C-E30B-21C6-3B75-62190291A7F4}"/>
              </a:ext>
            </a:extLst>
          </p:cNvPr>
          <p:cNvSpPr/>
          <p:nvPr/>
        </p:nvSpPr>
        <p:spPr>
          <a:xfrm>
            <a:off x="2026302" y="1803117"/>
            <a:ext cx="9248156" cy="4192329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CF87E-0C88-076E-CC0E-B3F70650DF7A}"/>
              </a:ext>
            </a:extLst>
          </p:cNvPr>
          <p:cNvSpPr txBox="1"/>
          <p:nvPr/>
        </p:nvSpPr>
        <p:spPr>
          <a:xfrm>
            <a:off x="777242" y="1803117"/>
            <a:ext cx="1249060" cy="6463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C2CAA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those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C2CAA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customers</a:t>
            </a:r>
          </a:p>
        </p:txBody>
      </p:sp>
    </p:spTree>
    <p:extLst>
      <p:ext uri="{BB962C8B-B14F-4D97-AF65-F5344CB8AC3E}">
        <p14:creationId xmlns:p14="http://schemas.microsoft.com/office/powerpoint/2010/main" val="144404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743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must use </a:t>
            </a:r>
            <a:r>
              <a:rPr lang="en-US" dirty="0">
                <a:highlight>
                  <a:srgbClr val="FFFF00"/>
                </a:highlight>
              </a:rPr>
              <a:t>subqueries</a:t>
            </a:r>
            <a:r>
              <a:rPr lang="en-US" dirty="0"/>
              <a:t> for the following questions. Try your best to use as many subqueries as you can.</a:t>
            </a:r>
          </a:p>
          <a:p>
            <a:pPr marL="442913" indent="-442913">
              <a:buFont typeface="+mj-lt"/>
              <a:buAutoNum type="arabicPeriod"/>
            </a:pPr>
            <a:r>
              <a:rPr lang="en-US" sz="1800" dirty="0"/>
              <a:t>Find the films (title) played by Zero Cage.</a:t>
            </a:r>
          </a:p>
          <a:p>
            <a:pPr marL="442913" indent="-442913">
              <a:buFont typeface="+mj-lt"/>
              <a:buAutoNum type="arabicPeriod"/>
            </a:pPr>
            <a:r>
              <a:rPr lang="en-US" sz="1800" dirty="0"/>
              <a:t>Find the films (title) rented by George Linton.</a:t>
            </a:r>
          </a:p>
          <a:p>
            <a:pPr marL="442913" indent="-442913">
              <a:buFont typeface="+mj-lt"/>
              <a:buAutoNum type="arabicPeriod"/>
            </a:pPr>
            <a:r>
              <a:rPr lang="en-US" sz="1800" dirty="0"/>
              <a:t>Find the customers (name) who have rented some action (category) films.</a:t>
            </a:r>
          </a:p>
          <a:p>
            <a:pPr marL="442913" indent="-442913">
              <a:buFont typeface="+mj-lt"/>
              <a:buAutoNum type="arabicPeriod"/>
            </a:pPr>
            <a:r>
              <a:rPr lang="en-US" altLang="zh-CN" sz="1800" dirty="0"/>
              <a:t>Find the id of the films which have the lowest rental rate. </a:t>
            </a:r>
          </a:p>
          <a:p>
            <a:pPr marL="442913" indent="-442913">
              <a:buFont typeface="+mj-lt"/>
              <a:buAutoNum type="arabicPeriod"/>
            </a:pPr>
            <a:r>
              <a:rPr lang="en-US" sz="1800" dirty="0"/>
              <a:t>Find the actors who have played a same film with Bolger (the last name of an actor).</a:t>
            </a:r>
          </a:p>
          <a:p>
            <a:pPr marL="442913" indent="-442913">
              <a:buFont typeface="+mj-lt"/>
              <a:buAutoNum type="arabicPeriod"/>
            </a:pPr>
            <a:r>
              <a:rPr lang="en-US" altLang="zh-CN" sz="1800" dirty="0"/>
              <a:t>Count the number of customers who have not rented any film. You have to use 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OUTER JOIN</a:t>
            </a:r>
            <a:r>
              <a:rPr lang="en-US" altLang="zh-CN" sz="1800" dirty="0"/>
              <a:t>, aggregation, and subqueries.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751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74372"/>
          </a:xfrm>
        </p:spPr>
        <p:txBody>
          <a:bodyPr>
            <a:normAutofit lnSpcReduction="10000"/>
          </a:bodyPr>
          <a:lstStyle/>
          <a:p>
            <a:pPr marL="442913" indent="-442913">
              <a:buFont typeface="+mj-lt"/>
              <a:buAutoNum type="arabicPeriod"/>
            </a:pPr>
            <a:r>
              <a:rPr lang="en-US" sz="1800" dirty="0"/>
              <a:t>Find the films (title) played by Zero Cage.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>
                <a:highlight>
                  <a:srgbClr val="FFFF00"/>
                </a:highlight>
              </a:rPr>
              <a:t>title </a:t>
            </a:r>
          </a:p>
          <a:p>
            <a:pPr marL="0" indent="0">
              <a:buNone/>
            </a:pPr>
            <a:r>
              <a:rPr lang="en-US" dirty="0"/>
              <a:t>FROM film,(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SELECT </a:t>
            </a:r>
            <a:r>
              <a:rPr lang="en-US" dirty="0" err="1">
                <a:highlight>
                  <a:srgbClr val="FFFF00"/>
                </a:highlight>
              </a:rPr>
              <a:t>film_id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FROM </a:t>
            </a:r>
            <a:r>
              <a:rPr lang="en-US" dirty="0" err="1"/>
              <a:t>film_actor</a:t>
            </a:r>
            <a:r>
              <a:rPr lang="en-US" dirty="0"/>
              <a:t>,(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smtClean="0"/>
              <a:t>		SELECT </a:t>
            </a:r>
            <a:r>
              <a:rPr lang="en-US" dirty="0" err="1">
                <a:highlight>
                  <a:srgbClr val="FFFF00"/>
                </a:highlight>
              </a:rPr>
              <a:t>actor_id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smtClean="0"/>
              <a:t>		FROM </a:t>
            </a:r>
            <a:r>
              <a:rPr lang="en-US" dirty="0"/>
              <a:t>actor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smtClean="0"/>
              <a:t>		WHERE </a:t>
            </a:r>
            <a:r>
              <a:rPr lang="en-US" dirty="0" err="1"/>
              <a:t>first_name</a:t>
            </a:r>
            <a:r>
              <a:rPr lang="en-US" dirty="0"/>
              <a:t>='Zero' AND </a:t>
            </a:r>
            <a:r>
              <a:rPr lang="en-US" dirty="0" err="1"/>
              <a:t>last_name</a:t>
            </a:r>
            <a:r>
              <a:rPr lang="en-US" dirty="0"/>
              <a:t>='Cage'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	) </a:t>
            </a:r>
            <a:r>
              <a:rPr lang="en-US" dirty="0"/>
              <a:t>AS </a:t>
            </a:r>
            <a:r>
              <a:rPr lang="en-US" dirty="0">
                <a:solidFill>
                  <a:srgbClr val="FF0000"/>
                </a:solidFill>
              </a:rPr>
              <a:t>act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WHERE </a:t>
            </a:r>
            <a:r>
              <a:rPr lang="en-US" dirty="0" err="1"/>
              <a:t>film_actor.actor_id</a:t>
            </a:r>
            <a:r>
              <a:rPr lang="en-US" dirty="0"/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act</a:t>
            </a:r>
            <a:r>
              <a:rPr lang="en-US" dirty="0" err="1" smtClean="0"/>
              <a:t>.actor_id</a:t>
            </a:r>
            <a:r>
              <a:rPr lang="en-US" dirty="0" smtClean="0"/>
              <a:t>) </a:t>
            </a:r>
            <a:r>
              <a:rPr lang="en-US" dirty="0"/>
              <a:t>AS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fa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film.film_id</a:t>
            </a:r>
            <a:r>
              <a:rPr lang="en-US" dirty="0"/>
              <a:t> =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fa</a:t>
            </a:r>
            <a:r>
              <a:rPr lang="en-US" dirty="0" err="1"/>
              <a:t>.film_id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56934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1216148" cy="44743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2. Find the films (title) rented by George Linton.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 </a:t>
            </a:r>
            <a:r>
              <a:rPr lang="en-US" dirty="0" err="1">
                <a:highlight>
                  <a:srgbClr val="FFFF00"/>
                </a:highlight>
              </a:rPr>
              <a:t>film.title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  <a:p>
            <a:pPr marL="0" indent="0">
              <a:buNone/>
            </a:pPr>
            <a:r>
              <a:rPr lang="en-US" dirty="0"/>
              <a:t>FROM 	film,(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SELECT </a:t>
            </a:r>
            <a:r>
              <a:rPr lang="en-US" dirty="0" err="1">
                <a:highlight>
                  <a:srgbClr val="FFFF00"/>
                </a:highlight>
              </a:rPr>
              <a:t>film_id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FROM </a:t>
            </a:r>
            <a:r>
              <a:rPr lang="en-US" dirty="0"/>
              <a:t>inventory,(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SELECT </a:t>
            </a:r>
            <a:r>
              <a:rPr lang="en-US" dirty="0" err="1">
                <a:highlight>
                  <a:srgbClr val="FFFF00"/>
                </a:highlight>
              </a:rPr>
              <a:t>inventory_id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FROM </a:t>
            </a:r>
            <a:r>
              <a:rPr lang="en-US" dirty="0"/>
              <a:t>rental,(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	SELECT </a:t>
            </a:r>
            <a:r>
              <a:rPr lang="en-US" dirty="0" err="1">
                <a:highlight>
                  <a:srgbClr val="FFFF00"/>
                </a:highlight>
              </a:rPr>
              <a:t>customer_id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       		</a:t>
            </a:r>
            <a:r>
              <a:rPr lang="en-US" dirty="0" smtClean="0"/>
              <a:t>	FROM </a:t>
            </a:r>
            <a:r>
              <a:rPr lang="en-US" dirty="0"/>
              <a:t>customer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	WHERE </a:t>
            </a:r>
            <a:r>
              <a:rPr lang="en-US" dirty="0" err="1" smtClean="0"/>
              <a:t>customer.first_name</a:t>
            </a:r>
            <a:r>
              <a:rPr lang="en-US" dirty="0"/>
              <a:t>='George' AND </a:t>
            </a:r>
            <a:r>
              <a:rPr lang="en-US" dirty="0" err="1"/>
              <a:t>customer.last_name</a:t>
            </a:r>
            <a:r>
              <a:rPr lang="en-US" dirty="0"/>
              <a:t>='Linton</a:t>
            </a:r>
            <a:r>
              <a:rPr lang="en-US" dirty="0" smtClean="0"/>
              <a:t>') </a:t>
            </a:r>
            <a:r>
              <a:rPr lang="en-US" dirty="0"/>
              <a:t>AS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	WHERE </a:t>
            </a:r>
            <a:r>
              <a:rPr lang="en-US" dirty="0" err="1"/>
              <a:t>rental.customer_id</a:t>
            </a:r>
            <a:r>
              <a:rPr lang="en-US" dirty="0"/>
              <a:t> = 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</a:t>
            </a:r>
            <a:r>
              <a:rPr lang="en-US" dirty="0" err="1" smtClean="0"/>
              <a:t>.customer_id</a:t>
            </a:r>
            <a:r>
              <a:rPr lang="en-US" dirty="0" smtClean="0"/>
              <a:t>) </a:t>
            </a:r>
            <a:r>
              <a:rPr lang="en-US" dirty="0"/>
              <a:t>AS </a:t>
            </a:r>
            <a:r>
              <a:rPr lang="en-US" dirty="0">
                <a:solidFill>
                  <a:srgbClr val="FF0000"/>
                </a:solidFill>
              </a:rPr>
              <a:t>R</a:t>
            </a:r>
          </a:p>
          <a:p>
            <a:pPr marL="0" indent="0">
              <a:buNone/>
            </a:pPr>
            <a:r>
              <a:rPr lang="en-US" dirty="0"/>
              <a:t>	WHERE </a:t>
            </a:r>
            <a:r>
              <a:rPr lang="en-US" dirty="0" err="1"/>
              <a:t>inventory.inventory_id</a:t>
            </a:r>
            <a:r>
              <a:rPr lang="en-US" dirty="0"/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R</a:t>
            </a:r>
            <a:r>
              <a:rPr lang="en-US" dirty="0" err="1" smtClean="0"/>
              <a:t>.inventory_id</a:t>
            </a:r>
            <a:r>
              <a:rPr lang="en-US" dirty="0" smtClean="0"/>
              <a:t>) </a:t>
            </a:r>
            <a:r>
              <a:rPr lang="en-US" dirty="0"/>
              <a:t>AS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</a:t>
            </a:r>
          </a:p>
          <a:p>
            <a:pPr marL="0" indent="0">
              <a:buNone/>
            </a:pPr>
            <a:r>
              <a:rPr lang="en-US" dirty="0" smtClean="0"/>
              <a:t>WHERE </a:t>
            </a:r>
            <a:r>
              <a:rPr lang="en-US" dirty="0" err="1"/>
              <a:t>film.film_id</a:t>
            </a:r>
            <a:r>
              <a:rPr lang="en-US" dirty="0"/>
              <a:t> =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dirty="0" err="1"/>
              <a:t>.film_id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02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010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1800" dirty="0"/>
              <a:t>3. Find the customers (name) who have rented some action (category) films.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	</a:t>
            </a:r>
            <a:r>
              <a:rPr lang="en-US" dirty="0" err="1">
                <a:highlight>
                  <a:srgbClr val="FFFF00"/>
                </a:highlight>
              </a:rPr>
              <a:t>customer.first_name,customer.last_name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  <a:p>
            <a:pPr marL="0" indent="0">
              <a:buNone/>
            </a:pPr>
            <a:r>
              <a:rPr lang="en-US" dirty="0"/>
              <a:t>FROM	customer, (</a:t>
            </a:r>
          </a:p>
          <a:p>
            <a:pPr marL="0" indent="0">
              <a:buNone/>
            </a:pPr>
            <a:r>
              <a:rPr lang="en-US" dirty="0"/>
              <a:t>	SELECT 	</a:t>
            </a:r>
            <a:r>
              <a:rPr lang="en-US" dirty="0" err="1">
                <a:highlight>
                  <a:srgbClr val="FFFF00"/>
                </a:highlight>
              </a:rPr>
              <a:t>customer_id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	FROM	rental, (</a:t>
            </a:r>
          </a:p>
          <a:p>
            <a:pPr marL="0" indent="0">
              <a:buNone/>
            </a:pPr>
            <a:r>
              <a:rPr lang="en-US" dirty="0"/>
              <a:t>		SELECT	</a:t>
            </a:r>
            <a:r>
              <a:rPr lang="en-US" dirty="0" err="1">
                <a:highlight>
                  <a:srgbClr val="FFFF00"/>
                </a:highlight>
              </a:rPr>
              <a:t>inventory_id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	FROM	inventory, (</a:t>
            </a:r>
          </a:p>
          <a:p>
            <a:pPr marL="0" indent="0">
              <a:buNone/>
            </a:pPr>
            <a:r>
              <a:rPr lang="en-US" dirty="0"/>
              <a:t>			SELECT	</a:t>
            </a:r>
            <a:r>
              <a:rPr lang="en-US" dirty="0" err="1">
                <a:highlight>
                  <a:srgbClr val="FFFF00"/>
                </a:highlight>
              </a:rPr>
              <a:t>film_id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			FROM	</a:t>
            </a:r>
            <a:r>
              <a:rPr lang="en-US" dirty="0" smtClean="0"/>
              <a:t> </a:t>
            </a:r>
            <a:r>
              <a:rPr lang="en-US" dirty="0" err="1" smtClean="0"/>
              <a:t>film_category</a:t>
            </a:r>
            <a:r>
              <a:rPr lang="en-US" dirty="0"/>
              <a:t>, (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smtClean="0"/>
              <a:t> SELECT </a:t>
            </a:r>
            <a:r>
              <a:rPr lang="en-US" dirty="0">
                <a:highlight>
                  <a:srgbClr val="FFFF00"/>
                </a:highlight>
              </a:rPr>
              <a:t>	</a:t>
            </a:r>
            <a:r>
              <a:rPr lang="en-US" dirty="0" err="1">
                <a:highlight>
                  <a:srgbClr val="FFFF00"/>
                </a:highlight>
              </a:rPr>
              <a:t>category_id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smtClean="0"/>
              <a:t> FROM</a:t>
            </a:r>
            <a:r>
              <a:rPr lang="en-US" dirty="0"/>
              <a:t>	category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smtClean="0"/>
              <a:t> WHERE</a:t>
            </a:r>
            <a:r>
              <a:rPr lang="en-US" dirty="0"/>
              <a:t>	category.name='action</a:t>
            </a:r>
            <a:r>
              <a:rPr lang="en-US" dirty="0" smtClean="0"/>
              <a:t>') </a:t>
            </a:r>
            <a:r>
              <a:rPr lang="en-US" dirty="0"/>
              <a:t>AS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Action</a:t>
            </a:r>
          </a:p>
          <a:p>
            <a:pPr marL="0" indent="0">
              <a:buNone/>
            </a:pPr>
            <a:r>
              <a:rPr lang="en-US" dirty="0"/>
              <a:t>			WHERE </a:t>
            </a:r>
            <a:r>
              <a:rPr lang="en-US" dirty="0" err="1"/>
              <a:t>film_category.category_id</a:t>
            </a:r>
            <a:r>
              <a:rPr lang="en-US" dirty="0"/>
              <a:t> =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Action</a:t>
            </a:r>
            <a:r>
              <a:rPr lang="en-US" dirty="0" err="1" smtClean="0"/>
              <a:t>.category_id</a:t>
            </a:r>
            <a:r>
              <a:rPr lang="en-US" dirty="0" smtClean="0"/>
              <a:t>) </a:t>
            </a:r>
            <a:r>
              <a:rPr lang="en-US" dirty="0"/>
              <a:t>AS </a:t>
            </a:r>
            <a:r>
              <a:rPr lang="en-US" dirty="0">
                <a:solidFill>
                  <a:srgbClr val="FF0000"/>
                </a:solidFill>
              </a:rPr>
              <a:t>Fc</a:t>
            </a:r>
          </a:p>
          <a:p>
            <a:pPr marL="0" indent="0">
              <a:buNone/>
            </a:pPr>
            <a:r>
              <a:rPr lang="en-US" dirty="0"/>
              <a:t>		WHERE </a:t>
            </a:r>
            <a:r>
              <a:rPr lang="en-US" dirty="0" err="1"/>
              <a:t>inventory.film_id</a:t>
            </a:r>
            <a:r>
              <a:rPr lang="en-US" dirty="0"/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Fc</a:t>
            </a:r>
            <a:r>
              <a:rPr lang="en-US" dirty="0" err="1" smtClean="0"/>
              <a:t>.film_id</a:t>
            </a:r>
            <a:r>
              <a:rPr lang="en-US" dirty="0" smtClean="0"/>
              <a:t>) </a:t>
            </a:r>
            <a:r>
              <a:rPr lang="en-US" dirty="0"/>
              <a:t>AS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</a:p>
          <a:p>
            <a:pPr marL="0" indent="0">
              <a:buNone/>
            </a:pPr>
            <a:r>
              <a:rPr lang="en-US" dirty="0"/>
              <a:t>	WHERE </a:t>
            </a:r>
            <a:r>
              <a:rPr lang="en-US" dirty="0" err="1"/>
              <a:t>rental.inventory_id</a:t>
            </a:r>
            <a:r>
              <a:rPr lang="en-US" dirty="0"/>
              <a:t> = 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</a:t>
            </a:r>
            <a:r>
              <a:rPr lang="en-US" dirty="0" err="1" smtClean="0"/>
              <a:t>.inventory_id</a:t>
            </a:r>
            <a:r>
              <a:rPr lang="en-US" dirty="0" smtClean="0"/>
              <a:t>) </a:t>
            </a:r>
            <a:r>
              <a:rPr lang="en-US" dirty="0"/>
              <a:t>AS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customer.customer_id</a:t>
            </a:r>
            <a:r>
              <a:rPr lang="en-US" dirty="0"/>
              <a:t>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</a:t>
            </a:r>
            <a:r>
              <a:rPr lang="en-US" dirty="0" err="1"/>
              <a:t>.customer_id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05948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01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4. Find the id of the films which have the lowest rental rate.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>
                <a:highlight>
                  <a:srgbClr val="FFFF00"/>
                </a:highlight>
              </a:rPr>
              <a:t>film_id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FROM film, (</a:t>
            </a:r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>
                <a:highlight>
                  <a:srgbClr val="FFFF00"/>
                </a:highlight>
              </a:rPr>
              <a:t>MIN(</a:t>
            </a:r>
            <a:r>
              <a:rPr lang="en-US" dirty="0" err="1">
                <a:highlight>
                  <a:srgbClr val="FFFF00"/>
                </a:highlight>
              </a:rPr>
              <a:t>rental_rate</a:t>
            </a:r>
            <a:r>
              <a:rPr lang="en-US" dirty="0">
                <a:highlight>
                  <a:srgbClr val="FFFF00"/>
                </a:highlight>
              </a:rPr>
              <a:t>) </a:t>
            </a:r>
            <a:r>
              <a:rPr lang="en-US" dirty="0"/>
              <a:t>AS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min_rate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	FROM </a:t>
            </a:r>
            <a:r>
              <a:rPr lang="en-US" dirty="0" smtClean="0"/>
              <a:t>film) </a:t>
            </a:r>
            <a:r>
              <a:rPr lang="en-US" dirty="0"/>
              <a:t>AS temp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rental_rate</a:t>
            </a:r>
            <a:r>
              <a:rPr lang="en-US" dirty="0"/>
              <a:t> =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min_rate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25391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01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5. Find the actors who have played a same film with Bolger (the last name of an actor).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altLang="zh-CN" sz="1900" dirty="0">
                <a:latin typeface="+mn-lt"/>
              </a:rPr>
              <a:t>SELECT </a:t>
            </a:r>
            <a:r>
              <a:rPr lang="en-US" altLang="zh-CN" sz="1900" dirty="0" err="1">
                <a:highlight>
                  <a:srgbClr val="FFFF00"/>
                </a:highlight>
                <a:latin typeface="+mn-lt"/>
              </a:rPr>
              <a:t>actor.first_name,actor.last_name</a:t>
            </a:r>
            <a:r>
              <a:rPr lang="en-US" altLang="zh-CN" sz="1900" dirty="0">
                <a:highlight>
                  <a:srgbClr val="FFFF00"/>
                </a:highlight>
                <a:latin typeface="+mn-lt"/>
              </a:rPr>
              <a:t> </a:t>
            </a:r>
          </a:p>
          <a:p>
            <a:pPr marL="0" indent="0">
              <a:buNone/>
            </a:pPr>
            <a:r>
              <a:rPr lang="en-US" altLang="zh-CN" sz="1900" dirty="0">
                <a:latin typeface="+mn-lt"/>
              </a:rPr>
              <a:t>FROM 	actor, </a:t>
            </a:r>
            <a:r>
              <a:rPr lang="en-US" altLang="zh-CN" sz="1900" dirty="0" smtClean="0">
                <a:latin typeface="+mn-lt"/>
              </a:rPr>
              <a:t>(</a:t>
            </a:r>
          </a:p>
          <a:p>
            <a:pPr marL="0" indent="0">
              <a:buNone/>
            </a:pPr>
            <a:r>
              <a:rPr lang="en-US" altLang="zh-CN" sz="1900" dirty="0">
                <a:latin typeface="+mn-lt"/>
              </a:rPr>
              <a:t>	</a:t>
            </a:r>
            <a:r>
              <a:rPr lang="en-US" altLang="zh-CN" sz="1900" dirty="0" smtClean="0"/>
              <a:t>SELECT </a:t>
            </a:r>
            <a:r>
              <a:rPr lang="en-US" altLang="zh-CN" sz="1900" dirty="0" err="1">
                <a:highlight>
                  <a:srgbClr val="FFFF00"/>
                </a:highlight>
              </a:rPr>
              <a:t>actor_id</a:t>
            </a:r>
            <a:r>
              <a:rPr lang="en-US" altLang="zh-CN" sz="1900" dirty="0">
                <a:highlight>
                  <a:srgbClr val="FFFF00"/>
                </a:highlight>
              </a:rPr>
              <a:t> </a:t>
            </a:r>
          </a:p>
          <a:p>
            <a:pPr marL="241300" lvl="1" indent="0">
              <a:buNone/>
            </a:pPr>
            <a:r>
              <a:rPr lang="en-US" altLang="zh-CN" sz="1900" dirty="0" smtClean="0"/>
              <a:t>	FROM </a:t>
            </a:r>
            <a:r>
              <a:rPr lang="en-US" altLang="zh-CN" sz="1900" dirty="0" err="1"/>
              <a:t>film_actor</a:t>
            </a:r>
            <a:r>
              <a:rPr lang="en-US" altLang="zh-CN" sz="1900" dirty="0"/>
              <a:t>, (                                                   </a:t>
            </a:r>
          </a:p>
          <a:p>
            <a:pPr marL="241300" lvl="1" indent="0">
              <a:buNone/>
            </a:pPr>
            <a:r>
              <a:rPr lang="en-US" altLang="zh-CN" sz="1900" dirty="0"/>
              <a:t>	</a:t>
            </a:r>
            <a:r>
              <a:rPr lang="en-US" altLang="zh-CN" sz="1900" dirty="0" smtClean="0"/>
              <a:t>	SELECT </a:t>
            </a:r>
            <a:r>
              <a:rPr lang="en-US" altLang="zh-CN" sz="1900" dirty="0" err="1">
                <a:highlight>
                  <a:srgbClr val="FFFF00"/>
                </a:highlight>
              </a:rPr>
              <a:t>film_id</a:t>
            </a:r>
            <a:endParaRPr lang="en-US" altLang="zh-CN" sz="1900" dirty="0">
              <a:highlight>
                <a:srgbClr val="FFFF00"/>
              </a:highlight>
            </a:endParaRPr>
          </a:p>
          <a:p>
            <a:pPr marL="241300" lvl="1" indent="0">
              <a:buNone/>
            </a:pPr>
            <a:r>
              <a:rPr lang="en-US" altLang="zh-CN" sz="1900" dirty="0"/>
              <a:t>	</a:t>
            </a:r>
            <a:r>
              <a:rPr lang="en-US" altLang="zh-CN" sz="1900" dirty="0" smtClean="0"/>
              <a:t>	FROM</a:t>
            </a:r>
            <a:r>
              <a:rPr lang="en-US" altLang="zh-CN" sz="1900" dirty="0"/>
              <a:t>	</a:t>
            </a:r>
            <a:r>
              <a:rPr lang="en-US" altLang="zh-CN" sz="1900" dirty="0" err="1"/>
              <a:t>film_actor</a:t>
            </a:r>
            <a:r>
              <a:rPr lang="en-US" altLang="zh-CN" sz="1900" dirty="0"/>
              <a:t>, (</a:t>
            </a:r>
          </a:p>
          <a:p>
            <a:pPr marL="241300" lvl="1" indent="0">
              <a:buNone/>
            </a:pPr>
            <a:r>
              <a:rPr lang="en-US" altLang="zh-CN" sz="1900" dirty="0"/>
              <a:t>		</a:t>
            </a:r>
            <a:r>
              <a:rPr lang="en-US" altLang="zh-CN" sz="1900" dirty="0" smtClean="0"/>
              <a:t>	SELECT </a:t>
            </a:r>
            <a:r>
              <a:rPr lang="en-US" altLang="zh-CN" sz="1900" dirty="0" err="1">
                <a:highlight>
                  <a:srgbClr val="FFFF00"/>
                </a:highlight>
              </a:rPr>
              <a:t>actor_id</a:t>
            </a:r>
            <a:endParaRPr lang="en-US" altLang="zh-CN" sz="1900" dirty="0">
              <a:highlight>
                <a:srgbClr val="FFFF00"/>
              </a:highlight>
            </a:endParaRPr>
          </a:p>
          <a:p>
            <a:pPr marL="241300" lvl="1" indent="0">
              <a:buNone/>
            </a:pPr>
            <a:r>
              <a:rPr lang="en-US" altLang="zh-CN" sz="1900" dirty="0"/>
              <a:t>		</a:t>
            </a:r>
            <a:r>
              <a:rPr lang="en-US" altLang="zh-CN" sz="1900" dirty="0" smtClean="0"/>
              <a:t>	FROM </a:t>
            </a:r>
            <a:r>
              <a:rPr lang="en-US" altLang="zh-CN" sz="1900" dirty="0"/>
              <a:t>actor</a:t>
            </a:r>
          </a:p>
          <a:p>
            <a:pPr marL="241300" lvl="1" indent="0">
              <a:buNone/>
            </a:pPr>
            <a:r>
              <a:rPr lang="en-US" altLang="zh-CN" sz="1900" dirty="0"/>
              <a:t>		</a:t>
            </a:r>
            <a:r>
              <a:rPr lang="en-US" altLang="zh-CN" sz="1900" dirty="0" smtClean="0"/>
              <a:t>	WHERE </a:t>
            </a:r>
            <a:r>
              <a:rPr lang="en-US" altLang="zh-CN" sz="1900" dirty="0" err="1"/>
              <a:t>actor.last_name</a:t>
            </a:r>
            <a:r>
              <a:rPr lang="en-US" altLang="zh-CN" sz="1900" dirty="0"/>
              <a:t> = "Bolger </a:t>
            </a:r>
            <a:r>
              <a:rPr lang="en-US" altLang="zh-CN" sz="1900" dirty="0" smtClean="0"/>
              <a:t>") </a:t>
            </a:r>
            <a:r>
              <a:rPr lang="en-US" altLang="zh-CN" sz="1900" dirty="0"/>
              <a:t>AS </a:t>
            </a:r>
            <a:r>
              <a:rPr lang="en-US" altLang="zh-C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</a:t>
            </a:r>
          </a:p>
          <a:p>
            <a:pPr marL="241300" lvl="1" indent="0">
              <a:buNone/>
            </a:pPr>
            <a:r>
              <a:rPr lang="en-US" altLang="zh-CN" sz="1900" dirty="0"/>
              <a:t>	</a:t>
            </a:r>
            <a:r>
              <a:rPr lang="en-US" altLang="zh-CN" sz="1900" dirty="0" smtClean="0"/>
              <a:t>	WHERE </a:t>
            </a:r>
            <a:r>
              <a:rPr lang="en-US" altLang="zh-CN" sz="1900" dirty="0" err="1"/>
              <a:t>film_actor.actor_id</a:t>
            </a:r>
            <a:r>
              <a:rPr lang="en-US" altLang="zh-CN" sz="1900" dirty="0"/>
              <a:t> = </a:t>
            </a:r>
            <a:r>
              <a:rPr lang="en-US" altLang="zh-CN" sz="19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</a:t>
            </a:r>
            <a:r>
              <a:rPr lang="en-US" altLang="zh-CN" sz="1900" dirty="0" err="1" smtClean="0"/>
              <a:t>.actor_id</a:t>
            </a:r>
            <a:r>
              <a:rPr lang="en-US" altLang="zh-CN" sz="1900" dirty="0" smtClean="0"/>
              <a:t>) </a:t>
            </a:r>
            <a:r>
              <a:rPr lang="en-US" altLang="zh-CN" sz="1900" dirty="0"/>
              <a:t>AS </a:t>
            </a:r>
            <a:r>
              <a:rPr lang="en-US" altLang="zh-CN" sz="1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Fa1</a:t>
            </a:r>
          </a:p>
          <a:p>
            <a:pPr marL="241300" lvl="1" indent="0">
              <a:buNone/>
            </a:pPr>
            <a:r>
              <a:rPr lang="en-US" altLang="zh-CN" sz="1900" dirty="0" smtClean="0"/>
              <a:t>	WHERE </a:t>
            </a:r>
            <a:r>
              <a:rPr lang="en-US" altLang="zh-CN" sz="1900" dirty="0" err="1"/>
              <a:t>film_actor.film_id</a:t>
            </a:r>
            <a:r>
              <a:rPr lang="en-US" altLang="zh-CN" sz="1900" dirty="0"/>
              <a:t> = </a:t>
            </a:r>
            <a:r>
              <a:rPr lang="en-US" altLang="zh-CN" sz="19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Fa1</a:t>
            </a:r>
            <a:r>
              <a:rPr lang="en-US" altLang="zh-CN" sz="1900" dirty="0" smtClean="0"/>
              <a:t>.film_id) </a:t>
            </a:r>
            <a:r>
              <a:rPr lang="en-US" altLang="zh-CN" sz="1900" dirty="0"/>
              <a:t>AS </a:t>
            </a:r>
            <a:r>
              <a:rPr lang="en-US" altLang="zh-CN" sz="1900" dirty="0">
                <a:solidFill>
                  <a:schemeClr val="accent6">
                    <a:lumMod val="75000"/>
                  </a:schemeClr>
                </a:solidFill>
              </a:rPr>
              <a:t>Fa2</a:t>
            </a:r>
          </a:p>
          <a:p>
            <a:pPr marL="0" indent="0">
              <a:buNone/>
            </a:pPr>
            <a:r>
              <a:rPr lang="en-US" altLang="zh-CN" sz="1900" dirty="0">
                <a:latin typeface="+mn-lt"/>
              </a:rPr>
              <a:t>WHERE </a:t>
            </a:r>
            <a:r>
              <a:rPr lang="en-US" altLang="zh-CN" sz="1900" dirty="0" err="1">
                <a:latin typeface="+mn-lt"/>
              </a:rPr>
              <a:t>actor.actor_id</a:t>
            </a:r>
            <a:r>
              <a:rPr lang="en-US" altLang="zh-CN" sz="1900" dirty="0">
                <a:latin typeface="+mn-lt"/>
              </a:rPr>
              <a:t> = </a:t>
            </a:r>
            <a:r>
              <a:rPr lang="en-US" altLang="zh-CN" sz="19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Fa2</a:t>
            </a:r>
            <a:r>
              <a:rPr lang="en-US" altLang="zh-CN" sz="1900" dirty="0">
                <a:latin typeface="+mn-lt"/>
              </a:rPr>
              <a:t>.actor_id;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79553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01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6. Count the number of customers who have not rented any film. You have to use </a:t>
            </a:r>
            <a:r>
              <a:rPr lang="en-US" altLang="zh-CN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OUTER JOIN</a:t>
            </a:r>
            <a:r>
              <a:rPr lang="en-US" altLang="zh-CN" sz="1800" dirty="0">
                <a:solidFill>
                  <a:srgbClr val="FF0000"/>
                </a:solidFill>
              </a:rPr>
              <a:t>, </a:t>
            </a:r>
            <a:r>
              <a:rPr lang="en-US" altLang="zh-CN" sz="1800" dirty="0">
                <a:highlight>
                  <a:srgbClr val="FFFF00"/>
                </a:highlight>
              </a:rPr>
              <a:t>aggregation</a:t>
            </a:r>
            <a:r>
              <a:rPr lang="en-US" altLang="zh-CN" sz="1800" dirty="0"/>
              <a:t>, and subqueries.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>
                <a:highlight>
                  <a:srgbClr val="FFFF00"/>
                </a:highlight>
              </a:rPr>
              <a:t>COUNT</a:t>
            </a:r>
            <a:r>
              <a:rPr lang="en-US" dirty="0"/>
              <a:t>(</a:t>
            </a:r>
            <a:r>
              <a:rPr lang="en-US" dirty="0" err="1"/>
              <a:t>customer_id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FROM (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SELECT </a:t>
            </a:r>
            <a:r>
              <a:rPr lang="en-US" dirty="0" err="1"/>
              <a:t>customer_id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FROM </a:t>
            </a:r>
            <a:r>
              <a:rPr lang="en-US" dirty="0"/>
              <a:t>customer </a:t>
            </a:r>
            <a:r>
              <a:rPr lang="en-US" dirty="0">
                <a:solidFill>
                  <a:srgbClr val="FF0000"/>
                </a:solidFill>
              </a:rPr>
              <a:t>LEFT OUTER JOIN </a:t>
            </a:r>
            <a:r>
              <a:rPr lang="en-US" dirty="0"/>
              <a:t>rental USING (</a:t>
            </a:r>
            <a:r>
              <a:rPr lang="en-US" dirty="0" err="1"/>
              <a:t>customer_id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	WHERE </a:t>
            </a:r>
            <a:r>
              <a:rPr lang="en-US" dirty="0" err="1"/>
              <a:t>rental_id</a:t>
            </a:r>
            <a:r>
              <a:rPr lang="en-US" dirty="0"/>
              <a:t> IS </a:t>
            </a:r>
            <a:r>
              <a:rPr lang="en-US" dirty="0" smtClean="0"/>
              <a:t>NULL) </a:t>
            </a:r>
            <a:r>
              <a:rPr lang="en-US" dirty="0"/>
              <a:t>AS temp;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583E4AAA-ABD2-3EDB-BE03-5CAB486CB8BA}"/>
              </a:ext>
            </a:extLst>
          </p:cNvPr>
          <p:cNvGraphicFramePr>
            <a:graphicFrameLocks noGrp="1"/>
          </p:cNvGraphicFramePr>
          <p:nvPr/>
        </p:nvGraphicFramePr>
        <p:xfrm>
          <a:off x="9328483" y="4561750"/>
          <a:ext cx="24063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159">
                  <a:extLst>
                    <a:ext uri="{9D8B030D-6E8A-4147-A177-3AD203B41FA5}">
                      <a16:colId xmlns:a16="http://schemas.microsoft.com/office/drawing/2014/main" val="2500320172"/>
                    </a:ext>
                  </a:extLst>
                </a:gridCol>
                <a:gridCol w="1203159">
                  <a:extLst>
                    <a:ext uri="{9D8B030D-6E8A-4147-A177-3AD203B41FA5}">
                      <a16:colId xmlns:a16="http://schemas.microsoft.com/office/drawing/2014/main" val="84651369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altLang="zh-CN" dirty="0"/>
                        <a:t>rental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871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Customer_id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Rental_id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9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NULL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4625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5DF74F3-F6E0-A6EC-4F23-88C9976F79D2}"/>
              </a:ext>
            </a:extLst>
          </p:cNvPr>
          <p:cNvGraphicFramePr>
            <a:graphicFrameLocks noGrp="1"/>
          </p:cNvGraphicFramePr>
          <p:nvPr/>
        </p:nvGraphicFramePr>
        <p:xfrm>
          <a:off x="6328609" y="4561750"/>
          <a:ext cx="240631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159">
                  <a:extLst>
                    <a:ext uri="{9D8B030D-6E8A-4147-A177-3AD203B41FA5}">
                      <a16:colId xmlns:a16="http://schemas.microsoft.com/office/drawing/2014/main" val="2500320172"/>
                    </a:ext>
                  </a:extLst>
                </a:gridCol>
                <a:gridCol w="1203159">
                  <a:extLst>
                    <a:ext uri="{9D8B030D-6E8A-4147-A177-3AD203B41FA5}">
                      <a16:colId xmlns:a16="http://schemas.microsoft.com/office/drawing/2014/main" val="84651369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altLang="zh-CN" dirty="0"/>
                        <a:t>customer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871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Customer_id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9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4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07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30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4.xml><?xml version="1.0" encoding="utf-8"?>
<a:theme xmlns:a="http://schemas.openxmlformats.org/drawingml/2006/main" name="DBMS latex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BMS latex" id="{C853DD06-80DD-4A92-985C-00F9462CBF3D}" vid="{2DB0D723-8C41-4574-B925-747B2673801E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2749</Words>
  <Application>Microsoft Office PowerPoint</Application>
  <PresentationFormat>Widescreen</PresentationFormat>
  <Paragraphs>603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34</vt:i4>
      </vt:variant>
    </vt:vector>
  </HeadingPairs>
  <TitlesOfParts>
    <vt:vector size="51" baseType="lpstr">
      <vt:lpstr>Adobe Heiti Std R</vt:lpstr>
      <vt:lpstr>-apple-system</vt:lpstr>
      <vt:lpstr>Hiragino Sans GB W3</vt:lpstr>
      <vt:lpstr>Monotype Sorts</vt:lpstr>
      <vt:lpstr>等线</vt:lpstr>
      <vt:lpstr>等线 Light</vt:lpstr>
      <vt:lpstr>宋体</vt:lpstr>
      <vt:lpstr>Microsoft YaHei</vt:lpstr>
      <vt:lpstr>Arial</vt:lpstr>
      <vt:lpstr>Calibri</vt:lpstr>
      <vt:lpstr>Cambria Math</vt:lpstr>
      <vt:lpstr>Consolas</vt:lpstr>
      <vt:lpstr>Symbol</vt:lpstr>
      <vt:lpstr>Office 主题​​</vt:lpstr>
      <vt:lpstr>Office Theme</vt:lpstr>
      <vt:lpstr>beamer_like</vt:lpstr>
      <vt:lpstr>DBMS latex</vt:lpstr>
      <vt:lpstr>Lecture 08</vt:lpstr>
      <vt:lpstr>Lecture 8 Relational Database Design Purpose &amp; First Normal Form</vt:lpstr>
      <vt:lpstr>Larger Schemas?</vt:lpstr>
      <vt:lpstr>Larger Schemas?</vt:lpstr>
      <vt:lpstr>Larger Schemas?</vt:lpstr>
      <vt:lpstr>What About Smaller Schemas?</vt:lpstr>
      <vt:lpstr>What About Smaller Schemas?</vt:lpstr>
      <vt:lpstr>What About Smaller Schemas?</vt:lpstr>
      <vt:lpstr>What About Smaller Schemas?</vt:lpstr>
      <vt:lpstr>First Normal Form</vt:lpstr>
      <vt:lpstr>First Normal Form</vt:lpstr>
      <vt:lpstr>First Normal Form</vt:lpstr>
      <vt:lpstr>Lab 08 review.</vt:lpstr>
      <vt:lpstr>NULL</vt:lpstr>
      <vt:lpstr>To get the examples for NULL values work</vt:lpstr>
      <vt:lpstr>Arithmetic and Atomic Predicate</vt:lpstr>
      <vt:lpstr>Aggregation</vt:lpstr>
      <vt:lpstr>PowerPoint Presentation</vt:lpstr>
      <vt:lpstr>Comparison and Compound Predicates</vt:lpstr>
      <vt:lpstr>Comparison and Compound Predicates</vt:lpstr>
      <vt:lpstr>Example</vt:lpstr>
      <vt:lpstr>Example</vt:lpstr>
      <vt:lpstr>Example</vt:lpstr>
      <vt:lpstr>Subquery</vt:lpstr>
      <vt:lpstr>Subquery</vt:lpstr>
      <vt:lpstr>Subquery</vt:lpstr>
      <vt:lpstr>Example</vt:lpstr>
      <vt:lpstr>Exercises</vt:lpstr>
      <vt:lpstr>Exercises</vt:lpstr>
      <vt:lpstr>Exercises</vt:lpstr>
      <vt:lpstr>Exercises</vt:lpstr>
      <vt:lpstr>Exercises</vt:lpstr>
      <vt:lpstr>Exercises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咖啡猫</dc:creator>
  <cp:lastModifiedBy>temp</cp:lastModifiedBy>
  <cp:revision>177</cp:revision>
  <dcterms:created xsi:type="dcterms:W3CDTF">2022-09-27T02:37:53Z</dcterms:created>
  <dcterms:modified xsi:type="dcterms:W3CDTF">2024-09-09T00:55:49Z</dcterms:modified>
</cp:coreProperties>
</file>