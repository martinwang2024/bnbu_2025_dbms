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2" r:id="rId3"/>
    <p:sldId id="293" r:id="rId4"/>
    <p:sldId id="297" r:id="rId5"/>
    <p:sldId id="303" r:id="rId6"/>
    <p:sldId id="294" r:id="rId7"/>
    <p:sldId id="304" r:id="rId8"/>
    <p:sldId id="298" r:id="rId9"/>
    <p:sldId id="301" r:id="rId10"/>
    <p:sldId id="302" r:id="rId11"/>
    <p:sldId id="305" r:id="rId12"/>
    <p:sldId id="291" r:id="rId13"/>
    <p:sldId id="25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83BE7-67CB-4BC0-ABC3-77A59C886D42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475DF-82F2-44A5-9BC4-9938493C7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549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9FBDC-DA40-4C1D-BD84-D9B2858F1C6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474D1-4B83-4E2F-A02A-EC6B8BB33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7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3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55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82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8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507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09224B-0794-E08D-6281-2C77DC2F62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0736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066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Lab 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97BAED3B-53C8-7041-817F-696DE6D8D146}"/>
              </a:ext>
            </a:extLst>
          </p:cNvPr>
          <p:cNvSpPr txBox="1">
            <a:spLocks/>
          </p:cNvSpPr>
          <p:nvPr/>
        </p:nvSpPr>
        <p:spPr>
          <a:xfrm>
            <a:off x="9770773" y="6637866"/>
            <a:ext cx="1362187" cy="220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pPr/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514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EAA6743-3346-CC98-D269-622453F94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United International College</a:t>
            </a:r>
          </a:p>
          <a:p>
            <a:r>
              <a:rPr lang="en-US" altLang="zh-CN"/>
              <a:t>COMP3013 DBMS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C4CC72-5680-51D7-FFFB-9A601CA1D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Lab 11 Advanced SQL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06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7D2A-8F81-CD32-3AC8-547474B8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299E-9D73-D6C6-04E4-5A98211A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44192"/>
          </a:xfrm>
        </p:spPr>
        <p:txBody>
          <a:bodyPr/>
          <a:lstStyle/>
          <a:p>
            <a:r>
              <a:rPr lang="en-US" b="1" dirty="0"/>
              <a:t>Constraints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Integrity Constraints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 Clauses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Referential Integrity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Keys and Referential Integrity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Cascading actions in referential integrity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Assertions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66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7D2A-8F81-CD32-3AC8-547474B8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299E-9D73-D6C6-04E4-5A98211A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44192"/>
          </a:xfrm>
        </p:spPr>
        <p:txBody>
          <a:bodyPr>
            <a:normAutofit/>
          </a:bodyPr>
          <a:lstStyle/>
          <a:p>
            <a:r>
              <a:rPr lang="en-US" dirty="0"/>
              <a:t>The references in this lab refer to </a:t>
            </a:r>
            <a:r>
              <a:rPr lang="en-US"/>
              <a:t>the 7</a:t>
            </a:r>
            <a:r>
              <a:rPr lang="en-US" baseline="30000"/>
              <a:t>th</a:t>
            </a:r>
            <a:r>
              <a:rPr lang="en-US"/>
              <a:t> </a:t>
            </a:r>
            <a:r>
              <a:rPr lang="en-US" dirty="0"/>
              <a:t>edition of the textbook.  Please see the referenced sections for more explanations.</a:t>
            </a:r>
          </a:p>
          <a:p>
            <a:r>
              <a:rPr lang="en-US" dirty="0"/>
              <a:t>For the examples and exercises, you are to alter the structures of tables in the </a:t>
            </a:r>
            <a:r>
              <a:rPr lang="en-US" b="1" dirty="0" err="1"/>
              <a:t>uic_without_foreign_keys.sql</a:t>
            </a:r>
            <a:r>
              <a:rPr lang="en-US" dirty="0"/>
              <a:t> database.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database is same as the sol</a:t>
            </a:r>
            <a:r>
              <a:rPr lang="en-US" dirty="0"/>
              <a:t>ution of lab 6 and 7, but without any foreign keys. We will recreate them today.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/>
              <a:t>Download “</a:t>
            </a:r>
            <a:r>
              <a:rPr lang="en-US" altLang="zh-CN" dirty="0" err="1"/>
              <a:t>uic_without_foreign_keys.sql</a:t>
            </a:r>
            <a:r>
              <a:rPr lang="en-US" altLang="zh-CN" dirty="0"/>
              <a:t>” from iSpace and import it to MySQL.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796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4"/>
            <a:ext cx="10515600" cy="472611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Reference [4.4] Integrity Constraints</a:t>
            </a:r>
          </a:p>
          <a:p>
            <a:r>
              <a:rPr lang="en-US" altLang="zh-CN" dirty="0">
                <a:ea typeface="宋体" pitchFamily="2" charset="-122"/>
              </a:rPr>
              <a:t>A database “lost its integrity” means it’s damaged and not functioning properly.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Similarly a ship “lost its integrity” means it’s damages and cannot sail properly.</a:t>
            </a:r>
          </a:p>
          <a:p>
            <a:endParaRPr lang="en-US" altLang="zh-CN" sz="900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Integrity constraints guard against accidental damage to the database, by ensuring that authorized changes to the database do not result in a loss of data consistency.</a:t>
            </a:r>
          </a:p>
          <a:p>
            <a:r>
              <a:rPr lang="en-US" altLang="zh-CN" dirty="0">
                <a:ea typeface="宋体" pitchFamily="2" charset="-122"/>
              </a:rPr>
              <a:t>We declared these constraints in </a:t>
            </a:r>
            <a:r>
              <a:rPr lang="en-US" altLang="zh-CN" i="1" dirty="0">
                <a:ea typeface="宋体" pitchFamily="2" charset="-122"/>
              </a:rPr>
              <a:t>student</a:t>
            </a:r>
          </a:p>
          <a:p>
            <a:pPr marL="0" indent="0">
              <a:buNone/>
            </a:pPr>
            <a:r>
              <a:rPr lang="en-US" altLang="zh-CN" dirty="0">
                <a:ea typeface="宋体" pitchFamily="2" charset="-122"/>
              </a:rPr>
              <a:t>	</a:t>
            </a:r>
            <a:r>
              <a:rPr lang="en-US" altLang="zh-CN" i="1" dirty="0" err="1">
                <a:ea typeface="宋体" pitchFamily="2" charset="-122"/>
              </a:rPr>
              <a:t>gpa</a:t>
            </a:r>
            <a:r>
              <a:rPr lang="en-US" altLang="zh-CN" dirty="0">
                <a:ea typeface="宋体" pitchFamily="2" charset="-122"/>
              </a:rPr>
              <a:t> must be from 0.0 to 4.0</a:t>
            </a:r>
          </a:p>
        </p:txBody>
      </p:sp>
    </p:spTree>
    <p:extLst>
      <p:ext uri="{BB962C8B-B14F-4D97-AF65-F5344CB8AC3E}">
        <p14:creationId xmlns:p14="http://schemas.microsoft.com/office/powerpoint/2010/main" val="224903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B1806-B213-4DE1-8079-21F675E3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Check Clause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3689B6-DF70-43B0-8F6D-6FC6D59D0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277522"/>
          </a:xfrm>
        </p:spPr>
        <p:txBody>
          <a:bodyPr/>
          <a:lstStyle/>
          <a:p>
            <a:r>
              <a:rPr lang="en-US" dirty="0"/>
              <a:t>Run this query with an illegal G</a:t>
            </a:r>
            <a:r>
              <a:rPr lang="en-US" altLang="zh-CN" dirty="0"/>
              <a:t>PA. What happens?</a:t>
            </a:r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			INSERT INTO student (id, </a:t>
            </a:r>
            <a:r>
              <a:rPr lang="en-US" dirty="0" err="1">
                <a:latin typeface="Consolas" panose="020B0609020204030204" pitchFamily="49" charset="0"/>
                <a:cs typeface="Calibri" panose="020F0502020204030204" pitchFamily="34" charset="0"/>
              </a:rPr>
              <a:t>s_name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anose="020F0502020204030204" pitchFamily="34" charset="0"/>
              </a:rPr>
              <a:t>yr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anose="020F0502020204030204" pitchFamily="34" charset="0"/>
              </a:rPr>
              <a:t>gpa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anose="020F0502020204030204" pitchFamily="34" charset="0"/>
              </a:rPr>
              <a:t>p_code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			VALUES (30010, 'Wonderland</a:t>
            </a:r>
            <a:r>
              <a:rPr lang="en-US" dirty="0"/>
              <a:t>'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, 3,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5.00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, 1003)</a:t>
            </a:r>
          </a:p>
          <a:p>
            <a:endParaRPr lang="en-US" dirty="0"/>
          </a:p>
          <a:p>
            <a:r>
              <a:rPr lang="en-US" dirty="0"/>
              <a:t>The tuple is inserted normally.</a:t>
            </a:r>
          </a:p>
          <a:p>
            <a:r>
              <a:rPr lang="en-US" dirty="0"/>
              <a:t>Delete this row with illegal value you’ve just created. We will create some constraints to ban the illegal insertions.</a:t>
            </a:r>
          </a:p>
        </p:txBody>
      </p:sp>
    </p:spTree>
    <p:extLst>
      <p:ext uri="{BB962C8B-B14F-4D97-AF65-F5344CB8AC3E}">
        <p14:creationId xmlns:p14="http://schemas.microsoft.com/office/powerpoint/2010/main" val="2626694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Check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3"/>
            <a:ext cx="10515600" cy="5401532"/>
          </a:xfrm>
        </p:spPr>
        <p:txBody>
          <a:bodyPr>
            <a:normAutofit/>
          </a:bodyPr>
          <a:lstStyle/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ea typeface="ＭＳ Ｐゴシック" charset="-128"/>
              </a:rPr>
              <a:t>The check clause has the form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  <a:cs typeface="Calibri" panose="020F0502020204030204" pitchFamily="34" charset="0"/>
              </a:rPr>
              <a:t>CHECK(P)</a:t>
            </a:r>
            <a:r>
              <a:rPr lang="en-US" altLang="zh-CN" dirty="0">
                <a:ea typeface="ＭＳ Ｐゴシック" charset="-128"/>
              </a:rPr>
              <a:t>, </a:t>
            </a:r>
            <a:r>
              <a:rPr lang="en-US" altLang="zh-CN" sz="2000" dirty="0">
                <a:ea typeface="ＭＳ Ｐゴシック" charset="-128"/>
              </a:rPr>
              <a:t>w</a:t>
            </a:r>
            <a:r>
              <a:rPr lang="en-US" altLang="zh-CN" sz="2000" dirty="0"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here </a:t>
            </a:r>
            <a:r>
              <a:rPr lang="en-US" altLang="zh-CN" sz="2000" dirty="0">
                <a:latin typeface="Consolas" panose="020B0609020204030204" pitchFamily="49" charset="0"/>
                <a:ea typeface="ＭＳ Ｐゴシック" charset="-128"/>
              </a:rPr>
              <a:t>P</a:t>
            </a:r>
            <a:r>
              <a:rPr lang="en-US" altLang="zh-CN" sz="2000" dirty="0"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 is a predicate. </a:t>
            </a:r>
            <a:r>
              <a:rPr lang="en-US" altLang="zh-CN" sz="2000" dirty="0">
                <a:ea typeface="ＭＳ Ｐゴシック" charset="-128"/>
              </a:rPr>
              <a:t>The condition specified by the predicate must be held by the database.</a:t>
            </a:r>
            <a:endParaRPr lang="en-US" altLang="zh-CN" sz="2000" dirty="0"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ea typeface="ＭＳ Ｐゴシック" charset="-128"/>
              </a:rPr>
              <a:t>Example: ensure that the GPA of a student is between 0.00 and 4.00.</a:t>
            </a:r>
          </a:p>
          <a:p>
            <a:pPr marL="0" indent="0">
              <a:buNone/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latin typeface="Consolas" panose="020B0609020204030204" pitchFamily="49" charset="0"/>
                <a:ea typeface="ＭＳ Ｐゴシック" charset="-128"/>
              </a:rPr>
              <a:t>	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ＭＳ Ｐゴシック" charset="-128"/>
              </a:rPr>
              <a:t>ALTER TABLE student </a:t>
            </a:r>
          </a:p>
          <a:p>
            <a:pPr marL="0" indent="0">
              <a:buNone/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latin typeface="Consolas" panose="020B0609020204030204" pitchFamily="49" charset="0"/>
                <a:ea typeface="ＭＳ Ｐゴシック" charset="-128"/>
              </a:rPr>
              <a:t>	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-128"/>
              </a:rPr>
              <a:t>ADD CONSTRAINT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  <a:ea typeface="ＭＳ Ｐゴシック" charset="-128"/>
              </a:rPr>
              <a:t>gpa_domain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-128"/>
              </a:rPr>
              <a:t> </a:t>
            </a:r>
          </a:p>
          <a:p>
            <a:pPr marL="0" indent="0">
              <a:buNone/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latin typeface="Consolas" panose="020B0609020204030204" pitchFamily="49" charset="0"/>
                <a:ea typeface="ＭＳ Ｐゴシック" charset="-128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CHECK (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gpa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&gt;=0.00 AND 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gpa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&lt;=4.00)</a:t>
            </a: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endParaRPr lang="en-US" altLang="zh-CN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ＭＳ Ｐゴシック" charset="-128"/>
            </a:endParaRP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ＭＳ Ｐゴシック" charset="-128"/>
              </a:rPr>
              <a:t>ALTER TABLE</a:t>
            </a:r>
            <a:r>
              <a:rPr lang="en-US" altLang="zh-CN" dirty="0">
                <a:ea typeface="ＭＳ Ｐゴシック" charset="-128"/>
              </a:rPr>
              <a:t> is used to change the structure of an existing table.</a:t>
            </a: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ＭＳ Ｐゴシック" charset="-128"/>
              </a:rPr>
              <a:t>ADD CONSTRAINT</a:t>
            </a:r>
            <a:r>
              <a:rPr lang="en-US" altLang="zh-CN" dirty="0">
                <a:ea typeface="ＭＳ Ｐゴシック" charset="-128"/>
              </a:rPr>
              <a:t> is used to add a new constraint, followed by the constraint name, which user defined.</a:t>
            </a: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ＭＳ Ｐゴシック" charset="-128"/>
              </a:rPr>
              <a:t>CHECK (…) </a:t>
            </a:r>
            <a:r>
              <a:rPr lang="en-US" altLang="zh-CN" dirty="0">
                <a:ea typeface="ＭＳ Ｐゴシック" charset="-128"/>
              </a:rPr>
              <a:t>is the body of the constraint.</a:t>
            </a:r>
            <a:endParaRPr lang="en-US" altLang="zh-CN" dirty="0">
              <a:solidFill>
                <a:srgbClr val="FF0000"/>
              </a:solidFill>
              <a:ea typeface="ＭＳ Ｐゴシック" charset="-128"/>
            </a:endParaRP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ea typeface="ＭＳ Ｐゴシック" charset="-128"/>
              </a:rPr>
              <a:t>Try to insert a student of GPA higher than 4 after adding the constraint and see what will happen.</a:t>
            </a:r>
          </a:p>
        </p:txBody>
      </p:sp>
    </p:spTree>
    <p:extLst>
      <p:ext uri="{BB962C8B-B14F-4D97-AF65-F5344CB8AC3E}">
        <p14:creationId xmlns:p14="http://schemas.microsoft.com/office/powerpoint/2010/main" val="209309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Check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7439" y="1034089"/>
            <a:ext cx="5346538" cy="1403821"/>
          </a:xfrm>
        </p:spPr>
        <p:txBody>
          <a:bodyPr>
            <a:normAutofit/>
          </a:bodyPr>
          <a:lstStyle/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ea typeface="ＭＳ Ｐゴシック" charset="-128"/>
              </a:rPr>
              <a:t>In In the DB navigation tree (above the databases) open </a:t>
            </a:r>
            <a:r>
              <a:rPr lang="en-US" altLang="zh-CN" dirty="0" err="1">
                <a:ea typeface="ＭＳ Ｐゴシック" charset="-128"/>
              </a:rPr>
              <a:t>information_schema</a:t>
            </a:r>
            <a:r>
              <a:rPr lang="en-US" altLang="zh-CN" dirty="0">
                <a:ea typeface="ＭＳ Ｐゴシック" charset="-128"/>
              </a:rPr>
              <a:t> &gt; CHECK_CONSTRAINTS.</a:t>
            </a: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r>
              <a:rPr lang="en-US" altLang="zh-CN" dirty="0">
                <a:ea typeface="ＭＳ Ｐゴシック" charset="-128"/>
              </a:rPr>
              <a:t>The constraint </a:t>
            </a:r>
            <a:r>
              <a:rPr lang="en-US" altLang="zh-CN" dirty="0" err="1">
                <a:ea typeface="ＭＳ Ｐゴシック" charset="-128"/>
              </a:rPr>
              <a:t>gpa_domain</a:t>
            </a:r>
            <a:r>
              <a:rPr lang="en-US" altLang="zh-CN" dirty="0">
                <a:ea typeface="ＭＳ Ｐゴシック" charset="-128"/>
              </a:rPr>
              <a:t> appears.</a:t>
            </a:r>
          </a:p>
          <a:p>
            <a:pPr>
              <a:tabLst>
                <a:tab pos="1428750" algn="l"/>
                <a:tab pos="1711325" algn="l"/>
                <a:tab pos="3319463" algn="l"/>
              </a:tabLst>
            </a:pPr>
            <a:endParaRPr lang="en-US" altLang="zh-CN" dirty="0">
              <a:solidFill>
                <a:srgbClr val="FF0000"/>
              </a:solidFill>
              <a:ea typeface="ＭＳ Ｐゴシック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40DCC-2A4D-44D4-BD98-AE2940321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37" y="1147733"/>
            <a:ext cx="2474381" cy="254692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2037139" y="1388962"/>
            <a:ext cx="1469985" cy="3472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9462F7E-F20F-4C1C-A189-0119CE1FC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881" y="2551554"/>
            <a:ext cx="9305364" cy="1143099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971830" y="4095846"/>
            <a:ext cx="9954671" cy="2056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Now run the ALTER TABLE query with the illegal value (from last slide).</a:t>
            </a: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You should get an error message.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If you need to remove the constraint, do</a:t>
            </a:r>
          </a:p>
          <a:p>
            <a:pPr marL="457200" lvl="1" indent="0">
              <a:buNone/>
            </a:pP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ALTER TABLE `student`</a:t>
            </a:r>
          </a:p>
          <a:p>
            <a:pPr marL="457200" lvl="1" indent="0">
              <a:buNone/>
            </a:pP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DROP </a:t>
            </a:r>
            <a:r>
              <a:rPr lang="en-US" sz="21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CONSTRAINT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 `</a:t>
            </a:r>
            <a:r>
              <a:rPr lang="en-US" sz="2100" dirty="0" err="1">
                <a:latin typeface="Consolas" panose="020B0609020204030204" pitchFamily="49" charset="0"/>
                <a:cs typeface="Arial" panose="020B0604020202020204" pitchFamily="34" charset="0"/>
              </a:rPr>
              <a:t>gpa_domain</a:t>
            </a:r>
            <a:r>
              <a:rPr lang="en-US" sz="2100" dirty="0">
                <a:latin typeface="Consolas" panose="020B0609020204030204" pitchFamily="49" charset="0"/>
                <a:cs typeface="Arial" panose="020B0604020202020204" pitchFamily="34" charset="0"/>
              </a:rPr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822417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4"/>
            <a:ext cx="10515600" cy="472611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Reference [4.4.5] Referential Integrity, [1.4.2 p11] Data-Definition Language</a:t>
            </a:r>
          </a:p>
          <a:p>
            <a:endParaRPr lang="en-US" altLang="zh-CN" sz="800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Referential integrity ensures that a value that appears in one relation table for a given set of attributes must also appears in the corresponding set of attributes in the other relation table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E.g. if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p_code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1001 is the program code for a row in table </a:t>
            </a:r>
            <a:r>
              <a:rPr lang="en-US" altLang="zh-CN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student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then there must be a tuple in the corresponding table </a:t>
            </a:r>
            <a:r>
              <a:rPr lang="en-US" altLang="zh-CN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program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for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p_code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1001. The structure of </a:t>
            </a:r>
            <a:r>
              <a:rPr lang="en-US" altLang="zh-CN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program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as below.</a:t>
            </a:r>
          </a:p>
          <a:p>
            <a:pPr lvl="1"/>
            <a:endParaRPr lang="en-US" altLang="zh-CN" sz="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000" b="1" dirty="0">
                <a:ea typeface="宋体" pitchFamily="2" charset="-122"/>
              </a:rPr>
              <a:t>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CREATE TABLE 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program(</a:t>
            </a:r>
            <a:br>
              <a:rPr lang="en-US" altLang="zh-CN" sz="2000" i="1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i="1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(11)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 		NOT NULL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,</a:t>
            </a:r>
            <a:b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		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p_name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VARCHAR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(40) 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NOT NULL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,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		division	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VARCHAR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(40),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		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director_id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(11), 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PRIMARY KEY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(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)</a:t>
            </a:r>
            <a:endParaRPr lang="en-US" altLang="zh-CN" dirty="0">
              <a:latin typeface="Consolas" panose="020B0609020204030204" pitchFamily="49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8149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Actions in Referential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3"/>
            <a:ext cx="10515600" cy="505863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Reference [4.4.5 p133] Referential Integrity</a:t>
            </a:r>
          </a:p>
          <a:p>
            <a:pPr>
              <a:spcBef>
                <a:spcPts val="0"/>
              </a:spcBef>
              <a:tabLst>
                <a:tab pos="2173288" algn="l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Consider the child table student, which references the parent table program</a:t>
            </a:r>
          </a:p>
          <a:p>
            <a:pPr>
              <a:spcBef>
                <a:spcPts val="0"/>
              </a:spcBef>
              <a:tabLst>
                <a:tab pos="2173288" algn="l"/>
              </a:tabLst>
            </a:pPr>
            <a:endParaRPr lang="en-US" altLang="zh-CN" sz="800" dirty="0">
              <a:ea typeface="宋体" pitchFamily="2" charset="-122"/>
            </a:endParaRPr>
          </a:p>
          <a:p>
            <a:pPr marL="241300" lvl="1" indent="0">
              <a:spcBef>
                <a:spcPts val="0"/>
              </a:spcBef>
              <a:buNone/>
              <a:tabLst>
                <a:tab pos="2173288" algn="l"/>
              </a:tabLst>
            </a:pPr>
            <a:endParaRPr lang="en-US" altLang="zh-CN" sz="2000" b="1" dirty="0">
              <a:ea typeface="宋体" pitchFamily="2" charset="-122"/>
            </a:endParaRP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CREATE TABLE 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student (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…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(11),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FOREIGN KEY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) 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REFERENCES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program(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),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…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)</a:t>
            </a:r>
          </a:p>
          <a:p>
            <a:pPr>
              <a:spcBef>
                <a:spcPts val="0"/>
              </a:spcBef>
              <a:tabLst>
                <a:tab pos="809625" algn="l"/>
                <a:tab pos="2173288" algn="l"/>
              </a:tabLst>
            </a:pPr>
            <a:endParaRPr lang="en-US" altLang="zh-CN" dirty="0">
              <a:ea typeface="宋体" pitchFamily="2" charset="-122"/>
            </a:endParaRP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CREATE TABLE 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program (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	…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(11)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NOT NULL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,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PRIMARY KEY 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),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2173288" algn="l"/>
              </a:tabLst>
            </a:pP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</a:rPr>
              <a:t>		…</a:t>
            </a:r>
            <a:b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</a:b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</a:rPr>
              <a:t>)</a:t>
            </a:r>
          </a:p>
          <a:p>
            <a:pPr marL="0" indent="0">
              <a:buNone/>
            </a:pPr>
            <a:endParaRPr lang="en-US" altLang="zh-CN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438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Actions in Referential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4"/>
            <a:ext cx="10515600" cy="488297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If a row in table </a:t>
            </a:r>
            <a:r>
              <a:rPr lang="en-US" altLang="zh-CN" i="1" dirty="0">
                <a:ea typeface="宋体" pitchFamily="2" charset="-122"/>
              </a:rPr>
              <a:t>program</a:t>
            </a:r>
            <a:r>
              <a:rPr lang="en-US" altLang="zh-CN" dirty="0">
                <a:ea typeface="宋体" pitchFamily="2" charset="-122"/>
              </a:rPr>
              <a:t> is deleted or updated, that might cause integrity problem in the table </a:t>
            </a:r>
            <a:r>
              <a:rPr lang="en-US" altLang="zh-CN" i="1" dirty="0">
                <a:ea typeface="宋体" pitchFamily="2" charset="-122"/>
              </a:rPr>
              <a:t>student</a:t>
            </a:r>
            <a:r>
              <a:rPr lang="en-US" altLang="zh-CN" dirty="0">
                <a:ea typeface="宋体" pitchFamily="2" charset="-122"/>
              </a:rPr>
              <a:t>.</a:t>
            </a: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To solve this problem, use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cascade</a:t>
            </a:r>
            <a:r>
              <a:rPr lang="en-US" altLang="zh-CN" dirty="0">
                <a:ea typeface="宋体" pitchFamily="2" charset="-122"/>
              </a:rPr>
              <a:t> action.  When a change is made in the parent table program, the corresponding value in the child table student is also changed.</a:t>
            </a:r>
            <a:endParaRPr lang="en-US" altLang="zh-CN" sz="800" dirty="0">
              <a:latin typeface="+mn-lt"/>
              <a:ea typeface="宋体" pitchFamily="2" charset="-122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Again, because the table </a:t>
            </a:r>
            <a:r>
              <a:rPr lang="en-US" altLang="zh-CN" i="1" dirty="0">
                <a:ea typeface="宋体" pitchFamily="2" charset="-122"/>
              </a:rPr>
              <a:t>student </a:t>
            </a:r>
            <a:r>
              <a:rPr lang="en-US" altLang="zh-CN" dirty="0">
                <a:ea typeface="宋体" pitchFamily="2" charset="-122"/>
              </a:rPr>
              <a:t>already exists, we need to alter the table.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endParaRPr lang="en-US" altLang="zh-CN" b="1" dirty="0">
              <a:latin typeface="Consolas" panose="020B0609020204030204" pitchFamily="49" charset="0"/>
              <a:ea typeface="宋体" pitchFamily="2" charset="-122"/>
            </a:endParaRP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r>
              <a:rPr lang="en-US" altLang="zh-CN" b="1" dirty="0">
                <a:latin typeface="Consolas" panose="020B0609020204030204" pitchFamily="49" charset="0"/>
                <a:ea typeface="宋体" pitchFamily="2" charset="-122"/>
              </a:rPr>
              <a:t>	</a:t>
            </a: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ALTER TABLE 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student</a:t>
            </a:r>
            <a:endParaRPr lang="en-US" altLang="zh-CN" sz="2100" b="1" dirty="0">
              <a:latin typeface="Consolas" panose="020B0609020204030204" pitchFamily="49" charset="0"/>
              <a:ea typeface="宋体" pitchFamily="2" charset="-122"/>
            </a:endParaRP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	ADD CONSTRAINT </a:t>
            </a:r>
            <a:r>
              <a:rPr lang="en-US" altLang="zh-CN" sz="2100" dirty="0" err="1">
                <a:latin typeface="Consolas" panose="020B0609020204030204" pitchFamily="49" charset="0"/>
                <a:ea typeface="宋体" pitchFamily="2" charset="-122"/>
              </a:rPr>
              <a:t>student_program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 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		FOREIGN KEY 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(</a:t>
            </a:r>
            <a:r>
              <a:rPr lang="en-US" altLang="zh-CN" sz="21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) </a:t>
            </a: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REFERENCES 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program(</a:t>
            </a:r>
            <a:r>
              <a:rPr lang="en-US" altLang="zh-CN" sz="2100" dirty="0" err="1">
                <a:latin typeface="Consolas" panose="020B0609020204030204" pitchFamily="49" charset="0"/>
                <a:ea typeface="宋体" pitchFamily="2" charset="-122"/>
              </a:rPr>
              <a:t>p_code</a:t>
            </a:r>
            <a:r>
              <a:rPr lang="en-US" altLang="zh-CN" sz="2100" dirty="0">
                <a:latin typeface="Consolas" panose="020B0609020204030204" pitchFamily="49" charset="0"/>
                <a:ea typeface="宋体" pitchFamily="2" charset="-122"/>
              </a:rPr>
              <a:t>)</a:t>
            </a:r>
            <a:r>
              <a:rPr lang="en-US" altLang="zh-CN" sz="2100" i="1" dirty="0">
                <a:latin typeface="Consolas" panose="020B0609020204030204" pitchFamily="49" charset="0"/>
                <a:ea typeface="宋体" pitchFamily="2" charset="-122"/>
              </a:rPr>
              <a:t> 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r>
              <a:rPr lang="en-US" altLang="zh-CN" sz="2100" b="1" i="1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ON DELETE CASCADE</a:t>
            </a:r>
            <a:r>
              <a:rPr lang="en-US" altLang="zh-CN" sz="2100" b="1" i="1" dirty="0">
                <a:latin typeface="Consolas" panose="020B0609020204030204" pitchFamily="49" charset="0"/>
                <a:ea typeface="宋体" pitchFamily="2" charset="-122"/>
              </a:rPr>
              <a:t> </a:t>
            </a:r>
          </a:p>
          <a:p>
            <a:pPr marL="241300" lvl="1" indent="0">
              <a:spcBef>
                <a:spcPts val="0"/>
              </a:spcBef>
              <a:buNone/>
              <a:tabLst>
                <a:tab pos="809625" algn="l"/>
                <a:tab pos="1257300" algn="l"/>
              </a:tabLst>
            </a:pPr>
            <a:r>
              <a:rPr lang="en-US" altLang="zh-CN" sz="2100" b="1" i="1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sz="2100" b="1" dirty="0">
                <a:latin typeface="Consolas" panose="020B0609020204030204" pitchFamily="49" charset="0"/>
                <a:ea typeface="宋体" pitchFamily="2" charset="-122"/>
              </a:rPr>
              <a:t>ON UPDATE CASCADE</a:t>
            </a:r>
          </a:p>
          <a:p>
            <a:pPr marL="241300" lvl="1" indent="0">
              <a:spcBef>
                <a:spcPts val="0"/>
              </a:spcBef>
              <a:buNone/>
              <a:tabLst>
                <a:tab pos="2173288" algn="l"/>
              </a:tabLst>
            </a:pPr>
            <a:r>
              <a:rPr lang="en-US" altLang="zh-CN" b="1" i="1" dirty="0">
                <a:ea typeface="宋体" pitchFamily="2" charset="-122"/>
              </a:rPr>
              <a:t>    </a:t>
            </a:r>
            <a:endParaRPr lang="en-US" altLang="zh-CN" sz="800" dirty="0">
              <a:ea typeface="宋体" pitchFamily="2" charset="-122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Alternative cascade actions can be: </a:t>
            </a:r>
            <a:r>
              <a:rPr lang="en-US" altLang="zh-CN" b="1" dirty="0">
                <a:ea typeface="宋体" pitchFamily="2" charset="-122"/>
              </a:rPr>
              <a:t>SET NULL </a:t>
            </a:r>
            <a:r>
              <a:rPr lang="en-US" altLang="zh-CN" dirty="0">
                <a:ea typeface="宋体" pitchFamily="2" charset="-122"/>
              </a:rPr>
              <a:t>and </a:t>
            </a:r>
            <a:r>
              <a:rPr lang="en-US" altLang="zh-CN" b="1" dirty="0">
                <a:ea typeface="宋体" pitchFamily="2" charset="-122"/>
              </a:rPr>
              <a:t>SET DEFAULT</a:t>
            </a:r>
            <a:r>
              <a:rPr lang="en-US" altLang="zh-CN" dirty="0">
                <a:ea typeface="宋体" pitchFamily="2" charset="-122"/>
              </a:rPr>
              <a:t>.</a:t>
            </a:r>
            <a:endParaRPr lang="en-US" altLang="zh-CN" b="1" dirty="0">
              <a:ea typeface="宋体" pitchFamily="2" charset="-122"/>
            </a:endParaRPr>
          </a:p>
          <a:p>
            <a:pPr lvl="1"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When the value in the parent is changed, the corresponding child value is set to null or the default value.</a:t>
            </a:r>
          </a:p>
        </p:txBody>
      </p:sp>
    </p:spTree>
    <p:extLst>
      <p:ext uri="{BB962C8B-B14F-4D97-AF65-F5344CB8AC3E}">
        <p14:creationId xmlns:p14="http://schemas.microsoft.com/office/powerpoint/2010/main" val="115647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Actions in Referential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4"/>
            <a:ext cx="10515600" cy="488297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Before you add the cascade constraint in the last table, remove a student from the table student.</a:t>
            </a:r>
          </a:p>
          <a:p>
            <a:pPr lvl="1">
              <a:spcBef>
                <a:spcPts val="0"/>
              </a:spcBef>
              <a:tabLst>
                <a:tab pos="2173288" algn="l"/>
              </a:tabLst>
            </a:pPr>
            <a:r>
              <a:rPr lang="en-US" altLang="zh-CN" sz="2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You will get no error message.</a:t>
            </a:r>
          </a:p>
          <a:p>
            <a:pPr lvl="1">
              <a:spcBef>
                <a:spcPts val="0"/>
              </a:spcBef>
              <a:tabLst>
                <a:tab pos="2173288" algn="l"/>
              </a:tabLst>
            </a:pPr>
            <a:endParaRPr lang="en-US" altLang="zh-CN" sz="2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Add back the student you’ve deleted.</a:t>
            </a:r>
          </a:p>
          <a:p>
            <a:pPr>
              <a:spcBef>
                <a:spcPts val="0"/>
              </a:spcBef>
              <a:tabLst>
                <a:tab pos="2173288" algn="l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Run the cascade constraint in the last slide.</a:t>
            </a:r>
          </a:p>
          <a:p>
            <a:pPr lvl="1"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Don’t forget to add the back tic `</a:t>
            </a:r>
          </a:p>
          <a:p>
            <a:pPr>
              <a:spcBef>
                <a:spcPts val="0"/>
              </a:spcBef>
              <a:tabLst>
                <a:tab pos="2173288" algn="l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spcBef>
                <a:spcPts val="0"/>
              </a:spcBef>
              <a:tabLst>
                <a:tab pos="2173288" algn="l"/>
              </a:tabLst>
            </a:pPr>
            <a:r>
              <a:rPr lang="en-US" altLang="zh-CN" dirty="0">
                <a:ea typeface="宋体" pitchFamily="2" charset="-122"/>
              </a:rPr>
              <a:t>Now delete a student and check the outcome in the table </a:t>
            </a:r>
            <a:r>
              <a:rPr lang="en-US" altLang="zh-CN" i="1" dirty="0">
                <a:ea typeface="宋体" pitchFamily="2" charset="-122"/>
              </a:rPr>
              <a:t>enroll</a:t>
            </a:r>
            <a:r>
              <a:rPr lang="en-US" altLang="zh-CN" dirty="0">
                <a:ea typeface="宋体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8690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712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Using the UIC database, write a MySQL query to implement the following constraints.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grade of each enrollment is one of A, A-, B+, B, B-, C+, C, C-, D, F.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year of each student is between 1 and 4.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Recreate the foreign keys for each table except </a:t>
            </a:r>
            <a:r>
              <a:rPr lang="en-US" sz="2400" i="1" dirty="0"/>
              <a:t>borrow.id</a:t>
            </a:r>
            <a:r>
              <a:rPr lang="en-US" sz="2400" dirty="0"/>
              <a:t> (and </a:t>
            </a:r>
            <a:r>
              <a:rPr lang="en-US" sz="2400" i="1" dirty="0"/>
              <a:t>contact.id</a:t>
            </a:r>
            <a:r>
              <a:rPr lang="en-US" sz="2400" dirty="0"/>
              <a:t>)refereeing to </a:t>
            </a:r>
            <a:r>
              <a:rPr lang="en-US" sz="2400" i="1" dirty="0"/>
              <a:t>student.id </a:t>
            </a:r>
            <a:r>
              <a:rPr lang="en-US" sz="2400" dirty="0"/>
              <a:t>and </a:t>
            </a:r>
            <a:r>
              <a:rPr lang="en-US" sz="2400" i="1" dirty="0"/>
              <a:t>instructor.id</a:t>
            </a:r>
            <a:r>
              <a:rPr lang="en-US" sz="2400" dirty="0"/>
              <a:t>. </a:t>
            </a:r>
          </a:p>
          <a:p>
            <a:pPr marL="442913" indent="0">
              <a:buNone/>
            </a:pPr>
            <a:r>
              <a:rPr lang="en-US" sz="2400" dirty="0"/>
              <a:t>When one row in parent table is changed, the </a:t>
            </a:r>
            <a:r>
              <a:rPr lang="en-US" altLang="zh-CN" sz="2400" dirty="0"/>
              <a:t>corresponding row in the child table also should be </a:t>
            </a:r>
            <a:r>
              <a:rPr lang="en-US" altLang="zh-CN" sz="2400"/>
              <a:t>changed.</a:t>
            </a:r>
          </a:p>
          <a:p>
            <a:pPr marL="442913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sz="2400" dirty="0"/>
              <a:t>Save your queries in a txt file. Rename it as “COMP3013 Lab11 ###.txt”, where “###” is your student ID. And submit it on iSpace. The DDL is 24 hours after the lab.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 startAt="3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0401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CD73-9BC5-367A-588A-222F950B1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Lab 11</a:t>
            </a:r>
          </a:p>
        </p:txBody>
      </p:sp>
    </p:spTree>
    <p:extLst>
      <p:ext uri="{BB962C8B-B14F-4D97-AF65-F5344CB8AC3E}">
        <p14:creationId xmlns:p14="http://schemas.microsoft.com/office/powerpoint/2010/main" val="2905926351"/>
      </p:ext>
    </p:extLst>
  </p:cSld>
  <p:clrMapOvr>
    <a:masterClrMapping/>
  </p:clrMapOvr>
</p:sld>
</file>

<file path=ppt/theme/theme1.xml><?xml version="1.0" encoding="utf-8"?>
<a:theme xmlns:a="http://schemas.openxmlformats.org/drawingml/2006/main" name="DBMS latex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BMS latex" id="{C853DD06-80DD-4A92-985C-00F9462CBF3D}" vid="{2DB0D723-8C41-4574-B925-747B267380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DBMS latex</Template>
  <TotalTime>4501</TotalTime>
  <Words>744</Words>
  <Application>Microsoft Office PowerPoint</Application>
  <PresentationFormat>宽屏</PresentationFormat>
  <Paragraphs>111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Adobe Heiti Std R</vt:lpstr>
      <vt:lpstr>Hiragino Sans GB W3</vt:lpstr>
      <vt:lpstr>ＭＳ Ｐゴシック</vt:lpstr>
      <vt:lpstr>等线</vt:lpstr>
      <vt:lpstr>宋体</vt:lpstr>
      <vt:lpstr>Microsoft YaHei</vt:lpstr>
      <vt:lpstr>Arial</vt:lpstr>
      <vt:lpstr>Calibri</vt:lpstr>
      <vt:lpstr>Consolas</vt:lpstr>
      <vt:lpstr>DBMS latex</vt:lpstr>
      <vt:lpstr>Lab 11 Advanced SQL 1</vt:lpstr>
      <vt:lpstr>Outline</vt:lpstr>
      <vt:lpstr>General Remarks</vt:lpstr>
      <vt:lpstr>Integrity Constraints</vt:lpstr>
      <vt:lpstr>The Check Clause</vt:lpstr>
      <vt:lpstr>The Check Clause</vt:lpstr>
      <vt:lpstr>The Check Clause</vt:lpstr>
      <vt:lpstr>Referential Integrity</vt:lpstr>
      <vt:lpstr>Cascading Actions in Referential Integrity</vt:lpstr>
      <vt:lpstr>Cascading Actions in Referential Integrity</vt:lpstr>
      <vt:lpstr>Cascading Actions in Referential Integrity</vt:lpstr>
      <vt:lpstr>Exercises</vt:lpstr>
      <vt:lpstr>End of Lab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Zhiyuan Li</dc:creator>
  <cp:lastModifiedBy>Goliath Li</cp:lastModifiedBy>
  <cp:revision>131</cp:revision>
  <dcterms:created xsi:type="dcterms:W3CDTF">2022-06-15T04:17:56Z</dcterms:created>
  <dcterms:modified xsi:type="dcterms:W3CDTF">2024-11-27T05:58:24Z</dcterms:modified>
</cp:coreProperties>
</file>