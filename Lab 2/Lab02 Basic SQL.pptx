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sldIdLst>
    <p:sldId id="257" r:id="rId4"/>
    <p:sldId id="262" r:id="rId5"/>
    <p:sldId id="263" r:id="rId6"/>
    <p:sldId id="264" r:id="rId7"/>
    <p:sldId id="267" r:id="rId8"/>
    <p:sldId id="266" r:id="rId9"/>
    <p:sldId id="268" r:id="rId10"/>
    <p:sldId id="269" r:id="rId11"/>
    <p:sldId id="270" r:id="rId12"/>
    <p:sldId id="271" r:id="rId13"/>
    <p:sldId id="279" r:id="rId14"/>
    <p:sldId id="277" r:id="rId15"/>
    <p:sldId id="278" r:id="rId16"/>
    <p:sldId id="274" r:id="rId17"/>
    <p:sldId id="275" r:id="rId18"/>
    <p:sldId id="272" r:id="rId19"/>
    <p:sldId id="276" r:id="rId20"/>
    <p:sldId id="273" r:id="rId21"/>
    <p:sldId id="25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  <a:p>
            <a:endParaRPr lang="zh-CN" altLang="en-US" sz="1800" dirty="0">
              <a:effectLst/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  <a:p>
            <a:endParaRPr lang="zh-CN" altLang="en-US" sz="1800" dirty="0">
              <a:effectLst/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02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/>
          <p:cNvSpPr txBox="1"/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/>
          <p:cNvSpPr txBox="1"/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02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/>
          <p:cNvSpPr txBox="1"/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/>
          <p:cNvSpPr txBox="1"/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2 Basic SQL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  <a:p>
            <a:r>
              <a:rPr lang="en-US" dirty="0"/>
              <a:t>Predicate</a:t>
            </a:r>
            <a:endParaRPr lang="en-US" dirty="0"/>
          </a:p>
          <a:p>
            <a:r>
              <a:rPr lang="en-US" altLang="zh-CN" dirty="0"/>
              <a:t>Exercises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3874817"/>
          </a:xfrm>
        </p:spPr>
        <p:txBody>
          <a:bodyPr/>
          <a:lstStyle/>
          <a:p>
            <a:r>
              <a:rPr lang="en-US" b="1" dirty="0"/>
              <a:t>IBM Sequel Language</a:t>
            </a:r>
            <a:r>
              <a:rPr lang="en-US" dirty="0"/>
              <a:t> was developed as a part of System R project to manage data in a relational database in the early 1970’s.</a:t>
            </a:r>
            <a:endParaRPr lang="en-US" dirty="0"/>
          </a:p>
          <a:p>
            <a:r>
              <a:rPr lang="en-US" dirty="0"/>
              <a:t>Later the language was renamed as </a:t>
            </a:r>
            <a:r>
              <a:rPr lang="en-US" b="1" dirty="0"/>
              <a:t>Structured Query Language</a:t>
            </a:r>
            <a:r>
              <a:rPr lang="en-US" dirty="0"/>
              <a:t>, aka SQL (reads “S-Q-L” or “sequel”).</a:t>
            </a:r>
            <a:endParaRPr lang="en-US" dirty="0"/>
          </a:p>
          <a:p>
            <a:r>
              <a:rPr lang="en-US" dirty="0"/>
              <a:t>SQL can </a:t>
            </a:r>
            <a:r>
              <a:rPr lang="en-US" b="1" dirty="0"/>
              <a:t>define</a:t>
            </a:r>
            <a:r>
              <a:rPr lang="en-US" dirty="0"/>
              <a:t> and </a:t>
            </a:r>
            <a:r>
              <a:rPr lang="en-US" altLang="zh-CN" b="1" dirty="0"/>
              <a:t>manipulate</a:t>
            </a:r>
            <a:r>
              <a:rPr lang="en-US" altLang="zh-CN" dirty="0"/>
              <a:t> data.</a:t>
            </a:r>
            <a:endParaRPr lang="en-US" altLang="zh-CN" dirty="0"/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definition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used when a user wants to create new databases or tables.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querying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allows users search information from the database.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labs start from querying. Data</a:t>
            </a:r>
            <a:r>
              <a:rPr lang="en-US" dirty="0"/>
              <a:t> definitions will be introduced in Lab 6.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query is a question asked by database users to </a:t>
            </a:r>
            <a:r>
              <a:rPr lang="en-US" altLang="zh-CN" dirty="0"/>
              <a:t>retrieve some data.</a:t>
            </a:r>
            <a:endParaRPr lang="en-US" altLang="zh-CN" dirty="0"/>
          </a:p>
          <a:p>
            <a:r>
              <a:rPr lang="en-US" dirty="0"/>
              <a:t>For example, “what are the students whose GPA is greater than 3.0?”</a:t>
            </a:r>
            <a:endParaRPr lang="en-US" dirty="0"/>
          </a:p>
          <a:p>
            <a:r>
              <a:rPr lang="en-US" dirty="0"/>
              <a:t>Database systems search for the students who </a:t>
            </a:r>
            <a:r>
              <a:rPr lang="en-US" altLang="zh-CN" dirty="0"/>
              <a:t>satisfy the condition.</a:t>
            </a:r>
            <a:endParaRPr lang="en-US" altLang="zh-CN" dirty="0"/>
          </a:p>
          <a:p>
            <a:r>
              <a:rPr lang="en-US" dirty="0"/>
              <a:t>The query language </a:t>
            </a:r>
            <a:r>
              <a:rPr lang="en-US" b="1" dirty="0"/>
              <a:t>cannot change</a:t>
            </a:r>
            <a:r>
              <a:rPr lang="en-US" dirty="0"/>
              <a:t> data in databases. Only data definition language can.</a:t>
            </a:r>
            <a:endParaRPr lang="en-US" dirty="0"/>
          </a:p>
          <a:p>
            <a:r>
              <a:rPr lang="en-US" dirty="0"/>
              <a:t>Thus, the answers to queries only </a:t>
            </a:r>
            <a:r>
              <a:rPr lang="en-US" altLang="zh-CN" b="1" dirty="0"/>
              <a:t>temporarily exist</a:t>
            </a:r>
            <a:r>
              <a:rPr lang="en-US" altLang="zh-CN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556460"/>
          </a:xfrm>
        </p:spPr>
        <p:txBody>
          <a:bodyPr/>
          <a:lstStyle/>
          <a:p>
            <a:r>
              <a:rPr lang="en-US" altLang="zh-CN" dirty="0"/>
              <a:t>Execute XAMPP and launch Apache and MySQL servers.</a:t>
            </a:r>
            <a:endParaRPr lang="en-US" altLang="zh-CN" dirty="0"/>
          </a:p>
          <a:p>
            <a:r>
              <a:rPr lang="en-US" dirty="0"/>
              <a:t>Open phpMyAdmin.</a:t>
            </a:r>
            <a:endParaRPr lang="en-US" dirty="0"/>
          </a:p>
          <a:p>
            <a:r>
              <a:rPr lang="en-US" dirty="0"/>
              <a:t>(Suppose the database “</a:t>
            </a:r>
            <a:r>
              <a:rPr lang="en-US" dirty="0" err="1"/>
              <a:t>sakila</a:t>
            </a:r>
            <a:r>
              <a:rPr lang="en-US" dirty="0"/>
              <a:t>” is already imported.) Select “</a:t>
            </a:r>
            <a:r>
              <a:rPr lang="en-US" dirty="0" err="1"/>
              <a:t>sakila</a:t>
            </a:r>
            <a:r>
              <a:rPr lang="en-US" dirty="0"/>
              <a:t>” from the database list.</a:t>
            </a:r>
            <a:endParaRPr lang="en-US" dirty="0"/>
          </a:p>
          <a:p>
            <a:r>
              <a:rPr lang="en-US" dirty="0"/>
              <a:t>Click “</a:t>
            </a:r>
            <a:r>
              <a:rPr lang="en-US" b="1" dirty="0"/>
              <a:t>SQL</a:t>
            </a:r>
            <a:r>
              <a:rPr lang="en-US" dirty="0"/>
              <a:t>” from the menu bar.</a:t>
            </a:r>
            <a:endParaRPr lang="en-US" dirty="0"/>
          </a:p>
          <a:p>
            <a:r>
              <a:rPr lang="en-US" dirty="0"/>
              <a:t>Type in the query “</a:t>
            </a:r>
            <a:r>
              <a:rPr lang="en-US" dirty="0">
                <a:latin typeface="Consolas" panose="020B0609020204030204" pitchFamily="49" charset="0"/>
              </a:rPr>
              <a:t>SELECT * FROM actor WHERE 1</a:t>
            </a:r>
            <a:r>
              <a:rPr lang="en-US" dirty="0"/>
              <a:t>” and click “</a:t>
            </a:r>
            <a:r>
              <a:rPr lang="en-US" b="1" dirty="0"/>
              <a:t>Go</a:t>
            </a:r>
            <a:r>
              <a:rPr lang="en-US" dirty="0"/>
              <a:t>”.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075" y="3843337"/>
            <a:ext cx="4895850" cy="2466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6648450" cy="3260846"/>
          </a:xfrm>
        </p:spPr>
        <p:txBody>
          <a:bodyPr/>
          <a:lstStyle/>
          <a:p>
            <a:r>
              <a:rPr lang="en-US" dirty="0"/>
              <a:t>A part of the answer is like this.</a:t>
            </a:r>
            <a:endParaRPr lang="en-US" dirty="0"/>
          </a:p>
          <a:p>
            <a:r>
              <a:rPr lang="en-US" dirty="0"/>
              <a:t>Same as selecting the table “actor” from the database list (what we have done in the last lab.)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275" y="2495550"/>
            <a:ext cx="398145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69698"/>
          </a:xfrm>
        </p:spPr>
        <p:txBody>
          <a:bodyPr>
            <a:normAutofit/>
          </a:bodyPr>
          <a:lstStyle/>
          <a:p>
            <a:r>
              <a:rPr lang="en-US" dirty="0"/>
              <a:t>The basic query has three </a:t>
            </a:r>
            <a:r>
              <a:rPr lang="en-US" b="1" dirty="0"/>
              <a:t>clauses</a:t>
            </a:r>
            <a:r>
              <a:rPr lang="en-US" dirty="0"/>
              <a:t>: </a:t>
            </a:r>
            <a:r>
              <a:rPr lang="en-US" dirty="0">
                <a:latin typeface="Consolas" panose="020B0609020204030204" pitchFamily="49" charset="0"/>
              </a:rPr>
              <a:t>SELECT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SELECT:</a:t>
            </a:r>
            <a:r>
              <a:rPr lang="en-US" dirty="0"/>
              <a:t> contains one or multiple </a:t>
            </a:r>
            <a:r>
              <a:rPr lang="en-US" b="1" dirty="0"/>
              <a:t>attributes</a:t>
            </a:r>
            <a:r>
              <a:rPr lang="en-US" dirty="0"/>
              <a:t>. 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attributes are displayed in the result.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symbol “*” means all attributes.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 clause contains one or more </a:t>
            </a:r>
            <a:r>
              <a:rPr lang="en-US" b="1" dirty="0"/>
              <a:t>tables</a:t>
            </a:r>
            <a:r>
              <a:rPr lang="en-US" dirty="0"/>
              <a:t>.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lab handles the one table case.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 clause contains a single </a:t>
            </a:r>
            <a:r>
              <a:rPr lang="en-US" b="1" dirty="0"/>
              <a:t>predicate</a:t>
            </a:r>
            <a:r>
              <a:rPr lang="en-US" dirty="0"/>
              <a:t>.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logical test on every row of the table which returns true or false.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multiple queries are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executed at the same time, a semicolon “</a:t>
            </a:r>
            <a:r>
              <a:rPr lang="en-US" altLang="zh-CN" b="1" dirty="0">
                <a:latin typeface="Consolas" panose="020B0609020204030204" pitchFamily="49" charset="0"/>
              </a:rPr>
              <a:t>;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” is used as a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delimiter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to split two queries.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A query is </a:t>
            </a:r>
            <a:r>
              <a:rPr lang="en-US" altLang="zh-CN" dirty="0"/>
              <a:t>executed as follows.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test the predicate on every tuple from the table in the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clause.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 tuple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satisfies the predicate, show the values of the attributes in the </a:t>
            </a:r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clause in the result.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4722023"/>
              </a:xfrm>
            </p:spPr>
            <p:txBody>
              <a:bodyPr/>
              <a:lstStyle/>
              <a:p>
                <a:r>
                  <a:rPr lang="en-US" dirty="0"/>
                  <a:t>The query “</a:t>
                </a:r>
                <a:r>
                  <a:rPr lang="en-US" dirty="0">
                    <a:latin typeface="Consolas" panose="020B0609020204030204" pitchFamily="49" charset="0"/>
                  </a:rPr>
                  <a:t>SELECT * FROM actor WHERE 1</a:t>
                </a:r>
                <a:r>
                  <a:rPr lang="en-US" dirty="0"/>
                  <a:t>” is understood as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the table actor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1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print the values of all attributes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Then, you can see the query simply print everything in the table “actor”.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4722023"/>
              </a:xfrm>
              <a:blipFill rotWithShape="1">
                <a:blip r:embed="rId1"/>
                <a:stretch>
                  <a:fillRect t="-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296025" y="1431127"/>
            <a:ext cx="257175" cy="321473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00325" y="2536027"/>
            <a:ext cx="257175" cy="321473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5175" y="1431127"/>
            <a:ext cx="790575" cy="32147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295901" y="2208204"/>
            <a:ext cx="742950" cy="32147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22662" y="1412077"/>
            <a:ext cx="257175" cy="3214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470525" y="2887399"/>
            <a:ext cx="1793875" cy="3214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779837" y="1733550"/>
            <a:ext cx="1690688" cy="1153849"/>
          </a:xfrm>
          <a:prstGeom prst="straightConnector1">
            <a:avLst/>
          </a:prstGeom>
          <a:ln w="158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111750" y="1752600"/>
            <a:ext cx="358775" cy="455604"/>
          </a:xfrm>
          <a:prstGeom prst="straightConnector1">
            <a:avLst/>
          </a:prstGeom>
          <a:ln w="15875">
            <a:solidFill>
              <a:schemeClr val="accent5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857500" y="1752600"/>
            <a:ext cx="3438525" cy="777077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see another example.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latin typeface="Consolas" panose="020B0609020204030204" pitchFamily="49" charset="0"/>
              </a:rPr>
              <a:t>title,release_year</a:t>
            </a:r>
            <a:r>
              <a:rPr lang="en-US" sz="1800" dirty="0">
                <a:latin typeface="Consolas" panose="020B0609020204030204" pitchFamily="49" charset="0"/>
              </a:rPr>
              <a:t> FROM film WHERE </a:t>
            </a:r>
            <a:r>
              <a:rPr lang="en-US" sz="1800" dirty="0" err="1">
                <a:latin typeface="Consolas" panose="020B0609020204030204" pitchFamily="49" charset="0"/>
              </a:rPr>
              <a:t>rental_rate</a:t>
            </a:r>
            <a:r>
              <a:rPr lang="en-US" sz="1800" dirty="0">
                <a:latin typeface="Consolas" panose="020B0609020204030204" pitchFamily="49" charset="0"/>
              </a:rPr>
              <a:t>&lt;1</a:t>
            </a:r>
            <a:endParaRPr lang="en-US" sz="1800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Please try to </a:t>
            </a:r>
            <a:r>
              <a:rPr lang="en-US" altLang="zh-CN" dirty="0"/>
              <a:t>tell the meaning of this query.</a:t>
            </a:r>
            <a:endParaRPr lang="en-US" altLang="zh-CN" dirty="0"/>
          </a:p>
          <a:p>
            <a:r>
              <a:rPr lang="en-US" dirty="0"/>
              <a:t>And execute it in the system to check the outcome.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Predicate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31598"/>
          </a:xfrm>
        </p:spPr>
        <p:txBody>
          <a:bodyPr>
            <a:normAutofit/>
          </a:bodyPr>
          <a:lstStyle/>
          <a:p>
            <a:r>
              <a:rPr lang="en-US" dirty="0"/>
              <a:t>The predicate in the </a:t>
            </a:r>
            <a:r>
              <a:rPr lang="en-US" dirty="0">
                <a:latin typeface="Consolas" panose="020B0609020204030204" pitchFamily="49" charset="0"/>
              </a:rPr>
              <a:t>WEHER</a:t>
            </a:r>
            <a:r>
              <a:rPr lang="en-US" dirty="0"/>
              <a:t> clause is regarded as a logic test. The return value of a predicate is a Boolean, either 1 (True) or 0 (False).</a:t>
            </a:r>
            <a:endParaRPr lang="en-US" dirty="0"/>
          </a:p>
          <a:p>
            <a:r>
              <a:rPr lang="en-US" dirty="0"/>
              <a:t>Formally, </a:t>
            </a:r>
            <a:endParaRPr lang="en-US" dirty="0"/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suppose </a:t>
            </a:r>
            <a:r>
              <a:rPr lang="en-US" sz="2100" b="1" dirty="0">
                <a:latin typeface="Consolas" panose="020B0609020204030204" pitchFamily="49" charset="0"/>
                <a:cs typeface="Arial" panose="020B0604020202020204" pitchFamily="34" charset="0"/>
              </a:rPr>
              <a:t>op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is a relation operator, which can be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&gt;=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&lt;&gt;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(not equal);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predicate can be a single term 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lvl="1" indent="0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				pred = term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714375" lvl="1" indent="0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				term = exp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op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exp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714375" lvl="1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“exp”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arithmetic expression which contains attributes and constants.</a:t>
            </a:r>
            <a:endParaRPr lang="en-US" altLang="zh-C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lvl="1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-180975">
              <a:buClrTx/>
            </a:pPr>
            <a:r>
              <a:rPr lang="en-US" dirty="0"/>
              <a:t>For example, </a:t>
            </a:r>
            <a:endParaRPr lang="en-US" dirty="0"/>
          </a:p>
          <a:p>
            <a:pPr marL="784225" lvl="1" indent="-180975"/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rental_rate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&lt; 1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Predicate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31598"/>
          </a:xfrm>
        </p:spPr>
        <p:txBody>
          <a:bodyPr>
            <a:normAutofit/>
          </a:bodyPr>
          <a:lstStyle/>
          <a:p>
            <a:r>
              <a:rPr lang="en-US" dirty="0"/>
              <a:t>The predicate in the </a:t>
            </a:r>
            <a:r>
              <a:rPr lang="en-US" dirty="0">
                <a:latin typeface="Consolas" panose="020B0609020204030204" pitchFamily="49" charset="0"/>
              </a:rPr>
              <a:t>WEHER</a:t>
            </a:r>
            <a:r>
              <a:rPr lang="en-US" dirty="0"/>
              <a:t> clause is regarded as a logic test. The return value of a predicate is a Boolean, either 1 (True) or 0 (False).</a:t>
            </a:r>
            <a:endParaRPr lang="en-US" dirty="0"/>
          </a:p>
          <a:p>
            <a:r>
              <a:rPr lang="en-US" dirty="0"/>
              <a:t>Formally, </a:t>
            </a:r>
            <a:endParaRPr lang="en-US" dirty="0"/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suppose </a:t>
            </a:r>
            <a:r>
              <a:rPr lang="en-US" sz="2100" b="1" dirty="0">
                <a:latin typeface="Consolas" panose="020B0609020204030204" pitchFamily="49" charset="0"/>
                <a:cs typeface="Arial" panose="020B0604020202020204" pitchFamily="34" charset="0"/>
              </a:rPr>
              <a:t>op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is a relation operator, which can be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&gt;=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&lt;=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&lt;&gt;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(not equal);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predicate can be a single term 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lvl="1" indent="0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				pred = term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714375" lvl="1" indent="0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				term = exp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op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exp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714375" lvl="1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“exp”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arithmetic expression which contains attributes and constants.</a:t>
            </a:r>
            <a:endParaRPr lang="en-US" altLang="zh-C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lvl="1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-180975">
              <a:buClrTx/>
            </a:pPr>
            <a:r>
              <a:rPr lang="en-US" dirty="0"/>
              <a:t>For example, </a:t>
            </a:r>
            <a:endParaRPr lang="en-US" dirty="0"/>
          </a:p>
          <a:p>
            <a:pPr marL="784225" lvl="1" indent="-180975"/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rental_rate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&lt; 1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864898"/>
          </a:xfrm>
        </p:spPr>
        <p:txBody>
          <a:bodyPr>
            <a:normAutofit/>
          </a:bodyPr>
          <a:lstStyle/>
          <a:p>
            <a:r>
              <a:rPr lang="en-US" dirty="0"/>
              <a:t>A predicate can also be a composition of terms.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sz="1800" dirty="0">
                <a:latin typeface="Consolas" panose="020B0609020204030204" pitchFamily="49" charset="0"/>
              </a:rPr>
              <a:t>pred = </a:t>
            </a:r>
            <a:r>
              <a:rPr lang="en-US" sz="1800" b="1" dirty="0">
                <a:latin typeface="Consolas" panose="020B0609020204030204" pitchFamily="49" charset="0"/>
              </a:rPr>
              <a:t>NOT</a:t>
            </a:r>
            <a:r>
              <a:rPr lang="en-US" sz="1800" dirty="0">
                <a:latin typeface="Consolas" panose="020B0609020204030204" pitchFamily="49" charset="0"/>
              </a:rPr>
              <a:t> pred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	pred = pred </a:t>
            </a:r>
            <a:r>
              <a:rPr lang="en-US" sz="1800" b="1" dirty="0">
                <a:latin typeface="Consolas" panose="020B0609020204030204" pitchFamily="49" charset="0"/>
              </a:rPr>
              <a:t>AND</a:t>
            </a:r>
            <a:r>
              <a:rPr lang="en-US" sz="1800" dirty="0">
                <a:latin typeface="Consolas" panose="020B0609020204030204" pitchFamily="49" charset="0"/>
              </a:rPr>
              <a:t> pred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	pred = pred </a:t>
            </a:r>
            <a:r>
              <a:rPr lang="en-US" sz="1800" b="1" dirty="0">
                <a:latin typeface="Consolas" panose="020B0609020204030204" pitchFamily="49" charset="0"/>
              </a:rPr>
              <a:t>OR</a:t>
            </a:r>
            <a:r>
              <a:rPr lang="en-US" sz="1800" dirty="0">
                <a:latin typeface="Consolas" panose="020B0609020204030204" pitchFamily="49" charset="0"/>
              </a:rPr>
              <a:t> pred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NOT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AND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OR</a:t>
            </a:r>
            <a:r>
              <a:rPr lang="en-US" dirty="0"/>
              <a:t> are logical operators.</a:t>
            </a:r>
            <a:endParaRPr lang="en-US" dirty="0"/>
          </a:p>
          <a:p>
            <a:r>
              <a:rPr lang="en-US" dirty="0"/>
              <a:t>For example,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NOT </a:t>
            </a:r>
            <a:r>
              <a:rPr lang="en-US" dirty="0" err="1">
                <a:latin typeface="Consolas" panose="020B0609020204030204" pitchFamily="49" charset="0"/>
              </a:rPr>
              <a:t>rental_rate</a:t>
            </a:r>
            <a:r>
              <a:rPr lang="en-US" dirty="0">
                <a:latin typeface="Consolas" panose="020B0609020204030204" pitchFamily="49" charset="0"/>
              </a:rPr>
              <a:t> &lt; 1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(NOT </a:t>
            </a:r>
            <a:r>
              <a:rPr lang="en-US" dirty="0" err="1">
                <a:latin typeface="Consolas" panose="020B0609020204030204" pitchFamily="49" charset="0"/>
              </a:rPr>
              <a:t>rental_rate</a:t>
            </a:r>
            <a:r>
              <a:rPr lang="en-US" dirty="0">
                <a:latin typeface="Consolas" panose="020B0609020204030204" pitchFamily="49" charset="0"/>
              </a:rPr>
              <a:t> &lt; 1) AND </a:t>
            </a:r>
            <a:r>
              <a:rPr lang="en-US" dirty="0" err="1">
                <a:latin typeface="Consolas" panose="020B0609020204030204" pitchFamily="49" charset="0"/>
              </a:rPr>
              <a:t>release_year</a:t>
            </a:r>
            <a:r>
              <a:rPr lang="en-US" dirty="0">
                <a:latin typeface="Consolas" panose="020B0609020204030204" pitchFamily="49" charset="0"/>
              </a:rPr>
              <a:t> = 2006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Sometimes </a:t>
            </a:r>
            <a:r>
              <a:rPr lang="en-US" altLang="zh-CN" dirty="0"/>
              <a:t>brackets are used to indicate the precedence.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If the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 clause does not return a Boolean, the query has a syntax error.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predicate is also called as a </a:t>
                </a:r>
                <a:r>
                  <a:rPr lang="en-US" b="1" dirty="0"/>
                  <a:t>propositional function</a:t>
                </a:r>
                <a:r>
                  <a:rPr lang="en-US" dirty="0"/>
                  <a:t>. Like other functions, it is defined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a table (a set of tuples).</a:t>
                </a:r>
                <a:endParaRPr lang="en-US" dirty="0"/>
              </a:p>
              <a:p>
                <a:r>
                  <a:rPr lang="en-US" dirty="0"/>
                  <a:t>For more details about predicates, you are referred to MATH2003 Discrete Structures Lecture 3 (predicate logic).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5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constant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constant in the </a:t>
            </a:r>
            <a:r>
              <a:rPr lang="en-US" altLang="zh-CN" dirty="0"/>
              <a:t>comparison can be a string, but it has to be quoted in the quotation marks.</a:t>
            </a:r>
            <a:endParaRPr lang="en-US" altLang="zh-CN" dirty="0"/>
          </a:p>
          <a:p>
            <a:r>
              <a:rPr lang="en-US" dirty="0"/>
              <a:t>For example,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800" dirty="0">
                <a:latin typeface="Consolas" panose="020B0609020204030204" pitchFamily="49" charset="0"/>
              </a:rPr>
              <a:t>SELECT * FROM film WHERE rating="PG-13"</a:t>
            </a:r>
            <a:endParaRPr lang="en-US" dirty="0"/>
          </a:p>
          <a:p>
            <a:endParaRPr lang="en-US" dirty="0"/>
          </a:p>
          <a:p>
            <a:r>
              <a:rPr lang="en-US" dirty="0"/>
              <a:t>Try this example and tell the meaning of the query.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insensitive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617247"/>
          </a:xfrm>
        </p:spPr>
        <p:txBody>
          <a:bodyPr/>
          <a:lstStyle/>
          <a:p>
            <a:r>
              <a:rPr lang="en-US" dirty="0"/>
              <a:t>SQL is case </a:t>
            </a:r>
            <a:r>
              <a:rPr lang="en-US" altLang="zh-CN" dirty="0"/>
              <a:t>insensitive. </a:t>
            </a:r>
            <a:endParaRPr lang="en-US" altLang="zh-CN" dirty="0"/>
          </a:p>
          <a:p>
            <a:r>
              <a:rPr lang="en-US" dirty="0"/>
              <a:t>For example,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800" dirty="0" err="1">
                <a:latin typeface="Consolas" panose="020B0609020204030204" pitchFamily="49" charset="0"/>
              </a:rPr>
              <a:t>SeLeCt</a:t>
            </a:r>
            <a:r>
              <a:rPr lang="en-US" sz="1800" dirty="0">
                <a:latin typeface="Consolas" panose="020B0609020204030204" pitchFamily="49" charset="0"/>
              </a:rPr>
              <a:t> * From Film </a:t>
            </a:r>
            <a:r>
              <a:rPr lang="en-US" sz="1800" dirty="0" err="1">
                <a:latin typeface="Consolas" panose="020B0609020204030204" pitchFamily="49" charset="0"/>
              </a:rPr>
              <a:t>wHERE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rAtIng</a:t>
            </a:r>
            <a:r>
              <a:rPr lang="en-US" sz="1800" dirty="0">
                <a:latin typeface="Consolas" panose="020B0609020204030204" pitchFamily="49" charset="0"/>
              </a:rPr>
              <a:t>="pg-13"</a:t>
            </a:r>
            <a:endParaRPr lang="en-US" sz="1800" dirty="0"/>
          </a:p>
          <a:p>
            <a:pPr marL="0" indent="266700">
              <a:buNone/>
            </a:pPr>
            <a:endParaRPr lang="en-US" dirty="0"/>
          </a:p>
          <a:p>
            <a:pPr marL="0" indent="266700">
              <a:buNone/>
            </a:pPr>
            <a:r>
              <a:rPr lang="en-US" dirty="0"/>
              <a:t>gives the same answer as the previous example.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However, to make query readable, we write </a:t>
            </a:r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words (like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etc.) in capital;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attributes and tables in lower cases; and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constant in the original form.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47886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general, a basic query is in the form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  <a:tabLst>
                    <a:tab pos="266700" algn="l"/>
                  </a:tabLst>
                </a:pPr>
                <a:r>
                  <a:rPr lang="en-US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attributes;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a table;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a predicate.</a:t>
                </a:r>
                <a:endParaRPr lang="en-US" dirty="0"/>
              </a:p>
              <a:p>
                <a:r>
                  <a:rPr lang="en-US" dirty="0"/>
                  <a:t>The query is understood as </a:t>
                </a:r>
                <a:endParaRPr lang="en-US" dirty="0"/>
              </a:p>
              <a:p>
                <a:pPr marL="0" indent="0">
                  <a:buNone/>
                </a:pP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		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	print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case for multiple tables in the </a:t>
                </a:r>
                <a:r>
                  <a:rPr lang="en-US" dirty="0">
                    <a:latin typeface="Consolas" panose="020B0609020204030204" pitchFamily="49" charset="0"/>
                  </a:rPr>
                  <a:t>FROM</a:t>
                </a:r>
                <a:r>
                  <a:rPr lang="en-US" dirty="0"/>
                  <a:t> clause will be discussed in the next lab.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4788698"/>
              </a:xfrm>
              <a:blipFill rotWithShape="1">
                <a:blip r:embed="rId1"/>
                <a:stretch>
                  <a:fillRect t="-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093498"/>
          </a:xfrm>
        </p:spPr>
        <p:txBody>
          <a:bodyPr/>
          <a:lstStyle/>
          <a:p>
            <a:r>
              <a:rPr lang="en-US" dirty="0"/>
              <a:t>To write a good query, you need to pay attention to three things.</a:t>
            </a:r>
            <a:endParaRPr lang="en-US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used?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result?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For example, “Find the category ID for Sci-Fi movies”.</a:t>
            </a:r>
            <a:endParaRPr lang="en-US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category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Sci-Fi movies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Attribute: category ID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the query 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category_id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FROM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category</a:t>
            </a:r>
            <a:r>
              <a:rPr lang="en-US" sz="1800" dirty="0">
                <a:latin typeface="Consolas" panose="020B0609020204030204" pitchFamily="49" charset="0"/>
              </a:rPr>
              <a:t> WHERE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name="Sci-Fi"</a:t>
            </a:r>
            <a:endParaRPr lang="en-US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For this example, you need to know “Sci-Fi movies” is the attribute “name” of the category.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7393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SQLs for the following questions.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information of actors whose first name is Russell.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information of actors whose first name is Russell and last name is Close.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email of customers whose first name is Harry and active is 0.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full name of the actor whose id is 99.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title and special features of the films whose replacement cost is lower than 20 and rental rate is higher than 4.0.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Find the customer id of the customers who have made a payment on 2005-05-25 but the amount </a:t>
            </a:r>
            <a:r>
              <a:rPr lang="en-US" altLang="zh-CN" sz="1800" dirty="0"/>
              <a:t>does not exceed 3.</a:t>
            </a:r>
            <a:endParaRPr lang="en-US" altLang="zh-CN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Save your queries in a txt file. Rename it as “COMP3013 Lab2 ###.txt”, where “###” is your student ID. And submit it on iSpace. The DDL </a:t>
            </a:r>
            <a:r>
              <a:rPr lang="en-US" sz="1800"/>
              <a:t>is 24 </a:t>
            </a:r>
            <a:r>
              <a:rPr lang="en-US" sz="1800" dirty="0"/>
              <a:t>hours after the lab.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0</TotalTime>
  <Words>5995</Words>
  <Application>WPS 演示</Application>
  <PresentationFormat>宽屏</PresentationFormat>
  <Paragraphs>193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Hiragino Sans GB W3</vt:lpstr>
      <vt:lpstr>微软雅黑</vt:lpstr>
      <vt:lpstr>Adobe 黑体 Std R</vt:lpstr>
      <vt:lpstr>Consolas</vt:lpstr>
      <vt:lpstr>Cambria Math</vt:lpstr>
      <vt:lpstr>Yu Gothic UI Light</vt:lpstr>
      <vt:lpstr>等线</vt:lpstr>
      <vt:lpstr>Arial Unicode MS</vt:lpstr>
      <vt:lpstr>Calibri</vt:lpstr>
      <vt:lpstr>DBMS latex</vt:lpstr>
      <vt:lpstr>1_DBMS latex</vt:lpstr>
      <vt:lpstr>Lab 2 Basic SQL</vt:lpstr>
      <vt:lpstr>Outline</vt:lpstr>
      <vt:lpstr>Introduction</vt:lpstr>
      <vt:lpstr>Query</vt:lpstr>
      <vt:lpstr>Basic Query</vt:lpstr>
      <vt:lpstr>Basic Query</vt:lpstr>
      <vt:lpstr>Basic Query</vt:lpstr>
      <vt:lpstr>Basic Query</vt:lpstr>
      <vt:lpstr>Basic Query</vt:lpstr>
      <vt:lpstr>Predicate</vt:lpstr>
      <vt:lpstr>Predicate</vt:lpstr>
      <vt:lpstr>Predicate</vt:lpstr>
      <vt:lpstr>Predicate</vt:lpstr>
      <vt:lpstr>String constant</vt:lpstr>
      <vt:lpstr>Case insensitive</vt:lpstr>
      <vt:lpstr>Basic Query</vt:lpstr>
      <vt:lpstr>Example</vt:lpstr>
      <vt:lpstr>Exercises</vt:lpstr>
      <vt:lpstr>End of Lab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31757</cp:lastModifiedBy>
  <cp:revision>21</cp:revision>
  <dcterms:created xsi:type="dcterms:W3CDTF">2022-06-15T04:17:00Z</dcterms:created>
  <dcterms:modified xsi:type="dcterms:W3CDTF">2025-12-26T16:00:42Z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F8854AF187BE4B98BF30B89C1BA50DFA_12</vt:lpwstr>
  </property>
</Properties>
</file>